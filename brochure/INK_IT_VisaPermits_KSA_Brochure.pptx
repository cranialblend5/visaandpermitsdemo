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761488"/>
          </a:xfrm>
          <a:prstGeom prst="rect">
            <a:avLst/>
          </a:prstGeom>
          <a:solidFill>
            <a:srgbClr val="0C1E33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-1554480"/>
            <a:ext cx="4206240" cy="4206240"/>
          </a:xfrm>
          <a:prstGeom prst="ellipse">
            <a:avLst/>
          </a:prstGeom>
          <a:solidFill>
            <a:srgbClr val="16304C"/>
          </a:solidFill>
          <a:ln/>
        </p:spPr>
      </p:sp>
      <p:pic>
        <p:nvPicPr>
          <p:cNvPr id="4" name="Image 0" descr="./img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5760"/>
            <a:ext cx="1389888" cy="4663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5488" y="1042416"/>
            <a:ext cx="6611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KINGDOM OF SAUDI ARABIA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75488" y="1261872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and Permits</a:t>
            </a:r>
            <a:endParaRPr lang="en-US" sz="29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2900" dirty="0"/>
          </a:p>
        </p:txBody>
      </p:sp>
      <p:sp>
        <p:nvSpPr>
          <p:cNvPr id="7" name="Text 4"/>
          <p:cNvSpPr txBox="1"/>
          <p:nvPr/>
        </p:nvSpPr>
        <p:spPr>
          <a:xfrm>
            <a:off x="475488" y="21762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SAP Business Technology Platform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75488" y="243230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 permit, Iqama, exit and re-entry and final exit on one track, between the Saudi government portals and SAP SuccessFactors.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" y="2926080"/>
            <a:ext cx="6611112" cy="512064"/>
          </a:xfrm>
          <a:prstGeom prst="roundRect">
            <a:avLst>
              <a:gd name="adj" fmla="val 10714"/>
            </a:avLst>
          </a:prstGeom>
          <a:solidFill>
            <a:srgbClr val="E4F5F3"/>
          </a:solidFill>
          <a:ln w="9525">
            <a:solidFill>
              <a:srgbClr val="9FD8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926080"/>
            <a:ext cx="6318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problem. </a:t>
            </a:r>
            <a:pPr indent="0" marL="0">
              <a:lnSpc>
                <a:spcPts val="1150"/>
              </a:lnSpc>
              <a:buNone/>
            </a:pPr>
            <a:r>
              <a:rPr lang="en-US" sz="960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Saudi permit lifecycle runs across three government systems and one human resources system, and nothing joins them up. Work sits in inboxes, fees go unreconciled, and a missed date costs a fine.</a:t>
            </a:r>
            <a:endParaRPr lang="en-US" sz="960" dirty="0"/>
          </a:p>
        </p:txBody>
      </p:sp>
      <p:sp>
        <p:nvSpPr>
          <p:cNvPr id="11" name="Text 8"/>
          <p:cNvSpPr txBox="1"/>
          <p:nvPr/>
        </p:nvSpPr>
        <p:spPr>
          <a:xfrm>
            <a:off x="475488" y="3602736"/>
            <a:ext cx="6611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5488" y="3822192"/>
            <a:ext cx="3250692" cy="786384"/>
          </a:xfrm>
          <a:prstGeom prst="roundRect">
            <a:avLst>
              <a:gd name="adj" fmla="val 697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" y="3959352"/>
            <a:ext cx="50292" cy="512064"/>
          </a:xfrm>
          <a:prstGeom prst="roundRect">
            <a:avLst>
              <a:gd name="adj" fmla="val 36364"/>
            </a:avLst>
          </a:prstGeom>
          <a:solidFill>
            <a:srgbClr val="20A09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49808" y="3931920"/>
            <a:ext cx="2866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lifecycles, one queue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4133088"/>
            <a:ext cx="28666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4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work visa, Iqama renewal, exit and re-entry, final exit and transfer. Each step has an owner and a due date.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3835908" y="3822192"/>
            <a:ext cx="3250692" cy="786384"/>
          </a:xfrm>
          <a:prstGeom prst="roundRect">
            <a:avLst>
              <a:gd name="adj" fmla="val 697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63924" y="3959352"/>
            <a:ext cx="50292" cy="512064"/>
          </a:xfrm>
          <a:prstGeom prst="roundRect">
            <a:avLst>
              <a:gd name="adj" fmla="val 36364"/>
            </a:avLst>
          </a:prstGeom>
          <a:solidFill>
            <a:srgbClr val="20A09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110228" y="3931920"/>
            <a:ext cx="2866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authorities, one screen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110228" y="4133088"/>
            <a:ext cx="28666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4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Qiwa, Muqeem, Absher, Enjaz, GOSI, Mudad and CCHI, with the right one already attached to each step.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475488" y="4690872"/>
            <a:ext cx="3250692" cy="786384"/>
          </a:xfrm>
          <a:prstGeom prst="roundRect">
            <a:avLst>
              <a:gd name="adj" fmla="val 697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504" y="4828032"/>
            <a:ext cx="50292" cy="512064"/>
          </a:xfrm>
          <a:prstGeom prst="roundRect">
            <a:avLst>
              <a:gd name="adj" fmla="val 36364"/>
            </a:avLst>
          </a:prstGeom>
          <a:solidFill>
            <a:srgbClr val="20A09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49808" y="4800600"/>
            <a:ext cx="2866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Nitaqat before you hire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49808" y="5001768"/>
            <a:ext cx="28666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4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position per establishment, so a hire is approved against headroom that actually exists.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3835908" y="4690872"/>
            <a:ext cx="3250692" cy="786384"/>
          </a:xfrm>
          <a:prstGeom prst="roundRect">
            <a:avLst>
              <a:gd name="adj" fmla="val 697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963924" y="4828032"/>
            <a:ext cx="50292" cy="512064"/>
          </a:xfrm>
          <a:prstGeom prst="roundRect">
            <a:avLst>
              <a:gd name="adj" fmla="val 36364"/>
            </a:avLst>
          </a:prstGeom>
          <a:solidFill>
            <a:srgbClr val="20A09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110228" y="4800600"/>
            <a:ext cx="2866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riyal accounted for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110228" y="5001768"/>
            <a:ext cx="28666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4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fee carries a receipt, a payment reference and a General Ledger code. No duplicate, no unexplained payment.</a:t>
            </a:r>
            <a:endParaRPr lang="en-US" sz="840" dirty="0"/>
          </a:p>
        </p:txBody>
      </p:sp>
      <p:pic>
        <p:nvPicPr>
          <p:cNvPr id="28" name="Image 1" descr="./img/h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5596128"/>
            <a:ext cx="3246120" cy="1828800"/>
          </a:xfrm>
          <a:prstGeom prst="rect">
            <a:avLst/>
          </a:prstGeom>
        </p:spPr>
      </p:pic>
      <p:pic>
        <p:nvPicPr>
          <p:cNvPr id="29" name="Image 2" descr="./img/nitaqa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5596128"/>
            <a:ext cx="3246120" cy="18288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475488" y="7452360"/>
            <a:ext cx="6611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officer dashboard and the Nitaqat band position. Representative of the Saudi configuration.</a:t>
            </a:r>
            <a:endParaRPr lang="en-US" sz="740" dirty="0"/>
          </a:p>
        </p:txBody>
      </p:sp>
      <p:sp>
        <p:nvSpPr>
          <p:cNvPr id="31" name="Shape 26"/>
          <p:cNvSpPr/>
          <p:nvPr/>
        </p:nvSpPr>
        <p:spPr>
          <a:xfrm>
            <a:off x="475488" y="7726680"/>
            <a:ext cx="6611112" cy="713232"/>
          </a:xfrm>
          <a:prstGeom prst="roundRect">
            <a:avLst>
              <a:gd name="adj" fmla="val 7692"/>
            </a:avLst>
          </a:prstGeom>
          <a:solidFill>
            <a:srgbClr val="0C1E33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676656" y="782726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1,930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676656" y="808329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60"/>
              </a:lnSpc>
              <a:buNone/>
            </a:pPr>
            <a:r>
              <a:rPr lang="en-US" sz="72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cases a year at 1,000 employees</a:t>
            </a:r>
            <a:endParaRPr lang="en-US" sz="720" dirty="0"/>
          </a:p>
        </p:txBody>
      </p:sp>
      <p:sp>
        <p:nvSpPr>
          <p:cNvPr id="34" name="Text 29"/>
          <p:cNvSpPr txBox="1"/>
          <p:nvPr/>
        </p:nvSpPr>
        <p:spPr>
          <a:xfrm>
            <a:off x="2304288" y="782726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23,160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2304288" y="808329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60"/>
              </a:lnSpc>
              <a:buNone/>
            </a:pPr>
            <a:r>
              <a:rPr lang="en-US" sz="72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tasks, each with an owner</a:t>
            </a:r>
            <a:endParaRPr lang="en-US" sz="720" dirty="0"/>
          </a:p>
        </p:txBody>
      </p:sp>
      <p:sp>
        <p:nvSpPr>
          <p:cNvPr id="36" name="Text 31"/>
          <p:cNvSpPr txBox="1"/>
          <p:nvPr/>
        </p:nvSpPr>
        <p:spPr>
          <a:xfrm>
            <a:off x="3931920" y="782726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3931920" y="808329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60"/>
              </a:lnSpc>
              <a:buNone/>
            </a:pPr>
            <a:r>
              <a:rPr lang="en-US" sz="72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authorities covered</a:t>
            </a:r>
            <a:endParaRPr lang="en-US" sz="720" dirty="0"/>
          </a:p>
        </p:txBody>
      </p:sp>
      <p:sp>
        <p:nvSpPr>
          <p:cNvPr id="38" name="Text 33"/>
          <p:cNvSpPr txBox="1"/>
          <p:nvPr/>
        </p:nvSpPr>
        <p:spPr>
          <a:xfrm>
            <a:off x="5559552" y="782726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5559552" y="808329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60"/>
              </a:lnSpc>
              <a:buNone/>
            </a:pPr>
            <a:r>
              <a:rPr lang="en-US" sz="72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Gulf countries ready</a:t>
            </a:r>
            <a:endParaRPr lang="en-US" sz="720" dirty="0"/>
          </a:p>
        </p:txBody>
      </p:sp>
      <p:sp>
        <p:nvSpPr>
          <p:cNvPr id="40" name="Text 35"/>
          <p:cNvSpPr txBox="1"/>
          <p:nvPr/>
        </p:nvSpPr>
        <p:spPr>
          <a:xfrm>
            <a:off x="475488" y="8595360"/>
            <a:ext cx="6611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RUNS ON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475488" y="8796528"/>
            <a:ext cx="6611112" cy="658368"/>
          </a:xfrm>
          <a:prstGeom prst="roundRect">
            <a:avLst>
              <a:gd name="adj" fmla="val 8333"/>
            </a:avLst>
          </a:prstGeom>
          <a:solidFill>
            <a:srgbClr val="EAF2FC"/>
          </a:solidFill>
          <a:ln w="9525">
            <a:solidFill>
              <a:srgbClr val="BBD6F2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21792" y="8796528"/>
            <a:ext cx="6318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6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BTP, Cloud Foundry runtime   ·   SAP HANA Cloud   ·   SAP Build Work Zone   ·   SAP Build Process Automation</a:t>
            </a:r>
            <a:endParaRPr lang="en-US" sz="86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6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Integration Suite   ·   SAP Document Management service   ·   SAP Alert Notification service   ·   SAP Cloud Identity Services</a:t>
            </a:r>
            <a:endParaRPr lang="en-US" sz="860" dirty="0"/>
          </a:p>
        </p:txBody>
      </p:sp>
      <p:sp>
        <p:nvSpPr>
          <p:cNvPr id="43" name="Text 38"/>
          <p:cNvSpPr txBox="1"/>
          <p:nvPr/>
        </p:nvSpPr>
        <p:spPr>
          <a:xfrm>
            <a:off x="475488" y="9546336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80"/>
              </a:lnSpc>
              <a:buNone/>
            </a:pPr>
            <a:r>
              <a:rPr lang="en-US" sz="80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government access. </a:t>
            </a:r>
            <a:pPr indent="0" marL="0">
              <a:lnSpc>
                <a:spcPts val="980"/>
              </a:lnSpc>
              <a:buNone/>
            </a:pPr>
            <a:r>
              <a:rPr lang="en-US" sz="80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access is granted to the employer under its own establishment registration, never to a software vendor. Every connector is built and waits on the credential the customer obtains.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475488" y="9875520"/>
            <a:ext cx="6611112" cy="548640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658368" y="99486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IT Business Solutions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658368" y="101498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Riyadh · Dubai · inkitsolutions.com</a:t>
            </a:r>
            <a:endParaRPr lang="en-US" sz="820" dirty="0"/>
          </a:p>
        </p:txBody>
      </p:sp>
      <p:sp>
        <p:nvSpPr>
          <p:cNvPr id="47" name="Text 42"/>
          <p:cNvSpPr txBox="1"/>
          <p:nvPr/>
        </p:nvSpPr>
        <p:spPr>
          <a:xfrm>
            <a:off x="2990088" y="9948672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adeel.ashraf@inkitsolutions.com   ·   +966 54 617 7071</a:t>
            </a:r>
            <a:endParaRPr lang="en-US" sz="820" dirty="0"/>
          </a:p>
        </p:txBody>
      </p:sp>
      <p:sp>
        <p:nvSpPr>
          <p:cNvPr id="48" name="Text 43"/>
          <p:cNvSpPr txBox="1"/>
          <p:nvPr/>
        </p:nvSpPr>
        <p:spPr>
          <a:xfrm>
            <a:off x="2990088" y="10149840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rabab.alomani@inkitsolutions.com · info@inkitsolutions.com</a:t>
            </a:r>
            <a:endParaRPr lang="en-US" sz="720" dirty="0"/>
          </a:p>
        </p:txBody>
      </p:sp>
      <p:sp>
        <p:nvSpPr>
          <p:cNvPr id="49" name="Shape 44"/>
          <p:cNvSpPr/>
          <p:nvPr/>
        </p:nvSpPr>
        <p:spPr>
          <a:xfrm>
            <a:off x="5788152" y="9948672"/>
            <a:ext cx="1152144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1430">
            <a:solidFill>
              <a:srgbClr val="BBD6F2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5788152" y="9948672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60"/>
              </a:lnSpc>
              <a:buNone/>
            </a:pPr>
            <a:r>
              <a:rPr lang="en-US" sz="660" b="1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SAP partner</a:t>
            </a:r>
            <a:endParaRPr lang="en-US" sz="660" dirty="0"/>
          </a:p>
          <a:p>
            <a:pPr algn="ctr" indent="0" marL="0">
              <a:lnSpc>
                <a:spcPts val="760"/>
              </a:lnSpc>
              <a:buNone/>
            </a:pPr>
            <a:r>
              <a:rPr lang="en-US" sz="660" b="1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]</a:t>
            </a:r>
            <a:endParaRPr lang="en-US" sz="6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INK IT Business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Visa and Permits Management on SAP Business Technology Platform</dc:title>
  <dc:subject>PptxGenJS Presentation</dc:subject>
  <dc:creator>INK IT Business Solutions</dc:creator>
  <cp:lastModifiedBy>INK IT Business Solutions</cp:lastModifiedBy>
  <cp:revision>1</cp:revision>
  <dcterms:created xsi:type="dcterms:W3CDTF">2026-09-25T05:28:43Z</dcterms:created>
  <dcterms:modified xsi:type="dcterms:W3CDTF">2026-09-25T05:28:43Z</dcterms:modified>
</cp:coreProperties>
</file>