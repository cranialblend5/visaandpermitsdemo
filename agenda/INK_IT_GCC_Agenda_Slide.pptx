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on this slide. Say the three things they are getting: the problem, the application running, and what it costs to stand up. Tell them the API question gets answered before they have to ask it. If you are running late, compress healthcare and BTP services. Never compress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02336"/>
            <a:ext cx="11064240" cy="237744"/>
          </a:xfrm>
          <a:prstGeom prst="rect">
            <a:avLst/>
          </a:prstGeom>
          <a:noFill/>
          <a:ln/>
        </p:spPr>
        <p:txBody>
          <a:bodyPr wrap="square" lIns="0" tIns="0" rIns="0" bIns="0" rtlCol="0" anchor="ctr"/>
          <a:lstStyle/>
          <a:p>
            <a:pPr indent="0" marL="0">
              <a:buNone/>
            </a:pPr>
            <a:r>
              <a:rPr lang="en-US" sz="1100" b="1" spc="220" kern="0" dirty="0">
                <a:solidFill>
                  <a:srgbClr val="20A098"/>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000" b="1" dirty="0">
                <a:solidFill>
                  <a:srgbClr val="0C1E33"/>
                </a:solidFill>
                <a:latin typeface="Arial" pitchFamily="34" charset="0"/>
                <a:ea typeface="Arial" pitchFamily="34" charset="-122"/>
                <a:cs typeface="Arial" pitchFamily="34" charset="-120"/>
              </a:rPr>
              <a:t>Twenty minutes, end to end.</a:t>
            </a:r>
            <a:endParaRPr lang="en-US" sz="3000" dirty="0"/>
          </a:p>
        </p:txBody>
      </p:sp>
      <p:sp>
        <p:nvSpPr>
          <p:cNvPr id="4" name="Text 2"/>
          <p:cNvSpPr txBox="1"/>
          <p:nvPr/>
        </p:nvSpPr>
        <p:spPr>
          <a:xfrm>
            <a:off x="548640" y="1243584"/>
            <a:ext cx="10424160" cy="274320"/>
          </a:xfrm>
          <a:prstGeom prst="rect">
            <a:avLst/>
          </a:prstGeom>
          <a:noFill/>
          <a:ln/>
        </p:spPr>
        <p:txBody>
          <a:bodyPr wrap="square" lIns="0" tIns="0" rIns="0" bIns="0" rtlCol="0" anchor="ctr"/>
          <a:lstStyle/>
          <a:p>
            <a:pPr indent="0" marL="0">
              <a:buNone/>
            </a:pPr>
            <a:r>
              <a:rPr lang="en-US" sz="1300" dirty="0">
                <a:solidFill>
                  <a:srgbClr val="5A6C82"/>
                </a:solidFill>
                <a:latin typeface="Calibri" pitchFamily="34" charset="0"/>
                <a:ea typeface="Calibri" pitchFamily="34" charset="-122"/>
                <a:cs typeface="Calibri" pitchFamily="34" charset="-120"/>
              </a:rPr>
              <a:t>The clock on the right is where you should be by the end of each section. Protect the walkthrough, it is the part that sells.</a:t>
            </a:r>
            <a:endParaRPr lang="en-US" sz="1300" dirty="0"/>
          </a:p>
        </p:txBody>
      </p:sp>
      <p:sp>
        <p:nvSpPr>
          <p:cNvPr id="5" name="Text 3"/>
          <p:cNvSpPr txBox="1"/>
          <p:nvPr/>
        </p:nvSpPr>
        <p:spPr>
          <a:xfrm>
            <a:off x="1572768" y="1591056"/>
            <a:ext cx="4023360" cy="182880"/>
          </a:xfrm>
          <a:prstGeom prst="rect">
            <a:avLst/>
          </a:prstGeom>
          <a:noFill/>
          <a:ln/>
        </p:spPr>
        <p:txBody>
          <a:bodyPr wrap="square" lIns="0" tIns="0" rIns="0" bIns="0" rtlCol="0" anchor="ctr"/>
          <a:lstStyle/>
          <a:p>
            <a:pPr algn="l" indent="0" marL="0">
              <a:buNone/>
            </a:pPr>
            <a:r>
              <a:rPr lang="en-US" sz="850" b="1" spc="140" kern="0" dirty="0">
                <a:solidFill>
                  <a:srgbClr val="96A3AE"/>
                </a:solidFill>
                <a:latin typeface="Calibri" pitchFamily="34" charset="0"/>
                <a:ea typeface="Calibri" pitchFamily="34" charset="-122"/>
                <a:cs typeface="Calibri" pitchFamily="34" charset="-120"/>
              </a:rPr>
              <a:t>SECTION</a:t>
            </a:r>
            <a:endParaRPr lang="en-US" sz="850" dirty="0"/>
          </a:p>
        </p:txBody>
      </p:sp>
      <p:sp>
        <p:nvSpPr>
          <p:cNvPr id="6" name="Text 4"/>
          <p:cNvSpPr txBox="1"/>
          <p:nvPr/>
        </p:nvSpPr>
        <p:spPr>
          <a:xfrm>
            <a:off x="5806440" y="1591056"/>
            <a:ext cx="4526280" cy="182880"/>
          </a:xfrm>
          <a:prstGeom prst="rect">
            <a:avLst/>
          </a:prstGeom>
          <a:noFill/>
          <a:ln/>
        </p:spPr>
        <p:txBody>
          <a:bodyPr wrap="square" lIns="0" tIns="0" rIns="0" bIns="0" rtlCol="0" anchor="ctr"/>
          <a:lstStyle/>
          <a:p>
            <a:pPr algn="l" indent="0" marL="0">
              <a:buNone/>
            </a:pPr>
            <a:r>
              <a:rPr lang="en-US" sz="850" b="1" spc="140" kern="0" dirty="0">
                <a:solidFill>
                  <a:srgbClr val="96A3AE"/>
                </a:solidFill>
                <a:latin typeface="Calibri" pitchFamily="34" charset="0"/>
                <a:ea typeface="Calibri" pitchFamily="34" charset="-122"/>
                <a:cs typeface="Calibri" pitchFamily="34" charset="-120"/>
              </a:rPr>
              <a:t>WHAT HAPPENS</a:t>
            </a:r>
            <a:endParaRPr lang="en-US" sz="850" dirty="0"/>
          </a:p>
        </p:txBody>
      </p:sp>
      <p:sp>
        <p:nvSpPr>
          <p:cNvPr id="7" name="Text 5"/>
          <p:cNvSpPr txBox="1"/>
          <p:nvPr/>
        </p:nvSpPr>
        <p:spPr>
          <a:xfrm>
            <a:off x="10378440" y="1591056"/>
            <a:ext cx="1316736" cy="182880"/>
          </a:xfrm>
          <a:prstGeom prst="rect">
            <a:avLst/>
          </a:prstGeom>
          <a:noFill/>
          <a:ln/>
        </p:spPr>
        <p:txBody>
          <a:bodyPr wrap="square" lIns="0" tIns="0" rIns="0" bIns="0" rtlCol="0" anchor="ctr"/>
          <a:lstStyle/>
          <a:p>
            <a:pPr algn="r" indent="0" marL="0">
              <a:buNone/>
            </a:pPr>
            <a:r>
              <a:rPr lang="en-US" sz="850" b="1" spc="140" kern="0" dirty="0">
                <a:solidFill>
                  <a:srgbClr val="96A3AE"/>
                </a:solidFill>
                <a:latin typeface="Calibri" pitchFamily="34" charset="0"/>
                <a:ea typeface="Calibri" pitchFamily="34" charset="-122"/>
                <a:cs typeface="Calibri" pitchFamily="34" charset="-120"/>
              </a:rPr>
              <a:t>BY</a:t>
            </a:r>
            <a:endParaRPr lang="en-US" sz="850" dirty="0"/>
          </a:p>
        </p:txBody>
      </p:sp>
      <p:sp>
        <p:nvSpPr>
          <p:cNvPr id="8" name="Shape 6"/>
          <p:cNvSpPr/>
          <p:nvPr/>
        </p:nvSpPr>
        <p:spPr>
          <a:xfrm>
            <a:off x="548640" y="1810512"/>
            <a:ext cx="11146536" cy="523494"/>
          </a:xfrm>
          <a:prstGeom prst="roundRect">
            <a:avLst>
              <a:gd name="adj" fmla="val 10480"/>
            </a:avLst>
          </a:prstGeom>
          <a:solidFill>
            <a:srgbClr val="F4F6F7"/>
          </a:solidFill>
          <a:ln w="7620">
            <a:solidFill>
              <a:srgbClr val="E3E7EA"/>
            </a:solidFill>
            <a:prstDash val="solid"/>
          </a:ln>
        </p:spPr>
      </p:sp>
      <p:sp>
        <p:nvSpPr>
          <p:cNvPr id="9" name="Shape 7"/>
          <p:cNvSpPr/>
          <p:nvPr/>
        </p:nvSpPr>
        <p:spPr>
          <a:xfrm>
            <a:off x="676656" y="1925955"/>
            <a:ext cx="749808" cy="292608"/>
          </a:xfrm>
          <a:prstGeom prst="roundRect">
            <a:avLst>
              <a:gd name="adj" fmla="val 21875"/>
            </a:avLst>
          </a:prstGeom>
          <a:solidFill>
            <a:srgbClr val="20A098"/>
          </a:solidFill>
          <a:ln/>
        </p:spPr>
      </p:sp>
      <p:sp>
        <p:nvSpPr>
          <p:cNvPr id="10" name="Text 8"/>
          <p:cNvSpPr txBox="1"/>
          <p:nvPr/>
        </p:nvSpPr>
        <p:spPr>
          <a:xfrm>
            <a:off x="676656" y="192595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0:40</a:t>
            </a:r>
            <a:endParaRPr lang="en-US" sz="1050" dirty="0"/>
          </a:p>
        </p:txBody>
      </p:sp>
      <p:sp>
        <p:nvSpPr>
          <p:cNvPr id="11" name="Text 9"/>
          <p:cNvSpPr txBox="1"/>
          <p:nvPr/>
        </p:nvSpPr>
        <p:spPr>
          <a:xfrm>
            <a:off x="1572768" y="195338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Who we are</a:t>
            </a:r>
            <a:endParaRPr lang="en-US" sz="1150" dirty="0"/>
          </a:p>
        </p:txBody>
      </p:sp>
      <p:sp>
        <p:nvSpPr>
          <p:cNvPr id="12" name="Text 10"/>
          <p:cNvSpPr txBox="1"/>
          <p:nvPr/>
        </p:nvSpPr>
        <p:spPr>
          <a:xfrm>
            <a:off x="5806440" y="196253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four people you will be dealing with.</a:t>
            </a:r>
            <a:endParaRPr lang="en-US" sz="940" dirty="0"/>
          </a:p>
        </p:txBody>
      </p:sp>
      <p:sp>
        <p:nvSpPr>
          <p:cNvPr id="13" name="Text 11"/>
          <p:cNvSpPr txBox="1"/>
          <p:nvPr/>
        </p:nvSpPr>
        <p:spPr>
          <a:xfrm>
            <a:off x="10378440" y="195338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0:40</a:t>
            </a:r>
            <a:endParaRPr lang="en-US" sz="1250" dirty="0"/>
          </a:p>
        </p:txBody>
      </p:sp>
      <p:sp>
        <p:nvSpPr>
          <p:cNvPr id="14" name="Shape 12"/>
          <p:cNvSpPr/>
          <p:nvPr/>
        </p:nvSpPr>
        <p:spPr>
          <a:xfrm>
            <a:off x="548640" y="2370582"/>
            <a:ext cx="11146536" cy="523494"/>
          </a:xfrm>
          <a:prstGeom prst="roundRect">
            <a:avLst>
              <a:gd name="adj" fmla="val 10480"/>
            </a:avLst>
          </a:prstGeom>
          <a:solidFill>
            <a:srgbClr val="FFFFFF"/>
          </a:solidFill>
          <a:ln w="7620">
            <a:solidFill>
              <a:srgbClr val="E3E7EA"/>
            </a:solidFill>
            <a:prstDash val="solid"/>
          </a:ln>
        </p:spPr>
      </p:sp>
      <p:sp>
        <p:nvSpPr>
          <p:cNvPr id="15" name="Shape 13"/>
          <p:cNvSpPr/>
          <p:nvPr/>
        </p:nvSpPr>
        <p:spPr>
          <a:xfrm>
            <a:off x="676656" y="2486025"/>
            <a:ext cx="749808" cy="292608"/>
          </a:xfrm>
          <a:prstGeom prst="roundRect">
            <a:avLst>
              <a:gd name="adj" fmla="val 21875"/>
            </a:avLst>
          </a:prstGeom>
          <a:solidFill>
            <a:srgbClr val="12756F"/>
          </a:solidFill>
          <a:ln/>
        </p:spPr>
      </p:sp>
      <p:sp>
        <p:nvSpPr>
          <p:cNvPr id="16" name="Text 14"/>
          <p:cNvSpPr txBox="1"/>
          <p:nvPr/>
        </p:nvSpPr>
        <p:spPr>
          <a:xfrm>
            <a:off x="676656" y="248602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2:00</a:t>
            </a:r>
            <a:endParaRPr lang="en-US" sz="1050" dirty="0"/>
          </a:p>
        </p:txBody>
      </p:sp>
      <p:sp>
        <p:nvSpPr>
          <p:cNvPr id="17" name="Text 15"/>
          <p:cNvSpPr txBox="1"/>
          <p:nvPr/>
        </p:nvSpPr>
        <p:spPr>
          <a:xfrm>
            <a:off x="1572768" y="251345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The problem</a:t>
            </a:r>
            <a:endParaRPr lang="en-US" sz="1150" dirty="0"/>
          </a:p>
        </p:txBody>
      </p:sp>
      <p:sp>
        <p:nvSpPr>
          <p:cNvPr id="18" name="Text 16"/>
          <p:cNvSpPr txBox="1"/>
          <p:nvPr/>
        </p:nvSpPr>
        <p:spPr>
          <a:xfrm>
            <a:off x="5806440" y="252260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One permit, six teams, no shared clock.</a:t>
            </a:r>
            <a:endParaRPr lang="en-US" sz="940" dirty="0"/>
          </a:p>
        </p:txBody>
      </p:sp>
      <p:sp>
        <p:nvSpPr>
          <p:cNvPr id="19" name="Text 17"/>
          <p:cNvSpPr txBox="1"/>
          <p:nvPr/>
        </p:nvSpPr>
        <p:spPr>
          <a:xfrm>
            <a:off x="10378440" y="251345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2:40</a:t>
            </a:r>
            <a:endParaRPr lang="en-US" sz="1250" dirty="0"/>
          </a:p>
        </p:txBody>
      </p:sp>
      <p:sp>
        <p:nvSpPr>
          <p:cNvPr id="20" name="Shape 18"/>
          <p:cNvSpPr/>
          <p:nvPr/>
        </p:nvSpPr>
        <p:spPr>
          <a:xfrm>
            <a:off x="548640" y="2930652"/>
            <a:ext cx="11146536" cy="523494"/>
          </a:xfrm>
          <a:prstGeom prst="roundRect">
            <a:avLst>
              <a:gd name="adj" fmla="val 10480"/>
            </a:avLst>
          </a:prstGeom>
          <a:solidFill>
            <a:srgbClr val="F4F6F7"/>
          </a:solidFill>
          <a:ln w="7620">
            <a:solidFill>
              <a:srgbClr val="E3E7EA"/>
            </a:solidFill>
            <a:prstDash val="solid"/>
          </a:ln>
        </p:spPr>
      </p:sp>
      <p:sp>
        <p:nvSpPr>
          <p:cNvPr id="21" name="Shape 19"/>
          <p:cNvSpPr/>
          <p:nvPr/>
        </p:nvSpPr>
        <p:spPr>
          <a:xfrm>
            <a:off x="676656" y="3046095"/>
            <a:ext cx="749808" cy="292608"/>
          </a:xfrm>
          <a:prstGeom prst="roundRect">
            <a:avLst>
              <a:gd name="adj" fmla="val 21875"/>
            </a:avLst>
          </a:prstGeom>
          <a:solidFill>
            <a:srgbClr val="20A098"/>
          </a:solidFill>
          <a:ln/>
        </p:spPr>
      </p:sp>
      <p:sp>
        <p:nvSpPr>
          <p:cNvPr id="22" name="Text 20"/>
          <p:cNvSpPr txBox="1"/>
          <p:nvPr/>
        </p:nvSpPr>
        <p:spPr>
          <a:xfrm>
            <a:off x="676656" y="304609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2:20</a:t>
            </a:r>
            <a:endParaRPr lang="en-US" sz="1050" dirty="0"/>
          </a:p>
        </p:txBody>
      </p:sp>
      <p:sp>
        <p:nvSpPr>
          <p:cNvPr id="23" name="Text 21"/>
          <p:cNvSpPr txBox="1"/>
          <p:nvPr/>
        </p:nvSpPr>
        <p:spPr>
          <a:xfrm>
            <a:off x="1572768" y="307352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Every permit on one track</a:t>
            </a:r>
            <a:endParaRPr lang="en-US" sz="1150" dirty="0"/>
          </a:p>
        </p:txBody>
      </p:sp>
      <p:sp>
        <p:nvSpPr>
          <p:cNvPr id="24" name="Text 22"/>
          <p:cNvSpPr txBox="1"/>
          <p:nvPr/>
        </p:nvSpPr>
        <p:spPr>
          <a:xfrm>
            <a:off x="5806440" y="308267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application on screen, running a real lifecycle.</a:t>
            </a:r>
            <a:endParaRPr lang="en-US" sz="940" dirty="0"/>
          </a:p>
        </p:txBody>
      </p:sp>
      <p:sp>
        <p:nvSpPr>
          <p:cNvPr id="25" name="Text 23"/>
          <p:cNvSpPr txBox="1"/>
          <p:nvPr/>
        </p:nvSpPr>
        <p:spPr>
          <a:xfrm>
            <a:off x="10378440" y="307352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5:00</a:t>
            </a:r>
            <a:endParaRPr lang="en-US" sz="1250" dirty="0"/>
          </a:p>
        </p:txBody>
      </p:sp>
      <p:sp>
        <p:nvSpPr>
          <p:cNvPr id="26" name="Shape 24"/>
          <p:cNvSpPr/>
          <p:nvPr/>
        </p:nvSpPr>
        <p:spPr>
          <a:xfrm>
            <a:off x="548640" y="3490722"/>
            <a:ext cx="11146536" cy="523494"/>
          </a:xfrm>
          <a:prstGeom prst="roundRect">
            <a:avLst>
              <a:gd name="adj" fmla="val 10480"/>
            </a:avLst>
          </a:prstGeom>
          <a:solidFill>
            <a:srgbClr val="FFFFFF"/>
          </a:solidFill>
          <a:ln w="7620">
            <a:solidFill>
              <a:srgbClr val="E3E7EA"/>
            </a:solidFill>
            <a:prstDash val="solid"/>
          </a:ln>
        </p:spPr>
      </p:sp>
      <p:sp>
        <p:nvSpPr>
          <p:cNvPr id="27" name="Shape 25"/>
          <p:cNvSpPr/>
          <p:nvPr/>
        </p:nvSpPr>
        <p:spPr>
          <a:xfrm>
            <a:off x="676656" y="3606165"/>
            <a:ext cx="749808" cy="292608"/>
          </a:xfrm>
          <a:prstGeom prst="roundRect">
            <a:avLst>
              <a:gd name="adj" fmla="val 21875"/>
            </a:avLst>
          </a:prstGeom>
          <a:solidFill>
            <a:srgbClr val="12756F"/>
          </a:solidFill>
          <a:ln/>
        </p:spPr>
      </p:sp>
      <p:sp>
        <p:nvSpPr>
          <p:cNvPr id="28" name="Text 26"/>
          <p:cNvSpPr txBox="1"/>
          <p:nvPr/>
        </p:nvSpPr>
        <p:spPr>
          <a:xfrm>
            <a:off x="676656" y="360616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3:40</a:t>
            </a:r>
            <a:endParaRPr lang="en-US" sz="1050" dirty="0"/>
          </a:p>
        </p:txBody>
      </p:sp>
      <p:sp>
        <p:nvSpPr>
          <p:cNvPr id="29" name="Text 27"/>
          <p:cNvSpPr txBox="1"/>
          <p:nvPr/>
        </p:nvSpPr>
        <p:spPr>
          <a:xfrm>
            <a:off x="1572768" y="363359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Who does what</a:t>
            </a:r>
            <a:endParaRPr lang="en-US" sz="1150" dirty="0"/>
          </a:p>
        </p:txBody>
      </p:sp>
      <p:sp>
        <p:nvSpPr>
          <p:cNvPr id="30" name="Text 28"/>
          <p:cNvSpPr txBox="1"/>
          <p:nvPr/>
        </p:nvSpPr>
        <p:spPr>
          <a:xfrm>
            <a:off x="5806440" y="364274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Every role has its own queue, with owners and due dates.</a:t>
            </a:r>
            <a:endParaRPr lang="en-US" sz="940" dirty="0"/>
          </a:p>
        </p:txBody>
      </p:sp>
      <p:sp>
        <p:nvSpPr>
          <p:cNvPr id="31" name="Text 29"/>
          <p:cNvSpPr txBox="1"/>
          <p:nvPr/>
        </p:nvSpPr>
        <p:spPr>
          <a:xfrm>
            <a:off x="10378440" y="363359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8:40</a:t>
            </a:r>
            <a:endParaRPr lang="en-US" sz="1250" dirty="0"/>
          </a:p>
        </p:txBody>
      </p:sp>
      <p:sp>
        <p:nvSpPr>
          <p:cNvPr id="32" name="Shape 30"/>
          <p:cNvSpPr/>
          <p:nvPr/>
        </p:nvSpPr>
        <p:spPr>
          <a:xfrm>
            <a:off x="548640" y="4050792"/>
            <a:ext cx="11146536" cy="523494"/>
          </a:xfrm>
          <a:prstGeom prst="roundRect">
            <a:avLst>
              <a:gd name="adj" fmla="val 10480"/>
            </a:avLst>
          </a:prstGeom>
          <a:solidFill>
            <a:srgbClr val="F4F6F7"/>
          </a:solidFill>
          <a:ln w="7620">
            <a:solidFill>
              <a:srgbClr val="E3E7EA"/>
            </a:solidFill>
            <a:prstDash val="solid"/>
          </a:ln>
        </p:spPr>
      </p:sp>
      <p:sp>
        <p:nvSpPr>
          <p:cNvPr id="33" name="Shape 31"/>
          <p:cNvSpPr/>
          <p:nvPr/>
        </p:nvSpPr>
        <p:spPr>
          <a:xfrm>
            <a:off x="676656" y="4166235"/>
            <a:ext cx="749808" cy="292608"/>
          </a:xfrm>
          <a:prstGeom prst="roundRect">
            <a:avLst>
              <a:gd name="adj" fmla="val 21875"/>
            </a:avLst>
          </a:prstGeom>
          <a:solidFill>
            <a:srgbClr val="20A098"/>
          </a:solidFill>
          <a:ln/>
        </p:spPr>
      </p:sp>
      <p:sp>
        <p:nvSpPr>
          <p:cNvPr id="34" name="Text 32"/>
          <p:cNvSpPr txBox="1"/>
          <p:nvPr/>
        </p:nvSpPr>
        <p:spPr>
          <a:xfrm>
            <a:off x="676656" y="416623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2:20</a:t>
            </a:r>
            <a:endParaRPr lang="en-US" sz="1050" dirty="0"/>
          </a:p>
        </p:txBody>
      </p:sp>
      <p:sp>
        <p:nvSpPr>
          <p:cNvPr id="35" name="Text 33"/>
          <p:cNvSpPr txBox="1"/>
          <p:nvPr/>
        </p:nvSpPr>
        <p:spPr>
          <a:xfrm>
            <a:off x="1572768" y="419366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The money trail</a:t>
            </a:r>
            <a:endParaRPr lang="en-US" sz="1150" dirty="0"/>
          </a:p>
        </p:txBody>
      </p:sp>
      <p:sp>
        <p:nvSpPr>
          <p:cNvPr id="36" name="Text 34"/>
          <p:cNvSpPr txBox="1"/>
          <p:nvPr/>
        </p:nvSpPr>
        <p:spPr>
          <a:xfrm>
            <a:off x="5806440" y="420281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No payment without a receipt and a GL code. No duplicates.</a:t>
            </a:r>
            <a:endParaRPr lang="en-US" sz="940" dirty="0"/>
          </a:p>
        </p:txBody>
      </p:sp>
      <p:sp>
        <p:nvSpPr>
          <p:cNvPr id="37" name="Text 35"/>
          <p:cNvSpPr txBox="1"/>
          <p:nvPr/>
        </p:nvSpPr>
        <p:spPr>
          <a:xfrm>
            <a:off x="10378440" y="419366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11:00</a:t>
            </a:r>
            <a:endParaRPr lang="en-US" sz="1250" dirty="0"/>
          </a:p>
        </p:txBody>
      </p:sp>
      <p:sp>
        <p:nvSpPr>
          <p:cNvPr id="38" name="Shape 36"/>
          <p:cNvSpPr/>
          <p:nvPr/>
        </p:nvSpPr>
        <p:spPr>
          <a:xfrm>
            <a:off x="548640" y="4610862"/>
            <a:ext cx="11146536" cy="523494"/>
          </a:xfrm>
          <a:prstGeom prst="roundRect">
            <a:avLst>
              <a:gd name="adj" fmla="val 10480"/>
            </a:avLst>
          </a:prstGeom>
          <a:solidFill>
            <a:srgbClr val="FFFFFF"/>
          </a:solidFill>
          <a:ln w="7620">
            <a:solidFill>
              <a:srgbClr val="E3E7EA"/>
            </a:solidFill>
            <a:prstDash val="solid"/>
          </a:ln>
        </p:spPr>
      </p:sp>
      <p:sp>
        <p:nvSpPr>
          <p:cNvPr id="39" name="Shape 37"/>
          <p:cNvSpPr/>
          <p:nvPr/>
        </p:nvSpPr>
        <p:spPr>
          <a:xfrm>
            <a:off x="676656" y="4726305"/>
            <a:ext cx="749808" cy="292608"/>
          </a:xfrm>
          <a:prstGeom prst="roundRect">
            <a:avLst>
              <a:gd name="adj" fmla="val 21875"/>
            </a:avLst>
          </a:prstGeom>
          <a:solidFill>
            <a:srgbClr val="12756F"/>
          </a:solidFill>
          <a:ln/>
        </p:spPr>
      </p:sp>
      <p:sp>
        <p:nvSpPr>
          <p:cNvPr id="40" name="Text 38"/>
          <p:cNvSpPr txBox="1"/>
          <p:nvPr/>
        </p:nvSpPr>
        <p:spPr>
          <a:xfrm>
            <a:off x="676656" y="472630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3:30</a:t>
            </a:r>
            <a:endParaRPr lang="en-US" sz="1050" dirty="0"/>
          </a:p>
        </p:txBody>
      </p:sp>
      <p:sp>
        <p:nvSpPr>
          <p:cNvPr id="41" name="Text 39"/>
          <p:cNvSpPr txBox="1"/>
          <p:nvPr/>
        </p:nvSpPr>
        <p:spPr>
          <a:xfrm>
            <a:off x="1572768" y="475373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Seven countries, and healthcare</a:t>
            </a:r>
            <a:endParaRPr lang="en-US" sz="1150" dirty="0"/>
          </a:p>
        </p:txBody>
      </p:sp>
      <p:sp>
        <p:nvSpPr>
          <p:cNvPr id="42" name="Text 40"/>
          <p:cNvSpPr txBox="1"/>
          <p:nvPr/>
        </p:nvSpPr>
        <p:spPr>
          <a:xfrm>
            <a:off x="5806440" y="476288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Country packs, permit types, the clinician second licence.</a:t>
            </a:r>
            <a:endParaRPr lang="en-US" sz="940" dirty="0"/>
          </a:p>
        </p:txBody>
      </p:sp>
      <p:sp>
        <p:nvSpPr>
          <p:cNvPr id="43" name="Text 41"/>
          <p:cNvSpPr txBox="1"/>
          <p:nvPr/>
        </p:nvSpPr>
        <p:spPr>
          <a:xfrm>
            <a:off x="10378440" y="475373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14:30</a:t>
            </a:r>
            <a:endParaRPr lang="en-US" sz="1250" dirty="0"/>
          </a:p>
        </p:txBody>
      </p:sp>
      <p:sp>
        <p:nvSpPr>
          <p:cNvPr id="44" name="Shape 42"/>
          <p:cNvSpPr/>
          <p:nvPr/>
        </p:nvSpPr>
        <p:spPr>
          <a:xfrm>
            <a:off x="548640" y="5170932"/>
            <a:ext cx="11146536" cy="523494"/>
          </a:xfrm>
          <a:prstGeom prst="roundRect">
            <a:avLst>
              <a:gd name="adj" fmla="val 10480"/>
            </a:avLst>
          </a:prstGeom>
          <a:solidFill>
            <a:srgbClr val="F4F6F7"/>
          </a:solidFill>
          <a:ln w="7620">
            <a:solidFill>
              <a:srgbClr val="E3E7EA"/>
            </a:solidFill>
            <a:prstDash val="solid"/>
          </a:ln>
        </p:spPr>
      </p:sp>
      <p:sp>
        <p:nvSpPr>
          <p:cNvPr id="45" name="Shape 43"/>
          <p:cNvSpPr/>
          <p:nvPr/>
        </p:nvSpPr>
        <p:spPr>
          <a:xfrm>
            <a:off x="676656" y="5286375"/>
            <a:ext cx="749808" cy="292608"/>
          </a:xfrm>
          <a:prstGeom prst="roundRect">
            <a:avLst>
              <a:gd name="adj" fmla="val 21875"/>
            </a:avLst>
          </a:prstGeom>
          <a:solidFill>
            <a:srgbClr val="20A098"/>
          </a:solidFill>
          <a:ln/>
        </p:spPr>
      </p:sp>
      <p:sp>
        <p:nvSpPr>
          <p:cNvPr id="46" name="Text 44"/>
          <p:cNvSpPr txBox="1"/>
          <p:nvPr/>
        </p:nvSpPr>
        <p:spPr>
          <a:xfrm>
            <a:off x="676656" y="528637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3:30</a:t>
            </a:r>
            <a:endParaRPr lang="en-US" sz="1050" dirty="0"/>
          </a:p>
        </p:txBody>
      </p:sp>
      <p:sp>
        <p:nvSpPr>
          <p:cNvPr id="47" name="Text 45"/>
          <p:cNvSpPr txBox="1"/>
          <p:nvPr/>
        </p:nvSpPr>
        <p:spPr>
          <a:xfrm>
            <a:off x="1572768" y="531380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Architecture and the API question</a:t>
            </a:r>
            <a:endParaRPr lang="en-US" sz="1150" dirty="0"/>
          </a:p>
        </p:txBody>
      </p:sp>
      <p:sp>
        <p:nvSpPr>
          <p:cNvPr id="48" name="Text 46"/>
          <p:cNvSpPr txBox="1"/>
          <p:nvPr/>
        </p:nvSpPr>
        <p:spPr>
          <a:xfrm>
            <a:off x="5806440" y="532295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Where we sit between government and SuccessFactors.</a:t>
            </a:r>
            <a:endParaRPr lang="en-US" sz="940" dirty="0"/>
          </a:p>
        </p:txBody>
      </p:sp>
      <p:sp>
        <p:nvSpPr>
          <p:cNvPr id="49" name="Text 47"/>
          <p:cNvSpPr txBox="1"/>
          <p:nvPr/>
        </p:nvSpPr>
        <p:spPr>
          <a:xfrm>
            <a:off x="10378440" y="5313807"/>
            <a:ext cx="1316736" cy="237744"/>
          </a:xfrm>
          <a:prstGeom prst="rect">
            <a:avLst/>
          </a:prstGeom>
          <a:noFill/>
          <a:ln/>
        </p:spPr>
        <p:txBody>
          <a:bodyPr wrap="square" lIns="0" tIns="0" rIns="0" bIns="0" rtlCol="0" anchor="ctr"/>
          <a:lstStyle/>
          <a:p>
            <a:pPr algn="r" indent="0" marL="0">
              <a:buNone/>
            </a:pPr>
            <a:r>
              <a:rPr lang="en-US" sz="1250" b="1" dirty="0">
                <a:solidFill>
                  <a:srgbClr val="0C1E33"/>
                </a:solidFill>
                <a:latin typeface="Calibri" pitchFamily="34" charset="0"/>
                <a:ea typeface="Calibri" pitchFamily="34" charset="-122"/>
                <a:cs typeface="Calibri" pitchFamily="34" charset="-120"/>
              </a:rPr>
              <a:t>18:00</a:t>
            </a:r>
            <a:endParaRPr lang="en-US" sz="1250" dirty="0"/>
          </a:p>
        </p:txBody>
      </p:sp>
      <p:sp>
        <p:nvSpPr>
          <p:cNvPr id="50" name="Shape 48"/>
          <p:cNvSpPr/>
          <p:nvPr/>
        </p:nvSpPr>
        <p:spPr>
          <a:xfrm>
            <a:off x="548640" y="5731002"/>
            <a:ext cx="11146536" cy="523494"/>
          </a:xfrm>
          <a:prstGeom prst="roundRect">
            <a:avLst>
              <a:gd name="adj" fmla="val 10480"/>
            </a:avLst>
          </a:prstGeom>
          <a:solidFill>
            <a:srgbClr val="FFFFFF"/>
          </a:solidFill>
          <a:ln w="7620">
            <a:solidFill>
              <a:srgbClr val="E3E7EA"/>
            </a:solidFill>
            <a:prstDash val="solid"/>
          </a:ln>
        </p:spPr>
      </p:sp>
      <p:sp>
        <p:nvSpPr>
          <p:cNvPr id="51" name="Shape 49"/>
          <p:cNvSpPr/>
          <p:nvPr/>
        </p:nvSpPr>
        <p:spPr>
          <a:xfrm>
            <a:off x="676656" y="5846445"/>
            <a:ext cx="749808" cy="292608"/>
          </a:xfrm>
          <a:prstGeom prst="roundRect">
            <a:avLst>
              <a:gd name="adj" fmla="val 21875"/>
            </a:avLst>
          </a:prstGeom>
          <a:solidFill>
            <a:srgbClr val="C9A227"/>
          </a:solidFill>
          <a:ln/>
        </p:spPr>
      </p:sp>
      <p:sp>
        <p:nvSpPr>
          <p:cNvPr id="52" name="Text 50"/>
          <p:cNvSpPr txBox="1"/>
          <p:nvPr/>
        </p:nvSpPr>
        <p:spPr>
          <a:xfrm>
            <a:off x="676656" y="5846445"/>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2:00</a:t>
            </a:r>
            <a:endParaRPr lang="en-US" sz="1050" dirty="0"/>
          </a:p>
        </p:txBody>
      </p:sp>
      <p:sp>
        <p:nvSpPr>
          <p:cNvPr id="53" name="Text 51"/>
          <p:cNvSpPr txBox="1"/>
          <p:nvPr/>
        </p:nvSpPr>
        <p:spPr>
          <a:xfrm>
            <a:off x="1572768" y="5873877"/>
            <a:ext cx="4023360" cy="237744"/>
          </a:xfrm>
          <a:prstGeom prst="rect">
            <a:avLst/>
          </a:prstGeom>
          <a:noFill/>
          <a:ln/>
        </p:spPr>
        <p:txBody>
          <a:bodyPr wrap="square" lIns="0" tIns="0" rIns="0" bIns="0" rtlCol="0" anchor="ctr"/>
          <a:lstStyle/>
          <a:p>
            <a:pPr indent="0" marL="0">
              <a:buNone/>
            </a:pPr>
            <a:r>
              <a:rPr lang="en-US" sz="1150" b="1" dirty="0">
                <a:solidFill>
                  <a:srgbClr val="0C1E33"/>
                </a:solidFill>
                <a:latin typeface="Arial" pitchFamily="34" charset="0"/>
                <a:ea typeface="Arial" pitchFamily="34" charset="-122"/>
                <a:cs typeface="Arial" pitchFamily="34" charset="-120"/>
              </a:rPr>
              <a:t>What it runs on, and next steps</a:t>
            </a:r>
            <a:endParaRPr lang="en-US" sz="1150" dirty="0"/>
          </a:p>
        </p:txBody>
      </p:sp>
      <p:sp>
        <p:nvSpPr>
          <p:cNvPr id="54" name="Text 52"/>
          <p:cNvSpPr txBox="1"/>
          <p:nvPr/>
        </p:nvSpPr>
        <p:spPr>
          <a:xfrm>
            <a:off x="5806440" y="5883021"/>
            <a:ext cx="4526280" cy="219456"/>
          </a:xfrm>
          <a:prstGeom prst="rect">
            <a:avLst/>
          </a:prstGeom>
          <a:noFill/>
          <a:ln/>
        </p:spPr>
        <p:txBody>
          <a:bodyPr wrap="square" lIns="0" tIns="0" rIns="0" bIns="0" rtlCol="0" anchor="ctr"/>
          <a:lstStyle/>
          <a:p>
            <a:pPr indent="0" marL="0">
              <a:buNone/>
            </a:pPr>
            <a:r>
              <a:rPr lang="en-US" sz="940" dirty="0">
                <a:solidFill>
                  <a:srgbClr val="5A6C82"/>
                </a:solidFill>
                <a:latin typeface="Calibri" pitchFamily="34" charset="0"/>
                <a:ea typeface="Calibri" pitchFamily="34" charset="-122"/>
                <a:cs typeface="Calibri" pitchFamily="34" charset="-120"/>
              </a:rPr>
              <a:t>The BTP services you provision, and what happens after today.</a:t>
            </a:r>
            <a:endParaRPr lang="en-US" sz="940" dirty="0"/>
          </a:p>
        </p:txBody>
      </p:sp>
      <p:sp>
        <p:nvSpPr>
          <p:cNvPr id="55" name="Text 53"/>
          <p:cNvSpPr txBox="1"/>
          <p:nvPr/>
        </p:nvSpPr>
        <p:spPr>
          <a:xfrm>
            <a:off x="10378440" y="5873877"/>
            <a:ext cx="1316736" cy="237744"/>
          </a:xfrm>
          <a:prstGeom prst="rect">
            <a:avLst/>
          </a:prstGeom>
          <a:noFill/>
          <a:ln/>
        </p:spPr>
        <p:txBody>
          <a:bodyPr wrap="square" lIns="0" tIns="0" rIns="0" bIns="0" rtlCol="0" anchor="ctr"/>
          <a:lstStyle/>
          <a:p>
            <a:pPr algn="r" indent="0" marL="0">
              <a:buNone/>
            </a:pPr>
            <a:r>
              <a:rPr lang="en-US" sz="1250" b="1" dirty="0">
                <a:solidFill>
                  <a:srgbClr val="12756F"/>
                </a:solidFill>
                <a:latin typeface="Calibri" pitchFamily="34" charset="0"/>
                <a:ea typeface="Calibri" pitchFamily="34" charset="-122"/>
                <a:cs typeface="Calibri" pitchFamily="34" charset="-120"/>
              </a:rPr>
              <a:t>20:00</a:t>
            </a:r>
            <a:endParaRPr lang="en-US" sz="1250" dirty="0"/>
          </a:p>
        </p:txBody>
      </p:sp>
      <p:sp>
        <p:nvSpPr>
          <p:cNvPr id="56" name="Text 54"/>
          <p:cNvSpPr txBox="1"/>
          <p:nvPr/>
        </p:nvSpPr>
        <p:spPr>
          <a:xfrm>
            <a:off x="548640" y="6419088"/>
            <a:ext cx="8595360" cy="237744"/>
          </a:xfrm>
          <a:prstGeom prst="rect">
            <a:avLst/>
          </a:prstGeom>
          <a:noFill/>
          <a:ln/>
        </p:spPr>
        <p:txBody>
          <a:bodyPr wrap="square" lIns="0" tIns="0" rIns="0" bIns="0" rtlCol="0" anchor="ctr"/>
          <a:lstStyle/>
          <a:p>
            <a:pPr indent="0" marL="0">
              <a:buNone/>
            </a:pPr>
            <a:r>
              <a:rPr lang="en-US" sz="900" dirty="0">
                <a:solidFill>
                  <a:srgbClr val="96A3AE"/>
                </a:solidFill>
                <a:latin typeface="Calibri" pitchFamily="34" charset="0"/>
                <a:ea typeface="Calibri" pitchFamily="34" charset="-122"/>
                <a:cs typeface="Calibri" pitchFamily="34" charset="-120"/>
              </a:rPr>
              <a:t>INK IT Business Solutions  ·  Visa &amp; Permits Management  ·  GCC</a:t>
            </a:r>
            <a:endParaRPr lang="en-US" sz="900" dirty="0"/>
          </a:p>
        </p:txBody>
      </p:sp>
      <p:sp>
        <p:nvSpPr>
          <p:cNvPr id="57" name="Text 55"/>
          <p:cNvSpPr txBox="1"/>
          <p:nvPr/>
        </p:nvSpPr>
        <p:spPr>
          <a:xfrm>
            <a:off x="10881360" y="6419088"/>
            <a:ext cx="813816" cy="237744"/>
          </a:xfrm>
          <a:prstGeom prst="rect">
            <a:avLst/>
          </a:prstGeom>
          <a:noFill/>
          <a:ln/>
        </p:spPr>
        <p:txBody>
          <a:bodyPr wrap="square" lIns="0" tIns="0" rIns="0" bIns="0" rtlCol="0" anchor="ctr"/>
          <a:lstStyle/>
          <a:p>
            <a:pPr algn="r" indent="0" marL="0">
              <a:buNone/>
            </a:pPr>
            <a:r>
              <a:rPr lang="en-US" sz="900" b="1" dirty="0">
                <a:solidFill>
                  <a:srgbClr val="C9A227"/>
                </a:solidFill>
                <a:latin typeface="Calibri" pitchFamily="34" charset="0"/>
                <a:ea typeface="Calibri" pitchFamily="34" charset="-122"/>
                <a:cs typeface="Calibri" pitchFamily="34" charset="-120"/>
              </a:rPr>
              <a:t>20:00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INK IT Business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Visa &amp; Permits GCC - agenda</dc:title>
  <dc:subject>PptxGenJS Presentation</dc:subject>
  <dc:creator>INK IT Business Solutions</dc:creator>
  <cp:lastModifiedBy>INK IT Business Solutions</cp:lastModifiedBy>
  <cp:revision>1</cp:revision>
  <dcterms:created xsi:type="dcterms:W3CDTF">2026-09-22T12:14:02Z</dcterms:created>
  <dcterms:modified xsi:type="dcterms:W3CDTF">2026-09-22T12:14:02Z</dcterms:modified>
</cp:coreProperties>
</file>