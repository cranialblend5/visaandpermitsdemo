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on this slide. For a mixed room, say who each part is for: the walkthrough is for the PRO desk, Nitaqat is for the CHRO and the CFO, and the architecture section is for the SAP account team. If you are running late, compress compliance and BTP services. Never compress the permit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Twenty minutes, end to end.</a:t>
            </a:r>
            <a:endParaRPr lang="en-US" sz="3000" dirty="0"/>
          </a:p>
        </p:txBody>
      </p:sp>
      <p:sp>
        <p:nvSpPr>
          <p:cNvPr id="4" name="Text 2"/>
          <p:cNvSpPr txBox="1"/>
          <p:nvPr/>
        </p:nvSpPr>
        <p:spPr>
          <a:xfrm>
            <a:off x="548640" y="1243584"/>
            <a:ext cx="10424160" cy="274320"/>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The clock on the right is where you should be by the end of each section. Protect the permit walkthrough, it is the part that sells.</a:t>
            </a:r>
            <a:endParaRPr lang="en-US" sz="1300" dirty="0"/>
          </a:p>
        </p:txBody>
      </p:sp>
      <p:sp>
        <p:nvSpPr>
          <p:cNvPr id="5" name="Text 3"/>
          <p:cNvSpPr txBox="1"/>
          <p:nvPr/>
        </p:nvSpPr>
        <p:spPr>
          <a:xfrm>
            <a:off x="1572768" y="1591056"/>
            <a:ext cx="4023360" cy="182880"/>
          </a:xfrm>
          <a:prstGeom prst="rect">
            <a:avLst/>
          </a:prstGeom>
          <a:noFill/>
          <a:ln/>
        </p:spPr>
        <p:txBody>
          <a:bodyPr wrap="square" lIns="0" tIns="0" rIns="0" bIns="0" rtlCol="0" anchor="ctr"/>
          <a:lstStyle/>
          <a:p>
            <a:pPr algn="l" indent="0" marL="0">
              <a:buNone/>
            </a:pPr>
            <a:r>
              <a:rPr lang="en-US" sz="850" b="1" spc="140" kern="0" dirty="0">
                <a:solidFill>
                  <a:srgbClr val="96A3AE"/>
                </a:solidFill>
                <a:latin typeface="Calibri" pitchFamily="34" charset="0"/>
                <a:ea typeface="Calibri" pitchFamily="34" charset="-122"/>
                <a:cs typeface="Calibri" pitchFamily="34" charset="-120"/>
              </a:rPr>
              <a:t>SECTION</a:t>
            </a:r>
            <a:endParaRPr lang="en-US" sz="850" dirty="0"/>
          </a:p>
        </p:txBody>
      </p:sp>
      <p:sp>
        <p:nvSpPr>
          <p:cNvPr id="6" name="Text 4"/>
          <p:cNvSpPr txBox="1"/>
          <p:nvPr/>
        </p:nvSpPr>
        <p:spPr>
          <a:xfrm>
            <a:off x="5806440" y="1591056"/>
            <a:ext cx="4526280" cy="182880"/>
          </a:xfrm>
          <a:prstGeom prst="rect">
            <a:avLst/>
          </a:prstGeom>
          <a:noFill/>
          <a:ln/>
        </p:spPr>
        <p:txBody>
          <a:bodyPr wrap="square" lIns="0" tIns="0" rIns="0" bIns="0" rtlCol="0" anchor="ctr"/>
          <a:lstStyle/>
          <a:p>
            <a:pPr algn="l" indent="0" marL="0">
              <a:buNone/>
            </a:pPr>
            <a:r>
              <a:rPr lang="en-US" sz="850" b="1" spc="140" kern="0" dirty="0">
                <a:solidFill>
                  <a:srgbClr val="96A3AE"/>
                </a:solidFill>
                <a:latin typeface="Calibri" pitchFamily="34" charset="0"/>
                <a:ea typeface="Calibri" pitchFamily="34" charset="-122"/>
                <a:cs typeface="Calibri" pitchFamily="34" charset="-120"/>
              </a:rPr>
              <a:t>WHAT HAPPENS</a:t>
            </a:r>
            <a:endParaRPr lang="en-US" sz="850" dirty="0"/>
          </a:p>
        </p:txBody>
      </p:sp>
      <p:sp>
        <p:nvSpPr>
          <p:cNvPr id="7" name="Text 5"/>
          <p:cNvSpPr txBox="1"/>
          <p:nvPr/>
        </p:nvSpPr>
        <p:spPr>
          <a:xfrm>
            <a:off x="10378440" y="1591056"/>
            <a:ext cx="1316736" cy="182880"/>
          </a:xfrm>
          <a:prstGeom prst="rect">
            <a:avLst/>
          </a:prstGeom>
          <a:noFill/>
          <a:ln/>
        </p:spPr>
        <p:txBody>
          <a:bodyPr wrap="square" lIns="0" tIns="0" rIns="0" bIns="0" rtlCol="0" anchor="ctr"/>
          <a:lstStyle/>
          <a:p>
            <a:pPr algn="r" indent="0" marL="0">
              <a:buNone/>
            </a:pPr>
            <a:r>
              <a:rPr lang="en-US" sz="850" b="1" spc="140" kern="0" dirty="0">
                <a:solidFill>
                  <a:srgbClr val="96A3AE"/>
                </a:solidFill>
                <a:latin typeface="Calibri" pitchFamily="34" charset="0"/>
                <a:ea typeface="Calibri" pitchFamily="34" charset="-122"/>
                <a:cs typeface="Calibri" pitchFamily="34" charset="-120"/>
              </a:rPr>
              <a:t>BY</a:t>
            </a:r>
            <a:endParaRPr lang="en-US" sz="850" dirty="0"/>
          </a:p>
        </p:txBody>
      </p:sp>
      <p:sp>
        <p:nvSpPr>
          <p:cNvPr id="8" name="Shape 6"/>
          <p:cNvSpPr/>
          <p:nvPr/>
        </p:nvSpPr>
        <p:spPr>
          <a:xfrm>
            <a:off x="548640" y="1810512"/>
            <a:ext cx="11146536" cy="461264"/>
          </a:xfrm>
          <a:prstGeom prst="roundRect">
            <a:avLst>
              <a:gd name="adj" fmla="val 11894"/>
            </a:avLst>
          </a:prstGeom>
          <a:solidFill>
            <a:srgbClr val="F4F6F7"/>
          </a:solidFill>
          <a:ln w="7620">
            <a:solidFill>
              <a:srgbClr val="E3E7EA"/>
            </a:solidFill>
            <a:prstDash val="solid"/>
          </a:ln>
        </p:spPr>
      </p:sp>
      <p:sp>
        <p:nvSpPr>
          <p:cNvPr id="9" name="Shape 7"/>
          <p:cNvSpPr/>
          <p:nvPr/>
        </p:nvSpPr>
        <p:spPr>
          <a:xfrm>
            <a:off x="676656" y="1894840"/>
            <a:ext cx="749808" cy="292608"/>
          </a:xfrm>
          <a:prstGeom prst="roundRect">
            <a:avLst>
              <a:gd name="adj" fmla="val 21875"/>
            </a:avLst>
          </a:prstGeom>
          <a:solidFill>
            <a:srgbClr val="20A098"/>
          </a:solidFill>
          <a:ln/>
        </p:spPr>
      </p:sp>
      <p:sp>
        <p:nvSpPr>
          <p:cNvPr id="10" name="Text 8"/>
          <p:cNvSpPr txBox="1"/>
          <p:nvPr/>
        </p:nvSpPr>
        <p:spPr>
          <a:xfrm>
            <a:off x="676656" y="189484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0:40</a:t>
            </a:r>
            <a:endParaRPr lang="en-US" sz="1050" dirty="0"/>
          </a:p>
        </p:txBody>
      </p:sp>
      <p:sp>
        <p:nvSpPr>
          <p:cNvPr id="11" name="Text 9"/>
          <p:cNvSpPr txBox="1"/>
          <p:nvPr/>
        </p:nvSpPr>
        <p:spPr>
          <a:xfrm>
            <a:off x="1572768" y="192227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Who we are</a:t>
            </a:r>
            <a:endParaRPr lang="en-US" sz="1150" dirty="0"/>
          </a:p>
        </p:txBody>
      </p:sp>
      <p:sp>
        <p:nvSpPr>
          <p:cNvPr id="12" name="Text 10"/>
          <p:cNvSpPr txBox="1"/>
          <p:nvPr/>
        </p:nvSpPr>
        <p:spPr>
          <a:xfrm>
            <a:off x="5806440" y="193141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four people you will be dealing with.</a:t>
            </a:r>
            <a:endParaRPr lang="en-US" sz="940" dirty="0"/>
          </a:p>
        </p:txBody>
      </p:sp>
      <p:sp>
        <p:nvSpPr>
          <p:cNvPr id="13" name="Text 11"/>
          <p:cNvSpPr txBox="1"/>
          <p:nvPr/>
        </p:nvSpPr>
        <p:spPr>
          <a:xfrm>
            <a:off x="10378440" y="192227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0:40</a:t>
            </a:r>
            <a:endParaRPr lang="en-US" sz="1250" dirty="0"/>
          </a:p>
        </p:txBody>
      </p:sp>
      <p:sp>
        <p:nvSpPr>
          <p:cNvPr id="14" name="Shape 12"/>
          <p:cNvSpPr/>
          <p:nvPr/>
        </p:nvSpPr>
        <p:spPr>
          <a:xfrm>
            <a:off x="548640" y="2308352"/>
            <a:ext cx="11146536" cy="461264"/>
          </a:xfrm>
          <a:prstGeom prst="roundRect">
            <a:avLst>
              <a:gd name="adj" fmla="val 11894"/>
            </a:avLst>
          </a:prstGeom>
          <a:solidFill>
            <a:srgbClr val="FFFFFF"/>
          </a:solidFill>
          <a:ln w="7620">
            <a:solidFill>
              <a:srgbClr val="E3E7EA"/>
            </a:solidFill>
            <a:prstDash val="solid"/>
          </a:ln>
        </p:spPr>
      </p:sp>
      <p:sp>
        <p:nvSpPr>
          <p:cNvPr id="15" name="Shape 13"/>
          <p:cNvSpPr/>
          <p:nvPr/>
        </p:nvSpPr>
        <p:spPr>
          <a:xfrm>
            <a:off x="676656" y="2392680"/>
            <a:ext cx="749808" cy="292608"/>
          </a:xfrm>
          <a:prstGeom prst="roundRect">
            <a:avLst>
              <a:gd name="adj" fmla="val 21875"/>
            </a:avLst>
          </a:prstGeom>
          <a:solidFill>
            <a:srgbClr val="12756F"/>
          </a:solidFill>
          <a:ln/>
        </p:spPr>
      </p:sp>
      <p:sp>
        <p:nvSpPr>
          <p:cNvPr id="16" name="Text 14"/>
          <p:cNvSpPr txBox="1"/>
          <p:nvPr/>
        </p:nvSpPr>
        <p:spPr>
          <a:xfrm>
            <a:off x="676656" y="239268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1:20</a:t>
            </a:r>
            <a:endParaRPr lang="en-US" sz="1050" dirty="0"/>
          </a:p>
        </p:txBody>
      </p:sp>
      <p:sp>
        <p:nvSpPr>
          <p:cNvPr id="17" name="Text 15"/>
          <p:cNvSpPr txBox="1"/>
          <p:nvPr/>
        </p:nvSpPr>
        <p:spPr>
          <a:xfrm>
            <a:off x="1572768" y="242011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The problem</a:t>
            </a:r>
            <a:endParaRPr lang="en-US" sz="1150" dirty="0"/>
          </a:p>
        </p:txBody>
      </p:sp>
      <p:sp>
        <p:nvSpPr>
          <p:cNvPr id="18" name="Text 16"/>
          <p:cNvSpPr txBox="1"/>
          <p:nvPr/>
        </p:nvSpPr>
        <p:spPr>
          <a:xfrm>
            <a:off x="5806440" y="242925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Three systems, one employee, nobody joining them up.</a:t>
            </a:r>
            <a:endParaRPr lang="en-US" sz="940" dirty="0"/>
          </a:p>
        </p:txBody>
      </p:sp>
      <p:sp>
        <p:nvSpPr>
          <p:cNvPr id="19" name="Text 17"/>
          <p:cNvSpPr txBox="1"/>
          <p:nvPr/>
        </p:nvSpPr>
        <p:spPr>
          <a:xfrm>
            <a:off x="10378440" y="242011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2:00</a:t>
            </a:r>
            <a:endParaRPr lang="en-US" sz="1250" dirty="0"/>
          </a:p>
        </p:txBody>
      </p:sp>
      <p:sp>
        <p:nvSpPr>
          <p:cNvPr id="20" name="Shape 18"/>
          <p:cNvSpPr/>
          <p:nvPr/>
        </p:nvSpPr>
        <p:spPr>
          <a:xfrm>
            <a:off x="548640" y="2806192"/>
            <a:ext cx="11146536" cy="461264"/>
          </a:xfrm>
          <a:prstGeom prst="roundRect">
            <a:avLst>
              <a:gd name="adj" fmla="val 11894"/>
            </a:avLst>
          </a:prstGeom>
          <a:solidFill>
            <a:srgbClr val="F4F6F7"/>
          </a:solidFill>
          <a:ln w="7620">
            <a:solidFill>
              <a:srgbClr val="E3E7EA"/>
            </a:solidFill>
            <a:prstDash val="solid"/>
          </a:ln>
        </p:spPr>
      </p:sp>
      <p:sp>
        <p:nvSpPr>
          <p:cNvPr id="21" name="Shape 19"/>
          <p:cNvSpPr/>
          <p:nvPr/>
        </p:nvSpPr>
        <p:spPr>
          <a:xfrm>
            <a:off x="676656" y="2890520"/>
            <a:ext cx="749808" cy="292608"/>
          </a:xfrm>
          <a:prstGeom prst="roundRect">
            <a:avLst>
              <a:gd name="adj" fmla="val 21875"/>
            </a:avLst>
          </a:prstGeom>
          <a:solidFill>
            <a:srgbClr val="20A098"/>
          </a:solidFill>
          <a:ln/>
        </p:spPr>
      </p:sp>
      <p:sp>
        <p:nvSpPr>
          <p:cNvPr id="22" name="Text 20"/>
          <p:cNvSpPr txBox="1"/>
          <p:nvPr/>
        </p:nvSpPr>
        <p:spPr>
          <a:xfrm>
            <a:off x="676656" y="289052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2:35</a:t>
            </a:r>
            <a:endParaRPr lang="en-US" sz="1050" dirty="0"/>
          </a:p>
        </p:txBody>
      </p:sp>
      <p:sp>
        <p:nvSpPr>
          <p:cNvPr id="23" name="Text 21"/>
          <p:cNvSpPr txBox="1"/>
          <p:nvPr/>
        </p:nvSpPr>
        <p:spPr>
          <a:xfrm>
            <a:off x="1572768" y="291795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Five Saudi lifecycles</a:t>
            </a:r>
            <a:endParaRPr lang="en-US" sz="1150" dirty="0"/>
          </a:p>
        </p:txBody>
      </p:sp>
      <p:sp>
        <p:nvSpPr>
          <p:cNvPr id="24" name="Text 22"/>
          <p:cNvSpPr txBox="1"/>
          <p:nvPr/>
        </p:nvSpPr>
        <p:spPr>
          <a:xfrm>
            <a:off x="5806440" y="292709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What it is, and which door each worker actually needs.</a:t>
            </a:r>
            <a:endParaRPr lang="en-US" sz="940" dirty="0"/>
          </a:p>
        </p:txBody>
      </p:sp>
      <p:sp>
        <p:nvSpPr>
          <p:cNvPr id="25" name="Text 23"/>
          <p:cNvSpPr txBox="1"/>
          <p:nvPr/>
        </p:nvSpPr>
        <p:spPr>
          <a:xfrm>
            <a:off x="10378440" y="291795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4:35</a:t>
            </a:r>
            <a:endParaRPr lang="en-US" sz="1250" dirty="0"/>
          </a:p>
        </p:txBody>
      </p:sp>
      <p:sp>
        <p:nvSpPr>
          <p:cNvPr id="26" name="Shape 24"/>
          <p:cNvSpPr/>
          <p:nvPr/>
        </p:nvSpPr>
        <p:spPr>
          <a:xfrm>
            <a:off x="548640" y="3304032"/>
            <a:ext cx="11146536" cy="461264"/>
          </a:xfrm>
          <a:prstGeom prst="roundRect">
            <a:avLst>
              <a:gd name="adj" fmla="val 11894"/>
            </a:avLst>
          </a:prstGeom>
          <a:solidFill>
            <a:srgbClr val="FFFFFF"/>
          </a:solidFill>
          <a:ln w="7620">
            <a:solidFill>
              <a:srgbClr val="E3E7EA"/>
            </a:solidFill>
            <a:prstDash val="solid"/>
          </a:ln>
        </p:spPr>
      </p:sp>
      <p:sp>
        <p:nvSpPr>
          <p:cNvPr id="27" name="Shape 25"/>
          <p:cNvSpPr/>
          <p:nvPr/>
        </p:nvSpPr>
        <p:spPr>
          <a:xfrm>
            <a:off x="676656" y="3388360"/>
            <a:ext cx="749808" cy="292608"/>
          </a:xfrm>
          <a:prstGeom prst="roundRect">
            <a:avLst>
              <a:gd name="adj" fmla="val 21875"/>
            </a:avLst>
          </a:prstGeom>
          <a:solidFill>
            <a:srgbClr val="12756F"/>
          </a:solidFill>
          <a:ln/>
        </p:spPr>
      </p:sp>
      <p:sp>
        <p:nvSpPr>
          <p:cNvPr id="28" name="Text 26"/>
          <p:cNvSpPr txBox="1"/>
          <p:nvPr/>
        </p:nvSpPr>
        <p:spPr>
          <a:xfrm>
            <a:off x="676656" y="338836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3:55</a:t>
            </a:r>
            <a:endParaRPr lang="en-US" sz="1050" dirty="0"/>
          </a:p>
        </p:txBody>
      </p:sp>
      <p:sp>
        <p:nvSpPr>
          <p:cNvPr id="29" name="Text 27"/>
          <p:cNvSpPr txBox="1"/>
          <p:nvPr/>
        </p:nvSpPr>
        <p:spPr>
          <a:xfrm>
            <a:off x="1572768" y="341579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Walk a permit, end to end</a:t>
            </a:r>
            <a:endParaRPr lang="en-US" sz="1150" dirty="0"/>
          </a:p>
        </p:txBody>
      </p:sp>
      <p:sp>
        <p:nvSpPr>
          <p:cNvPr id="30" name="Text 28"/>
          <p:cNvSpPr txBox="1"/>
          <p:nvPr/>
        </p:nvSpPr>
        <p:spPr>
          <a:xfrm>
            <a:off x="5806440" y="342493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map, then exit and re-entry: the one that costs most.</a:t>
            </a:r>
            <a:endParaRPr lang="en-US" sz="940" dirty="0"/>
          </a:p>
        </p:txBody>
      </p:sp>
      <p:sp>
        <p:nvSpPr>
          <p:cNvPr id="31" name="Text 29"/>
          <p:cNvSpPr txBox="1"/>
          <p:nvPr/>
        </p:nvSpPr>
        <p:spPr>
          <a:xfrm>
            <a:off x="10378440" y="341579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8:30</a:t>
            </a:r>
            <a:endParaRPr lang="en-US" sz="1250" dirty="0"/>
          </a:p>
        </p:txBody>
      </p:sp>
      <p:sp>
        <p:nvSpPr>
          <p:cNvPr id="32" name="Shape 30"/>
          <p:cNvSpPr/>
          <p:nvPr/>
        </p:nvSpPr>
        <p:spPr>
          <a:xfrm>
            <a:off x="548640" y="3801872"/>
            <a:ext cx="11146536" cy="461264"/>
          </a:xfrm>
          <a:prstGeom prst="roundRect">
            <a:avLst>
              <a:gd name="adj" fmla="val 11894"/>
            </a:avLst>
          </a:prstGeom>
          <a:solidFill>
            <a:srgbClr val="F4F6F7"/>
          </a:solidFill>
          <a:ln w="7620">
            <a:solidFill>
              <a:srgbClr val="E3E7EA"/>
            </a:solidFill>
            <a:prstDash val="solid"/>
          </a:ln>
        </p:spPr>
      </p:sp>
      <p:sp>
        <p:nvSpPr>
          <p:cNvPr id="33" name="Shape 31"/>
          <p:cNvSpPr/>
          <p:nvPr/>
        </p:nvSpPr>
        <p:spPr>
          <a:xfrm>
            <a:off x="676656" y="3886200"/>
            <a:ext cx="749808" cy="292608"/>
          </a:xfrm>
          <a:prstGeom prst="roundRect">
            <a:avLst>
              <a:gd name="adj" fmla="val 21875"/>
            </a:avLst>
          </a:prstGeom>
          <a:solidFill>
            <a:srgbClr val="20A098"/>
          </a:solidFill>
          <a:ln/>
        </p:spPr>
      </p:sp>
      <p:sp>
        <p:nvSpPr>
          <p:cNvPr id="34" name="Text 32"/>
          <p:cNvSpPr txBox="1"/>
          <p:nvPr/>
        </p:nvSpPr>
        <p:spPr>
          <a:xfrm>
            <a:off x="676656" y="388620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1:55</a:t>
            </a:r>
            <a:endParaRPr lang="en-US" sz="1050" dirty="0"/>
          </a:p>
        </p:txBody>
      </p:sp>
      <p:sp>
        <p:nvSpPr>
          <p:cNvPr id="35" name="Text 33"/>
          <p:cNvSpPr txBox="1"/>
          <p:nvPr/>
        </p:nvSpPr>
        <p:spPr>
          <a:xfrm>
            <a:off x="1572768" y="391363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Nitaqat and the hiring switch</a:t>
            </a:r>
            <a:endParaRPr lang="en-US" sz="1150" dirty="0"/>
          </a:p>
        </p:txBody>
      </p:sp>
      <p:sp>
        <p:nvSpPr>
          <p:cNvPr id="36" name="Text 34"/>
          <p:cNvSpPr txBox="1"/>
          <p:nvPr/>
        </p:nvSpPr>
        <p:spPr>
          <a:xfrm>
            <a:off x="5806440" y="392277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number that decides whether you can hire at all.</a:t>
            </a:r>
            <a:endParaRPr lang="en-US" sz="940" dirty="0"/>
          </a:p>
        </p:txBody>
      </p:sp>
      <p:sp>
        <p:nvSpPr>
          <p:cNvPr id="37" name="Text 35"/>
          <p:cNvSpPr txBox="1"/>
          <p:nvPr/>
        </p:nvSpPr>
        <p:spPr>
          <a:xfrm>
            <a:off x="10378440" y="391363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10:25</a:t>
            </a:r>
            <a:endParaRPr lang="en-US" sz="1250" dirty="0"/>
          </a:p>
        </p:txBody>
      </p:sp>
      <p:sp>
        <p:nvSpPr>
          <p:cNvPr id="38" name="Shape 36"/>
          <p:cNvSpPr/>
          <p:nvPr/>
        </p:nvSpPr>
        <p:spPr>
          <a:xfrm>
            <a:off x="548640" y="4299712"/>
            <a:ext cx="11146536" cy="461264"/>
          </a:xfrm>
          <a:prstGeom prst="roundRect">
            <a:avLst>
              <a:gd name="adj" fmla="val 11894"/>
            </a:avLst>
          </a:prstGeom>
          <a:solidFill>
            <a:srgbClr val="FFFFFF"/>
          </a:solidFill>
          <a:ln w="7620">
            <a:solidFill>
              <a:srgbClr val="E3E7EA"/>
            </a:solidFill>
            <a:prstDash val="solid"/>
          </a:ln>
        </p:spPr>
      </p:sp>
      <p:sp>
        <p:nvSpPr>
          <p:cNvPr id="39" name="Shape 37"/>
          <p:cNvSpPr/>
          <p:nvPr/>
        </p:nvSpPr>
        <p:spPr>
          <a:xfrm>
            <a:off x="676656" y="4384040"/>
            <a:ext cx="749808" cy="292608"/>
          </a:xfrm>
          <a:prstGeom prst="roundRect">
            <a:avLst>
              <a:gd name="adj" fmla="val 21875"/>
            </a:avLst>
          </a:prstGeom>
          <a:solidFill>
            <a:srgbClr val="12756F"/>
          </a:solidFill>
          <a:ln/>
        </p:spPr>
      </p:sp>
      <p:sp>
        <p:nvSpPr>
          <p:cNvPr id="40" name="Text 38"/>
          <p:cNvSpPr txBox="1"/>
          <p:nvPr/>
        </p:nvSpPr>
        <p:spPr>
          <a:xfrm>
            <a:off x="676656" y="438404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3:45</a:t>
            </a:r>
            <a:endParaRPr lang="en-US" sz="1050" dirty="0"/>
          </a:p>
        </p:txBody>
      </p:sp>
      <p:sp>
        <p:nvSpPr>
          <p:cNvPr id="41" name="Text 39"/>
          <p:cNvSpPr txBox="1"/>
          <p:nvPr/>
        </p:nvSpPr>
        <p:spPr>
          <a:xfrm>
            <a:off x="1572768" y="441147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Seven portals, one queue</a:t>
            </a:r>
            <a:endParaRPr lang="en-US" sz="1150" dirty="0"/>
          </a:p>
        </p:txBody>
      </p:sp>
      <p:sp>
        <p:nvSpPr>
          <p:cNvPr id="42" name="Text 40"/>
          <p:cNvSpPr txBox="1"/>
          <p:nvPr/>
        </p:nvSpPr>
        <p:spPr>
          <a:xfrm>
            <a:off x="5806440" y="442061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Qiwa, Muqeem, Absher and the rest. Then eight obligations.</a:t>
            </a:r>
            <a:endParaRPr lang="en-US" sz="940" dirty="0"/>
          </a:p>
        </p:txBody>
      </p:sp>
      <p:sp>
        <p:nvSpPr>
          <p:cNvPr id="43" name="Text 41"/>
          <p:cNvSpPr txBox="1"/>
          <p:nvPr/>
        </p:nvSpPr>
        <p:spPr>
          <a:xfrm>
            <a:off x="10378440" y="441147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14:10</a:t>
            </a:r>
            <a:endParaRPr lang="en-US" sz="1250" dirty="0"/>
          </a:p>
        </p:txBody>
      </p:sp>
      <p:sp>
        <p:nvSpPr>
          <p:cNvPr id="44" name="Shape 42"/>
          <p:cNvSpPr/>
          <p:nvPr/>
        </p:nvSpPr>
        <p:spPr>
          <a:xfrm>
            <a:off x="548640" y="4797552"/>
            <a:ext cx="11146536" cy="461264"/>
          </a:xfrm>
          <a:prstGeom prst="roundRect">
            <a:avLst>
              <a:gd name="adj" fmla="val 11894"/>
            </a:avLst>
          </a:prstGeom>
          <a:solidFill>
            <a:srgbClr val="F4F6F7"/>
          </a:solidFill>
          <a:ln w="7620">
            <a:solidFill>
              <a:srgbClr val="E3E7EA"/>
            </a:solidFill>
            <a:prstDash val="solid"/>
          </a:ln>
        </p:spPr>
      </p:sp>
      <p:sp>
        <p:nvSpPr>
          <p:cNvPr id="45" name="Shape 43"/>
          <p:cNvSpPr/>
          <p:nvPr/>
        </p:nvSpPr>
        <p:spPr>
          <a:xfrm>
            <a:off x="676656" y="4881880"/>
            <a:ext cx="749808" cy="292608"/>
          </a:xfrm>
          <a:prstGeom prst="roundRect">
            <a:avLst>
              <a:gd name="adj" fmla="val 21875"/>
            </a:avLst>
          </a:prstGeom>
          <a:solidFill>
            <a:srgbClr val="20A098"/>
          </a:solidFill>
          <a:ln/>
        </p:spPr>
      </p:sp>
      <p:sp>
        <p:nvSpPr>
          <p:cNvPr id="46" name="Text 44"/>
          <p:cNvSpPr txBox="1"/>
          <p:nvPr/>
        </p:nvSpPr>
        <p:spPr>
          <a:xfrm>
            <a:off x="676656" y="488188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2:15</a:t>
            </a:r>
            <a:endParaRPr lang="en-US" sz="1050" dirty="0"/>
          </a:p>
        </p:txBody>
      </p:sp>
      <p:sp>
        <p:nvSpPr>
          <p:cNvPr id="47" name="Text 45"/>
          <p:cNvSpPr txBox="1"/>
          <p:nvPr/>
        </p:nvSpPr>
        <p:spPr>
          <a:xfrm>
            <a:off x="1572768" y="490931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Who does what, and what it costs</a:t>
            </a:r>
            <a:endParaRPr lang="en-US" sz="1150" dirty="0"/>
          </a:p>
        </p:txBody>
      </p:sp>
      <p:sp>
        <p:nvSpPr>
          <p:cNvPr id="48" name="Text 46"/>
          <p:cNvSpPr txBox="1"/>
          <p:nvPr/>
        </p:nvSpPr>
        <p:spPr>
          <a:xfrm>
            <a:off x="5806440" y="491845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Every step owned. Every riyal accounted for.</a:t>
            </a:r>
            <a:endParaRPr lang="en-US" sz="940" dirty="0"/>
          </a:p>
        </p:txBody>
      </p:sp>
      <p:sp>
        <p:nvSpPr>
          <p:cNvPr id="49" name="Text 47"/>
          <p:cNvSpPr txBox="1"/>
          <p:nvPr/>
        </p:nvSpPr>
        <p:spPr>
          <a:xfrm>
            <a:off x="10378440" y="490931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16:25</a:t>
            </a:r>
            <a:endParaRPr lang="en-US" sz="1250" dirty="0"/>
          </a:p>
        </p:txBody>
      </p:sp>
      <p:sp>
        <p:nvSpPr>
          <p:cNvPr id="50" name="Shape 48"/>
          <p:cNvSpPr/>
          <p:nvPr/>
        </p:nvSpPr>
        <p:spPr>
          <a:xfrm>
            <a:off x="548640" y="5295392"/>
            <a:ext cx="11146536" cy="461264"/>
          </a:xfrm>
          <a:prstGeom prst="roundRect">
            <a:avLst>
              <a:gd name="adj" fmla="val 11894"/>
            </a:avLst>
          </a:prstGeom>
          <a:solidFill>
            <a:srgbClr val="FFFFFF"/>
          </a:solidFill>
          <a:ln w="7620">
            <a:solidFill>
              <a:srgbClr val="E3E7EA"/>
            </a:solidFill>
            <a:prstDash val="solid"/>
          </a:ln>
        </p:spPr>
      </p:sp>
      <p:sp>
        <p:nvSpPr>
          <p:cNvPr id="51" name="Shape 49"/>
          <p:cNvSpPr/>
          <p:nvPr/>
        </p:nvSpPr>
        <p:spPr>
          <a:xfrm>
            <a:off x="676656" y="5379720"/>
            <a:ext cx="749808" cy="292608"/>
          </a:xfrm>
          <a:prstGeom prst="roundRect">
            <a:avLst>
              <a:gd name="adj" fmla="val 21875"/>
            </a:avLst>
          </a:prstGeom>
          <a:solidFill>
            <a:srgbClr val="12756F"/>
          </a:solidFill>
          <a:ln/>
        </p:spPr>
      </p:sp>
      <p:sp>
        <p:nvSpPr>
          <p:cNvPr id="52" name="Text 50"/>
          <p:cNvSpPr txBox="1"/>
          <p:nvPr/>
        </p:nvSpPr>
        <p:spPr>
          <a:xfrm>
            <a:off x="676656" y="537972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2:35</a:t>
            </a:r>
            <a:endParaRPr lang="en-US" sz="1050" dirty="0"/>
          </a:p>
        </p:txBody>
      </p:sp>
      <p:sp>
        <p:nvSpPr>
          <p:cNvPr id="53" name="Text 51"/>
          <p:cNvSpPr txBox="1"/>
          <p:nvPr/>
        </p:nvSpPr>
        <p:spPr>
          <a:xfrm>
            <a:off x="1572768" y="540715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Architecture and what it runs on</a:t>
            </a:r>
            <a:endParaRPr lang="en-US" sz="1150" dirty="0"/>
          </a:p>
        </p:txBody>
      </p:sp>
      <p:sp>
        <p:nvSpPr>
          <p:cNvPr id="54" name="Text 52"/>
          <p:cNvSpPr txBox="1"/>
          <p:nvPr/>
        </p:nvSpPr>
        <p:spPr>
          <a:xfrm>
            <a:off x="5806440" y="541629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Every system, what moves between them, the BTP services.</a:t>
            </a:r>
            <a:endParaRPr lang="en-US" sz="940" dirty="0"/>
          </a:p>
        </p:txBody>
      </p:sp>
      <p:sp>
        <p:nvSpPr>
          <p:cNvPr id="55" name="Text 53"/>
          <p:cNvSpPr txBox="1"/>
          <p:nvPr/>
        </p:nvSpPr>
        <p:spPr>
          <a:xfrm>
            <a:off x="10378440" y="5407152"/>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19:00</a:t>
            </a:r>
            <a:endParaRPr lang="en-US" sz="1250" dirty="0"/>
          </a:p>
        </p:txBody>
      </p:sp>
      <p:sp>
        <p:nvSpPr>
          <p:cNvPr id="56" name="Shape 54"/>
          <p:cNvSpPr/>
          <p:nvPr/>
        </p:nvSpPr>
        <p:spPr>
          <a:xfrm>
            <a:off x="548640" y="5793232"/>
            <a:ext cx="11146536" cy="461264"/>
          </a:xfrm>
          <a:prstGeom prst="roundRect">
            <a:avLst>
              <a:gd name="adj" fmla="val 11894"/>
            </a:avLst>
          </a:prstGeom>
          <a:solidFill>
            <a:srgbClr val="F4F6F7"/>
          </a:solidFill>
          <a:ln w="7620">
            <a:solidFill>
              <a:srgbClr val="E3E7EA"/>
            </a:solidFill>
            <a:prstDash val="solid"/>
          </a:ln>
        </p:spPr>
      </p:sp>
      <p:sp>
        <p:nvSpPr>
          <p:cNvPr id="57" name="Shape 55"/>
          <p:cNvSpPr/>
          <p:nvPr/>
        </p:nvSpPr>
        <p:spPr>
          <a:xfrm>
            <a:off x="676656" y="5877560"/>
            <a:ext cx="749808" cy="292608"/>
          </a:xfrm>
          <a:prstGeom prst="roundRect">
            <a:avLst>
              <a:gd name="adj" fmla="val 21875"/>
            </a:avLst>
          </a:prstGeom>
          <a:solidFill>
            <a:srgbClr val="C9A227"/>
          </a:solidFill>
          <a:ln/>
        </p:spPr>
      </p:sp>
      <p:sp>
        <p:nvSpPr>
          <p:cNvPr id="58" name="Text 56"/>
          <p:cNvSpPr txBox="1"/>
          <p:nvPr/>
        </p:nvSpPr>
        <p:spPr>
          <a:xfrm>
            <a:off x="676656" y="587756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59" name="Text 57"/>
          <p:cNvSpPr txBox="1"/>
          <p:nvPr/>
        </p:nvSpPr>
        <p:spPr>
          <a:xfrm>
            <a:off x="1572768" y="5904992"/>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Beyond the Kingdom</a:t>
            </a:r>
            <a:endParaRPr lang="en-US" sz="1150" dirty="0"/>
          </a:p>
        </p:txBody>
      </p:sp>
      <p:sp>
        <p:nvSpPr>
          <p:cNvPr id="60" name="Text 58"/>
          <p:cNvSpPr txBox="1"/>
          <p:nvPr/>
        </p:nvSpPr>
        <p:spPr>
          <a:xfrm>
            <a:off x="5806440" y="5914136"/>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Saudi Arabia is one pack. There are seven.</a:t>
            </a:r>
            <a:endParaRPr lang="en-US" sz="940" dirty="0"/>
          </a:p>
        </p:txBody>
      </p:sp>
      <p:sp>
        <p:nvSpPr>
          <p:cNvPr id="61" name="Text 59"/>
          <p:cNvSpPr txBox="1"/>
          <p:nvPr/>
        </p:nvSpPr>
        <p:spPr>
          <a:xfrm>
            <a:off x="10378440" y="5904992"/>
            <a:ext cx="1316736" cy="237744"/>
          </a:xfrm>
          <a:prstGeom prst="rect">
            <a:avLst/>
          </a:prstGeom>
          <a:noFill/>
          <a:ln/>
        </p:spPr>
        <p:txBody>
          <a:bodyPr wrap="square" lIns="0" tIns="0" rIns="0" bIns="0" rtlCol="0" anchor="ctr"/>
          <a:lstStyle/>
          <a:p>
            <a:pPr algn="r" indent="0" marL="0">
              <a:buNone/>
            </a:pPr>
            <a:r>
              <a:rPr lang="en-US" sz="1250" b="1" dirty="0">
                <a:solidFill>
                  <a:srgbClr val="12756F"/>
                </a:solidFill>
                <a:latin typeface="Calibri" pitchFamily="34" charset="0"/>
                <a:ea typeface="Calibri" pitchFamily="34" charset="-122"/>
                <a:cs typeface="Calibri" pitchFamily="34" charset="-120"/>
              </a:rPr>
              <a:t>20:00</a:t>
            </a:r>
            <a:endParaRPr lang="en-US" sz="1250" dirty="0"/>
          </a:p>
        </p:txBody>
      </p:sp>
      <p:sp>
        <p:nvSpPr>
          <p:cNvPr id="62" name="Text 60"/>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63" name="Text 61"/>
          <p:cNvSpPr txBox="1"/>
          <p:nvPr/>
        </p:nvSpPr>
        <p:spPr>
          <a:xfrm>
            <a:off x="10881360" y="6419088"/>
            <a:ext cx="813816" cy="237744"/>
          </a:xfrm>
          <a:prstGeom prst="rect">
            <a:avLst/>
          </a:prstGeom>
          <a:noFill/>
          <a:ln/>
        </p:spPr>
        <p:txBody>
          <a:bodyPr wrap="square" lIns="0" tIns="0" rIns="0" bIns="0" rtlCol="0" anchor="ctr"/>
          <a:lstStyle/>
          <a:p>
            <a:pPr algn="r" indent="0" marL="0">
              <a:buNone/>
            </a:pPr>
            <a:r>
              <a:rPr lang="en-US" sz="900" b="1" dirty="0">
                <a:solidFill>
                  <a:srgbClr val="C9A227"/>
                </a:solidFill>
                <a:latin typeface="Calibri" pitchFamily="34" charset="0"/>
                <a:ea typeface="Calibri" pitchFamily="34" charset="-122"/>
                <a:cs typeface="Calibri" pitchFamily="34" charset="-120"/>
              </a:rPr>
              <a:t>20:00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INK IT Business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Visa &amp; Permits KSA - agenda</dc:title>
  <dc:subject>PptxGenJS Presentation</dc:subject>
  <dc:creator>INK IT Business Solutions</dc:creator>
  <cp:lastModifiedBy>INK IT Business Solutions</cp:lastModifiedBy>
  <cp:revision>1</cp:revision>
  <dcterms:created xsi:type="dcterms:W3CDTF">2026-09-22T12:14:02Z</dcterms:created>
  <dcterms:modified xsi:type="dcterms:W3CDTF">2026-09-22T12:14:02Z</dcterms:modified>
</cp:coreProperties>
</file>