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on this slide. For a mixed room, say who each part is for: the walkthrough is for the PRO desk, Nitaqat is for the CHRO and the CFO, and the architecture section is for the SAP account team. Your own timings are stamped on each slide in this deck. If you are running late, compress compliance and BTP services. Never compress the permit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AGENDA</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Twenty minutes, end to end.</a:t>
            </a:r>
            <a:endParaRPr lang="en-US" sz="3000" dirty="0"/>
          </a:p>
        </p:txBody>
      </p:sp>
      <p:sp>
        <p:nvSpPr>
          <p:cNvPr id="4" name="Text 2"/>
          <p:cNvSpPr txBox="1"/>
          <p:nvPr/>
        </p:nvSpPr>
        <p:spPr>
          <a:xfrm>
            <a:off x="548640" y="1243584"/>
            <a:ext cx="10424160" cy="274320"/>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What we will walk through, and roughly how long we will spend on each part. Questions are welcome as we go.</a:t>
            </a:r>
            <a:endParaRPr lang="en-US" sz="1300" dirty="0"/>
          </a:p>
        </p:txBody>
      </p:sp>
      <p:sp>
        <p:nvSpPr>
          <p:cNvPr id="5" name="Text 3"/>
          <p:cNvSpPr txBox="1"/>
          <p:nvPr/>
        </p:nvSpPr>
        <p:spPr>
          <a:xfrm>
            <a:off x="676656" y="1591056"/>
            <a:ext cx="749808" cy="182880"/>
          </a:xfrm>
          <a:prstGeom prst="rect">
            <a:avLst/>
          </a:prstGeom>
          <a:noFill/>
          <a:ln/>
        </p:spPr>
        <p:txBody>
          <a:bodyPr wrap="square" lIns="0" tIns="0" rIns="0" bIns="0" rtlCol="0" anchor="ctr"/>
          <a:lstStyle/>
          <a:p>
            <a:pPr algn="ctr" indent="0" marL="0">
              <a:buNone/>
            </a:pPr>
            <a:r>
              <a:rPr lang="en-US" sz="850" b="1" spc="140" kern="0" dirty="0">
                <a:solidFill>
                  <a:srgbClr val="96A3AE"/>
                </a:solidFill>
                <a:latin typeface="Calibri" pitchFamily="34" charset="0"/>
                <a:ea typeface="Calibri" pitchFamily="34" charset="-122"/>
                <a:cs typeface="Calibri" pitchFamily="34" charset="-120"/>
              </a:rPr>
              <a:t>MINS</a:t>
            </a:r>
            <a:endParaRPr lang="en-US" sz="850" dirty="0"/>
          </a:p>
        </p:txBody>
      </p:sp>
      <p:sp>
        <p:nvSpPr>
          <p:cNvPr id="6" name="Text 4"/>
          <p:cNvSpPr txBox="1"/>
          <p:nvPr/>
        </p:nvSpPr>
        <p:spPr>
          <a:xfrm>
            <a:off x="1572768" y="1591056"/>
            <a:ext cx="3291840" cy="182880"/>
          </a:xfrm>
          <a:prstGeom prst="rect">
            <a:avLst/>
          </a:prstGeom>
          <a:noFill/>
          <a:ln/>
        </p:spPr>
        <p:txBody>
          <a:bodyPr wrap="square" lIns="0" tIns="0" rIns="0" bIns="0" rtlCol="0" anchor="ctr"/>
          <a:lstStyle/>
          <a:p>
            <a:pPr algn="l" indent="0" marL="0">
              <a:buNone/>
            </a:pPr>
            <a:r>
              <a:rPr lang="en-US" sz="850" b="1" spc="140" kern="0" dirty="0">
                <a:solidFill>
                  <a:srgbClr val="96A3AE"/>
                </a:solidFill>
                <a:latin typeface="Calibri" pitchFamily="34" charset="0"/>
                <a:ea typeface="Calibri" pitchFamily="34" charset="-122"/>
                <a:cs typeface="Calibri" pitchFamily="34" charset="-120"/>
              </a:rPr>
              <a:t>SECTION</a:t>
            </a:r>
            <a:endParaRPr lang="en-US" sz="850" dirty="0"/>
          </a:p>
        </p:txBody>
      </p:sp>
      <p:sp>
        <p:nvSpPr>
          <p:cNvPr id="7" name="Text 5"/>
          <p:cNvSpPr txBox="1"/>
          <p:nvPr/>
        </p:nvSpPr>
        <p:spPr>
          <a:xfrm>
            <a:off x="5074920" y="1591056"/>
            <a:ext cx="6620256" cy="182880"/>
          </a:xfrm>
          <a:prstGeom prst="rect">
            <a:avLst/>
          </a:prstGeom>
          <a:noFill/>
          <a:ln/>
        </p:spPr>
        <p:txBody>
          <a:bodyPr wrap="square" lIns="0" tIns="0" rIns="0" bIns="0" rtlCol="0" anchor="ctr"/>
          <a:lstStyle/>
          <a:p>
            <a:pPr algn="l" indent="0" marL="0">
              <a:buNone/>
            </a:pPr>
            <a:r>
              <a:rPr lang="en-US" sz="850" b="1" spc="140" kern="0" dirty="0">
                <a:solidFill>
                  <a:srgbClr val="96A3AE"/>
                </a:solidFill>
                <a:latin typeface="Calibri" pitchFamily="34" charset="0"/>
                <a:ea typeface="Calibri" pitchFamily="34" charset="-122"/>
                <a:cs typeface="Calibri" pitchFamily="34" charset="-120"/>
              </a:rPr>
              <a:t>WHAT WE COVER</a:t>
            </a:r>
            <a:endParaRPr lang="en-US" sz="850" dirty="0"/>
          </a:p>
        </p:txBody>
      </p:sp>
      <p:sp>
        <p:nvSpPr>
          <p:cNvPr id="8" name="Shape 6"/>
          <p:cNvSpPr/>
          <p:nvPr/>
        </p:nvSpPr>
        <p:spPr>
          <a:xfrm>
            <a:off x="548640" y="1810512"/>
            <a:ext cx="11146536" cy="461264"/>
          </a:xfrm>
          <a:prstGeom prst="roundRect">
            <a:avLst>
              <a:gd name="adj" fmla="val 11894"/>
            </a:avLst>
          </a:prstGeom>
          <a:solidFill>
            <a:srgbClr val="F4F6F7"/>
          </a:solidFill>
          <a:ln w="7620">
            <a:solidFill>
              <a:srgbClr val="E3E7EA"/>
            </a:solidFill>
            <a:prstDash val="solid"/>
          </a:ln>
        </p:spPr>
      </p:sp>
      <p:sp>
        <p:nvSpPr>
          <p:cNvPr id="9" name="Shape 7"/>
          <p:cNvSpPr/>
          <p:nvPr/>
        </p:nvSpPr>
        <p:spPr>
          <a:xfrm>
            <a:off x="676656" y="1894840"/>
            <a:ext cx="749808" cy="292608"/>
          </a:xfrm>
          <a:prstGeom prst="roundRect">
            <a:avLst>
              <a:gd name="adj" fmla="val 21875"/>
            </a:avLst>
          </a:prstGeom>
          <a:solidFill>
            <a:srgbClr val="20A098"/>
          </a:solidFill>
          <a:ln/>
        </p:spPr>
      </p:sp>
      <p:sp>
        <p:nvSpPr>
          <p:cNvPr id="10" name="Text 8"/>
          <p:cNvSpPr txBox="1"/>
          <p:nvPr/>
        </p:nvSpPr>
        <p:spPr>
          <a:xfrm>
            <a:off x="676656" y="1894840"/>
            <a:ext cx="7498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1" name="Text 9"/>
          <p:cNvSpPr txBox="1"/>
          <p:nvPr/>
        </p:nvSpPr>
        <p:spPr>
          <a:xfrm>
            <a:off x="1572768" y="1922272"/>
            <a:ext cx="3291840" cy="237744"/>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Who we are</a:t>
            </a:r>
            <a:endParaRPr lang="en-US" sz="1150" dirty="0"/>
          </a:p>
        </p:txBody>
      </p:sp>
      <p:sp>
        <p:nvSpPr>
          <p:cNvPr id="12" name="Text 10"/>
          <p:cNvSpPr txBox="1"/>
          <p:nvPr/>
        </p:nvSpPr>
        <p:spPr>
          <a:xfrm>
            <a:off x="5074920" y="1931416"/>
            <a:ext cx="6620256" cy="219456"/>
          </a:xfrm>
          <a:prstGeom prst="rect">
            <a:avLst/>
          </a:prstGeom>
          <a:noFill/>
          <a:ln/>
        </p:spPr>
        <p:txBody>
          <a:bodyPr wrap="square" lIns="0" tIns="0" rIns="0" bIns="0" rtlCol="0" anchor="ctr"/>
          <a:lstStyle/>
          <a:p>
            <a:pPr indent="0" marL="0">
              <a:buNone/>
            </a:pPr>
            <a:r>
              <a:rPr lang="en-US" sz="940" dirty="0">
                <a:solidFill>
                  <a:srgbClr val="5A6C82"/>
                </a:solidFill>
                <a:latin typeface="Calibri" pitchFamily="34" charset="0"/>
                <a:ea typeface="Calibri" pitchFamily="34" charset="-122"/>
                <a:cs typeface="Calibri" pitchFamily="34" charset="-120"/>
              </a:rPr>
              <a:t>The four people you will be dealing with.</a:t>
            </a:r>
            <a:endParaRPr lang="en-US" sz="940" dirty="0"/>
          </a:p>
        </p:txBody>
      </p:sp>
      <p:sp>
        <p:nvSpPr>
          <p:cNvPr id="13" name="Shape 11"/>
          <p:cNvSpPr/>
          <p:nvPr/>
        </p:nvSpPr>
        <p:spPr>
          <a:xfrm>
            <a:off x="548640" y="2308352"/>
            <a:ext cx="11146536" cy="461264"/>
          </a:xfrm>
          <a:prstGeom prst="roundRect">
            <a:avLst>
              <a:gd name="adj" fmla="val 11894"/>
            </a:avLst>
          </a:prstGeom>
          <a:solidFill>
            <a:srgbClr val="FFFFFF"/>
          </a:solidFill>
          <a:ln w="7620">
            <a:solidFill>
              <a:srgbClr val="E3E7EA"/>
            </a:solidFill>
            <a:prstDash val="solid"/>
          </a:ln>
        </p:spPr>
      </p:sp>
      <p:sp>
        <p:nvSpPr>
          <p:cNvPr id="14" name="Shape 12"/>
          <p:cNvSpPr/>
          <p:nvPr/>
        </p:nvSpPr>
        <p:spPr>
          <a:xfrm>
            <a:off x="676656" y="2392680"/>
            <a:ext cx="749808" cy="292608"/>
          </a:xfrm>
          <a:prstGeom prst="roundRect">
            <a:avLst>
              <a:gd name="adj" fmla="val 21875"/>
            </a:avLst>
          </a:prstGeom>
          <a:solidFill>
            <a:srgbClr val="12756F"/>
          </a:solidFill>
          <a:ln/>
        </p:spPr>
      </p:sp>
      <p:sp>
        <p:nvSpPr>
          <p:cNvPr id="15" name="Text 13"/>
          <p:cNvSpPr txBox="1"/>
          <p:nvPr/>
        </p:nvSpPr>
        <p:spPr>
          <a:xfrm>
            <a:off x="676656" y="2392680"/>
            <a:ext cx="7498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1572768" y="2420112"/>
            <a:ext cx="3291840" cy="237744"/>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The problem</a:t>
            </a:r>
            <a:endParaRPr lang="en-US" sz="1150" dirty="0"/>
          </a:p>
        </p:txBody>
      </p:sp>
      <p:sp>
        <p:nvSpPr>
          <p:cNvPr id="17" name="Text 15"/>
          <p:cNvSpPr txBox="1"/>
          <p:nvPr/>
        </p:nvSpPr>
        <p:spPr>
          <a:xfrm>
            <a:off x="5074920" y="2429256"/>
            <a:ext cx="6620256" cy="219456"/>
          </a:xfrm>
          <a:prstGeom prst="rect">
            <a:avLst/>
          </a:prstGeom>
          <a:noFill/>
          <a:ln/>
        </p:spPr>
        <p:txBody>
          <a:bodyPr wrap="square" lIns="0" tIns="0" rIns="0" bIns="0" rtlCol="0" anchor="ctr"/>
          <a:lstStyle/>
          <a:p>
            <a:pPr indent="0" marL="0">
              <a:buNone/>
            </a:pPr>
            <a:r>
              <a:rPr lang="en-US" sz="940" dirty="0">
                <a:solidFill>
                  <a:srgbClr val="5A6C82"/>
                </a:solidFill>
                <a:latin typeface="Calibri" pitchFamily="34" charset="0"/>
                <a:ea typeface="Calibri" pitchFamily="34" charset="-122"/>
                <a:cs typeface="Calibri" pitchFamily="34" charset="-120"/>
              </a:rPr>
              <a:t>Three systems, one employee, nobody joining them up.</a:t>
            </a:r>
            <a:endParaRPr lang="en-US" sz="940" dirty="0"/>
          </a:p>
        </p:txBody>
      </p:sp>
      <p:sp>
        <p:nvSpPr>
          <p:cNvPr id="18" name="Shape 16"/>
          <p:cNvSpPr/>
          <p:nvPr/>
        </p:nvSpPr>
        <p:spPr>
          <a:xfrm>
            <a:off x="548640" y="2806192"/>
            <a:ext cx="11146536" cy="461264"/>
          </a:xfrm>
          <a:prstGeom prst="roundRect">
            <a:avLst>
              <a:gd name="adj" fmla="val 11894"/>
            </a:avLst>
          </a:prstGeom>
          <a:solidFill>
            <a:srgbClr val="F4F6F7"/>
          </a:solidFill>
          <a:ln w="7620">
            <a:solidFill>
              <a:srgbClr val="E3E7EA"/>
            </a:solidFill>
            <a:prstDash val="solid"/>
          </a:ln>
        </p:spPr>
      </p:sp>
      <p:sp>
        <p:nvSpPr>
          <p:cNvPr id="19" name="Shape 17"/>
          <p:cNvSpPr/>
          <p:nvPr/>
        </p:nvSpPr>
        <p:spPr>
          <a:xfrm>
            <a:off x="676656" y="2890520"/>
            <a:ext cx="749808" cy="292608"/>
          </a:xfrm>
          <a:prstGeom prst="roundRect">
            <a:avLst>
              <a:gd name="adj" fmla="val 21875"/>
            </a:avLst>
          </a:prstGeom>
          <a:solidFill>
            <a:srgbClr val="20A098"/>
          </a:solidFill>
          <a:ln/>
        </p:spPr>
      </p:sp>
      <p:sp>
        <p:nvSpPr>
          <p:cNvPr id="20" name="Text 18"/>
          <p:cNvSpPr txBox="1"/>
          <p:nvPr/>
        </p:nvSpPr>
        <p:spPr>
          <a:xfrm>
            <a:off x="676656" y="2890520"/>
            <a:ext cx="7498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1" name="Text 19"/>
          <p:cNvSpPr txBox="1"/>
          <p:nvPr/>
        </p:nvSpPr>
        <p:spPr>
          <a:xfrm>
            <a:off x="1572768" y="2917952"/>
            <a:ext cx="3291840" cy="237744"/>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Five Saudi lifecycles</a:t>
            </a:r>
            <a:endParaRPr lang="en-US" sz="1150" dirty="0"/>
          </a:p>
        </p:txBody>
      </p:sp>
      <p:sp>
        <p:nvSpPr>
          <p:cNvPr id="22" name="Text 20"/>
          <p:cNvSpPr txBox="1"/>
          <p:nvPr/>
        </p:nvSpPr>
        <p:spPr>
          <a:xfrm>
            <a:off x="5074920" y="2927096"/>
            <a:ext cx="6620256" cy="219456"/>
          </a:xfrm>
          <a:prstGeom prst="rect">
            <a:avLst/>
          </a:prstGeom>
          <a:noFill/>
          <a:ln/>
        </p:spPr>
        <p:txBody>
          <a:bodyPr wrap="square" lIns="0" tIns="0" rIns="0" bIns="0" rtlCol="0" anchor="ctr"/>
          <a:lstStyle/>
          <a:p>
            <a:pPr indent="0" marL="0">
              <a:buNone/>
            </a:pPr>
            <a:r>
              <a:rPr lang="en-US" sz="940" dirty="0">
                <a:solidFill>
                  <a:srgbClr val="5A6C82"/>
                </a:solidFill>
                <a:latin typeface="Calibri" pitchFamily="34" charset="0"/>
                <a:ea typeface="Calibri" pitchFamily="34" charset="-122"/>
                <a:cs typeface="Calibri" pitchFamily="34" charset="-120"/>
              </a:rPr>
              <a:t>What it is, and which door each worker actually needs.</a:t>
            </a:r>
            <a:endParaRPr lang="en-US" sz="940" dirty="0"/>
          </a:p>
        </p:txBody>
      </p:sp>
      <p:sp>
        <p:nvSpPr>
          <p:cNvPr id="23" name="Shape 21"/>
          <p:cNvSpPr/>
          <p:nvPr/>
        </p:nvSpPr>
        <p:spPr>
          <a:xfrm>
            <a:off x="548640" y="3304032"/>
            <a:ext cx="11146536" cy="461264"/>
          </a:xfrm>
          <a:prstGeom prst="roundRect">
            <a:avLst>
              <a:gd name="adj" fmla="val 11894"/>
            </a:avLst>
          </a:prstGeom>
          <a:solidFill>
            <a:srgbClr val="FFFFFF"/>
          </a:solidFill>
          <a:ln w="7620">
            <a:solidFill>
              <a:srgbClr val="E3E7EA"/>
            </a:solidFill>
            <a:prstDash val="solid"/>
          </a:ln>
        </p:spPr>
      </p:sp>
      <p:sp>
        <p:nvSpPr>
          <p:cNvPr id="24" name="Shape 22"/>
          <p:cNvSpPr/>
          <p:nvPr/>
        </p:nvSpPr>
        <p:spPr>
          <a:xfrm>
            <a:off x="676656" y="3388360"/>
            <a:ext cx="749808" cy="292608"/>
          </a:xfrm>
          <a:prstGeom prst="roundRect">
            <a:avLst>
              <a:gd name="adj" fmla="val 21875"/>
            </a:avLst>
          </a:prstGeom>
          <a:solidFill>
            <a:srgbClr val="12756F"/>
          </a:solidFill>
          <a:ln/>
        </p:spPr>
      </p:sp>
      <p:sp>
        <p:nvSpPr>
          <p:cNvPr id="25" name="Text 23"/>
          <p:cNvSpPr txBox="1"/>
          <p:nvPr/>
        </p:nvSpPr>
        <p:spPr>
          <a:xfrm>
            <a:off x="676656" y="3388360"/>
            <a:ext cx="7498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1572768" y="3415792"/>
            <a:ext cx="3291840" cy="237744"/>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Walk a permit, end to end</a:t>
            </a:r>
            <a:endParaRPr lang="en-US" sz="1150" dirty="0"/>
          </a:p>
        </p:txBody>
      </p:sp>
      <p:sp>
        <p:nvSpPr>
          <p:cNvPr id="27" name="Text 25"/>
          <p:cNvSpPr txBox="1"/>
          <p:nvPr/>
        </p:nvSpPr>
        <p:spPr>
          <a:xfrm>
            <a:off x="5074920" y="3424936"/>
            <a:ext cx="6620256" cy="219456"/>
          </a:xfrm>
          <a:prstGeom prst="rect">
            <a:avLst/>
          </a:prstGeom>
          <a:noFill/>
          <a:ln/>
        </p:spPr>
        <p:txBody>
          <a:bodyPr wrap="square" lIns="0" tIns="0" rIns="0" bIns="0" rtlCol="0" anchor="ctr"/>
          <a:lstStyle/>
          <a:p>
            <a:pPr indent="0" marL="0">
              <a:buNone/>
            </a:pPr>
            <a:r>
              <a:rPr lang="en-US" sz="940" dirty="0">
                <a:solidFill>
                  <a:srgbClr val="5A6C82"/>
                </a:solidFill>
                <a:latin typeface="Calibri" pitchFamily="34" charset="0"/>
                <a:ea typeface="Calibri" pitchFamily="34" charset="-122"/>
                <a:cs typeface="Calibri" pitchFamily="34" charset="-120"/>
              </a:rPr>
              <a:t>The journey map, then exit and re-entry: the one that costs most.</a:t>
            </a:r>
            <a:endParaRPr lang="en-US" sz="940" dirty="0"/>
          </a:p>
        </p:txBody>
      </p:sp>
      <p:sp>
        <p:nvSpPr>
          <p:cNvPr id="28" name="Shape 26"/>
          <p:cNvSpPr/>
          <p:nvPr/>
        </p:nvSpPr>
        <p:spPr>
          <a:xfrm>
            <a:off x="548640" y="3801872"/>
            <a:ext cx="11146536" cy="461264"/>
          </a:xfrm>
          <a:prstGeom prst="roundRect">
            <a:avLst>
              <a:gd name="adj" fmla="val 11894"/>
            </a:avLst>
          </a:prstGeom>
          <a:solidFill>
            <a:srgbClr val="F4F6F7"/>
          </a:solidFill>
          <a:ln w="7620">
            <a:solidFill>
              <a:srgbClr val="E3E7EA"/>
            </a:solidFill>
            <a:prstDash val="solid"/>
          </a:ln>
        </p:spPr>
      </p:sp>
      <p:sp>
        <p:nvSpPr>
          <p:cNvPr id="29" name="Shape 27"/>
          <p:cNvSpPr/>
          <p:nvPr/>
        </p:nvSpPr>
        <p:spPr>
          <a:xfrm>
            <a:off x="676656" y="3886200"/>
            <a:ext cx="749808" cy="292608"/>
          </a:xfrm>
          <a:prstGeom prst="roundRect">
            <a:avLst>
              <a:gd name="adj" fmla="val 21875"/>
            </a:avLst>
          </a:prstGeom>
          <a:solidFill>
            <a:srgbClr val="20A098"/>
          </a:solidFill>
          <a:ln/>
        </p:spPr>
      </p:sp>
      <p:sp>
        <p:nvSpPr>
          <p:cNvPr id="30" name="Text 28"/>
          <p:cNvSpPr txBox="1"/>
          <p:nvPr/>
        </p:nvSpPr>
        <p:spPr>
          <a:xfrm>
            <a:off x="676656" y="3886200"/>
            <a:ext cx="7498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31" name="Text 29"/>
          <p:cNvSpPr txBox="1"/>
          <p:nvPr/>
        </p:nvSpPr>
        <p:spPr>
          <a:xfrm>
            <a:off x="1572768" y="3913632"/>
            <a:ext cx="3291840" cy="237744"/>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Nitaqat and the hiring switch</a:t>
            </a:r>
            <a:endParaRPr lang="en-US" sz="1150" dirty="0"/>
          </a:p>
        </p:txBody>
      </p:sp>
      <p:sp>
        <p:nvSpPr>
          <p:cNvPr id="32" name="Text 30"/>
          <p:cNvSpPr txBox="1"/>
          <p:nvPr/>
        </p:nvSpPr>
        <p:spPr>
          <a:xfrm>
            <a:off x="5074920" y="3922776"/>
            <a:ext cx="6620256" cy="219456"/>
          </a:xfrm>
          <a:prstGeom prst="rect">
            <a:avLst/>
          </a:prstGeom>
          <a:noFill/>
          <a:ln/>
        </p:spPr>
        <p:txBody>
          <a:bodyPr wrap="square" lIns="0" tIns="0" rIns="0" bIns="0" rtlCol="0" anchor="ctr"/>
          <a:lstStyle/>
          <a:p>
            <a:pPr indent="0" marL="0">
              <a:buNone/>
            </a:pPr>
            <a:r>
              <a:rPr lang="en-US" sz="940" dirty="0">
                <a:solidFill>
                  <a:srgbClr val="5A6C82"/>
                </a:solidFill>
                <a:latin typeface="Calibri" pitchFamily="34" charset="0"/>
                <a:ea typeface="Calibri" pitchFamily="34" charset="-122"/>
                <a:cs typeface="Calibri" pitchFamily="34" charset="-120"/>
              </a:rPr>
              <a:t>The number that decides whether you can hire at all.</a:t>
            </a:r>
            <a:endParaRPr lang="en-US" sz="940" dirty="0"/>
          </a:p>
        </p:txBody>
      </p:sp>
      <p:sp>
        <p:nvSpPr>
          <p:cNvPr id="33" name="Shape 31"/>
          <p:cNvSpPr/>
          <p:nvPr/>
        </p:nvSpPr>
        <p:spPr>
          <a:xfrm>
            <a:off x="548640" y="4299712"/>
            <a:ext cx="11146536" cy="461264"/>
          </a:xfrm>
          <a:prstGeom prst="roundRect">
            <a:avLst>
              <a:gd name="adj" fmla="val 11894"/>
            </a:avLst>
          </a:prstGeom>
          <a:solidFill>
            <a:srgbClr val="FFFFFF"/>
          </a:solidFill>
          <a:ln w="7620">
            <a:solidFill>
              <a:srgbClr val="E3E7EA"/>
            </a:solidFill>
            <a:prstDash val="solid"/>
          </a:ln>
        </p:spPr>
      </p:sp>
      <p:sp>
        <p:nvSpPr>
          <p:cNvPr id="34" name="Shape 32"/>
          <p:cNvSpPr/>
          <p:nvPr/>
        </p:nvSpPr>
        <p:spPr>
          <a:xfrm>
            <a:off x="676656" y="4384040"/>
            <a:ext cx="749808" cy="292608"/>
          </a:xfrm>
          <a:prstGeom prst="roundRect">
            <a:avLst>
              <a:gd name="adj" fmla="val 21875"/>
            </a:avLst>
          </a:prstGeom>
          <a:solidFill>
            <a:srgbClr val="12756F"/>
          </a:solidFill>
          <a:ln/>
        </p:spPr>
      </p:sp>
      <p:sp>
        <p:nvSpPr>
          <p:cNvPr id="35" name="Text 33"/>
          <p:cNvSpPr txBox="1"/>
          <p:nvPr/>
        </p:nvSpPr>
        <p:spPr>
          <a:xfrm>
            <a:off x="676656" y="4384040"/>
            <a:ext cx="7498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36" name="Text 34"/>
          <p:cNvSpPr txBox="1"/>
          <p:nvPr/>
        </p:nvSpPr>
        <p:spPr>
          <a:xfrm>
            <a:off x="1572768" y="4411472"/>
            <a:ext cx="3291840" cy="237744"/>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Seven portals, one queue</a:t>
            </a:r>
            <a:endParaRPr lang="en-US" sz="1150" dirty="0"/>
          </a:p>
        </p:txBody>
      </p:sp>
      <p:sp>
        <p:nvSpPr>
          <p:cNvPr id="37" name="Text 35"/>
          <p:cNvSpPr txBox="1"/>
          <p:nvPr/>
        </p:nvSpPr>
        <p:spPr>
          <a:xfrm>
            <a:off x="5074920" y="4420616"/>
            <a:ext cx="6620256" cy="219456"/>
          </a:xfrm>
          <a:prstGeom prst="rect">
            <a:avLst/>
          </a:prstGeom>
          <a:noFill/>
          <a:ln/>
        </p:spPr>
        <p:txBody>
          <a:bodyPr wrap="square" lIns="0" tIns="0" rIns="0" bIns="0" rtlCol="0" anchor="ctr"/>
          <a:lstStyle/>
          <a:p>
            <a:pPr indent="0" marL="0">
              <a:buNone/>
            </a:pPr>
            <a:r>
              <a:rPr lang="en-US" sz="940" dirty="0">
                <a:solidFill>
                  <a:srgbClr val="5A6C82"/>
                </a:solidFill>
                <a:latin typeface="Calibri" pitchFamily="34" charset="0"/>
                <a:ea typeface="Calibri" pitchFamily="34" charset="-122"/>
                <a:cs typeface="Calibri" pitchFamily="34" charset="-120"/>
              </a:rPr>
              <a:t>Qiwa, Muqeem, Absher and the rest. Then the eight obligations.</a:t>
            </a:r>
            <a:endParaRPr lang="en-US" sz="940" dirty="0"/>
          </a:p>
        </p:txBody>
      </p:sp>
      <p:sp>
        <p:nvSpPr>
          <p:cNvPr id="38" name="Shape 36"/>
          <p:cNvSpPr/>
          <p:nvPr/>
        </p:nvSpPr>
        <p:spPr>
          <a:xfrm>
            <a:off x="548640" y="4797552"/>
            <a:ext cx="11146536" cy="461264"/>
          </a:xfrm>
          <a:prstGeom prst="roundRect">
            <a:avLst>
              <a:gd name="adj" fmla="val 11894"/>
            </a:avLst>
          </a:prstGeom>
          <a:solidFill>
            <a:srgbClr val="F4F6F7"/>
          </a:solidFill>
          <a:ln w="7620">
            <a:solidFill>
              <a:srgbClr val="E3E7EA"/>
            </a:solidFill>
            <a:prstDash val="solid"/>
          </a:ln>
        </p:spPr>
      </p:sp>
      <p:sp>
        <p:nvSpPr>
          <p:cNvPr id="39" name="Shape 37"/>
          <p:cNvSpPr/>
          <p:nvPr/>
        </p:nvSpPr>
        <p:spPr>
          <a:xfrm>
            <a:off x="676656" y="4881880"/>
            <a:ext cx="749808" cy="292608"/>
          </a:xfrm>
          <a:prstGeom prst="roundRect">
            <a:avLst>
              <a:gd name="adj" fmla="val 21875"/>
            </a:avLst>
          </a:prstGeom>
          <a:solidFill>
            <a:srgbClr val="20A098"/>
          </a:solidFill>
          <a:ln/>
        </p:spPr>
      </p:sp>
      <p:sp>
        <p:nvSpPr>
          <p:cNvPr id="40" name="Text 38"/>
          <p:cNvSpPr txBox="1"/>
          <p:nvPr/>
        </p:nvSpPr>
        <p:spPr>
          <a:xfrm>
            <a:off x="676656" y="4881880"/>
            <a:ext cx="7498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41" name="Text 39"/>
          <p:cNvSpPr txBox="1"/>
          <p:nvPr/>
        </p:nvSpPr>
        <p:spPr>
          <a:xfrm>
            <a:off x="1572768" y="4909312"/>
            <a:ext cx="3291840" cy="237744"/>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Who does what, and what it costs</a:t>
            </a:r>
            <a:endParaRPr lang="en-US" sz="1150" dirty="0"/>
          </a:p>
        </p:txBody>
      </p:sp>
      <p:sp>
        <p:nvSpPr>
          <p:cNvPr id="42" name="Text 40"/>
          <p:cNvSpPr txBox="1"/>
          <p:nvPr/>
        </p:nvSpPr>
        <p:spPr>
          <a:xfrm>
            <a:off x="5074920" y="4918456"/>
            <a:ext cx="6620256" cy="219456"/>
          </a:xfrm>
          <a:prstGeom prst="rect">
            <a:avLst/>
          </a:prstGeom>
          <a:noFill/>
          <a:ln/>
        </p:spPr>
        <p:txBody>
          <a:bodyPr wrap="square" lIns="0" tIns="0" rIns="0" bIns="0" rtlCol="0" anchor="ctr"/>
          <a:lstStyle/>
          <a:p>
            <a:pPr indent="0" marL="0">
              <a:buNone/>
            </a:pPr>
            <a:r>
              <a:rPr lang="en-US" sz="940" dirty="0">
                <a:solidFill>
                  <a:srgbClr val="5A6C82"/>
                </a:solidFill>
                <a:latin typeface="Calibri" pitchFamily="34" charset="0"/>
                <a:ea typeface="Calibri" pitchFamily="34" charset="-122"/>
                <a:cs typeface="Calibri" pitchFamily="34" charset="-120"/>
              </a:rPr>
              <a:t>Every step owned. Every riyal accounted for.</a:t>
            </a:r>
            <a:endParaRPr lang="en-US" sz="940" dirty="0"/>
          </a:p>
        </p:txBody>
      </p:sp>
      <p:sp>
        <p:nvSpPr>
          <p:cNvPr id="43" name="Shape 41"/>
          <p:cNvSpPr/>
          <p:nvPr/>
        </p:nvSpPr>
        <p:spPr>
          <a:xfrm>
            <a:off x="548640" y="5295392"/>
            <a:ext cx="11146536" cy="461264"/>
          </a:xfrm>
          <a:prstGeom prst="roundRect">
            <a:avLst>
              <a:gd name="adj" fmla="val 11894"/>
            </a:avLst>
          </a:prstGeom>
          <a:solidFill>
            <a:srgbClr val="FFFFFF"/>
          </a:solidFill>
          <a:ln w="7620">
            <a:solidFill>
              <a:srgbClr val="E3E7EA"/>
            </a:solidFill>
            <a:prstDash val="solid"/>
          </a:ln>
        </p:spPr>
      </p:sp>
      <p:sp>
        <p:nvSpPr>
          <p:cNvPr id="44" name="Shape 42"/>
          <p:cNvSpPr/>
          <p:nvPr/>
        </p:nvSpPr>
        <p:spPr>
          <a:xfrm>
            <a:off x="676656" y="5379720"/>
            <a:ext cx="749808" cy="292608"/>
          </a:xfrm>
          <a:prstGeom prst="roundRect">
            <a:avLst>
              <a:gd name="adj" fmla="val 21875"/>
            </a:avLst>
          </a:prstGeom>
          <a:solidFill>
            <a:srgbClr val="12756F"/>
          </a:solidFill>
          <a:ln/>
        </p:spPr>
      </p:sp>
      <p:sp>
        <p:nvSpPr>
          <p:cNvPr id="45" name="Text 43"/>
          <p:cNvSpPr txBox="1"/>
          <p:nvPr/>
        </p:nvSpPr>
        <p:spPr>
          <a:xfrm>
            <a:off x="676656" y="5379720"/>
            <a:ext cx="7498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46" name="Text 44"/>
          <p:cNvSpPr txBox="1"/>
          <p:nvPr/>
        </p:nvSpPr>
        <p:spPr>
          <a:xfrm>
            <a:off x="1572768" y="5407152"/>
            <a:ext cx="3291840" cy="237744"/>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Architecture and what it runs on</a:t>
            </a:r>
            <a:endParaRPr lang="en-US" sz="1150" dirty="0"/>
          </a:p>
        </p:txBody>
      </p:sp>
      <p:sp>
        <p:nvSpPr>
          <p:cNvPr id="47" name="Text 45"/>
          <p:cNvSpPr txBox="1"/>
          <p:nvPr/>
        </p:nvSpPr>
        <p:spPr>
          <a:xfrm>
            <a:off x="5074920" y="5416296"/>
            <a:ext cx="6620256" cy="219456"/>
          </a:xfrm>
          <a:prstGeom prst="rect">
            <a:avLst/>
          </a:prstGeom>
          <a:noFill/>
          <a:ln/>
        </p:spPr>
        <p:txBody>
          <a:bodyPr wrap="square" lIns="0" tIns="0" rIns="0" bIns="0" rtlCol="0" anchor="ctr"/>
          <a:lstStyle/>
          <a:p>
            <a:pPr indent="0" marL="0">
              <a:buNone/>
            </a:pPr>
            <a:r>
              <a:rPr lang="en-US" sz="940" dirty="0">
                <a:solidFill>
                  <a:srgbClr val="5A6C82"/>
                </a:solidFill>
                <a:latin typeface="Calibri" pitchFamily="34" charset="0"/>
                <a:ea typeface="Calibri" pitchFamily="34" charset="-122"/>
                <a:cs typeface="Calibri" pitchFamily="34" charset="-120"/>
              </a:rPr>
              <a:t>Every system, what moves between them, and the SAP BTP services.</a:t>
            </a:r>
            <a:endParaRPr lang="en-US" sz="940" dirty="0"/>
          </a:p>
        </p:txBody>
      </p:sp>
      <p:sp>
        <p:nvSpPr>
          <p:cNvPr id="48" name="Shape 46"/>
          <p:cNvSpPr/>
          <p:nvPr/>
        </p:nvSpPr>
        <p:spPr>
          <a:xfrm>
            <a:off x="548640" y="5793232"/>
            <a:ext cx="11146536" cy="461264"/>
          </a:xfrm>
          <a:prstGeom prst="roundRect">
            <a:avLst>
              <a:gd name="adj" fmla="val 11894"/>
            </a:avLst>
          </a:prstGeom>
          <a:solidFill>
            <a:srgbClr val="F4F6F7"/>
          </a:solidFill>
          <a:ln w="7620">
            <a:solidFill>
              <a:srgbClr val="E3E7EA"/>
            </a:solidFill>
            <a:prstDash val="solid"/>
          </a:ln>
        </p:spPr>
      </p:sp>
      <p:sp>
        <p:nvSpPr>
          <p:cNvPr id="49" name="Shape 47"/>
          <p:cNvSpPr/>
          <p:nvPr/>
        </p:nvSpPr>
        <p:spPr>
          <a:xfrm>
            <a:off x="676656" y="5877560"/>
            <a:ext cx="749808" cy="292608"/>
          </a:xfrm>
          <a:prstGeom prst="roundRect">
            <a:avLst>
              <a:gd name="adj" fmla="val 21875"/>
            </a:avLst>
          </a:prstGeom>
          <a:solidFill>
            <a:srgbClr val="C9A227"/>
          </a:solidFill>
          <a:ln/>
        </p:spPr>
      </p:sp>
      <p:sp>
        <p:nvSpPr>
          <p:cNvPr id="50" name="Text 48"/>
          <p:cNvSpPr txBox="1"/>
          <p:nvPr/>
        </p:nvSpPr>
        <p:spPr>
          <a:xfrm>
            <a:off x="676656" y="5877560"/>
            <a:ext cx="7498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51" name="Text 49"/>
          <p:cNvSpPr txBox="1"/>
          <p:nvPr/>
        </p:nvSpPr>
        <p:spPr>
          <a:xfrm>
            <a:off x="1572768" y="5904992"/>
            <a:ext cx="3291840" cy="237744"/>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Beyond the Kingdom</a:t>
            </a:r>
            <a:endParaRPr lang="en-US" sz="1150" dirty="0"/>
          </a:p>
        </p:txBody>
      </p:sp>
      <p:sp>
        <p:nvSpPr>
          <p:cNvPr id="52" name="Text 50"/>
          <p:cNvSpPr txBox="1"/>
          <p:nvPr/>
        </p:nvSpPr>
        <p:spPr>
          <a:xfrm>
            <a:off x="5074920" y="5914136"/>
            <a:ext cx="6620256" cy="219456"/>
          </a:xfrm>
          <a:prstGeom prst="rect">
            <a:avLst/>
          </a:prstGeom>
          <a:noFill/>
          <a:ln/>
        </p:spPr>
        <p:txBody>
          <a:bodyPr wrap="square" lIns="0" tIns="0" rIns="0" bIns="0" rtlCol="0" anchor="ctr"/>
          <a:lstStyle/>
          <a:p>
            <a:pPr indent="0" marL="0">
              <a:buNone/>
            </a:pPr>
            <a:r>
              <a:rPr lang="en-US" sz="940" dirty="0">
                <a:solidFill>
                  <a:srgbClr val="5A6C82"/>
                </a:solidFill>
                <a:latin typeface="Calibri" pitchFamily="34" charset="0"/>
                <a:ea typeface="Calibri" pitchFamily="34" charset="-122"/>
                <a:cs typeface="Calibri" pitchFamily="34" charset="-120"/>
              </a:rPr>
              <a:t>Saudi Arabia is one pack. There are seven.</a:t>
            </a:r>
            <a:endParaRPr lang="en-US" sz="940" dirty="0"/>
          </a:p>
        </p:txBody>
      </p:sp>
      <p:sp>
        <p:nvSpPr>
          <p:cNvPr id="53" name="Text 51"/>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54" name="Text 52"/>
          <p:cNvSpPr txBox="1"/>
          <p:nvPr/>
        </p:nvSpPr>
        <p:spPr>
          <a:xfrm>
            <a:off x="10058400" y="6419088"/>
            <a:ext cx="1636776" cy="237744"/>
          </a:xfrm>
          <a:prstGeom prst="rect">
            <a:avLst/>
          </a:prstGeom>
          <a:noFill/>
          <a:ln/>
        </p:spPr>
        <p:txBody>
          <a:bodyPr wrap="square" lIns="0" tIns="0" rIns="0" bIns="0" rtlCol="0" anchor="ctr"/>
          <a:lstStyle/>
          <a:p>
            <a:pPr algn="r" indent="0" marL="0">
              <a:buNone/>
            </a:pPr>
            <a:r>
              <a:rPr lang="en-US" sz="900" b="1" spc="120" kern="0" dirty="0">
                <a:solidFill>
                  <a:srgbClr val="C9A227"/>
                </a:solidFill>
                <a:latin typeface="Calibri" pitchFamily="34" charset="0"/>
                <a:ea typeface="Calibri" pitchFamily="34" charset="-122"/>
                <a:cs typeface="Calibri" pitchFamily="34" charset="-120"/>
              </a:rPr>
              <a:t>20 MINUTES</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INK IT Business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Visa &amp; Permits KSA - agenda</dc:title>
  <dc:subject>PptxGenJS Presentation</dc:subject>
  <dc:creator>INK IT Business Solutions</dc:creator>
  <cp:lastModifiedBy>INK IT Business Solutions</cp:lastModifiedBy>
  <cp:revision>1</cp:revision>
  <dcterms:created xsi:type="dcterms:W3CDTF">2026-09-22T12:19:07Z</dcterms:created>
  <dcterms:modified xsi:type="dcterms:W3CDTF">2026-09-22T12:19:07Z</dcterms:modified>
</cp:coreProperties>
</file>