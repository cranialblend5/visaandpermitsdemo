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for the SAP account team. The four numbers are the ones they will be asked internally: how big is the customer, how much of the country is covered, how much of the lifecycle, and what does it consume. Replace the white box with the approved SAP partner badge from the partner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audiences, three columns. For an account executive the middle column is the one that matters: this is net new Integration Suite and HANA Cloud consumption inside an account they already hold, and it is repeatable across the Gulf.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sides. SAP SuccessFactors stays the system of record at the top. The people are on the left, the Kingdom is on the right, finance and analytics are underneath. Everything in the teal box is what we built, and every one of those is an SAP Business Technology Platform service. Every shape on this slide is editable: change a customer name or a service and nothing needs redrawing.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Core rows are non-negotiable. Everything else scales with ambition. The right-hand column is the one a licensing desk will go to first, because it separates what draws on credits from what needs its own subscription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account executive takes away. The demand is derived, not guessed: 700 expatriates means 700 Iqama renewals a year, and everything else follows. Be straight about the HANA Cloud line, it is the one to confirm in the estimator. Roughly thirty thousand capacity units a year of net new platform consumption, in an account that already owns SAP SuccessFactors.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E33"/>
        </a:solidFill>
      </p:bgPr>
    </p:bg>
    <p:spTree>
      <p:nvGrpSpPr>
        <p:cNvPr id="1" name=""/>
        <p:cNvGrpSpPr/>
        <p:nvPr/>
      </p:nvGrpSpPr>
      <p:grpSpPr>
        <a:xfrm>
          <a:off x="0" y="0"/>
          <a:ext cx="0" cy="0"/>
          <a:chOff x="0" y="0"/>
          <a:chExt cx="0" cy="0"/>
        </a:xfrm>
      </p:grpSpPr>
      <p:sp>
        <p:nvSpPr>
          <p:cNvPr id="2" name="Shape 0"/>
          <p:cNvSpPr/>
          <p:nvPr/>
        </p:nvSpPr>
        <p:spPr>
          <a:xfrm>
            <a:off x="8778240" y="-2103120"/>
            <a:ext cx="6766560" cy="6766560"/>
          </a:xfrm>
          <a:prstGeom prst="ellipse">
            <a:avLst/>
          </a:prstGeom>
          <a:solidFill>
            <a:srgbClr val="16304C"/>
          </a:solidFill>
          <a:ln/>
        </p:spPr>
      </p:sp>
      <p:sp>
        <p:nvSpPr>
          <p:cNvPr id="3" name="Shape 1"/>
          <p:cNvSpPr/>
          <p:nvPr/>
        </p:nvSpPr>
        <p:spPr>
          <a:xfrm>
            <a:off x="10241280" y="3291840"/>
            <a:ext cx="4572000" cy="4572000"/>
          </a:xfrm>
          <a:prstGeom prst="ellipse">
            <a:avLst/>
          </a:prstGeom>
          <a:solidFill>
            <a:srgbClr val="123A5E"/>
          </a:solidFill>
          <a:ln/>
        </p:spPr>
      </p:sp>
      <p:pic>
        <p:nvPicPr>
          <p:cNvPr id="4" name="Image 0" descr="./img/logo-white.png">    </p:cNvPr>
          <p:cNvPicPr>
            <a:picLocks noChangeAspect="1"/>
          </p:cNvPicPr>
          <p:nvPr/>
        </p:nvPicPr>
        <p:blipFill>
          <a:blip r:embed="rId1"/>
          <a:stretch>
            <a:fillRect/>
          </a:stretch>
        </p:blipFill>
        <p:spPr>
          <a:xfrm>
            <a:off x="548640" y="457200"/>
            <a:ext cx="1481328" cy="493776"/>
          </a:xfrm>
          <a:prstGeom prst="rect">
            <a:avLst/>
          </a:prstGeom>
        </p:spPr>
      </p:pic>
      <p:sp>
        <p:nvSpPr>
          <p:cNvPr id="5" name="Text 2"/>
          <p:cNvSpPr txBox="1"/>
          <p:nvPr/>
        </p:nvSpPr>
        <p:spPr>
          <a:xfrm>
            <a:off x="548640" y="1874520"/>
            <a:ext cx="8229600" cy="219456"/>
          </a:xfrm>
          <a:prstGeom prst="rect">
            <a:avLst/>
          </a:prstGeom>
          <a:noFill/>
          <a:ln/>
        </p:spPr>
        <p:txBody>
          <a:bodyPr wrap="square" lIns="0" tIns="0" rIns="0" bIns="0" rtlCol="0" anchor="ctr"/>
          <a:lstStyle/>
          <a:p>
            <a:pPr indent="0" marL="0">
              <a:buNone/>
            </a:pPr>
            <a:r>
              <a:rPr lang="en-US" sz="1050" b="1" spc="220" kern="0" dirty="0">
                <a:solidFill>
                  <a:srgbClr val="C9A227"/>
                </a:solidFill>
                <a:latin typeface="Calibri" pitchFamily="34" charset="0"/>
                <a:ea typeface="Calibri" pitchFamily="34" charset="-122"/>
                <a:cs typeface="Calibri" pitchFamily="34" charset="-120"/>
              </a:rPr>
              <a:t>FOR SAP REVIEW   ·   SEPTEMBER 2026</a:t>
            </a:r>
            <a:endParaRPr lang="en-US" sz="1050" dirty="0"/>
          </a:p>
        </p:txBody>
      </p:sp>
      <p:sp>
        <p:nvSpPr>
          <p:cNvPr id="6" name="Text 3"/>
          <p:cNvSpPr txBox="1"/>
          <p:nvPr/>
        </p:nvSpPr>
        <p:spPr>
          <a:xfrm>
            <a:off x="548640" y="2194560"/>
            <a:ext cx="8778240"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Visa and Permits Management</a:t>
            </a:r>
            <a:endParaRPr lang="en-US" sz="4000" dirty="0"/>
          </a:p>
        </p:txBody>
      </p:sp>
      <p:sp>
        <p:nvSpPr>
          <p:cNvPr id="7" name="Text 4"/>
          <p:cNvSpPr txBox="1"/>
          <p:nvPr/>
        </p:nvSpPr>
        <p:spPr>
          <a:xfrm>
            <a:off x="548640" y="2889504"/>
            <a:ext cx="8778240" cy="457200"/>
          </a:xfrm>
          <a:prstGeom prst="rect">
            <a:avLst/>
          </a:prstGeom>
          <a:noFill/>
          <a:ln/>
        </p:spPr>
        <p:txBody>
          <a:bodyPr wrap="square" lIns="0" tIns="0" rIns="0" bIns="0" rtlCol="0" anchor="ctr"/>
          <a:lstStyle/>
          <a:p>
            <a:pPr indent="0" marL="0">
              <a:buNone/>
            </a:pPr>
            <a:r>
              <a:rPr lang="en-US" sz="2300" b="1" dirty="0">
                <a:solidFill>
                  <a:srgbClr val="20A098"/>
                </a:solidFill>
                <a:latin typeface="Arial" pitchFamily="34" charset="0"/>
                <a:ea typeface="Arial" pitchFamily="34" charset="-122"/>
                <a:cs typeface="Arial" pitchFamily="34" charset="-120"/>
              </a:rPr>
              <a:t>Built on SAP Business Technology Platform</a:t>
            </a:r>
            <a:endParaRPr lang="en-US" sz="2300" dirty="0"/>
          </a:p>
        </p:txBody>
      </p:sp>
      <p:sp>
        <p:nvSpPr>
          <p:cNvPr id="8" name="Text 5"/>
          <p:cNvSpPr txBox="1"/>
          <p:nvPr/>
        </p:nvSpPr>
        <p:spPr>
          <a:xfrm>
            <a:off x="548640" y="3529584"/>
            <a:ext cx="7772400" cy="822960"/>
          </a:xfrm>
          <a:prstGeom prst="rect">
            <a:avLst/>
          </a:prstGeom>
          <a:noFill/>
          <a:ln/>
        </p:spPr>
        <p:txBody>
          <a:bodyPr wrap="square" lIns="0" tIns="0" rIns="0" bIns="0" rtlCol="0" anchor="ctr"/>
          <a:lstStyle/>
          <a:p>
            <a:pPr indent="0" marL="0">
              <a:lnSpc>
                <a:spcPts val="1900"/>
              </a:lnSpc>
              <a:buNone/>
            </a:pPr>
            <a:r>
              <a:rPr lang="en-US" sz="1350" dirty="0">
                <a:solidFill>
                  <a:srgbClr val="B7CDE2"/>
                </a:solidFill>
                <a:latin typeface="Calibri" pitchFamily="34" charset="0"/>
                <a:ea typeface="Calibri" pitchFamily="34" charset="-122"/>
                <a:cs typeface="Calibri" pitchFamily="34" charset="-120"/>
              </a:rPr>
              <a:t>A packaged application for the Kingdom of Saudi Arabia. It runs the work permit, Iqama, exit and re-entry and final exit lifecycles end to end, between the Saudi government portals and SAP SuccessFactors, with every fee posted to the General Ledger.</a:t>
            </a:r>
            <a:endParaRPr lang="en-US" sz="1350" dirty="0"/>
          </a:p>
        </p:txBody>
      </p:sp>
      <p:sp>
        <p:nvSpPr>
          <p:cNvPr id="9" name="Text 6"/>
          <p:cNvSpPr txBox="1"/>
          <p:nvPr/>
        </p:nvSpPr>
        <p:spPr>
          <a:xfrm>
            <a:off x="548640" y="4663440"/>
            <a:ext cx="1965960" cy="40233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1,000</a:t>
            </a:r>
            <a:endParaRPr lang="en-US" sz="2300" dirty="0"/>
          </a:p>
        </p:txBody>
      </p:sp>
      <p:sp>
        <p:nvSpPr>
          <p:cNvPr id="10" name="Text 7"/>
          <p:cNvSpPr txBox="1"/>
          <p:nvPr/>
        </p:nvSpPr>
        <p:spPr>
          <a:xfrm>
            <a:off x="548640" y="5084064"/>
            <a:ext cx="1965960" cy="365760"/>
          </a:xfrm>
          <a:prstGeom prst="rect">
            <a:avLst/>
          </a:prstGeom>
          <a:noFill/>
          <a:ln/>
        </p:spPr>
        <p:txBody>
          <a:bodyPr wrap="square" lIns="0" tIns="0" rIns="0" bIns="0" rtlCol="0" anchor="ctr"/>
          <a:lstStyle/>
          <a:p>
            <a:pPr indent="0" marL="0">
              <a:buNone/>
            </a:pPr>
            <a:r>
              <a:rPr lang="en-US" sz="950" dirty="0">
                <a:solidFill>
                  <a:srgbClr val="8FA9C2"/>
                </a:solidFill>
                <a:latin typeface="Calibri" pitchFamily="34" charset="0"/>
                <a:ea typeface="Calibri" pitchFamily="34" charset="-122"/>
                <a:cs typeface="Calibri" pitchFamily="34" charset="-120"/>
              </a:rPr>
              <a:t>employee reference sizing</a:t>
            </a:r>
            <a:endParaRPr lang="en-US" sz="950" dirty="0"/>
          </a:p>
        </p:txBody>
      </p:sp>
      <p:sp>
        <p:nvSpPr>
          <p:cNvPr id="11" name="Text 8"/>
          <p:cNvSpPr txBox="1"/>
          <p:nvPr/>
        </p:nvSpPr>
        <p:spPr>
          <a:xfrm>
            <a:off x="2651760" y="4663440"/>
            <a:ext cx="1965960" cy="40233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7</a:t>
            </a:r>
            <a:endParaRPr lang="en-US" sz="2300" dirty="0"/>
          </a:p>
        </p:txBody>
      </p:sp>
      <p:sp>
        <p:nvSpPr>
          <p:cNvPr id="12" name="Text 9"/>
          <p:cNvSpPr txBox="1"/>
          <p:nvPr/>
        </p:nvSpPr>
        <p:spPr>
          <a:xfrm>
            <a:off x="2651760" y="5084064"/>
            <a:ext cx="1965960" cy="365760"/>
          </a:xfrm>
          <a:prstGeom prst="rect">
            <a:avLst/>
          </a:prstGeom>
          <a:noFill/>
          <a:ln/>
        </p:spPr>
        <p:txBody>
          <a:bodyPr wrap="square" lIns="0" tIns="0" rIns="0" bIns="0" rtlCol="0" anchor="ctr"/>
          <a:lstStyle/>
          <a:p>
            <a:pPr indent="0" marL="0">
              <a:buNone/>
            </a:pPr>
            <a:r>
              <a:rPr lang="en-US" sz="950" dirty="0">
                <a:solidFill>
                  <a:srgbClr val="8FA9C2"/>
                </a:solidFill>
                <a:latin typeface="Calibri" pitchFamily="34" charset="0"/>
                <a:ea typeface="Calibri" pitchFamily="34" charset="-122"/>
                <a:cs typeface="Calibri" pitchFamily="34" charset="-120"/>
              </a:rPr>
              <a:t>Saudi authorities covered</a:t>
            </a:r>
            <a:endParaRPr lang="en-US" sz="950" dirty="0"/>
          </a:p>
        </p:txBody>
      </p:sp>
      <p:sp>
        <p:nvSpPr>
          <p:cNvPr id="13" name="Text 10"/>
          <p:cNvSpPr txBox="1"/>
          <p:nvPr/>
        </p:nvSpPr>
        <p:spPr>
          <a:xfrm>
            <a:off x="4754880" y="4663440"/>
            <a:ext cx="1965960" cy="40233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5</a:t>
            </a:r>
            <a:endParaRPr lang="en-US" sz="2300" dirty="0"/>
          </a:p>
        </p:txBody>
      </p:sp>
      <p:sp>
        <p:nvSpPr>
          <p:cNvPr id="14" name="Text 11"/>
          <p:cNvSpPr txBox="1"/>
          <p:nvPr/>
        </p:nvSpPr>
        <p:spPr>
          <a:xfrm>
            <a:off x="4754880" y="5084064"/>
            <a:ext cx="1965960" cy="365760"/>
          </a:xfrm>
          <a:prstGeom prst="rect">
            <a:avLst/>
          </a:prstGeom>
          <a:noFill/>
          <a:ln/>
        </p:spPr>
        <p:txBody>
          <a:bodyPr wrap="square" lIns="0" tIns="0" rIns="0" bIns="0" rtlCol="0" anchor="ctr"/>
          <a:lstStyle/>
          <a:p>
            <a:pPr indent="0" marL="0">
              <a:buNone/>
            </a:pPr>
            <a:r>
              <a:rPr lang="en-US" sz="950" dirty="0">
                <a:solidFill>
                  <a:srgbClr val="8FA9C2"/>
                </a:solidFill>
                <a:latin typeface="Calibri" pitchFamily="34" charset="0"/>
                <a:ea typeface="Calibri" pitchFamily="34" charset="-122"/>
                <a:cs typeface="Calibri" pitchFamily="34" charset="-120"/>
              </a:rPr>
              <a:t>permit lifecycles</a:t>
            </a:r>
            <a:endParaRPr lang="en-US" sz="950" dirty="0"/>
          </a:p>
        </p:txBody>
      </p:sp>
      <p:sp>
        <p:nvSpPr>
          <p:cNvPr id="15" name="Text 12"/>
          <p:cNvSpPr txBox="1"/>
          <p:nvPr/>
        </p:nvSpPr>
        <p:spPr>
          <a:xfrm>
            <a:off x="6858000" y="4663440"/>
            <a:ext cx="1965960" cy="40233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30,540</a:t>
            </a:r>
            <a:endParaRPr lang="en-US" sz="2300" dirty="0"/>
          </a:p>
        </p:txBody>
      </p:sp>
      <p:sp>
        <p:nvSpPr>
          <p:cNvPr id="16" name="Text 13"/>
          <p:cNvSpPr txBox="1"/>
          <p:nvPr/>
        </p:nvSpPr>
        <p:spPr>
          <a:xfrm>
            <a:off x="6858000" y="5084064"/>
            <a:ext cx="1965960" cy="365760"/>
          </a:xfrm>
          <a:prstGeom prst="rect">
            <a:avLst/>
          </a:prstGeom>
          <a:noFill/>
          <a:ln/>
        </p:spPr>
        <p:txBody>
          <a:bodyPr wrap="square" lIns="0" tIns="0" rIns="0" bIns="0" rtlCol="0" anchor="ctr"/>
          <a:lstStyle/>
          <a:p>
            <a:pPr indent="0" marL="0">
              <a:buNone/>
            </a:pPr>
            <a:r>
              <a:rPr lang="en-US" sz="950" dirty="0">
                <a:solidFill>
                  <a:srgbClr val="8FA9C2"/>
                </a:solidFill>
                <a:latin typeface="Calibri" pitchFamily="34" charset="0"/>
                <a:ea typeface="Calibri" pitchFamily="34" charset="-122"/>
                <a:cs typeface="Calibri" pitchFamily="34" charset="-120"/>
              </a:rPr>
              <a:t>capacity units a year</a:t>
            </a:r>
            <a:endParaRPr lang="en-US" sz="950" dirty="0"/>
          </a:p>
        </p:txBody>
      </p:sp>
      <p:sp>
        <p:nvSpPr>
          <p:cNvPr id="17" name="Shape 14"/>
          <p:cNvSpPr/>
          <p:nvPr/>
        </p:nvSpPr>
        <p:spPr>
          <a:xfrm>
            <a:off x="548640" y="5715000"/>
            <a:ext cx="4206240" cy="420624"/>
          </a:xfrm>
          <a:prstGeom prst="roundRect">
            <a:avLst>
              <a:gd name="adj" fmla="val 17391"/>
            </a:avLst>
          </a:prstGeom>
          <a:solidFill>
            <a:srgbClr val="FFFFFF"/>
          </a:solidFill>
          <a:ln w="12700">
            <a:solidFill>
              <a:srgbClr val="FFFFFF"/>
            </a:solidFill>
            <a:prstDash val="solid"/>
          </a:ln>
        </p:spPr>
      </p:sp>
      <p:sp>
        <p:nvSpPr>
          <p:cNvPr id="18" name="Text 15"/>
          <p:cNvSpPr txBox="1"/>
          <p:nvPr/>
        </p:nvSpPr>
        <p:spPr>
          <a:xfrm>
            <a:off x="548640" y="5715000"/>
            <a:ext cx="4206240" cy="420624"/>
          </a:xfrm>
          <a:prstGeom prst="rect">
            <a:avLst/>
          </a:prstGeom>
          <a:noFill/>
          <a:ln/>
        </p:spPr>
        <p:txBody>
          <a:bodyPr wrap="square" lIns="0" tIns="0" rIns="0" bIns="0" rtlCol="0" anchor="ctr"/>
          <a:lstStyle/>
          <a:p>
            <a:pPr algn="ctr" indent="0" marL="0">
              <a:buNone/>
            </a:pPr>
            <a:r>
              <a:rPr lang="en-US" sz="950" b="1" dirty="0">
                <a:solidFill>
                  <a:srgbClr val="0A6ED1"/>
                </a:solidFill>
                <a:latin typeface="Calibri" pitchFamily="34" charset="0"/>
                <a:ea typeface="Calibri" pitchFamily="34" charset="-122"/>
                <a:cs typeface="Calibri" pitchFamily="34" charset="-120"/>
              </a:rPr>
              <a:t>[ place the official SAP partner badge here ]</a:t>
            </a:r>
            <a:endParaRPr lang="en-US" sz="950" dirty="0"/>
          </a:p>
        </p:txBody>
      </p:sp>
      <p:sp>
        <p:nvSpPr>
          <p:cNvPr id="19" name="Text 16"/>
          <p:cNvSpPr txBox="1"/>
          <p:nvPr/>
        </p:nvSpPr>
        <p:spPr>
          <a:xfrm>
            <a:off x="548640" y="6437376"/>
            <a:ext cx="10332720" cy="219456"/>
          </a:xfrm>
          <a:prstGeom prst="rect">
            <a:avLst/>
          </a:prstGeom>
          <a:noFill/>
          <a:ln/>
        </p:spPr>
        <p:txBody>
          <a:bodyPr wrap="square" lIns="0" tIns="0" rIns="0" bIns="0" rtlCol="0" anchor="ctr"/>
          <a:lstStyle/>
          <a:p>
            <a:pPr indent="0" marL="0">
              <a:buNone/>
            </a:pPr>
            <a:r>
              <a:rPr lang="en-US" sz="800" dirty="0">
                <a:solidFill>
                  <a:srgbClr val="7E99B4"/>
                </a:solidFill>
                <a:latin typeface="Calibri" pitchFamily="34" charset="0"/>
                <a:ea typeface="Calibri" pitchFamily="34" charset="-122"/>
                <a:cs typeface="Calibri" pitchFamily="34" charset="-120"/>
              </a:rPr>
              <a:t>INK IT Business Solutions   ·   Visa and Permits Management on SAP Business Technology Platform   ·   Kingdom of Saudi Arabia</a:t>
            </a:r>
            <a:endParaRPr lang="en-US" sz="800" dirty="0"/>
          </a:p>
        </p:txBody>
      </p:sp>
      <p:sp>
        <p:nvSpPr>
          <p:cNvPr id="20" name="Text 17"/>
          <p:cNvSpPr txBox="1"/>
          <p:nvPr/>
        </p:nvSpPr>
        <p:spPr>
          <a:xfrm>
            <a:off x="11064240" y="6437376"/>
            <a:ext cx="630936" cy="219456"/>
          </a:xfrm>
          <a:prstGeom prst="rect">
            <a:avLst/>
          </a:prstGeom>
          <a:noFill/>
          <a:ln/>
        </p:spPr>
        <p:txBody>
          <a:bodyPr wrap="square" lIns="0" tIns="0" rIns="0" bIns="0" rtlCol="0" anchor="ctr"/>
          <a:lstStyle/>
          <a:p>
            <a:pPr algn="r" indent="0" marL="0">
              <a:buNone/>
            </a:pPr>
            <a:r>
              <a:rPr lang="en-US" sz="800" dirty="0">
                <a:solidFill>
                  <a:srgbClr val="7E99B4"/>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219456"/>
          </a:xfrm>
          <a:prstGeom prst="rect">
            <a:avLst/>
          </a:prstGeom>
          <a:noFill/>
          <a:ln/>
        </p:spPr>
        <p:txBody>
          <a:bodyPr wrap="square" lIns="0" tIns="0" rIns="0" bIns="0" rtlCol="0" anchor="ctr"/>
          <a:lstStyle/>
          <a:p>
            <a:pPr indent="0" marL="0">
              <a:buNone/>
            </a:pPr>
            <a:r>
              <a:rPr lang="en-US" sz="1050" b="1" spc="220" kern="0" dirty="0">
                <a:solidFill>
                  <a:srgbClr val="20A098"/>
                </a:solidFill>
                <a:latin typeface="Calibri" pitchFamily="34" charset="0"/>
                <a:ea typeface="Calibri" pitchFamily="34" charset="-122"/>
                <a:cs typeface="Calibri" pitchFamily="34" charset="-120"/>
              </a:rPr>
              <a:t>VALUE PROPOSITION</a:t>
            </a:r>
            <a:endParaRPr lang="en-US" sz="1050" dirty="0"/>
          </a:p>
        </p:txBody>
      </p:sp>
      <p:sp>
        <p:nvSpPr>
          <p:cNvPr id="3" name="Text 1"/>
          <p:cNvSpPr txBox="1"/>
          <p:nvPr/>
        </p:nvSpPr>
        <p:spPr>
          <a:xfrm>
            <a:off x="548640" y="603504"/>
            <a:ext cx="11064240" cy="512064"/>
          </a:xfrm>
          <a:prstGeom prst="rect">
            <a:avLst/>
          </a:prstGeom>
          <a:noFill/>
          <a:ln/>
        </p:spPr>
        <p:txBody>
          <a:bodyPr wrap="square" lIns="0" tIns="0" rIns="0" bIns="0" rtlCol="0" anchor="ctr"/>
          <a:lstStyle/>
          <a:p>
            <a:pPr indent="0" marL="0">
              <a:buNone/>
            </a:pPr>
            <a:r>
              <a:rPr lang="en-US" sz="2700" b="1" dirty="0">
                <a:solidFill>
                  <a:srgbClr val="0C1E33"/>
                </a:solidFill>
                <a:latin typeface="Arial" pitchFamily="34" charset="0"/>
                <a:ea typeface="Arial" pitchFamily="34" charset="-122"/>
                <a:cs typeface="Arial" pitchFamily="34" charset="-120"/>
              </a:rPr>
              <a:t>Why this belongs on SAP Business Technology Platform.</a:t>
            </a:r>
            <a:endParaRPr lang="en-US" sz="2700" dirty="0"/>
          </a:p>
        </p:txBody>
      </p:sp>
      <p:sp>
        <p:nvSpPr>
          <p:cNvPr id="4" name="Text 2"/>
          <p:cNvSpPr txBox="1"/>
          <p:nvPr/>
        </p:nvSpPr>
        <p:spPr>
          <a:xfrm>
            <a:off x="548640" y="1170432"/>
            <a:ext cx="10424160" cy="256032"/>
          </a:xfrm>
          <a:prstGeom prst="rect">
            <a:avLst/>
          </a:prstGeom>
          <a:noFill/>
          <a:ln/>
        </p:spPr>
        <p:txBody>
          <a:bodyPr wrap="square" lIns="0" tIns="0" rIns="0" bIns="0" rtlCol="0" anchor="ctr"/>
          <a:lstStyle/>
          <a:p>
            <a:pPr indent="0" marL="0">
              <a:buNone/>
            </a:pPr>
            <a:r>
              <a:rPr lang="en-US" sz="1250" dirty="0">
                <a:solidFill>
                  <a:srgbClr val="5A6C82"/>
                </a:solidFill>
                <a:latin typeface="Calibri" pitchFamily="34" charset="0"/>
                <a:ea typeface="Calibri" pitchFamily="34" charset="-122"/>
                <a:cs typeface="Calibri" pitchFamily="34" charset="-120"/>
              </a:rPr>
              <a:t>The Saudi permit lifecycle already starts and ends inside SAP SuccessFactors. What it has never had is a governed middle.</a:t>
            </a:r>
            <a:endParaRPr lang="en-US" sz="1250" dirty="0"/>
          </a:p>
        </p:txBody>
      </p:sp>
      <p:sp>
        <p:nvSpPr>
          <p:cNvPr id="5" name="Shape 3"/>
          <p:cNvSpPr/>
          <p:nvPr/>
        </p:nvSpPr>
        <p:spPr>
          <a:xfrm>
            <a:off x="548640" y="1572768"/>
            <a:ext cx="3520440" cy="2788920"/>
          </a:xfrm>
          <a:prstGeom prst="roundRect">
            <a:avLst>
              <a:gd name="adj" fmla="val 1967"/>
            </a:avLst>
          </a:prstGeom>
          <a:solidFill>
            <a:srgbClr val="F4F6F7"/>
          </a:solidFill>
          <a:ln w="10795">
            <a:solidFill>
              <a:srgbClr val="E3E7EA"/>
            </a:solidFill>
            <a:prstDash val="solid"/>
          </a:ln>
        </p:spPr>
      </p:sp>
      <p:sp>
        <p:nvSpPr>
          <p:cNvPr id="6" name="Shape 4"/>
          <p:cNvSpPr/>
          <p:nvPr/>
        </p:nvSpPr>
        <p:spPr>
          <a:xfrm>
            <a:off x="548640" y="1572768"/>
            <a:ext cx="3520440" cy="64008"/>
          </a:xfrm>
          <a:prstGeom prst="roundRect">
            <a:avLst>
              <a:gd name="adj" fmla="val 42857"/>
            </a:avLst>
          </a:prstGeom>
          <a:solidFill>
            <a:srgbClr val="20A098"/>
          </a:solidFill>
          <a:ln/>
        </p:spPr>
      </p:sp>
      <p:sp>
        <p:nvSpPr>
          <p:cNvPr id="7" name="Text 5"/>
          <p:cNvSpPr txBox="1"/>
          <p:nvPr/>
        </p:nvSpPr>
        <p:spPr>
          <a:xfrm>
            <a:off x="749808" y="1755648"/>
            <a:ext cx="3118104" cy="256032"/>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For the customer</a:t>
            </a:r>
            <a:endParaRPr lang="en-US" sz="1350" dirty="0"/>
          </a:p>
        </p:txBody>
      </p:sp>
      <p:sp>
        <p:nvSpPr>
          <p:cNvPr id="8" name="Text 6"/>
          <p:cNvSpPr txBox="1"/>
          <p:nvPr/>
        </p:nvSpPr>
        <p:spPr>
          <a:xfrm>
            <a:off x="749808" y="2066544"/>
            <a:ext cx="3136392" cy="2176272"/>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One queue for every permit, with an owner and a due date on each step</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Iqama, exit and re-entry and final exit tracked against the statutory clock</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Every government fee posted to the General Ledger with a receipt attached</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Nitaqat band position visible before a hire is approved, not after</a:t>
            </a:r>
            <a:endParaRPr lang="en-US" sz="1000" dirty="0"/>
          </a:p>
        </p:txBody>
      </p:sp>
      <p:sp>
        <p:nvSpPr>
          <p:cNvPr id="9" name="Shape 7"/>
          <p:cNvSpPr/>
          <p:nvPr/>
        </p:nvSpPr>
        <p:spPr>
          <a:xfrm>
            <a:off x="4297680" y="1572768"/>
            <a:ext cx="3520440" cy="2788920"/>
          </a:xfrm>
          <a:prstGeom prst="roundRect">
            <a:avLst>
              <a:gd name="adj" fmla="val 1967"/>
            </a:avLst>
          </a:prstGeom>
          <a:solidFill>
            <a:srgbClr val="EAF2FC"/>
          </a:solidFill>
          <a:ln w="10795">
            <a:solidFill>
              <a:srgbClr val="E3E7EA"/>
            </a:solidFill>
            <a:prstDash val="solid"/>
          </a:ln>
        </p:spPr>
      </p:sp>
      <p:sp>
        <p:nvSpPr>
          <p:cNvPr id="10" name="Shape 8"/>
          <p:cNvSpPr/>
          <p:nvPr/>
        </p:nvSpPr>
        <p:spPr>
          <a:xfrm>
            <a:off x="4297680" y="1572768"/>
            <a:ext cx="3520440" cy="64008"/>
          </a:xfrm>
          <a:prstGeom prst="roundRect">
            <a:avLst>
              <a:gd name="adj" fmla="val 42857"/>
            </a:avLst>
          </a:prstGeom>
          <a:solidFill>
            <a:srgbClr val="0A6ED1"/>
          </a:solidFill>
          <a:ln/>
        </p:spPr>
      </p:sp>
      <p:sp>
        <p:nvSpPr>
          <p:cNvPr id="11" name="Text 9"/>
          <p:cNvSpPr txBox="1"/>
          <p:nvPr/>
        </p:nvSpPr>
        <p:spPr>
          <a:xfrm>
            <a:off x="4498848" y="1755648"/>
            <a:ext cx="3118104" cy="256032"/>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For SAP</a:t>
            </a:r>
            <a:endParaRPr lang="en-US" sz="1350" dirty="0"/>
          </a:p>
        </p:txBody>
      </p:sp>
      <p:sp>
        <p:nvSpPr>
          <p:cNvPr id="12" name="Text 10"/>
          <p:cNvSpPr txBox="1"/>
          <p:nvPr/>
        </p:nvSpPr>
        <p:spPr>
          <a:xfrm>
            <a:off x="4498848" y="2066544"/>
            <a:ext cx="3136392" cy="2176272"/>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Extends SAP SuccessFactors rather than replacing any part of it</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Pulls SAP Integration Suite and SAP HANA Cloud into a Human Capital Management account</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A repeatable Kingdom of Saudi Arabia package, not a one-off development</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Opens the same conversation in six more Gulf Cooperation Council countries</a:t>
            </a:r>
            <a:endParaRPr lang="en-US" sz="1000" dirty="0"/>
          </a:p>
        </p:txBody>
      </p:sp>
      <p:sp>
        <p:nvSpPr>
          <p:cNvPr id="13" name="Shape 11"/>
          <p:cNvSpPr/>
          <p:nvPr/>
        </p:nvSpPr>
        <p:spPr>
          <a:xfrm>
            <a:off x="8046720" y="1572768"/>
            <a:ext cx="3520440" cy="2788920"/>
          </a:xfrm>
          <a:prstGeom prst="roundRect">
            <a:avLst>
              <a:gd name="adj" fmla="val 1967"/>
            </a:avLst>
          </a:prstGeom>
          <a:solidFill>
            <a:srgbClr val="F4F6F7"/>
          </a:solidFill>
          <a:ln w="10795">
            <a:solidFill>
              <a:srgbClr val="E3E7EA"/>
            </a:solidFill>
            <a:prstDash val="solid"/>
          </a:ln>
        </p:spPr>
      </p:sp>
      <p:sp>
        <p:nvSpPr>
          <p:cNvPr id="14" name="Shape 12"/>
          <p:cNvSpPr/>
          <p:nvPr/>
        </p:nvSpPr>
        <p:spPr>
          <a:xfrm>
            <a:off x="8046720" y="1572768"/>
            <a:ext cx="3520440" cy="64008"/>
          </a:xfrm>
          <a:prstGeom prst="roundRect">
            <a:avLst>
              <a:gd name="adj" fmla="val 42857"/>
            </a:avLst>
          </a:prstGeom>
          <a:solidFill>
            <a:srgbClr val="C9A227"/>
          </a:solidFill>
          <a:ln/>
        </p:spPr>
      </p:sp>
      <p:sp>
        <p:nvSpPr>
          <p:cNvPr id="15" name="Text 13"/>
          <p:cNvSpPr txBox="1"/>
          <p:nvPr/>
        </p:nvSpPr>
        <p:spPr>
          <a:xfrm>
            <a:off x="8247888" y="1755648"/>
            <a:ext cx="3118104" cy="256032"/>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For INK IT Business Solutions</a:t>
            </a:r>
            <a:endParaRPr lang="en-US" sz="1350" dirty="0"/>
          </a:p>
        </p:txBody>
      </p:sp>
      <p:sp>
        <p:nvSpPr>
          <p:cNvPr id="16" name="Text 14"/>
          <p:cNvSpPr txBox="1"/>
          <p:nvPr/>
        </p:nvSpPr>
        <p:spPr>
          <a:xfrm>
            <a:off x="8247888" y="2066544"/>
            <a:ext cx="3136392" cy="2176272"/>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Built, running and demonstrable today, not a concept</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Delivery team already resident in Riyadh</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Country content maintained as configuration, so regulation changes are absorbed</a:t>
            </a:r>
            <a:endParaRPr lang="en-US" sz="1000" dirty="0"/>
          </a:p>
          <a:p>
            <a:pPr marL="342900" indent="-342900">
              <a:lnSpc>
                <a:spcPts val="1350"/>
              </a:lnSpc>
              <a:spcAft>
                <a:spcPts val="600"/>
              </a:spcAft>
              <a:buSzPct val="100000"/>
              <a:buChar char="•"/>
            </a:pPr>
            <a:r>
              <a:rPr lang="en-US" sz="1000" dirty="0">
                <a:solidFill>
                  <a:srgbClr val="5A6C82"/>
                </a:solidFill>
                <a:latin typeface="Calibri" pitchFamily="34" charset="0"/>
                <a:ea typeface="Calibri" pitchFamily="34" charset="-122"/>
                <a:cs typeface="Calibri" pitchFamily="34" charset="-120"/>
              </a:rPr>
              <a:t>Fixed scope for the first country, configuration for the next</a:t>
            </a:r>
            <a:endParaRPr lang="en-US" sz="1000" dirty="0"/>
          </a:p>
        </p:txBody>
      </p:sp>
      <p:sp>
        <p:nvSpPr>
          <p:cNvPr id="17" name="Shape 15"/>
          <p:cNvSpPr/>
          <p:nvPr/>
        </p:nvSpPr>
        <p:spPr>
          <a:xfrm>
            <a:off x="548640" y="4572000"/>
            <a:ext cx="11146536" cy="1572768"/>
          </a:xfrm>
          <a:prstGeom prst="roundRect">
            <a:avLst>
              <a:gd name="adj" fmla="val 4651"/>
            </a:avLst>
          </a:prstGeom>
          <a:solidFill>
            <a:srgbClr val="0C1E33"/>
          </a:solidFill>
          <a:ln/>
        </p:spPr>
      </p:sp>
      <p:sp>
        <p:nvSpPr>
          <p:cNvPr id="18" name="Text 16"/>
          <p:cNvSpPr txBox="1"/>
          <p:nvPr/>
        </p:nvSpPr>
        <p:spPr>
          <a:xfrm>
            <a:off x="868680" y="4754880"/>
            <a:ext cx="5486400" cy="237744"/>
          </a:xfrm>
          <a:prstGeom prst="rect">
            <a:avLst/>
          </a:prstGeom>
          <a:noFill/>
          <a:ln/>
        </p:spPr>
        <p:txBody>
          <a:bodyPr wrap="square" lIns="0" tIns="0" rIns="0" bIns="0" rtlCol="0" anchor="ctr"/>
          <a:lstStyle/>
          <a:p>
            <a:pPr indent="0" marL="0">
              <a:buNone/>
            </a:pPr>
            <a:r>
              <a:rPr lang="en-US" sz="950" b="1" spc="160" kern="0" dirty="0">
                <a:solidFill>
                  <a:srgbClr val="C9A227"/>
                </a:solidFill>
                <a:latin typeface="Calibri" pitchFamily="34" charset="0"/>
                <a:ea typeface="Calibri" pitchFamily="34" charset="-122"/>
                <a:cs typeface="Calibri" pitchFamily="34" charset="-120"/>
              </a:rPr>
              <a:t>What it is worth to a customer of 1,000 employees</a:t>
            </a:r>
            <a:endParaRPr lang="en-US" sz="950" dirty="0"/>
          </a:p>
        </p:txBody>
      </p:sp>
      <p:sp>
        <p:nvSpPr>
          <p:cNvPr id="19" name="Text 17"/>
          <p:cNvSpPr txBox="1"/>
          <p:nvPr/>
        </p:nvSpPr>
        <p:spPr>
          <a:xfrm>
            <a:off x="868680" y="5065776"/>
            <a:ext cx="2560320" cy="347472"/>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1,930</a:t>
            </a:r>
            <a:endParaRPr lang="en-US" sz="2000" dirty="0"/>
          </a:p>
        </p:txBody>
      </p:sp>
      <p:sp>
        <p:nvSpPr>
          <p:cNvPr id="20" name="Text 18"/>
          <p:cNvSpPr txBox="1"/>
          <p:nvPr/>
        </p:nvSpPr>
        <p:spPr>
          <a:xfrm>
            <a:off x="868680" y="5431536"/>
            <a:ext cx="2560320" cy="201168"/>
          </a:xfrm>
          <a:prstGeom prst="rect">
            <a:avLst/>
          </a:prstGeom>
          <a:noFill/>
          <a:ln/>
        </p:spPr>
        <p:txBody>
          <a:bodyPr wrap="square" lIns="0" tIns="0" rIns="0" bIns="0" rtlCol="0" anchor="ctr"/>
          <a:lstStyle/>
          <a:p>
            <a:pPr indent="0" marL="0">
              <a:buNone/>
            </a:pPr>
            <a:r>
              <a:rPr lang="en-US" sz="1000" b="1" dirty="0">
                <a:solidFill>
                  <a:srgbClr val="20A098"/>
                </a:solidFill>
                <a:latin typeface="Calibri" pitchFamily="34" charset="0"/>
                <a:ea typeface="Calibri" pitchFamily="34" charset="-122"/>
                <a:cs typeface="Calibri" pitchFamily="34" charset="-120"/>
              </a:rPr>
              <a:t>permit cases a year</a:t>
            </a:r>
            <a:endParaRPr lang="en-US" sz="1000" dirty="0"/>
          </a:p>
        </p:txBody>
      </p:sp>
      <p:sp>
        <p:nvSpPr>
          <p:cNvPr id="21" name="Text 19"/>
          <p:cNvSpPr txBox="1"/>
          <p:nvPr/>
        </p:nvSpPr>
        <p:spPr>
          <a:xfrm>
            <a:off x="868680" y="5632704"/>
            <a:ext cx="2514600" cy="384048"/>
          </a:xfrm>
          <a:prstGeom prst="rect">
            <a:avLst/>
          </a:prstGeom>
          <a:noFill/>
          <a:ln/>
        </p:spPr>
        <p:txBody>
          <a:bodyPr wrap="square" lIns="0" tIns="0" rIns="0" bIns="0" rtlCol="0" anchor="ctr"/>
          <a:lstStyle/>
          <a:p>
            <a:pPr indent="0" marL="0">
              <a:lnSpc>
                <a:spcPts val="1050"/>
              </a:lnSpc>
              <a:buNone/>
            </a:pPr>
            <a:r>
              <a:rPr lang="en-US" sz="860" dirty="0">
                <a:solidFill>
                  <a:srgbClr val="9FB6CC"/>
                </a:solidFill>
                <a:latin typeface="Calibri" pitchFamily="34" charset="0"/>
                <a:ea typeface="Calibri" pitchFamily="34" charset="-122"/>
                <a:cs typeface="Calibri" pitchFamily="34" charset="-120"/>
              </a:rPr>
              <a:t>renewals, new visas, exit and re-entry, final exits</a:t>
            </a:r>
            <a:endParaRPr lang="en-US" sz="860" dirty="0"/>
          </a:p>
        </p:txBody>
      </p:sp>
      <p:sp>
        <p:nvSpPr>
          <p:cNvPr id="22" name="Text 20"/>
          <p:cNvSpPr txBox="1"/>
          <p:nvPr/>
        </p:nvSpPr>
        <p:spPr>
          <a:xfrm>
            <a:off x="3566160" y="5065776"/>
            <a:ext cx="2560320" cy="347472"/>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23,160</a:t>
            </a:r>
            <a:endParaRPr lang="en-US" sz="2000" dirty="0"/>
          </a:p>
        </p:txBody>
      </p:sp>
      <p:sp>
        <p:nvSpPr>
          <p:cNvPr id="23" name="Text 21"/>
          <p:cNvSpPr txBox="1"/>
          <p:nvPr/>
        </p:nvSpPr>
        <p:spPr>
          <a:xfrm>
            <a:off x="3566160" y="5431536"/>
            <a:ext cx="2560320" cy="201168"/>
          </a:xfrm>
          <a:prstGeom prst="rect">
            <a:avLst/>
          </a:prstGeom>
          <a:noFill/>
          <a:ln/>
        </p:spPr>
        <p:txBody>
          <a:bodyPr wrap="square" lIns="0" tIns="0" rIns="0" bIns="0" rtlCol="0" anchor="ctr"/>
          <a:lstStyle/>
          <a:p>
            <a:pPr indent="0" marL="0">
              <a:buNone/>
            </a:pPr>
            <a:r>
              <a:rPr lang="en-US" sz="1000" b="1" dirty="0">
                <a:solidFill>
                  <a:srgbClr val="20A098"/>
                </a:solidFill>
                <a:latin typeface="Calibri" pitchFamily="34" charset="0"/>
                <a:ea typeface="Calibri" pitchFamily="34" charset="-122"/>
                <a:cs typeface="Calibri" pitchFamily="34" charset="-120"/>
              </a:rPr>
              <a:t>tracked tasks a year</a:t>
            </a:r>
            <a:endParaRPr lang="en-US" sz="1000" dirty="0"/>
          </a:p>
        </p:txBody>
      </p:sp>
      <p:sp>
        <p:nvSpPr>
          <p:cNvPr id="24" name="Text 22"/>
          <p:cNvSpPr txBox="1"/>
          <p:nvPr/>
        </p:nvSpPr>
        <p:spPr>
          <a:xfrm>
            <a:off x="3566160" y="5632704"/>
            <a:ext cx="2514600" cy="384048"/>
          </a:xfrm>
          <a:prstGeom prst="rect">
            <a:avLst/>
          </a:prstGeom>
          <a:noFill/>
          <a:ln/>
        </p:spPr>
        <p:txBody>
          <a:bodyPr wrap="square" lIns="0" tIns="0" rIns="0" bIns="0" rtlCol="0" anchor="ctr"/>
          <a:lstStyle/>
          <a:p>
            <a:pPr indent="0" marL="0">
              <a:lnSpc>
                <a:spcPts val="1050"/>
              </a:lnSpc>
              <a:buNone/>
            </a:pPr>
            <a:r>
              <a:rPr lang="en-US" sz="860" dirty="0">
                <a:solidFill>
                  <a:srgbClr val="9FB6CC"/>
                </a:solidFill>
                <a:latin typeface="Calibri" pitchFamily="34" charset="0"/>
                <a:ea typeface="Calibri" pitchFamily="34" charset="-122"/>
                <a:cs typeface="Calibri" pitchFamily="34" charset="-120"/>
              </a:rPr>
              <a:t>each with an owner, a due date and an audit trail</a:t>
            </a:r>
            <a:endParaRPr lang="en-US" sz="860" dirty="0"/>
          </a:p>
        </p:txBody>
      </p:sp>
      <p:sp>
        <p:nvSpPr>
          <p:cNvPr id="25" name="Text 23"/>
          <p:cNvSpPr txBox="1"/>
          <p:nvPr/>
        </p:nvSpPr>
        <p:spPr>
          <a:xfrm>
            <a:off x="6263640" y="5065776"/>
            <a:ext cx="2560320" cy="347472"/>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Zero</a:t>
            </a:r>
            <a:endParaRPr lang="en-US" sz="2000" dirty="0"/>
          </a:p>
        </p:txBody>
      </p:sp>
      <p:sp>
        <p:nvSpPr>
          <p:cNvPr id="26" name="Text 24"/>
          <p:cNvSpPr txBox="1"/>
          <p:nvPr/>
        </p:nvSpPr>
        <p:spPr>
          <a:xfrm>
            <a:off x="6263640" y="5431536"/>
            <a:ext cx="2560320" cy="201168"/>
          </a:xfrm>
          <a:prstGeom prst="rect">
            <a:avLst/>
          </a:prstGeom>
          <a:noFill/>
          <a:ln/>
        </p:spPr>
        <p:txBody>
          <a:bodyPr wrap="square" lIns="0" tIns="0" rIns="0" bIns="0" rtlCol="0" anchor="ctr"/>
          <a:lstStyle/>
          <a:p>
            <a:pPr indent="0" marL="0">
              <a:buNone/>
            </a:pPr>
            <a:r>
              <a:rPr lang="en-US" sz="1000" b="1" dirty="0">
                <a:solidFill>
                  <a:srgbClr val="20A098"/>
                </a:solidFill>
                <a:latin typeface="Calibri" pitchFamily="34" charset="0"/>
                <a:ea typeface="Calibri" pitchFamily="34" charset="-122"/>
                <a:cs typeface="Calibri" pitchFamily="34" charset="-120"/>
              </a:rPr>
              <a:t>unaccounted payments</a:t>
            </a:r>
            <a:endParaRPr lang="en-US" sz="1000" dirty="0"/>
          </a:p>
        </p:txBody>
      </p:sp>
      <p:sp>
        <p:nvSpPr>
          <p:cNvPr id="27" name="Text 25"/>
          <p:cNvSpPr txBox="1"/>
          <p:nvPr/>
        </p:nvSpPr>
        <p:spPr>
          <a:xfrm>
            <a:off x="6263640" y="5632704"/>
            <a:ext cx="2514600" cy="384048"/>
          </a:xfrm>
          <a:prstGeom prst="rect">
            <a:avLst/>
          </a:prstGeom>
          <a:noFill/>
          <a:ln/>
        </p:spPr>
        <p:txBody>
          <a:bodyPr wrap="square" lIns="0" tIns="0" rIns="0" bIns="0" rtlCol="0" anchor="ctr"/>
          <a:lstStyle/>
          <a:p>
            <a:pPr indent="0" marL="0">
              <a:lnSpc>
                <a:spcPts val="1050"/>
              </a:lnSpc>
              <a:buNone/>
            </a:pPr>
            <a:r>
              <a:rPr lang="en-US" sz="860" dirty="0">
                <a:solidFill>
                  <a:srgbClr val="9FB6CC"/>
                </a:solidFill>
                <a:latin typeface="Calibri" pitchFamily="34" charset="0"/>
                <a:ea typeface="Calibri" pitchFamily="34" charset="-122"/>
                <a:cs typeface="Calibri" pitchFamily="34" charset="-120"/>
              </a:rPr>
              <a:t>every fee carries a receipt and a General Ledger code</a:t>
            </a:r>
            <a:endParaRPr lang="en-US" sz="860" dirty="0"/>
          </a:p>
        </p:txBody>
      </p:sp>
      <p:sp>
        <p:nvSpPr>
          <p:cNvPr id="28" name="Text 26"/>
          <p:cNvSpPr txBox="1"/>
          <p:nvPr/>
        </p:nvSpPr>
        <p:spPr>
          <a:xfrm>
            <a:off x="8961120" y="5065776"/>
            <a:ext cx="2560320" cy="347472"/>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Days</a:t>
            </a:r>
            <a:endParaRPr lang="en-US" sz="2000" dirty="0"/>
          </a:p>
        </p:txBody>
      </p:sp>
      <p:sp>
        <p:nvSpPr>
          <p:cNvPr id="29" name="Text 27"/>
          <p:cNvSpPr txBox="1"/>
          <p:nvPr/>
        </p:nvSpPr>
        <p:spPr>
          <a:xfrm>
            <a:off x="8961120" y="5431536"/>
            <a:ext cx="2560320" cy="201168"/>
          </a:xfrm>
          <a:prstGeom prst="rect">
            <a:avLst/>
          </a:prstGeom>
          <a:noFill/>
          <a:ln/>
        </p:spPr>
        <p:txBody>
          <a:bodyPr wrap="square" lIns="0" tIns="0" rIns="0" bIns="0" rtlCol="0" anchor="ctr"/>
          <a:lstStyle/>
          <a:p>
            <a:pPr indent="0" marL="0">
              <a:buNone/>
            </a:pPr>
            <a:r>
              <a:rPr lang="en-US" sz="1000" b="1" dirty="0">
                <a:solidFill>
                  <a:srgbClr val="20A098"/>
                </a:solidFill>
                <a:latin typeface="Calibri" pitchFamily="34" charset="0"/>
                <a:ea typeface="Calibri" pitchFamily="34" charset="-122"/>
                <a:cs typeface="Calibri" pitchFamily="34" charset="-120"/>
              </a:rPr>
              <a:t>not weeks of reconciliation</a:t>
            </a:r>
            <a:endParaRPr lang="en-US" sz="1000" dirty="0"/>
          </a:p>
        </p:txBody>
      </p:sp>
      <p:sp>
        <p:nvSpPr>
          <p:cNvPr id="30" name="Text 28"/>
          <p:cNvSpPr txBox="1"/>
          <p:nvPr/>
        </p:nvSpPr>
        <p:spPr>
          <a:xfrm>
            <a:off x="8961120" y="5632704"/>
            <a:ext cx="2514600" cy="384048"/>
          </a:xfrm>
          <a:prstGeom prst="rect">
            <a:avLst/>
          </a:prstGeom>
          <a:noFill/>
          <a:ln/>
        </p:spPr>
        <p:txBody>
          <a:bodyPr wrap="square" lIns="0" tIns="0" rIns="0" bIns="0" rtlCol="0" anchor="ctr"/>
          <a:lstStyle/>
          <a:p>
            <a:pPr indent="0" marL="0">
              <a:lnSpc>
                <a:spcPts val="1050"/>
              </a:lnSpc>
              <a:buNone/>
            </a:pPr>
            <a:r>
              <a:rPr lang="en-US" sz="860" dirty="0">
                <a:solidFill>
                  <a:srgbClr val="9FB6CC"/>
                </a:solidFill>
                <a:latin typeface="Calibri" pitchFamily="34" charset="0"/>
                <a:ea typeface="Calibri" pitchFamily="34" charset="-122"/>
                <a:cs typeface="Calibri" pitchFamily="34" charset="-120"/>
              </a:rPr>
              <a:t>one export replaces the monthly finance chase</a:t>
            </a:r>
            <a:endParaRPr lang="en-US" sz="860" dirty="0"/>
          </a:p>
        </p:txBody>
      </p:sp>
      <p:sp>
        <p:nvSpPr>
          <p:cNvPr id="31" name="Text 29"/>
          <p:cNvSpPr txBox="1"/>
          <p:nvPr/>
        </p:nvSpPr>
        <p:spPr>
          <a:xfrm>
            <a:off x="548640" y="6437376"/>
            <a:ext cx="10332720" cy="219456"/>
          </a:xfrm>
          <a:prstGeom prst="rect">
            <a:avLst/>
          </a:prstGeom>
          <a:noFill/>
          <a:ln/>
        </p:spPr>
        <p:txBody>
          <a:bodyPr wrap="square" lIns="0" tIns="0" rIns="0" bIns="0" rtlCol="0" anchor="ctr"/>
          <a:lstStyle/>
          <a:p>
            <a:pPr indent="0" marL="0">
              <a:buNone/>
            </a:pPr>
            <a:r>
              <a:rPr lang="en-US" sz="800" dirty="0">
                <a:solidFill>
                  <a:srgbClr val="96A3AE"/>
                </a:solidFill>
                <a:latin typeface="Calibri" pitchFamily="34" charset="0"/>
                <a:ea typeface="Calibri" pitchFamily="34" charset="-122"/>
                <a:cs typeface="Calibri" pitchFamily="34" charset="-120"/>
              </a:rPr>
              <a:t>INK IT Business Solutions   ·   Visa and Permits Management on SAP Business Technology Platform   ·   Kingdom of Saudi Arabia</a:t>
            </a:r>
            <a:endParaRPr lang="en-US" sz="800" dirty="0"/>
          </a:p>
        </p:txBody>
      </p:sp>
      <p:sp>
        <p:nvSpPr>
          <p:cNvPr id="32" name="Text 30"/>
          <p:cNvSpPr txBox="1"/>
          <p:nvPr/>
        </p:nvSpPr>
        <p:spPr>
          <a:xfrm>
            <a:off x="11064240" y="6437376"/>
            <a:ext cx="630936" cy="219456"/>
          </a:xfrm>
          <a:prstGeom prst="rect">
            <a:avLst/>
          </a:prstGeom>
          <a:noFill/>
          <a:ln/>
        </p:spPr>
        <p:txBody>
          <a:bodyPr wrap="square" lIns="0" tIns="0" rIns="0" bIns="0" rtlCol="0" anchor="ctr"/>
          <a:lstStyle/>
          <a:p>
            <a:pPr algn="r" indent="0" marL="0">
              <a:buNone/>
            </a:pPr>
            <a:r>
              <a:rPr lang="en-US" sz="800" dirty="0">
                <a:solidFill>
                  <a:srgbClr val="96A3AE"/>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219456"/>
          </a:xfrm>
          <a:prstGeom prst="rect">
            <a:avLst/>
          </a:prstGeom>
          <a:noFill/>
          <a:ln/>
        </p:spPr>
        <p:txBody>
          <a:bodyPr wrap="square" lIns="0" tIns="0" rIns="0" bIns="0" rtlCol="0" anchor="ctr"/>
          <a:lstStyle/>
          <a:p>
            <a:pPr indent="0" marL="0">
              <a:buNone/>
            </a:pPr>
            <a:r>
              <a:rPr lang="en-US" sz="1050" b="1" spc="220" kern="0" dirty="0">
                <a:solidFill>
                  <a:srgbClr val="20A098"/>
                </a:solidFill>
                <a:latin typeface="Calibri" pitchFamily="34" charset="0"/>
                <a:ea typeface="Calibri" pitchFamily="34" charset="-122"/>
                <a:cs typeface="Calibri" pitchFamily="34" charset="-120"/>
              </a:rPr>
              <a:t>TECHNICAL ARCHITECTURE</a:t>
            </a:r>
            <a:endParaRPr lang="en-US" sz="1050" dirty="0"/>
          </a:p>
        </p:txBody>
      </p:sp>
      <p:sp>
        <p:nvSpPr>
          <p:cNvPr id="3" name="Text 1"/>
          <p:cNvSpPr txBox="1"/>
          <p:nvPr/>
        </p:nvSpPr>
        <p:spPr>
          <a:xfrm>
            <a:off x="548640" y="603504"/>
            <a:ext cx="11064240" cy="512064"/>
          </a:xfrm>
          <a:prstGeom prst="rect">
            <a:avLst/>
          </a:prstGeom>
          <a:noFill/>
          <a:ln/>
        </p:spPr>
        <p:txBody>
          <a:bodyPr wrap="square" lIns="0" tIns="0" rIns="0" bIns="0" rtlCol="0" anchor="ctr"/>
          <a:lstStyle/>
          <a:p>
            <a:pPr indent="0" marL="0">
              <a:buNone/>
            </a:pPr>
            <a:r>
              <a:rPr lang="en-US" sz="2700" b="1" dirty="0">
                <a:solidFill>
                  <a:srgbClr val="0C1E33"/>
                </a:solidFill>
                <a:latin typeface="Arial" pitchFamily="34" charset="0"/>
                <a:ea typeface="Arial" pitchFamily="34" charset="-122"/>
                <a:cs typeface="Arial" pitchFamily="34" charset="-120"/>
              </a:rPr>
              <a:t>Every system, and what actually moves between them.</a:t>
            </a:r>
            <a:endParaRPr lang="en-US" sz="2700" dirty="0"/>
          </a:p>
        </p:txBody>
      </p:sp>
      <p:sp>
        <p:nvSpPr>
          <p:cNvPr id="4" name="Shape 2"/>
          <p:cNvSpPr/>
          <p:nvPr/>
        </p:nvSpPr>
        <p:spPr>
          <a:xfrm>
            <a:off x="2697480" y="1207008"/>
            <a:ext cx="5806440" cy="804672"/>
          </a:xfrm>
          <a:prstGeom prst="roundRect">
            <a:avLst>
              <a:gd name="adj" fmla="val 6818"/>
            </a:avLst>
          </a:prstGeom>
          <a:solidFill>
            <a:srgbClr val="EAF2FC"/>
          </a:solidFill>
          <a:ln w="10795">
            <a:solidFill>
              <a:srgbClr val="BBD6F2"/>
            </a:solidFill>
            <a:prstDash val="solid"/>
          </a:ln>
        </p:spPr>
      </p:sp>
      <p:sp>
        <p:nvSpPr>
          <p:cNvPr id="5" name="Text 3"/>
          <p:cNvSpPr txBox="1"/>
          <p:nvPr/>
        </p:nvSpPr>
        <p:spPr>
          <a:xfrm>
            <a:off x="2825496" y="1271016"/>
            <a:ext cx="5550408" cy="182880"/>
          </a:xfrm>
          <a:prstGeom prst="rect">
            <a:avLst/>
          </a:prstGeom>
          <a:noFill/>
          <a:ln/>
        </p:spPr>
        <p:txBody>
          <a:bodyPr wrap="square" lIns="0" tIns="0" rIns="0" bIns="0" rtlCol="0" anchor="ctr"/>
          <a:lstStyle/>
          <a:p>
            <a:pPr indent="0" marL="0">
              <a:buNone/>
            </a:pPr>
            <a:r>
              <a:rPr lang="en-US" sz="760" b="1" spc="130" kern="0" dirty="0">
                <a:solidFill>
                  <a:srgbClr val="0A6ED1"/>
                </a:solidFill>
                <a:latin typeface="Calibri" pitchFamily="34" charset="0"/>
                <a:ea typeface="Calibri" pitchFamily="34" charset="-122"/>
                <a:cs typeface="Calibri" pitchFamily="34" charset="-120"/>
              </a:rPr>
              <a:t>SAP SUCCESSFACTORS   ·   SYSTEM OF RECORD FOR PEOPLE</a:t>
            </a:r>
            <a:endParaRPr lang="en-US" sz="760" dirty="0"/>
          </a:p>
        </p:txBody>
      </p:sp>
      <p:sp>
        <p:nvSpPr>
          <p:cNvPr id="6" name="Shape 4"/>
          <p:cNvSpPr/>
          <p:nvPr/>
        </p:nvSpPr>
        <p:spPr>
          <a:xfrm>
            <a:off x="2807208" y="1490472"/>
            <a:ext cx="1783080" cy="493776"/>
          </a:xfrm>
          <a:prstGeom prst="roundRect">
            <a:avLst>
              <a:gd name="adj" fmla="val 9259"/>
            </a:avLst>
          </a:prstGeom>
          <a:solidFill>
            <a:srgbClr val="FFFFFF"/>
          </a:solidFill>
          <a:ln w="10795">
            <a:solidFill>
              <a:srgbClr val="BBD6F2"/>
            </a:solidFill>
            <a:prstDash val="solid"/>
          </a:ln>
        </p:spPr>
      </p:sp>
      <p:sp>
        <p:nvSpPr>
          <p:cNvPr id="7" name="Text 5"/>
          <p:cNvSpPr txBox="1"/>
          <p:nvPr/>
        </p:nvSpPr>
        <p:spPr>
          <a:xfrm>
            <a:off x="2871216" y="1513332"/>
            <a:ext cx="1655064" cy="274320"/>
          </a:xfrm>
          <a:prstGeom prst="rect">
            <a:avLst/>
          </a:prstGeom>
          <a:noFill/>
          <a:ln/>
        </p:spPr>
        <p:txBody>
          <a:bodyPr wrap="square" lIns="0" tIns="0" rIns="0" bIns="0" rtlCol="0" anchor="ctr"/>
          <a:lstStyle/>
          <a:p>
            <a:pPr indent="0" marL="0">
              <a:lnSpc>
                <a:spcPts val="960"/>
              </a:lnSpc>
              <a:buNone/>
            </a:pPr>
            <a:r>
              <a:rPr lang="en-US" sz="820" b="1" dirty="0">
                <a:solidFill>
                  <a:srgbClr val="0C1E33"/>
                </a:solidFill>
                <a:latin typeface="Calibri" pitchFamily="34" charset="0"/>
                <a:ea typeface="Calibri" pitchFamily="34" charset="-122"/>
                <a:cs typeface="Calibri" pitchFamily="34" charset="-120"/>
              </a:rPr>
              <a:t>SAP SuccessFactors Recruiting</a:t>
            </a:r>
            <a:endParaRPr lang="en-US" sz="820" dirty="0"/>
          </a:p>
        </p:txBody>
      </p:sp>
      <p:sp>
        <p:nvSpPr>
          <p:cNvPr id="8" name="Text 6"/>
          <p:cNvSpPr txBox="1"/>
          <p:nvPr/>
        </p:nvSpPr>
        <p:spPr>
          <a:xfrm>
            <a:off x="2871216" y="1787652"/>
            <a:ext cx="1655064" cy="182880"/>
          </a:xfrm>
          <a:prstGeom prst="rect">
            <a:avLst/>
          </a:prstGeom>
          <a:noFill/>
          <a:ln/>
        </p:spPr>
        <p:txBody>
          <a:bodyPr wrap="square" lIns="0" tIns="0" rIns="0" bIns="0" rtlCol="0" anchor="ctr"/>
          <a:lstStyle/>
          <a:p>
            <a:pPr indent="0" marL="0">
              <a:buNone/>
            </a:pPr>
            <a:r>
              <a:rPr lang="en-US" sz="700" dirty="0">
                <a:solidFill>
                  <a:srgbClr val="5A6C82"/>
                </a:solidFill>
                <a:latin typeface="Calibri" pitchFamily="34" charset="0"/>
                <a:ea typeface="Calibri" pitchFamily="34" charset="-122"/>
                <a:cs typeface="Calibri" pitchFamily="34" charset="-120"/>
              </a:rPr>
              <a:t>Candidate released to permit</a:t>
            </a:r>
            <a:endParaRPr lang="en-US" sz="700" dirty="0"/>
          </a:p>
        </p:txBody>
      </p:sp>
      <p:sp>
        <p:nvSpPr>
          <p:cNvPr id="9" name="Shape 7"/>
          <p:cNvSpPr/>
          <p:nvPr/>
        </p:nvSpPr>
        <p:spPr>
          <a:xfrm>
            <a:off x="4700016" y="1490472"/>
            <a:ext cx="1783080" cy="493776"/>
          </a:xfrm>
          <a:prstGeom prst="roundRect">
            <a:avLst>
              <a:gd name="adj" fmla="val 9259"/>
            </a:avLst>
          </a:prstGeom>
          <a:solidFill>
            <a:srgbClr val="FFFFFF"/>
          </a:solidFill>
          <a:ln w="10795">
            <a:solidFill>
              <a:srgbClr val="BBD6F2"/>
            </a:solidFill>
            <a:prstDash val="solid"/>
          </a:ln>
        </p:spPr>
      </p:sp>
      <p:sp>
        <p:nvSpPr>
          <p:cNvPr id="10" name="Text 8"/>
          <p:cNvSpPr txBox="1"/>
          <p:nvPr/>
        </p:nvSpPr>
        <p:spPr>
          <a:xfrm>
            <a:off x="4764024" y="1513332"/>
            <a:ext cx="1655064" cy="274320"/>
          </a:xfrm>
          <a:prstGeom prst="rect">
            <a:avLst/>
          </a:prstGeom>
          <a:noFill/>
          <a:ln/>
        </p:spPr>
        <p:txBody>
          <a:bodyPr wrap="square" lIns="0" tIns="0" rIns="0" bIns="0" rtlCol="0" anchor="ctr"/>
          <a:lstStyle/>
          <a:p>
            <a:pPr indent="0" marL="0">
              <a:lnSpc>
                <a:spcPts val="960"/>
              </a:lnSpc>
              <a:buNone/>
            </a:pPr>
            <a:r>
              <a:rPr lang="en-US" sz="820" b="1" dirty="0">
                <a:solidFill>
                  <a:srgbClr val="0C1E33"/>
                </a:solidFill>
                <a:latin typeface="Calibri" pitchFamily="34" charset="0"/>
                <a:ea typeface="Calibri" pitchFamily="34" charset="-122"/>
                <a:cs typeface="Calibri" pitchFamily="34" charset="-120"/>
              </a:rPr>
              <a:t>SAP SuccessFactors Onboarding</a:t>
            </a:r>
            <a:endParaRPr lang="en-US" sz="820" dirty="0"/>
          </a:p>
        </p:txBody>
      </p:sp>
      <p:sp>
        <p:nvSpPr>
          <p:cNvPr id="11" name="Text 9"/>
          <p:cNvSpPr txBox="1"/>
          <p:nvPr/>
        </p:nvSpPr>
        <p:spPr>
          <a:xfrm>
            <a:off x="4764024" y="1787652"/>
            <a:ext cx="1655064" cy="182880"/>
          </a:xfrm>
          <a:prstGeom prst="rect">
            <a:avLst/>
          </a:prstGeom>
          <a:noFill/>
          <a:ln/>
        </p:spPr>
        <p:txBody>
          <a:bodyPr wrap="square" lIns="0" tIns="0" rIns="0" bIns="0" rtlCol="0" anchor="ctr"/>
          <a:lstStyle/>
          <a:p>
            <a:pPr indent="0" marL="0">
              <a:buNone/>
            </a:pPr>
            <a:r>
              <a:rPr lang="en-US" sz="700" dirty="0">
                <a:solidFill>
                  <a:srgbClr val="5A6C82"/>
                </a:solidFill>
                <a:latin typeface="Calibri" pitchFamily="34" charset="0"/>
                <a:ea typeface="Calibri" pitchFamily="34" charset="-122"/>
                <a:cs typeface="Calibri" pitchFamily="34" charset="-120"/>
              </a:rPr>
              <a:t>Arrival date starts the clock</a:t>
            </a:r>
            <a:endParaRPr lang="en-US" sz="700" dirty="0"/>
          </a:p>
        </p:txBody>
      </p:sp>
      <p:sp>
        <p:nvSpPr>
          <p:cNvPr id="12" name="Shape 10"/>
          <p:cNvSpPr/>
          <p:nvPr/>
        </p:nvSpPr>
        <p:spPr>
          <a:xfrm>
            <a:off x="6592824" y="1490472"/>
            <a:ext cx="1783080" cy="493776"/>
          </a:xfrm>
          <a:prstGeom prst="roundRect">
            <a:avLst>
              <a:gd name="adj" fmla="val 9259"/>
            </a:avLst>
          </a:prstGeom>
          <a:solidFill>
            <a:srgbClr val="FFFFFF"/>
          </a:solidFill>
          <a:ln w="10795">
            <a:solidFill>
              <a:srgbClr val="BBD6F2"/>
            </a:solidFill>
            <a:prstDash val="solid"/>
          </a:ln>
        </p:spPr>
      </p:sp>
      <p:sp>
        <p:nvSpPr>
          <p:cNvPr id="13" name="Text 11"/>
          <p:cNvSpPr txBox="1"/>
          <p:nvPr/>
        </p:nvSpPr>
        <p:spPr>
          <a:xfrm>
            <a:off x="6656832" y="1513332"/>
            <a:ext cx="1655064" cy="274320"/>
          </a:xfrm>
          <a:prstGeom prst="rect">
            <a:avLst/>
          </a:prstGeom>
          <a:noFill/>
          <a:ln/>
        </p:spPr>
        <p:txBody>
          <a:bodyPr wrap="square" lIns="0" tIns="0" rIns="0" bIns="0" rtlCol="0" anchor="ctr"/>
          <a:lstStyle/>
          <a:p>
            <a:pPr indent="0" marL="0">
              <a:lnSpc>
                <a:spcPts val="960"/>
              </a:lnSpc>
              <a:buNone/>
            </a:pPr>
            <a:r>
              <a:rPr lang="en-US" sz="820" b="1" dirty="0">
                <a:solidFill>
                  <a:srgbClr val="0C1E33"/>
                </a:solidFill>
                <a:latin typeface="Calibri" pitchFamily="34" charset="0"/>
                <a:ea typeface="Calibri" pitchFamily="34" charset="-122"/>
                <a:cs typeface="Calibri" pitchFamily="34" charset="-120"/>
              </a:rPr>
              <a:t>SAP SuccessFactors Employee Central</a:t>
            </a:r>
            <a:endParaRPr lang="en-US" sz="820" dirty="0"/>
          </a:p>
        </p:txBody>
      </p:sp>
      <p:sp>
        <p:nvSpPr>
          <p:cNvPr id="14" name="Text 12"/>
          <p:cNvSpPr txBox="1"/>
          <p:nvPr/>
        </p:nvSpPr>
        <p:spPr>
          <a:xfrm>
            <a:off x="6656832" y="1787652"/>
            <a:ext cx="1655064" cy="182880"/>
          </a:xfrm>
          <a:prstGeom prst="rect">
            <a:avLst/>
          </a:prstGeom>
          <a:noFill/>
          <a:ln/>
        </p:spPr>
        <p:txBody>
          <a:bodyPr wrap="square" lIns="0" tIns="0" rIns="0" bIns="0" rtlCol="0" anchor="ctr"/>
          <a:lstStyle/>
          <a:p>
            <a:pPr indent="0" marL="0">
              <a:buNone/>
            </a:pPr>
            <a:r>
              <a:rPr lang="en-US" sz="700" dirty="0">
                <a:solidFill>
                  <a:srgbClr val="5A6C82"/>
                </a:solidFill>
                <a:latin typeface="Calibri" pitchFamily="34" charset="0"/>
                <a:ea typeface="Calibri" pitchFamily="34" charset="-122"/>
                <a:cs typeface="Calibri" pitchFamily="34" charset="-120"/>
              </a:rPr>
              <a:t>Employee, job and organisation</a:t>
            </a:r>
            <a:endParaRPr lang="en-US" sz="700" dirty="0"/>
          </a:p>
        </p:txBody>
      </p:sp>
      <p:sp>
        <p:nvSpPr>
          <p:cNvPr id="15" name="Shape 13"/>
          <p:cNvSpPr/>
          <p:nvPr/>
        </p:nvSpPr>
        <p:spPr>
          <a:xfrm>
            <a:off x="502920" y="2395728"/>
            <a:ext cx="1920240" cy="2615184"/>
          </a:xfrm>
          <a:prstGeom prst="roundRect">
            <a:avLst>
              <a:gd name="adj" fmla="val 2857"/>
            </a:avLst>
          </a:prstGeom>
          <a:solidFill>
            <a:srgbClr val="F4F6F7"/>
          </a:solidFill>
          <a:ln w="10795">
            <a:solidFill>
              <a:srgbClr val="E3E7EA"/>
            </a:solidFill>
            <a:prstDash val="solid"/>
          </a:ln>
        </p:spPr>
      </p:sp>
      <p:sp>
        <p:nvSpPr>
          <p:cNvPr id="16" name="Text 14"/>
          <p:cNvSpPr txBox="1"/>
          <p:nvPr/>
        </p:nvSpPr>
        <p:spPr>
          <a:xfrm>
            <a:off x="612648" y="2487168"/>
            <a:ext cx="1700784" cy="182880"/>
          </a:xfrm>
          <a:prstGeom prst="rect">
            <a:avLst/>
          </a:prstGeom>
          <a:noFill/>
          <a:ln/>
        </p:spPr>
        <p:txBody>
          <a:bodyPr wrap="square" lIns="0" tIns="0" rIns="0" bIns="0" rtlCol="0" anchor="ctr"/>
          <a:lstStyle/>
          <a:p>
            <a:pPr indent="0" marL="0">
              <a:buNone/>
            </a:pPr>
            <a:r>
              <a:rPr lang="en-US" sz="760" b="1" spc="130" kern="0" dirty="0">
                <a:solidFill>
                  <a:srgbClr val="5A6C82"/>
                </a:solidFill>
                <a:latin typeface="Calibri" pitchFamily="34" charset="0"/>
                <a:ea typeface="Calibri" pitchFamily="34" charset="-122"/>
                <a:cs typeface="Calibri" pitchFamily="34" charset="-120"/>
              </a:rPr>
              <a:t>WHO USES IT</a:t>
            </a:r>
            <a:endParaRPr lang="en-US" sz="760" dirty="0"/>
          </a:p>
        </p:txBody>
      </p:sp>
      <p:sp>
        <p:nvSpPr>
          <p:cNvPr id="17" name="Shape 15"/>
          <p:cNvSpPr/>
          <p:nvPr/>
        </p:nvSpPr>
        <p:spPr>
          <a:xfrm>
            <a:off x="612648" y="2761488"/>
            <a:ext cx="1700784" cy="475488"/>
          </a:xfrm>
          <a:prstGeom prst="roundRect">
            <a:avLst>
              <a:gd name="adj" fmla="val 9615"/>
            </a:avLst>
          </a:prstGeom>
          <a:solidFill>
            <a:srgbClr val="FFFFFF"/>
          </a:solidFill>
          <a:ln w="10795">
            <a:solidFill>
              <a:srgbClr val="E3E7EA"/>
            </a:solidFill>
            <a:prstDash val="solid"/>
          </a:ln>
        </p:spPr>
      </p:sp>
      <p:sp>
        <p:nvSpPr>
          <p:cNvPr id="18" name="Text 16"/>
          <p:cNvSpPr txBox="1"/>
          <p:nvPr/>
        </p:nvSpPr>
        <p:spPr>
          <a:xfrm>
            <a:off x="676656" y="2816352"/>
            <a:ext cx="1572768" cy="182880"/>
          </a:xfrm>
          <a:prstGeom prst="rect">
            <a:avLst/>
          </a:prstGeom>
          <a:noFill/>
          <a:ln/>
        </p:spPr>
        <p:txBody>
          <a:bodyPr wrap="square" lIns="0" tIns="0" rIns="0" bIns="0" rtlCol="0" anchor="ctr"/>
          <a:lstStyle/>
          <a:p>
            <a:pPr indent="0" marL="0">
              <a:buNone/>
            </a:pPr>
            <a:r>
              <a:rPr lang="en-US" sz="800" b="1" dirty="0">
                <a:solidFill>
                  <a:srgbClr val="0C1E33"/>
                </a:solidFill>
                <a:latin typeface="Calibri" pitchFamily="34" charset="0"/>
                <a:ea typeface="Calibri" pitchFamily="34" charset="-122"/>
                <a:cs typeface="Calibri" pitchFamily="34" charset="-120"/>
              </a:rPr>
              <a:t>Government Relations Officer</a:t>
            </a:r>
            <a:endParaRPr lang="en-US" sz="800" dirty="0"/>
          </a:p>
        </p:txBody>
      </p:sp>
      <p:sp>
        <p:nvSpPr>
          <p:cNvPr id="19" name="Text 17"/>
          <p:cNvSpPr txBox="1"/>
          <p:nvPr/>
        </p:nvSpPr>
        <p:spPr>
          <a:xfrm>
            <a:off x="676656" y="2999232"/>
            <a:ext cx="1572768" cy="182880"/>
          </a:xfrm>
          <a:prstGeom prst="rect">
            <a:avLst/>
          </a:prstGeom>
          <a:noFill/>
          <a:ln/>
        </p:spPr>
        <p:txBody>
          <a:bodyPr wrap="square" lIns="0" tIns="0" rIns="0" bIns="0" rtlCol="0" anchor="ctr"/>
          <a:lstStyle/>
          <a:p>
            <a:pPr indent="0" marL="0">
              <a:buNone/>
            </a:pPr>
            <a:r>
              <a:rPr lang="en-US" sz="690" dirty="0">
                <a:solidFill>
                  <a:srgbClr val="5A6C82"/>
                </a:solidFill>
                <a:latin typeface="Calibri" pitchFamily="34" charset="0"/>
                <a:ea typeface="Calibri" pitchFamily="34" charset="-122"/>
                <a:cs typeface="Calibri" pitchFamily="34" charset="-120"/>
              </a:rPr>
              <a:t>Files with the authorities</a:t>
            </a:r>
            <a:endParaRPr lang="en-US" sz="690" dirty="0"/>
          </a:p>
        </p:txBody>
      </p:sp>
      <p:sp>
        <p:nvSpPr>
          <p:cNvPr id="20" name="Shape 18"/>
          <p:cNvSpPr/>
          <p:nvPr/>
        </p:nvSpPr>
        <p:spPr>
          <a:xfrm>
            <a:off x="612648" y="3300984"/>
            <a:ext cx="1700784" cy="475488"/>
          </a:xfrm>
          <a:prstGeom prst="roundRect">
            <a:avLst>
              <a:gd name="adj" fmla="val 9615"/>
            </a:avLst>
          </a:prstGeom>
          <a:solidFill>
            <a:srgbClr val="FFFFFF"/>
          </a:solidFill>
          <a:ln w="10795">
            <a:solidFill>
              <a:srgbClr val="E3E7EA"/>
            </a:solidFill>
            <a:prstDash val="solid"/>
          </a:ln>
        </p:spPr>
      </p:sp>
      <p:sp>
        <p:nvSpPr>
          <p:cNvPr id="21" name="Text 19"/>
          <p:cNvSpPr txBox="1"/>
          <p:nvPr/>
        </p:nvSpPr>
        <p:spPr>
          <a:xfrm>
            <a:off x="676656" y="3355848"/>
            <a:ext cx="1572768" cy="182880"/>
          </a:xfrm>
          <a:prstGeom prst="rect">
            <a:avLst/>
          </a:prstGeom>
          <a:noFill/>
          <a:ln/>
        </p:spPr>
        <p:txBody>
          <a:bodyPr wrap="square" lIns="0" tIns="0" rIns="0" bIns="0" rtlCol="0" anchor="ctr"/>
          <a:lstStyle/>
          <a:p>
            <a:pPr indent="0" marL="0">
              <a:buNone/>
            </a:pPr>
            <a:r>
              <a:rPr lang="en-US" sz="800" b="1" dirty="0">
                <a:solidFill>
                  <a:srgbClr val="0C1E33"/>
                </a:solidFill>
                <a:latin typeface="Calibri" pitchFamily="34" charset="0"/>
                <a:ea typeface="Calibri" pitchFamily="34" charset="-122"/>
                <a:cs typeface="Calibri" pitchFamily="34" charset="-120"/>
              </a:rPr>
              <a:t>Human Resources operations</a:t>
            </a:r>
            <a:endParaRPr lang="en-US" sz="800" dirty="0"/>
          </a:p>
        </p:txBody>
      </p:sp>
      <p:sp>
        <p:nvSpPr>
          <p:cNvPr id="22" name="Text 20"/>
          <p:cNvSpPr txBox="1"/>
          <p:nvPr/>
        </p:nvSpPr>
        <p:spPr>
          <a:xfrm>
            <a:off x="676656" y="3538728"/>
            <a:ext cx="1572768" cy="182880"/>
          </a:xfrm>
          <a:prstGeom prst="rect">
            <a:avLst/>
          </a:prstGeom>
          <a:noFill/>
          <a:ln/>
        </p:spPr>
        <p:txBody>
          <a:bodyPr wrap="square" lIns="0" tIns="0" rIns="0" bIns="0" rtlCol="0" anchor="ctr"/>
          <a:lstStyle/>
          <a:p>
            <a:pPr indent="0" marL="0">
              <a:buNone/>
            </a:pPr>
            <a:r>
              <a:rPr lang="en-US" sz="690" dirty="0">
                <a:solidFill>
                  <a:srgbClr val="5A6C82"/>
                </a:solidFill>
                <a:latin typeface="Calibri" pitchFamily="34" charset="0"/>
                <a:ea typeface="Calibri" pitchFamily="34" charset="-122"/>
                <a:cs typeface="Calibri" pitchFamily="34" charset="-120"/>
              </a:rPr>
              <a:t>Initiates and chases</a:t>
            </a:r>
            <a:endParaRPr lang="en-US" sz="690" dirty="0"/>
          </a:p>
        </p:txBody>
      </p:sp>
      <p:sp>
        <p:nvSpPr>
          <p:cNvPr id="23" name="Shape 21"/>
          <p:cNvSpPr/>
          <p:nvPr/>
        </p:nvSpPr>
        <p:spPr>
          <a:xfrm>
            <a:off x="612648" y="3840480"/>
            <a:ext cx="1700784" cy="475488"/>
          </a:xfrm>
          <a:prstGeom prst="roundRect">
            <a:avLst>
              <a:gd name="adj" fmla="val 9615"/>
            </a:avLst>
          </a:prstGeom>
          <a:solidFill>
            <a:srgbClr val="FFFFFF"/>
          </a:solidFill>
          <a:ln w="10795">
            <a:solidFill>
              <a:srgbClr val="E3E7EA"/>
            </a:solidFill>
            <a:prstDash val="solid"/>
          </a:ln>
        </p:spPr>
      </p:sp>
      <p:sp>
        <p:nvSpPr>
          <p:cNvPr id="24" name="Text 22"/>
          <p:cNvSpPr txBox="1"/>
          <p:nvPr/>
        </p:nvSpPr>
        <p:spPr>
          <a:xfrm>
            <a:off x="676656" y="3895344"/>
            <a:ext cx="1572768" cy="182880"/>
          </a:xfrm>
          <a:prstGeom prst="rect">
            <a:avLst/>
          </a:prstGeom>
          <a:noFill/>
          <a:ln/>
        </p:spPr>
        <p:txBody>
          <a:bodyPr wrap="square" lIns="0" tIns="0" rIns="0" bIns="0" rtlCol="0" anchor="ctr"/>
          <a:lstStyle/>
          <a:p>
            <a:pPr indent="0" marL="0">
              <a:buNone/>
            </a:pPr>
            <a:r>
              <a:rPr lang="en-US" sz="800" b="1" dirty="0">
                <a:solidFill>
                  <a:srgbClr val="0C1E33"/>
                </a:solidFill>
                <a:latin typeface="Calibri" pitchFamily="34" charset="0"/>
                <a:ea typeface="Calibri" pitchFamily="34" charset="-122"/>
                <a:cs typeface="Calibri" pitchFamily="34" charset="-120"/>
              </a:rPr>
              <a:t>Finance</a:t>
            </a:r>
            <a:endParaRPr lang="en-US" sz="800" dirty="0"/>
          </a:p>
        </p:txBody>
      </p:sp>
      <p:sp>
        <p:nvSpPr>
          <p:cNvPr id="25" name="Text 23"/>
          <p:cNvSpPr txBox="1"/>
          <p:nvPr/>
        </p:nvSpPr>
        <p:spPr>
          <a:xfrm>
            <a:off x="676656" y="4078224"/>
            <a:ext cx="1572768" cy="182880"/>
          </a:xfrm>
          <a:prstGeom prst="rect">
            <a:avLst/>
          </a:prstGeom>
          <a:noFill/>
          <a:ln/>
        </p:spPr>
        <p:txBody>
          <a:bodyPr wrap="square" lIns="0" tIns="0" rIns="0" bIns="0" rtlCol="0" anchor="ctr"/>
          <a:lstStyle/>
          <a:p>
            <a:pPr indent="0" marL="0">
              <a:buNone/>
            </a:pPr>
            <a:r>
              <a:rPr lang="en-US" sz="690" dirty="0">
                <a:solidFill>
                  <a:srgbClr val="5A6C82"/>
                </a:solidFill>
                <a:latin typeface="Calibri" pitchFamily="34" charset="0"/>
                <a:ea typeface="Calibri" pitchFamily="34" charset="-122"/>
                <a:cs typeface="Calibri" pitchFamily="34" charset="-120"/>
              </a:rPr>
              <a:t>Reconciles and posts</a:t>
            </a:r>
            <a:endParaRPr lang="en-US" sz="690" dirty="0"/>
          </a:p>
        </p:txBody>
      </p:sp>
      <p:sp>
        <p:nvSpPr>
          <p:cNvPr id="26" name="Shape 24"/>
          <p:cNvSpPr/>
          <p:nvPr/>
        </p:nvSpPr>
        <p:spPr>
          <a:xfrm>
            <a:off x="612648" y="4379976"/>
            <a:ext cx="1700784" cy="475488"/>
          </a:xfrm>
          <a:prstGeom prst="roundRect">
            <a:avLst>
              <a:gd name="adj" fmla="val 9615"/>
            </a:avLst>
          </a:prstGeom>
          <a:solidFill>
            <a:srgbClr val="FFFFFF"/>
          </a:solidFill>
          <a:ln w="10795">
            <a:solidFill>
              <a:srgbClr val="E3E7EA"/>
            </a:solidFill>
            <a:prstDash val="solid"/>
          </a:ln>
        </p:spPr>
      </p:sp>
      <p:sp>
        <p:nvSpPr>
          <p:cNvPr id="27" name="Text 25"/>
          <p:cNvSpPr txBox="1"/>
          <p:nvPr/>
        </p:nvSpPr>
        <p:spPr>
          <a:xfrm>
            <a:off x="676656" y="4434840"/>
            <a:ext cx="1572768" cy="182880"/>
          </a:xfrm>
          <a:prstGeom prst="rect">
            <a:avLst/>
          </a:prstGeom>
          <a:noFill/>
          <a:ln/>
        </p:spPr>
        <p:txBody>
          <a:bodyPr wrap="square" lIns="0" tIns="0" rIns="0" bIns="0" rtlCol="0" anchor="ctr"/>
          <a:lstStyle/>
          <a:p>
            <a:pPr indent="0" marL="0">
              <a:buNone/>
            </a:pPr>
            <a:r>
              <a:rPr lang="en-US" sz="800" b="1" dirty="0">
                <a:solidFill>
                  <a:srgbClr val="0C1E33"/>
                </a:solidFill>
                <a:latin typeface="Calibri" pitchFamily="34" charset="0"/>
                <a:ea typeface="Calibri" pitchFamily="34" charset="-122"/>
                <a:cs typeface="Calibri" pitchFamily="34" charset="-120"/>
              </a:rPr>
              <a:t>Employee</a:t>
            </a:r>
            <a:endParaRPr lang="en-US" sz="800" dirty="0"/>
          </a:p>
        </p:txBody>
      </p:sp>
      <p:sp>
        <p:nvSpPr>
          <p:cNvPr id="28" name="Text 26"/>
          <p:cNvSpPr txBox="1"/>
          <p:nvPr/>
        </p:nvSpPr>
        <p:spPr>
          <a:xfrm>
            <a:off x="676656" y="4617720"/>
            <a:ext cx="1572768" cy="182880"/>
          </a:xfrm>
          <a:prstGeom prst="rect">
            <a:avLst/>
          </a:prstGeom>
          <a:noFill/>
          <a:ln/>
        </p:spPr>
        <p:txBody>
          <a:bodyPr wrap="square" lIns="0" tIns="0" rIns="0" bIns="0" rtlCol="0" anchor="ctr"/>
          <a:lstStyle/>
          <a:p>
            <a:pPr indent="0" marL="0">
              <a:buNone/>
            </a:pPr>
            <a:r>
              <a:rPr lang="en-US" sz="690" dirty="0">
                <a:solidFill>
                  <a:srgbClr val="5A6C82"/>
                </a:solidFill>
                <a:latin typeface="Calibri" pitchFamily="34" charset="0"/>
                <a:ea typeface="Calibri" pitchFamily="34" charset="-122"/>
                <a:cs typeface="Calibri" pitchFamily="34" charset="-120"/>
              </a:rPr>
              <a:t>Requests and confirms</a:t>
            </a:r>
            <a:endParaRPr lang="en-US" sz="690" dirty="0"/>
          </a:p>
        </p:txBody>
      </p:sp>
      <p:sp>
        <p:nvSpPr>
          <p:cNvPr id="29" name="Shape 27"/>
          <p:cNvSpPr/>
          <p:nvPr/>
        </p:nvSpPr>
        <p:spPr>
          <a:xfrm>
            <a:off x="2697480" y="2395728"/>
            <a:ext cx="5806440" cy="2615184"/>
          </a:xfrm>
          <a:prstGeom prst="roundRect">
            <a:avLst>
              <a:gd name="adj" fmla="val 2448"/>
            </a:avLst>
          </a:prstGeom>
          <a:solidFill>
            <a:srgbClr val="E4F5F3"/>
          </a:solidFill>
          <a:ln w="17780">
            <a:solidFill>
              <a:srgbClr val="20A098"/>
            </a:solidFill>
            <a:prstDash val="solid"/>
          </a:ln>
        </p:spPr>
      </p:sp>
      <p:sp>
        <p:nvSpPr>
          <p:cNvPr id="30" name="Text 28"/>
          <p:cNvSpPr txBox="1"/>
          <p:nvPr/>
        </p:nvSpPr>
        <p:spPr>
          <a:xfrm>
            <a:off x="2825496" y="2487168"/>
            <a:ext cx="5550408" cy="182880"/>
          </a:xfrm>
          <a:prstGeom prst="rect">
            <a:avLst/>
          </a:prstGeom>
          <a:noFill/>
          <a:ln/>
        </p:spPr>
        <p:txBody>
          <a:bodyPr wrap="square" lIns="0" tIns="0" rIns="0" bIns="0" rtlCol="0" anchor="ctr"/>
          <a:lstStyle/>
          <a:p>
            <a:pPr indent="0" marL="0">
              <a:buNone/>
            </a:pPr>
            <a:r>
              <a:rPr lang="en-US" sz="760" b="1" spc="120" kern="0" dirty="0">
                <a:solidFill>
                  <a:srgbClr val="12756F"/>
                </a:solidFill>
                <a:latin typeface="Calibri" pitchFamily="34" charset="0"/>
                <a:ea typeface="Calibri" pitchFamily="34" charset="-122"/>
                <a:cs typeface="Calibri" pitchFamily="34" charset="-120"/>
              </a:rPr>
              <a:t>VISA AND PERMITS MANAGEMENT   ·   SAP BUSINESS TECHNOLOGY PLATFORM</a:t>
            </a:r>
            <a:endParaRPr lang="en-US" sz="760" dirty="0"/>
          </a:p>
        </p:txBody>
      </p:sp>
      <p:sp>
        <p:nvSpPr>
          <p:cNvPr id="31" name="Shape 29"/>
          <p:cNvSpPr/>
          <p:nvPr/>
        </p:nvSpPr>
        <p:spPr>
          <a:xfrm>
            <a:off x="2807208" y="2761488"/>
            <a:ext cx="1783080" cy="914400"/>
          </a:xfrm>
          <a:prstGeom prst="roundRect">
            <a:avLst>
              <a:gd name="adj" fmla="val 5000"/>
            </a:avLst>
          </a:prstGeom>
          <a:solidFill>
            <a:srgbClr val="FFFFFF"/>
          </a:solidFill>
          <a:ln w="10795">
            <a:solidFill>
              <a:srgbClr val="9FD8D3"/>
            </a:solidFill>
            <a:prstDash val="solid"/>
          </a:ln>
        </p:spPr>
      </p:sp>
      <p:sp>
        <p:nvSpPr>
          <p:cNvPr id="32" name="Text 30"/>
          <p:cNvSpPr txBox="1"/>
          <p:nvPr/>
        </p:nvSpPr>
        <p:spPr>
          <a:xfrm>
            <a:off x="2889504" y="2843784"/>
            <a:ext cx="1618488" cy="292608"/>
          </a:xfrm>
          <a:prstGeom prst="rect">
            <a:avLst/>
          </a:prstGeom>
          <a:noFill/>
          <a:ln/>
        </p:spPr>
        <p:txBody>
          <a:bodyPr wrap="square" lIns="0" tIns="0" rIns="0" bIns="0" rtlCol="0" anchor="ctr"/>
          <a:lstStyle/>
          <a:p>
            <a:pPr indent="0" marL="0">
              <a:lnSpc>
                <a:spcPts val="1000"/>
              </a:lnSpc>
              <a:buNone/>
            </a:pPr>
            <a:r>
              <a:rPr lang="en-US" sz="840" b="1" dirty="0">
                <a:solidFill>
                  <a:srgbClr val="12756F"/>
                </a:solidFill>
                <a:latin typeface="Calibri" pitchFamily="34" charset="0"/>
                <a:ea typeface="Calibri" pitchFamily="34" charset="-122"/>
                <a:cs typeface="Calibri" pitchFamily="34" charset="-120"/>
              </a:rPr>
              <a:t>SAP Build Work Zone</a:t>
            </a:r>
            <a:endParaRPr lang="en-US" sz="840" dirty="0"/>
          </a:p>
        </p:txBody>
      </p:sp>
      <p:sp>
        <p:nvSpPr>
          <p:cNvPr id="33" name="Text 31"/>
          <p:cNvSpPr txBox="1"/>
          <p:nvPr/>
        </p:nvSpPr>
        <p:spPr>
          <a:xfrm>
            <a:off x="2889504" y="3145536"/>
            <a:ext cx="1618488" cy="475488"/>
          </a:xfrm>
          <a:prstGeom prst="rect">
            <a:avLst/>
          </a:prstGeom>
          <a:noFill/>
          <a:ln/>
        </p:spPr>
        <p:txBody>
          <a:bodyPr wrap="square" lIns="0" tIns="0" rIns="0" bIns="0" rtlCol="0" anchor="ctr"/>
          <a:lstStyle/>
          <a:p>
            <a:pPr indent="0" marL="0">
              <a:lnSpc>
                <a:spcPts val="840"/>
              </a:lnSpc>
              <a:buNone/>
            </a:pPr>
            <a:r>
              <a:rPr lang="en-US" sz="690" dirty="0">
                <a:solidFill>
                  <a:srgbClr val="5A6C82"/>
                </a:solidFill>
                <a:latin typeface="Calibri" pitchFamily="34" charset="0"/>
                <a:ea typeface="Calibri" pitchFamily="34" charset="-122"/>
                <a:cs typeface="Calibri" pitchFamily="34" charset="-120"/>
              </a:rPr>
              <a:t>The launchpad and the officer inbox. One place to start every case.</a:t>
            </a:r>
            <a:endParaRPr lang="en-US" sz="690" dirty="0"/>
          </a:p>
        </p:txBody>
      </p:sp>
      <p:sp>
        <p:nvSpPr>
          <p:cNvPr id="34" name="Shape 32"/>
          <p:cNvSpPr/>
          <p:nvPr/>
        </p:nvSpPr>
        <p:spPr>
          <a:xfrm>
            <a:off x="4700016" y="2761488"/>
            <a:ext cx="1783080" cy="914400"/>
          </a:xfrm>
          <a:prstGeom prst="roundRect">
            <a:avLst>
              <a:gd name="adj" fmla="val 5000"/>
            </a:avLst>
          </a:prstGeom>
          <a:solidFill>
            <a:srgbClr val="FFFFFF"/>
          </a:solidFill>
          <a:ln w="10795">
            <a:solidFill>
              <a:srgbClr val="9FD8D3"/>
            </a:solidFill>
            <a:prstDash val="solid"/>
          </a:ln>
        </p:spPr>
      </p:sp>
      <p:sp>
        <p:nvSpPr>
          <p:cNvPr id="35" name="Text 33"/>
          <p:cNvSpPr txBox="1"/>
          <p:nvPr/>
        </p:nvSpPr>
        <p:spPr>
          <a:xfrm>
            <a:off x="4782312" y="2843784"/>
            <a:ext cx="1618488" cy="292608"/>
          </a:xfrm>
          <a:prstGeom prst="rect">
            <a:avLst/>
          </a:prstGeom>
          <a:noFill/>
          <a:ln/>
        </p:spPr>
        <p:txBody>
          <a:bodyPr wrap="square" lIns="0" tIns="0" rIns="0" bIns="0" rtlCol="0" anchor="ctr"/>
          <a:lstStyle/>
          <a:p>
            <a:pPr indent="0" marL="0">
              <a:lnSpc>
                <a:spcPts val="1000"/>
              </a:lnSpc>
              <a:buNone/>
            </a:pPr>
            <a:r>
              <a:rPr lang="en-US" sz="840" b="1" dirty="0">
                <a:solidFill>
                  <a:srgbClr val="12756F"/>
                </a:solidFill>
                <a:latin typeface="Calibri" pitchFamily="34" charset="0"/>
                <a:ea typeface="Calibri" pitchFamily="34" charset="-122"/>
                <a:cs typeface="Calibri" pitchFamily="34" charset="-120"/>
              </a:rPr>
              <a:t>SAP BTP, Cloud Foundry runtime</a:t>
            </a:r>
            <a:endParaRPr lang="en-US" sz="840" dirty="0"/>
          </a:p>
        </p:txBody>
      </p:sp>
      <p:sp>
        <p:nvSpPr>
          <p:cNvPr id="36" name="Text 34"/>
          <p:cNvSpPr txBox="1"/>
          <p:nvPr/>
        </p:nvSpPr>
        <p:spPr>
          <a:xfrm>
            <a:off x="4782312" y="3145536"/>
            <a:ext cx="1618488" cy="475488"/>
          </a:xfrm>
          <a:prstGeom prst="rect">
            <a:avLst/>
          </a:prstGeom>
          <a:noFill/>
          <a:ln/>
        </p:spPr>
        <p:txBody>
          <a:bodyPr wrap="square" lIns="0" tIns="0" rIns="0" bIns="0" rtlCol="0" anchor="ctr"/>
          <a:lstStyle/>
          <a:p>
            <a:pPr indent="0" marL="0">
              <a:lnSpc>
                <a:spcPts val="840"/>
              </a:lnSpc>
              <a:buNone/>
            </a:pPr>
            <a:r>
              <a:rPr lang="en-US" sz="690" dirty="0">
                <a:solidFill>
                  <a:srgbClr val="5A6C82"/>
                </a:solidFill>
                <a:latin typeface="Calibri" pitchFamily="34" charset="0"/>
                <a:ea typeface="Calibri" pitchFamily="34" charset="-122"/>
                <a:cs typeface="Calibri" pitchFamily="34" charset="-120"/>
              </a:rPr>
              <a:t>The application itself: cases, milestones, country rules, fees.</a:t>
            </a:r>
            <a:endParaRPr lang="en-US" sz="690" dirty="0"/>
          </a:p>
        </p:txBody>
      </p:sp>
      <p:sp>
        <p:nvSpPr>
          <p:cNvPr id="37" name="Shape 35"/>
          <p:cNvSpPr/>
          <p:nvPr/>
        </p:nvSpPr>
        <p:spPr>
          <a:xfrm>
            <a:off x="6592824" y="2761488"/>
            <a:ext cx="1783080" cy="914400"/>
          </a:xfrm>
          <a:prstGeom prst="roundRect">
            <a:avLst>
              <a:gd name="adj" fmla="val 5000"/>
            </a:avLst>
          </a:prstGeom>
          <a:solidFill>
            <a:srgbClr val="FFFFFF"/>
          </a:solidFill>
          <a:ln w="10795">
            <a:solidFill>
              <a:srgbClr val="9FD8D3"/>
            </a:solidFill>
            <a:prstDash val="solid"/>
          </a:ln>
        </p:spPr>
      </p:sp>
      <p:sp>
        <p:nvSpPr>
          <p:cNvPr id="38" name="Text 36"/>
          <p:cNvSpPr txBox="1"/>
          <p:nvPr/>
        </p:nvSpPr>
        <p:spPr>
          <a:xfrm>
            <a:off x="6675120" y="2843784"/>
            <a:ext cx="1618488" cy="292608"/>
          </a:xfrm>
          <a:prstGeom prst="rect">
            <a:avLst/>
          </a:prstGeom>
          <a:noFill/>
          <a:ln/>
        </p:spPr>
        <p:txBody>
          <a:bodyPr wrap="square" lIns="0" tIns="0" rIns="0" bIns="0" rtlCol="0" anchor="ctr"/>
          <a:lstStyle/>
          <a:p>
            <a:pPr indent="0" marL="0">
              <a:lnSpc>
                <a:spcPts val="1000"/>
              </a:lnSpc>
              <a:buNone/>
            </a:pPr>
            <a:r>
              <a:rPr lang="en-US" sz="840" b="1" dirty="0">
                <a:solidFill>
                  <a:srgbClr val="12756F"/>
                </a:solidFill>
                <a:latin typeface="Calibri" pitchFamily="34" charset="0"/>
                <a:ea typeface="Calibri" pitchFamily="34" charset="-122"/>
                <a:cs typeface="Calibri" pitchFamily="34" charset="-120"/>
              </a:rPr>
              <a:t>SAP Build Process Automation</a:t>
            </a:r>
            <a:endParaRPr lang="en-US" sz="840" dirty="0"/>
          </a:p>
        </p:txBody>
      </p:sp>
      <p:sp>
        <p:nvSpPr>
          <p:cNvPr id="39" name="Text 37"/>
          <p:cNvSpPr txBox="1"/>
          <p:nvPr/>
        </p:nvSpPr>
        <p:spPr>
          <a:xfrm>
            <a:off x="6675120" y="3145536"/>
            <a:ext cx="1618488" cy="475488"/>
          </a:xfrm>
          <a:prstGeom prst="rect">
            <a:avLst/>
          </a:prstGeom>
          <a:noFill/>
          <a:ln/>
        </p:spPr>
        <p:txBody>
          <a:bodyPr wrap="square" lIns="0" tIns="0" rIns="0" bIns="0" rtlCol="0" anchor="ctr"/>
          <a:lstStyle/>
          <a:p>
            <a:pPr indent="0" marL="0">
              <a:lnSpc>
                <a:spcPts val="840"/>
              </a:lnSpc>
              <a:buNone/>
            </a:pPr>
            <a:r>
              <a:rPr lang="en-US" sz="690" dirty="0">
                <a:solidFill>
                  <a:srgbClr val="5A6C82"/>
                </a:solidFill>
                <a:latin typeface="Calibri" pitchFamily="34" charset="0"/>
                <a:ea typeface="Calibri" pitchFamily="34" charset="-122"/>
                <a:cs typeface="Calibri" pitchFamily="34" charset="-120"/>
              </a:rPr>
              <a:t>Workflow, approvals, escalation and unattended automation.</a:t>
            </a:r>
            <a:endParaRPr lang="en-US" sz="690" dirty="0"/>
          </a:p>
        </p:txBody>
      </p:sp>
      <p:sp>
        <p:nvSpPr>
          <p:cNvPr id="40" name="Shape 38"/>
          <p:cNvSpPr/>
          <p:nvPr/>
        </p:nvSpPr>
        <p:spPr>
          <a:xfrm>
            <a:off x="2807208" y="3749040"/>
            <a:ext cx="1783080" cy="914400"/>
          </a:xfrm>
          <a:prstGeom prst="roundRect">
            <a:avLst>
              <a:gd name="adj" fmla="val 5000"/>
            </a:avLst>
          </a:prstGeom>
          <a:solidFill>
            <a:srgbClr val="FFFFFF"/>
          </a:solidFill>
          <a:ln w="10795">
            <a:solidFill>
              <a:srgbClr val="9FD8D3"/>
            </a:solidFill>
            <a:prstDash val="solid"/>
          </a:ln>
        </p:spPr>
      </p:sp>
      <p:sp>
        <p:nvSpPr>
          <p:cNvPr id="41" name="Text 39"/>
          <p:cNvSpPr txBox="1"/>
          <p:nvPr/>
        </p:nvSpPr>
        <p:spPr>
          <a:xfrm>
            <a:off x="2889504" y="3831336"/>
            <a:ext cx="1618488" cy="292608"/>
          </a:xfrm>
          <a:prstGeom prst="rect">
            <a:avLst/>
          </a:prstGeom>
          <a:noFill/>
          <a:ln/>
        </p:spPr>
        <p:txBody>
          <a:bodyPr wrap="square" lIns="0" tIns="0" rIns="0" bIns="0" rtlCol="0" anchor="ctr"/>
          <a:lstStyle/>
          <a:p>
            <a:pPr indent="0" marL="0">
              <a:lnSpc>
                <a:spcPts val="1000"/>
              </a:lnSpc>
              <a:buNone/>
            </a:pPr>
            <a:r>
              <a:rPr lang="en-US" sz="840" b="1" dirty="0">
                <a:solidFill>
                  <a:srgbClr val="12756F"/>
                </a:solidFill>
                <a:latin typeface="Calibri" pitchFamily="34" charset="0"/>
                <a:ea typeface="Calibri" pitchFamily="34" charset="-122"/>
                <a:cs typeface="Calibri" pitchFamily="34" charset="-120"/>
              </a:rPr>
              <a:t>SAP HANA Cloud</a:t>
            </a:r>
            <a:endParaRPr lang="en-US" sz="840" dirty="0"/>
          </a:p>
        </p:txBody>
      </p:sp>
      <p:sp>
        <p:nvSpPr>
          <p:cNvPr id="42" name="Text 40"/>
          <p:cNvSpPr txBox="1"/>
          <p:nvPr/>
        </p:nvSpPr>
        <p:spPr>
          <a:xfrm>
            <a:off x="2889504" y="4133088"/>
            <a:ext cx="1618488" cy="475488"/>
          </a:xfrm>
          <a:prstGeom prst="rect">
            <a:avLst/>
          </a:prstGeom>
          <a:noFill/>
          <a:ln/>
        </p:spPr>
        <p:txBody>
          <a:bodyPr wrap="square" lIns="0" tIns="0" rIns="0" bIns="0" rtlCol="0" anchor="ctr"/>
          <a:lstStyle/>
          <a:p>
            <a:pPr indent="0" marL="0">
              <a:lnSpc>
                <a:spcPts val="840"/>
              </a:lnSpc>
              <a:buNone/>
            </a:pPr>
            <a:r>
              <a:rPr lang="en-US" sz="690" dirty="0">
                <a:solidFill>
                  <a:srgbClr val="5A6C82"/>
                </a:solidFill>
                <a:latin typeface="Calibri" pitchFamily="34" charset="0"/>
                <a:ea typeface="Calibri" pitchFamily="34" charset="-122"/>
                <a:cs typeface="Calibri" pitchFamily="34" charset="-120"/>
              </a:rPr>
              <a:t>Case data, the block visa quota register and the audit trail.</a:t>
            </a:r>
            <a:endParaRPr lang="en-US" sz="690" dirty="0"/>
          </a:p>
        </p:txBody>
      </p:sp>
      <p:sp>
        <p:nvSpPr>
          <p:cNvPr id="43" name="Shape 41"/>
          <p:cNvSpPr/>
          <p:nvPr/>
        </p:nvSpPr>
        <p:spPr>
          <a:xfrm>
            <a:off x="4700016" y="3749040"/>
            <a:ext cx="1783080" cy="914400"/>
          </a:xfrm>
          <a:prstGeom prst="roundRect">
            <a:avLst>
              <a:gd name="adj" fmla="val 5000"/>
            </a:avLst>
          </a:prstGeom>
          <a:solidFill>
            <a:srgbClr val="FFFFFF"/>
          </a:solidFill>
          <a:ln w="10795">
            <a:solidFill>
              <a:srgbClr val="9FD8D3"/>
            </a:solidFill>
            <a:prstDash val="solid"/>
          </a:ln>
        </p:spPr>
      </p:sp>
      <p:sp>
        <p:nvSpPr>
          <p:cNvPr id="44" name="Text 42"/>
          <p:cNvSpPr txBox="1"/>
          <p:nvPr/>
        </p:nvSpPr>
        <p:spPr>
          <a:xfrm>
            <a:off x="4782312" y="3831336"/>
            <a:ext cx="1618488" cy="292608"/>
          </a:xfrm>
          <a:prstGeom prst="rect">
            <a:avLst/>
          </a:prstGeom>
          <a:noFill/>
          <a:ln/>
        </p:spPr>
        <p:txBody>
          <a:bodyPr wrap="square" lIns="0" tIns="0" rIns="0" bIns="0" rtlCol="0" anchor="ctr"/>
          <a:lstStyle/>
          <a:p>
            <a:pPr indent="0" marL="0">
              <a:lnSpc>
                <a:spcPts val="1000"/>
              </a:lnSpc>
              <a:buNone/>
            </a:pPr>
            <a:r>
              <a:rPr lang="en-US" sz="840" b="1" dirty="0">
                <a:solidFill>
                  <a:srgbClr val="12756F"/>
                </a:solidFill>
                <a:latin typeface="Calibri" pitchFamily="34" charset="0"/>
                <a:ea typeface="Calibri" pitchFamily="34" charset="-122"/>
                <a:cs typeface="Calibri" pitchFamily="34" charset="-120"/>
              </a:rPr>
              <a:t>SAP Document Management service</a:t>
            </a:r>
            <a:endParaRPr lang="en-US" sz="840" dirty="0"/>
          </a:p>
        </p:txBody>
      </p:sp>
      <p:sp>
        <p:nvSpPr>
          <p:cNvPr id="45" name="Text 43"/>
          <p:cNvSpPr txBox="1"/>
          <p:nvPr/>
        </p:nvSpPr>
        <p:spPr>
          <a:xfrm>
            <a:off x="4782312" y="4133088"/>
            <a:ext cx="1618488" cy="475488"/>
          </a:xfrm>
          <a:prstGeom prst="rect">
            <a:avLst/>
          </a:prstGeom>
          <a:noFill/>
          <a:ln/>
        </p:spPr>
        <p:txBody>
          <a:bodyPr wrap="square" lIns="0" tIns="0" rIns="0" bIns="0" rtlCol="0" anchor="ctr"/>
          <a:lstStyle/>
          <a:p>
            <a:pPr indent="0" marL="0">
              <a:lnSpc>
                <a:spcPts val="840"/>
              </a:lnSpc>
              <a:buNone/>
            </a:pPr>
            <a:r>
              <a:rPr lang="en-US" sz="690" dirty="0">
                <a:solidFill>
                  <a:srgbClr val="5A6C82"/>
                </a:solidFill>
                <a:latin typeface="Calibri" pitchFamily="34" charset="0"/>
                <a:ea typeface="Calibri" pitchFamily="34" charset="-122"/>
                <a:cs typeface="Calibri" pitchFamily="34" charset="-120"/>
              </a:rPr>
              <a:t>Contracts, receipts, medical certificates, Iqama copies.</a:t>
            </a:r>
            <a:endParaRPr lang="en-US" sz="690" dirty="0"/>
          </a:p>
        </p:txBody>
      </p:sp>
      <p:sp>
        <p:nvSpPr>
          <p:cNvPr id="46" name="Shape 44"/>
          <p:cNvSpPr/>
          <p:nvPr/>
        </p:nvSpPr>
        <p:spPr>
          <a:xfrm>
            <a:off x="6592824" y="3749040"/>
            <a:ext cx="1783080" cy="914400"/>
          </a:xfrm>
          <a:prstGeom prst="roundRect">
            <a:avLst>
              <a:gd name="adj" fmla="val 5000"/>
            </a:avLst>
          </a:prstGeom>
          <a:solidFill>
            <a:srgbClr val="FFFFFF"/>
          </a:solidFill>
          <a:ln w="10795">
            <a:solidFill>
              <a:srgbClr val="9FD8D3"/>
            </a:solidFill>
            <a:prstDash val="solid"/>
          </a:ln>
        </p:spPr>
      </p:sp>
      <p:sp>
        <p:nvSpPr>
          <p:cNvPr id="47" name="Text 45"/>
          <p:cNvSpPr txBox="1"/>
          <p:nvPr/>
        </p:nvSpPr>
        <p:spPr>
          <a:xfrm>
            <a:off x="6675120" y="3831336"/>
            <a:ext cx="1618488" cy="292608"/>
          </a:xfrm>
          <a:prstGeom prst="rect">
            <a:avLst/>
          </a:prstGeom>
          <a:noFill/>
          <a:ln/>
        </p:spPr>
        <p:txBody>
          <a:bodyPr wrap="square" lIns="0" tIns="0" rIns="0" bIns="0" rtlCol="0" anchor="ctr"/>
          <a:lstStyle/>
          <a:p>
            <a:pPr indent="0" marL="0">
              <a:lnSpc>
                <a:spcPts val="1000"/>
              </a:lnSpc>
              <a:buNone/>
            </a:pPr>
            <a:r>
              <a:rPr lang="en-US" sz="840" b="1" dirty="0">
                <a:solidFill>
                  <a:srgbClr val="12756F"/>
                </a:solidFill>
                <a:latin typeface="Calibri" pitchFamily="34" charset="0"/>
                <a:ea typeface="Calibri" pitchFamily="34" charset="-122"/>
                <a:cs typeface="Calibri" pitchFamily="34" charset="-120"/>
              </a:rPr>
              <a:t>SAP Alert Notification service</a:t>
            </a:r>
            <a:endParaRPr lang="en-US" sz="840" dirty="0"/>
          </a:p>
        </p:txBody>
      </p:sp>
      <p:sp>
        <p:nvSpPr>
          <p:cNvPr id="48" name="Text 46"/>
          <p:cNvSpPr txBox="1"/>
          <p:nvPr/>
        </p:nvSpPr>
        <p:spPr>
          <a:xfrm>
            <a:off x="6675120" y="4133088"/>
            <a:ext cx="1618488" cy="475488"/>
          </a:xfrm>
          <a:prstGeom prst="rect">
            <a:avLst/>
          </a:prstGeom>
          <a:noFill/>
          <a:ln/>
        </p:spPr>
        <p:txBody>
          <a:bodyPr wrap="square" lIns="0" tIns="0" rIns="0" bIns="0" rtlCol="0" anchor="ctr"/>
          <a:lstStyle/>
          <a:p>
            <a:pPr indent="0" marL="0">
              <a:lnSpc>
                <a:spcPts val="840"/>
              </a:lnSpc>
              <a:buNone/>
            </a:pPr>
            <a:r>
              <a:rPr lang="en-US" sz="690" dirty="0">
                <a:solidFill>
                  <a:srgbClr val="5A6C82"/>
                </a:solidFill>
                <a:latin typeface="Calibri" pitchFamily="34" charset="0"/>
                <a:ea typeface="Calibri" pitchFamily="34" charset="-122"/>
                <a:cs typeface="Calibri" pitchFamily="34" charset="-120"/>
              </a:rPr>
              <a:t>Expiry, return-by and due-date alerts before they bite.</a:t>
            </a:r>
            <a:endParaRPr lang="en-US" sz="690" dirty="0"/>
          </a:p>
        </p:txBody>
      </p:sp>
      <p:sp>
        <p:nvSpPr>
          <p:cNvPr id="49" name="Shape 47"/>
          <p:cNvSpPr/>
          <p:nvPr/>
        </p:nvSpPr>
        <p:spPr>
          <a:xfrm>
            <a:off x="2807208" y="4736592"/>
            <a:ext cx="5586984" cy="219456"/>
          </a:xfrm>
          <a:prstGeom prst="roundRect">
            <a:avLst>
              <a:gd name="adj" fmla="val 16667"/>
            </a:avLst>
          </a:prstGeom>
          <a:solidFill>
            <a:srgbClr val="FFFFFF"/>
          </a:solidFill>
          <a:ln w="10795">
            <a:solidFill>
              <a:srgbClr val="9FD8D3"/>
            </a:solidFill>
            <a:prstDash val="solid"/>
          </a:ln>
        </p:spPr>
      </p:sp>
      <p:sp>
        <p:nvSpPr>
          <p:cNvPr id="50" name="Text 48"/>
          <p:cNvSpPr txBox="1"/>
          <p:nvPr/>
        </p:nvSpPr>
        <p:spPr>
          <a:xfrm>
            <a:off x="2862072" y="4736592"/>
            <a:ext cx="5477256" cy="219456"/>
          </a:xfrm>
          <a:prstGeom prst="rect">
            <a:avLst/>
          </a:prstGeom>
          <a:noFill/>
          <a:ln/>
        </p:spPr>
        <p:txBody>
          <a:bodyPr wrap="square" lIns="0" tIns="0" rIns="0" bIns="0" rtlCol="0" anchor="ctr"/>
          <a:lstStyle/>
          <a:p>
            <a:pPr indent="0" marL="0">
              <a:buNone/>
            </a:pPr>
            <a:r>
              <a:rPr lang="en-US" sz="700" dirty="0">
                <a:solidFill>
                  <a:srgbClr val="5A6C82"/>
                </a:solidFill>
                <a:latin typeface="Calibri" pitchFamily="34" charset="0"/>
                <a:ea typeface="Calibri" pitchFamily="34" charset="-122"/>
                <a:cs typeface="Calibri" pitchFamily="34" charset="-120"/>
              </a:rPr>
              <a:t>SAP Cloud Identity Services for single sign-on and roles   ·   Destination and Connectivity services for every outbound call</a:t>
            </a:r>
            <a:endParaRPr lang="en-US" sz="700" dirty="0"/>
          </a:p>
        </p:txBody>
      </p:sp>
      <p:sp>
        <p:nvSpPr>
          <p:cNvPr id="51" name="Shape 49"/>
          <p:cNvSpPr/>
          <p:nvPr/>
        </p:nvSpPr>
        <p:spPr>
          <a:xfrm>
            <a:off x="8778240" y="2395728"/>
            <a:ext cx="1188720" cy="2615184"/>
          </a:xfrm>
          <a:prstGeom prst="roundRect">
            <a:avLst>
              <a:gd name="adj" fmla="val 4615"/>
            </a:avLst>
          </a:prstGeom>
          <a:solidFill>
            <a:srgbClr val="EAF2FC"/>
          </a:solidFill>
          <a:ln w="10795">
            <a:solidFill>
              <a:srgbClr val="BBD6F2"/>
            </a:solidFill>
            <a:prstDash val="solid"/>
          </a:ln>
        </p:spPr>
      </p:sp>
      <p:sp>
        <p:nvSpPr>
          <p:cNvPr id="52" name="Text 50"/>
          <p:cNvSpPr txBox="1"/>
          <p:nvPr/>
        </p:nvSpPr>
        <p:spPr>
          <a:xfrm>
            <a:off x="8869680" y="2487168"/>
            <a:ext cx="1005840" cy="182880"/>
          </a:xfrm>
          <a:prstGeom prst="rect">
            <a:avLst/>
          </a:prstGeom>
          <a:noFill/>
          <a:ln/>
        </p:spPr>
        <p:txBody>
          <a:bodyPr wrap="square" lIns="0" tIns="0" rIns="0" bIns="0" rtlCol="0" anchor="ctr"/>
          <a:lstStyle/>
          <a:p>
            <a:pPr indent="0" marL="0">
              <a:buNone/>
            </a:pPr>
            <a:r>
              <a:rPr lang="en-US" sz="760" b="1" spc="110" kern="0" dirty="0">
                <a:solidFill>
                  <a:srgbClr val="0A6ED1"/>
                </a:solidFill>
                <a:latin typeface="Calibri" pitchFamily="34" charset="0"/>
                <a:ea typeface="Calibri" pitchFamily="34" charset="-122"/>
                <a:cs typeface="Calibri" pitchFamily="34" charset="-120"/>
              </a:rPr>
              <a:t>INTEGRATION</a:t>
            </a:r>
            <a:endParaRPr lang="en-US" sz="760" dirty="0"/>
          </a:p>
        </p:txBody>
      </p:sp>
      <p:sp>
        <p:nvSpPr>
          <p:cNvPr id="53" name="Shape 51"/>
          <p:cNvSpPr/>
          <p:nvPr/>
        </p:nvSpPr>
        <p:spPr>
          <a:xfrm>
            <a:off x="8869680" y="2761488"/>
            <a:ext cx="1005840" cy="566928"/>
          </a:xfrm>
          <a:prstGeom prst="roundRect">
            <a:avLst>
              <a:gd name="adj" fmla="val 8065"/>
            </a:avLst>
          </a:prstGeom>
          <a:solidFill>
            <a:srgbClr val="FFFFFF"/>
          </a:solidFill>
          <a:ln w="10795">
            <a:solidFill>
              <a:srgbClr val="BBD6F2"/>
            </a:solidFill>
            <a:prstDash val="solid"/>
          </a:ln>
        </p:spPr>
      </p:sp>
      <p:sp>
        <p:nvSpPr>
          <p:cNvPr id="54" name="Text 52"/>
          <p:cNvSpPr txBox="1"/>
          <p:nvPr/>
        </p:nvSpPr>
        <p:spPr>
          <a:xfrm>
            <a:off x="8915400" y="2825496"/>
            <a:ext cx="914400" cy="274320"/>
          </a:xfrm>
          <a:prstGeom prst="rect">
            <a:avLst/>
          </a:prstGeom>
          <a:noFill/>
          <a:ln/>
        </p:spPr>
        <p:txBody>
          <a:bodyPr wrap="square" lIns="0" tIns="0" rIns="0" bIns="0" rtlCol="0" anchor="ctr"/>
          <a:lstStyle/>
          <a:p>
            <a:pPr indent="0" marL="0">
              <a:lnSpc>
                <a:spcPts val="900"/>
              </a:lnSpc>
              <a:buNone/>
            </a:pPr>
            <a:r>
              <a:rPr lang="en-US" sz="760" b="1" dirty="0">
                <a:solidFill>
                  <a:srgbClr val="0C1E33"/>
                </a:solidFill>
                <a:latin typeface="Calibri" pitchFamily="34" charset="0"/>
                <a:ea typeface="Calibri" pitchFamily="34" charset="-122"/>
                <a:cs typeface="Calibri" pitchFamily="34" charset="-120"/>
              </a:rPr>
              <a:t>SAP Integration Suite</a:t>
            </a:r>
            <a:endParaRPr lang="en-US" sz="760" dirty="0"/>
          </a:p>
        </p:txBody>
      </p:sp>
      <p:sp>
        <p:nvSpPr>
          <p:cNvPr id="55" name="Text 53"/>
          <p:cNvSpPr txBox="1"/>
          <p:nvPr/>
        </p:nvSpPr>
        <p:spPr>
          <a:xfrm>
            <a:off x="8915400" y="3090672"/>
            <a:ext cx="914400" cy="201168"/>
          </a:xfrm>
          <a:prstGeom prst="rect">
            <a:avLst/>
          </a:prstGeom>
          <a:noFill/>
          <a:ln/>
        </p:spPr>
        <p:txBody>
          <a:bodyPr wrap="square" lIns="0" tIns="0" rIns="0" bIns="0" rtlCol="0" anchor="ctr"/>
          <a:lstStyle/>
          <a:p>
            <a:pPr indent="0" marL="0">
              <a:buNone/>
            </a:pPr>
            <a:r>
              <a:rPr lang="en-US" sz="660" dirty="0">
                <a:solidFill>
                  <a:srgbClr val="5A6C82"/>
                </a:solidFill>
                <a:latin typeface="Calibri" pitchFamily="34" charset="0"/>
                <a:ea typeface="Calibri" pitchFamily="34" charset="-122"/>
                <a:cs typeface="Calibri" pitchFamily="34" charset="-120"/>
              </a:rPr>
              <a:t>Cloud Integration</a:t>
            </a:r>
            <a:endParaRPr lang="en-US" sz="660" dirty="0"/>
          </a:p>
        </p:txBody>
      </p:sp>
      <p:sp>
        <p:nvSpPr>
          <p:cNvPr id="56" name="Shape 54"/>
          <p:cNvSpPr/>
          <p:nvPr/>
        </p:nvSpPr>
        <p:spPr>
          <a:xfrm>
            <a:off x="8869680" y="3419856"/>
            <a:ext cx="1005840" cy="566928"/>
          </a:xfrm>
          <a:prstGeom prst="roundRect">
            <a:avLst>
              <a:gd name="adj" fmla="val 8065"/>
            </a:avLst>
          </a:prstGeom>
          <a:solidFill>
            <a:srgbClr val="FFFFFF"/>
          </a:solidFill>
          <a:ln w="10795">
            <a:solidFill>
              <a:srgbClr val="BBD6F2"/>
            </a:solidFill>
            <a:prstDash val="solid"/>
          </a:ln>
        </p:spPr>
      </p:sp>
      <p:sp>
        <p:nvSpPr>
          <p:cNvPr id="57" name="Text 55"/>
          <p:cNvSpPr txBox="1"/>
          <p:nvPr/>
        </p:nvSpPr>
        <p:spPr>
          <a:xfrm>
            <a:off x="8915400" y="3483864"/>
            <a:ext cx="914400" cy="274320"/>
          </a:xfrm>
          <a:prstGeom prst="rect">
            <a:avLst/>
          </a:prstGeom>
          <a:noFill/>
          <a:ln/>
        </p:spPr>
        <p:txBody>
          <a:bodyPr wrap="square" lIns="0" tIns="0" rIns="0" bIns="0" rtlCol="0" anchor="ctr"/>
          <a:lstStyle/>
          <a:p>
            <a:pPr indent="0" marL="0">
              <a:lnSpc>
                <a:spcPts val="900"/>
              </a:lnSpc>
              <a:buNone/>
            </a:pPr>
            <a:r>
              <a:rPr lang="en-US" sz="760" b="1" dirty="0">
                <a:solidFill>
                  <a:srgbClr val="0C1E33"/>
                </a:solidFill>
                <a:latin typeface="Calibri" pitchFamily="34" charset="0"/>
                <a:ea typeface="Calibri" pitchFamily="34" charset="-122"/>
                <a:cs typeface="Calibri" pitchFamily="34" charset="-120"/>
              </a:rPr>
              <a:t>API Management</a:t>
            </a:r>
            <a:endParaRPr lang="en-US" sz="760" dirty="0"/>
          </a:p>
        </p:txBody>
      </p:sp>
      <p:sp>
        <p:nvSpPr>
          <p:cNvPr id="58" name="Text 56"/>
          <p:cNvSpPr txBox="1"/>
          <p:nvPr/>
        </p:nvSpPr>
        <p:spPr>
          <a:xfrm>
            <a:off x="8915400" y="3749040"/>
            <a:ext cx="914400" cy="201168"/>
          </a:xfrm>
          <a:prstGeom prst="rect">
            <a:avLst/>
          </a:prstGeom>
          <a:noFill/>
          <a:ln/>
        </p:spPr>
        <p:txBody>
          <a:bodyPr wrap="square" lIns="0" tIns="0" rIns="0" bIns="0" rtlCol="0" anchor="ctr"/>
          <a:lstStyle/>
          <a:p>
            <a:pPr indent="0" marL="0">
              <a:buNone/>
            </a:pPr>
            <a:r>
              <a:rPr lang="en-US" sz="660" dirty="0">
                <a:solidFill>
                  <a:srgbClr val="5A6C82"/>
                </a:solidFill>
                <a:latin typeface="Calibri" pitchFamily="34" charset="0"/>
                <a:ea typeface="Calibri" pitchFamily="34" charset="-122"/>
                <a:cs typeface="Calibri" pitchFamily="34" charset="-120"/>
              </a:rPr>
              <a:t>Throttling and keys</a:t>
            </a:r>
            <a:endParaRPr lang="en-US" sz="660" dirty="0"/>
          </a:p>
        </p:txBody>
      </p:sp>
      <p:sp>
        <p:nvSpPr>
          <p:cNvPr id="59" name="Shape 57"/>
          <p:cNvSpPr/>
          <p:nvPr/>
        </p:nvSpPr>
        <p:spPr>
          <a:xfrm>
            <a:off x="8869680" y="4078224"/>
            <a:ext cx="1005840" cy="566928"/>
          </a:xfrm>
          <a:prstGeom prst="roundRect">
            <a:avLst>
              <a:gd name="adj" fmla="val 8065"/>
            </a:avLst>
          </a:prstGeom>
          <a:solidFill>
            <a:srgbClr val="FFFFFF"/>
          </a:solidFill>
          <a:ln w="10795">
            <a:solidFill>
              <a:srgbClr val="BBD6F2"/>
            </a:solidFill>
            <a:prstDash val="solid"/>
          </a:ln>
        </p:spPr>
      </p:sp>
      <p:sp>
        <p:nvSpPr>
          <p:cNvPr id="60" name="Text 58"/>
          <p:cNvSpPr txBox="1"/>
          <p:nvPr/>
        </p:nvSpPr>
        <p:spPr>
          <a:xfrm>
            <a:off x="8915400" y="4142232"/>
            <a:ext cx="914400" cy="274320"/>
          </a:xfrm>
          <a:prstGeom prst="rect">
            <a:avLst/>
          </a:prstGeom>
          <a:noFill/>
          <a:ln/>
        </p:spPr>
        <p:txBody>
          <a:bodyPr wrap="square" lIns="0" tIns="0" rIns="0" bIns="0" rtlCol="0" anchor="ctr"/>
          <a:lstStyle/>
          <a:p>
            <a:pPr indent="0" marL="0">
              <a:lnSpc>
                <a:spcPts val="900"/>
              </a:lnSpc>
              <a:buNone/>
            </a:pPr>
            <a:r>
              <a:rPr lang="en-US" sz="760" b="1" dirty="0">
                <a:solidFill>
                  <a:srgbClr val="0C1E33"/>
                </a:solidFill>
                <a:latin typeface="Calibri" pitchFamily="34" charset="0"/>
                <a:ea typeface="Calibri" pitchFamily="34" charset="-122"/>
                <a:cs typeface="Calibri" pitchFamily="34" charset="-120"/>
              </a:rPr>
              <a:t>Open Connectors</a:t>
            </a:r>
            <a:endParaRPr lang="en-US" sz="760" dirty="0"/>
          </a:p>
        </p:txBody>
      </p:sp>
      <p:sp>
        <p:nvSpPr>
          <p:cNvPr id="61" name="Text 59"/>
          <p:cNvSpPr txBox="1"/>
          <p:nvPr/>
        </p:nvSpPr>
        <p:spPr>
          <a:xfrm>
            <a:off x="8915400" y="4407408"/>
            <a:ext cx="914400" cy="201168"/>
          </a:xfrm>
          <a:prstGeom prst="rect">
            <a:avLst/>
          </a:prstGeom>
          <a:noFill/>
          <a:ln/>
        </p:spPr>
        <p:txBody>
          <a:bodyPr wrap="square" lIns="0" tIns="0" rIns="0" bIns="0" rtlCol="0" anchor="ctr"/>
          <a:lstStyle/>
          <a:p>
            <a:pPr indent="0" marL="0">
              <a:buNone/>
            </a:pPr>
            <a:r>
              <a:rPr lang="en-US" sz="660" dirty="0">
                <a:solidFill>
                  <a:srgbClr val="5A6C82"/>
                </a:solidFill>
                <a:latin typeface="Calibri" pitchFamily="34" charset="0"/>
                <a:ea typeface="Calibri" pitchFamily="34" charset="-122"/>
                <a:cs typeface="Calibri" pitchFamily="34" charset="-120"/>
              </a:rPr>
              <a:t>Portal adapters</a:t>
            </a:r>
            <a:endParaRPr lang="en-US" sz="660" dirty="0"/>
          </a:p>
        </p:txBody>
      </p:sp>
      <p:sp>
        <p:nvSpPr>
          <p:cNvPr id="62" name="Shape 60"/>
          <p:cNvSpPr/>
          <p:nvPr/>
        </p:nvSpPr>
        <p:spPr>
          <a:xfrm>
            <a:off x="10241280" y="2395728"/>
            <a:ext cx="1463040" cy="2615184"/>
          </a:xfrm>
          <a:prstGeom prst="roundRect">
            <a:avLst>
              <a:gd name="adj" fmla="val 3750"/>
            </a:avLst>
          </a:prstGeom>
          <a:solidFill>
            <a:srgbClr val="FBF4DF"/>
          </a:solidFill>
          <a:ln w="10795">
            <a:solidFill>
              <a:srgbClr val="E2CE85"/>
            </a:solidFill>
            <a:prstDash val="solid"/>
          </a:ln>
        </p:spPr>
      </p:sp>
      <p:sp>
        <p:nvSpPr>
          <p:cNvPr id="63" name="Text 61"/>
          <p:cNvSpPr txBox="1"/>
          <p:nvPr/>
        </p:nvSpPr>
        <p:spPr>
          <a:xfrm>
            <a:off x="10332720" y="2487168"/>
            <a:ext cx="1280160" cy="182880"/>
          </a:xfrm>
          <a:prstGeom prst="rect">
            <a:avLst/>
          </a:prstGeom>
          <a:noFill/>
          <a:ln/>
        </p:spPr>
        <p:txBody>
          <a:bodyPr wrap="square" lIns="0" tIns="0" rIns="0" bIns="0" rtlCol="0" anchor="ctr"/>
          <a:lstStyle/>
          <a:p>
            <a:pPr indent="0" marL="0">
              <a:buNone/>
            </a:pPr>
            <a:r>
              <a:rPr lang="en-US" sz="760" b="1" spc="100" kern="0" dirty="0">
                <a:solidFill>
                  <a:srgbClr val="8A6D10"/>
                </a:solidFill>
                <a:latin typeface="Calibri" pitchFamily="34" charset="0"/>
                <a:ea typeface="Calibri" pitchFamily="34" charset="-122"/>
                <a:cs typeface="Calibri" pitchFamily="34" charset="-120"/>
              </a:rPr>
              <a:t>SAUDI AUTHORITIES</a:t>
            </a:r>
            <a:endParaRPr lang="en-US" sz="760" dirty="0"/>
          </a:p>
        </p:txBody>
      </p:sp>
      <p:sp>
        <p:nvSpPr>
          <p:cNvPr id="64" name="Shape 62"/>
          <p:cNvSpPr/>
          <p:nvPr/>
        </p:nvSpPr>
        <p:spPr>
          <a:xfrm>
            <a:off x="10332720" y="2743200"/>
            <a:ext cx="1280160" cy="306324"/>
          </a:xfrm>
          <a:prstGeom prst="roundRect">
            <a:avLst>
              <a:gd name="adj" fmla="val 11940"/>
            </a:avLst>
          </a:prstGeom>
          <a:solidFill>
            <a:srgbClr val="FFFFFF"/>
          </a:solidFill>
          <a:ln w="10795">
            <a:solidFill>
              <a:srgbClr val="E2CE85"/>
            </a:solidFill>
            <a:prstDash val="solid"/>
          </a:ln>
        </p:spPr>
      </p:sp>
      <p:sp>
        <p:nvSpPr>
          <p:cNvPr id="65" name="Text 63"/>
          <p:cNvSpPr txBox="1"/>
          <p:nvPr/>
        </p:nvSpPr>
        <p:spPr>
          <a:xfrm>
            <a:off x="10387584" y="274320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Qiwa</a:t>
            </a:r>
            <a:endParaRPr lang="en-US" sz="780" dirty="0"/>
          </a:p>
        </p:txBody>
      </p:sp>
      <p:sp>
        <p:nvSpPr>
          <p:cNvPr id="66" name="Text 64"/>
          <p:cNvSpPr txBox="1"/>
          <p:nvPr/>
        </p:nvSpPr>
        <p:spPr>
          <a:xfrm>
            <a:off x="10808208" y="274320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Work permit, contract</a:t>
            </a:r>
            <a:endParaRPr lang="en-US" sz="630" dirty="0"/>
          </a:p>
        </p:txBody>
      </p:sp>
      <p:sp>
        <p:nvSpPr>
          <p:cNvPr id="67" name="Shape 65"/>
          <p:cNvSpPr/>
          <p:nvPr/>
        </p:nvSpPr>
        <p:spPr>
          <a:xfrm>
            <a:off x="10332720" y="3063240"/>
            <a:ext cx="1280160" cy="306324"/>
          </a:xfrm>
          <a:prstGeom prst="roundRect">
            <a:avLst>
              <a:gd name="adj" fmla="val 11940"/>
            </a:avLst>
          </a:prstGeom>
          <a:solidFill>
            <a:srgbClr val="FFFFFF"/>
          </a:solidFill>
          <a:ln w="10795">
            <a:solidFill>
              <a:srgbClr val="E2CE85"/>
            </a:solidFill>
            <a:prstDash val="solid"/>
          </a:ln>
        </p:spPr>
      </p:sp>
      <p:sp>
        <p:nvSpPr>
          <p:cNvPr id="68" name="Text 66"/>
          <p:cNvSpPr txBox="1"/>
          <p:nvPr/>
        </p:nvSpPr>
        <p:spPr>
          <a:xfrm>
            <a:off x="10387584" y="306324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Muqeem</a:t>
            </a:r>
            <a:endParaRPr lang="en-US" sz="780" dirty="0"/>
          </a:p>
        </p:txBody>
      </p:sp>
      <p:sp>
        <p:nvSpPr>
          <p:cNvPr id="69" name="Text 67"/>
          <p:cNvSpPr txBox="1"/>
          <p:nvPr/>
        </p:nvSpPr>
        <p:spPr>
          <a:xfrm>
            <a:off x="10808208" y="306324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Iqama, exit re-entry</a:t>
            </a:r>
            <a:endParaRPr lang="en-US" sz="630" dirty="0"/>
          </a:p>
        </p:txBody>
      </p:sp>
      <p:sp>
        <p:nvSpPr>
          <p:cNvPr id="70" name="Shape 68"/>
          <p:cNvSpPr/>
          <p:nvPr/>
        </p:nvSpPr>
        <p:spPr>
          <a:xfrm>
            <a:off x="10332720" y="3383280"/>
            <a:ext cx="1280160" cy="306324"/>
          </a:xfrm>
          <a:prstGeom prst="roundRect">
            <a:avLst>
              <a:gd name="adj" fmla="val 11940"/>
            </a:avLst>
          </a:prstGeom>
          <a:solidFill>
            <a:srgbClr val="FFFFFF"/>
          </a:solidFill>
          <a:ln w="10795">
            <a:solidFill>
              <a:srgbClr val="E2CE85"/>
            </a:solidFill>
            <a:prstDash val="solid"/>
          </a:ln>
        </p:spPr>
      </p:sp>
      <p:sp>
        <p:nvSpPr>
          <p:cNvPr id="71" name="Text 69"/>
          <p:cNvSpPr txBox="1"/>
          <p:nvPr/>
        </p:nvSpPr>
        <p:spPr>
          <a:xfrm>
            <a:off x="10387584" y="338328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Absher</a:t>
            </a:r>
            <a:endParaRPr lang="en-US" sz="780" dirty="0"/>
          </a:p>
        </p:txBody>
      </p:sp>
      <p:sp>
        <p:nvSpPr>
          <p:cNvPr id="72" name="Text 70"/>
          <p:cNvSpPr txBox="1"/>
          <p:nvPr/>
        </p:nvSpPr>
        <p:spPr>
          <a:xfrm>
            <a:off x="10808208" y="338328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Employee mirror</a:t>
            </a:r>
            <a:endParaRPr lang="en-US" sz="630" dirty="0"/>
          </a:p>
        </p:txBody>
      </p:sp>
      <p:sp>
        <p:nvSpPr>
          <p:cNvPr id="73" name="Shape 71"/>
          <p:cNvSpPr/>
          <p:nvPr/>
        </p:nvSpPr>
        <p:spPr>
          <a:xfrm>
            <a:off x="10332720" y="3703320"/>
            <a:ext cx="1280160" cy="306324"/>
          </a:xfrm>
          <a:prstGeom prst="roundRect">
            <a:avLst>
              <a:gd name="adj" fmla="val 11940"/>
            </a:avLst>
          </a:prstGeom>
          <a:solidFill>
            <a:srgbClr val="FFFFFF"/>
          </a:solidFill>
          <a:ln w="10795">
            <a:solidFill>
              <a:srgbClr val="E2CE85"/>
            </a:solidFill>
            <a:prstDash val="solid"/>
          </a:ln>
        </p:spPr>
      </p:sp>
      <p:sp>
        <p:nvSpPr>
          <p:cNvPr id="74" name="Text 72"/>
          <p:cNvSpPr txBox="1"/>
          <p:nvPr/>
        </p:nvSpPr>
        <p:spPr>
          <a:xfrm>
            <a:off x="10387584" y="370332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Enjaz</a:t>
            </a:r>
            <a:endParaRPr lang="en-US" sz="780" dirty="0"/>
          </a:p>
        </p:txBody>
      </p:sp>
      <p:sp>
        <p:nvSpPr>
          <p:cNvPr id="75" name="Text 73"/>
          <p:cNvSpPr txBox="1"/>
          <p:nvPr/>
        </p:nvSpPr>
        <p:spPr>
          <a:xfrm>
            <a:off x="10808208" y="370332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Visa stamping</a:t>
            </a:r>
            <a:endParaRPr lang="en-US" sz="630" dirty="0"/>
          </a:p>
        </p:txBody>
      </p:sp>
      <p:sp>
        <p:nvSpPr>
          <p:cNvPr id="76" name="Shape 74"/>
          <p:cNvSpPr/>
          <p:nvPr/>
        </p:nvSpPr>
        <p:spPr>
          <a:xfrm>
            <a:off x="10332720" y="4023360"/>
            <a:ext cx="1280160" cy="306324"/>
          </a:xfrm>
          <a:prstGeom prst="roundRect">
            <a:avLst>
              <a:gd name="adj" fmla="val 11940"/>
            </a:avLst>
          </a:prstGeom>
          <a:solidFill>
            <a:srgbClr val="FFFFFF"/>
          </a:solidFill>
          <a:ln w="10795">
            <a:solidFill>
              <a:srgbClr val="E2CE85"/>
            </a:solidFill>
            <a:prstDash val="solid"/>
          </a:ln>
        </p:spPr>
      </p:sp>
      <p:sp>
        <p:nvSpPr>
          <p:cNvPr id="77" name="Text 75"/>
          <p:cNvSpPr txBox="1"/>
          <p:nvPr/>
        </p:nvSpPr>
        <p:spPr>
          <a:xfrm>
            <a:off x="10387584" y="402336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GOSI</a:t>
            </a:r>
            <a:endParaRPr lang="en-US" sz="780" dirty="0"/>
          </a:p>
        </p:txBody>
      </p:sp>
      <p:sp>
        <p:nvSpPr>
          <p:cNvPr id="78" name="Text 76"/>
          <p:cNvSpPr txBox="1"/>
          <p:nvPr/>
        </p:nvSpPr>
        <p:spPr>
          <a:xfrm>
            <a:off x="10808208" y="402336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Social insurance</a:t>
            </a:r>
            <a:endParaRPr lang="en-US" sz="630" dirty="0"/>
          </a:p>
        </p:txBody>
      </p:sp>
      <p:sp>
        <p:nvSpPr>
          <p:cNvPr id="79" name="Shape 77"/>
          <p:cNvSpPr/>
          <p:nvPr/>
        </p:nvSpPr>
        <p:spPr>
          <a:xfrm>
            <a:off x="10332720" y="4343400"/>
            <a:ext cx="1280160" cy="306324"/>
          </a:xfrm>
          <a:prstGeom prst="roundRect">
            <a:avLst>
              <a:gd name="adj" fmla="val 11940"/>
            </a:avLst>
          </a:prstGeom>
          <a:solidFill>
            <a:srgbClr val="FFFFFF"/>
          </a:solidFill>
          <a:ln w="10795">
            <a:solidFill>
              <a:srgbClr val="E2CE85"/>
            </a:solidFill>
            <a:prstDash val="solid"/>
          </a:ln>
        </p:spPr>
      </p:sp>
      <p:sp>
        <p:nvSpPr>
          <p:cNvPr id="80" name="Text 78"/>
          <p:cNvSpPr txBox="1"/>
          <p:nvPr/>
        </p:nvSpPr>
        <p:spPr>
          <a:xfrm>
            <a:off x="10387584" y="434340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Mudad</a:t>
            </a:r>
            <a:endParaRPr lang="en-US" sz="780" dirty="0"/>
          </a:p>
        </p:txBody>
      </p:sp>
      <p:sp>
        <p:nvSpPr>
          <p:cNvPr id="81" name="Text 79"/>
          <p:cNvSpPr txBox="1"/>
          <p:nvPr/>
        </p:nvSpPr>
        <p:spPr>
          <a:xfrm>
            <a:off x="10808208" y="434340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Wage Protection System</a:t>
            </a:r>
            <a:endParaRPr lang="en-US" sz="630" dirty="0"/>
          </a:p>
        </p:txBody>
      </p:sp>
      <p:sp>
        <p:nvSpPr>
          <p:cNvPr id="82" name="Shape 80"/>
          <p:cNvSpPr/>
          <p:nvPr/>
        </p:nvSpPr>
        <p:spPr>
          <a:xfrm>
            <a:off x="10332720" y="4663440"/>
            <a:ext cx="1280160" cy="306324"/>
          </a:xfrm>
          <a:prstGeom prst="roundRect">
            <a:avLst>
              <a:gd name="adj" fmla="val 11940"/>
            </a:avLst>
          </a:prstGeom>
          <a:solidFill>
            <a:srgbClr val="FFFFFF"/>
          </a:solidFill>
          <a:ln w="10795">
            <a:solidFill>
              <a:srgbClr val="E2CE85"/>
            </a:solidFill>
            <a:prstDash val="solid"/>
          </a:ln>
        </p:spPr>
      </p:sp>
      <p:sp>
        <p:nvSpPr>
          <p:cNvPr id="83" name="Text 81"/>
          <p:cNvSpPr txBox="1"/>
          <p:nvPr/>
        </p:nvSpPr>
        <p:spPr>
          <a:xfrm>
            <a:off x="10387584" y="4663440"/>
            <a:ext cx="457200" cy="306324"/>
          </a:xfrm>
          <a:prstGeom prst="rect">
            <a:avLst/>
          </a:prstGeom>
          <a:noFill/>
          <a:ln/>
        </p:spPr>
        <p:txBody>
          <a:bodyPr wrap="square" lIns="0" tIns="0" rIns="0" bIns="0" rtlCol="0" anchor="ctr"/>
          <a:lstStyle/>
          <a:p>
            <a:pPr indent="0" marL="0">
              <a:buNone/>
            </a:pPr>
            <a:r>
              <a:rPr lang="en-US" sz="780" b="1" dirty="0">
                <a:solidFill>
                  <a:srgbClr val="0C1E33"/>
                </a:solidFill>
                <a:latin typeface="Calibri" pitchFamily="34" charset="0"/>
                <a:ea typeface="Calibri" pitchFamily="34" charset="-122"/>
                <a:cs typeface="Calibri" pitchFamily="34" charset="-120"/>
              </a:rPr>
              <a:t>CCHI</a:t>
            </a:r>
            <a:endParaRPr lang="en-US" sz="780" dirty="0"/>
          </a:p>
        </p:txBody>
      </p:sp>
      <p:sp>
        <p:nvSpPr>
          <p:cNvPr id="84" name="Text 82"/>
          <p:cNvSpPr txBox="1"/>
          <p:nvPr/>
        </p:nvSpPr>
        <p:spPr>
          <a:xfrm>
            <a:off x="10808208" y="4663440"/>
            <a:ext cx="768096" cy="306324"/>
          </a:xfrm>
          <a:prstGeom prst="rect">
            <a:avLst/>
          </a:prstGeom>
          <a:noFill/>
          <a:ln/>
        </p:spPr>
        <p:txBody>
          <a:bodyPr wrap="square" lIns="0" tIns="0" rIns="0" bIns="0" rtlCol="0" anchor="ctr"/>
          <a:lstStyle/>
          <a:p>
            <a:pPr algn="r" indent="0" marL="0">
              <a:lnSpc>
                <a:spcPts val="740"/>
              </a:lnSpc>
              <a:buNone/>
            </a:pPr>
            <a:r>
              <a:rPr lang="en-US" sz="630" dirty="0">
                <a:solidFill>
                  <a:srgbClr val="5A6C82"/>
                </a:solidFill>
                <a:latin typeface="Calibri" pitchFamily="34" charset="0"/>
                <a:ea typeface="Calibri" pitchFamily="34" charset="-122"/>
                <a:cs typeface="Calibri" pitchFamily="34" charset="-120"/>
              </a:rPr>
              <a:t>Medical insurance</a:t>
            </a:r>
            <a:endParaRPr lang="en-US" sz="630" dirty="0"/>
          </a:p>
        </p:txBody>
      </p:sp>
      <p:sp>
        <p:nvSpPr>
          <p:cNvPr id="85" name="Shape 83"/>
          <p:cNvSpPr/>
          <p:nvPr/>
        </p:nvSpPr>
        <p:spPr>
          <a:xfrm>
            <a:off x="2697480" y="5230368"/>
            <a:ext cx="2788920" cy="841248"/>
          </a:xfrm>
          <a:prstGeom prst="roundRect">
            <a:avLst>
              <a:gd name="adj" fmla="val 6522"/>
            </a:avLst>
          </a:prstGeom>
          <a:solidFill>
            <a:srgbClr val="F4F6F7"/>
          </a:solidFill>
          <a:ln w="10795">
            <a:solidFill>
              <a:srgbClr val="E3E7EA"/>
            </a:solidFill>
            <a:prstDash val="solid"/>
          </a:ln>
        </p:spPr>
      </p:sp>
      <p:sp>
        <p:nvSpPr>
          <p:cNvPr id="86" name="Text 84"/>
          <p:cNvSpPr txBox="1"/>
          <p:nvPr/>
        </p:nvSpPr>
        <p:spPr>
          <a:xfrm>
            <a:off x="2825496" y="5321808"/>
            <a:ext cx="2532888" cy="21945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S/4HANA Finance</a:t>
            </a:r>
            <a:endParaRPr lang="en-US" sz="940" dirty="0"/>
          </a:p>
        </p:txBody>
      </p:sp>
      <p:sp>
        <p:nvSpPr>
          <p:cNvPr id="87" name="Text 85"/>
          <p:cNvSpPr txBox="1"/>
          <p:nvPr/>
        </p:nvSpPr>
        <p:spPr>
          <a:xfrm>
            <a:off x="2825496" y="5541264"/>
            <a:ext cx="2532888" cy="420624"/>
          </a:xfrm>
          <a:prstGeom prst="rect">
            <a:avLst/>
          </a:prstGeom>
          <a:noFill/>
          <a:ln/>
        </p:spPr>
        <p:txBody>
          <a:bodyPr wrap="square" lIns="0" tIns="0" rIns="0" bIns="0" rtlCol="0" anchor="ctr"/>
          <a:lstStyle/>
          <a:p>
            <a:pPr indent="0" marL="0">
              <a:lnSpc>
                <a:spcPts val="900"/>
              </a:lnSpc>
              <a:buNone/>
            </a:pPr>
            <a:r>
              <a:rPr lang="en-US" sz="740" dirty="0">
                <a:solidFill>
                  <a:srgbClr val="5A6C82"/>
                </a:solidFill>
                <a:latin typeface="Calibri" pitchFamily="34" charset="0"/>
                <a:ea typeface="Calibri" pitchFamily="34" charset="-122"/>
                <a:cs typeface="Calibri" pitchFamily="34" charset="-120"/>
              </a:rPr>
              <a:t>Fee postings, vendor invoices and the General Ledger account per fee type</a:t>
            </a:r>
            <a:endParaRPr lang="en-US" sz="740" dirty="0"/>
          </a:p>
        </p:txBody>
      </p:sp>
      <p:sp>
        <p:nvSpPr>
          <p:cNvPr id="88" name="Shape 86"/>
          <p:cNvSpPr/>
          <p:nvPr/>
        </p:nvSpPr>
        <p:spPr>
          <a:xfrm>
            <a:off x="5715000" y="5230368"/>
            <a:ext cx="2788920" cy="841248"/>
          </a:xfrm>
          <a:prstGeom prst="roundRect">
            <a:avLst>
              <a:gd name="adj" fmla="val 6522"/>
            </a:avLst>
          </a:prstGeom>
          <a:solidFill>
            <a:srgbClr val="F4F6F7"/>
          </a:solidFill>
          <a:ln w="10795">
            <a:solidFill>
              <a:srgbClr val="E3E7EA"/>
            </a:solidFill>
            <a:prstDash val="solid"/>
          </a:ln>
        </p:spPr>
      </p:sp>
      <p:sp>
        <p:nvSpPr>
          <p:cNvPr id="89" name="Text 87"/>
          <p:cNvSpPr txBox="1"/>
          <p:nvPr/>
        </p:nvSpPr>
        <p:spPr>
          <a:xfrm>
            <a:off x="5843016" y="5321808"/>
            <a:ext cx="2532888" cy="21945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Analytics Cloud</a:t>
            </a:r>
            <a:endParaRPr lang="en-US" sz="940" dirty="0"/>
          </a:p>
        </p:txBody>
      </p:sp>
      <p:sp>
        <p:nvSpPr>
          <p:cNvPr id="90" name="Text 88"/>
          <p:cNvSpPr txBox="1"/>
          <p:nvPr/>
        </p:nvSpPr>
        <p:spPr>
          <a:xfrm>
            <a:off x="5843016" y="5541264"/>
            <a:ext cx="2532888" cy="420624"/>
          </a:xfrm>
          <a:prstGeom prst="rect">
            <a:avLst/>
          </a:prstGeom>
          <a:noFill/>
          <a:ln/>
        </p:spPr>
        <p:txBody>
          <a:bodyPr wrap="square" lIns="0" tIns="0" rIns="0" bIns="0" rtlCol="0" anchor="ctr"/>
          <a:lstStyle/>
          <a:p>
            <a:pPr indent="0" marL="0">
              <a:lnSpc>
                <a:spcPts val="900"/>
              </a:lnSpc>
              <a:buNone/>
            </a:pPr>
            <a:r>
              <a:rPr lang="en-US" sz="740" dirty="0">
                <a:solidFill>
                  <a:srgbClr val="5A6C82"/>
                </a:solidFill>
                <a:latin typeface="Calibri" pitchFamily="34" charset="0"/>
                <a:ea typeface="Calibri" pitchFamily="34" charset="-122"/>
                <a:cs typeface="Calibri" pitchFamily="34" charset="-120"/>
              </a:rPr>
              <a:t>Nitaqat band position, compliance exposure and permit cost by entity</a:t>
            </a:r>
            <a:endParaRPr lang="en-US" sz="740" dirty="0"/>
          </a:p>
        </p:txBody>
      </p:sp>
      <p:sp>
        <p:nvSpPr>
          <p:cNvPr id="91" name="Shape 89"/>
          <p:cNvSpPr/>
          <p:nvPr/>
        </p:nvSpPr>
        <p:spPr>
          <a:xfrm>
            <a:off x="4206240" y="2011680"/>
            <a:ext cx="0" cy="384048"/>
          </a:xfrm>
          <a:prstGeom prst="line">
            <a:avLst/>
          </a:prstGeom>
          <a:noFill/>
          <a:ln w="19050">
            <a:solidFill>
              <a:srgbClr val="0A6ED1"/>
            </a:solidFill>
            <a:prstDash val="solid"/>
            <a:headEnd type="none"/>
            <a:tailEnd type="triangle"/>
          </a:ln>
        </p:spPr>
      </p:sp>
      <p:sp>
        <p:nvSpPr>
          <p:cNvPr id="92" name="Text 90"/>
          <p:cNvSpPr txBox="1"/>
          <p:nvPr/>
        </p:nvSpPr>
        <p:spPr>
          <a:xfrm>
            <a:off x="2880360" y="2066544"/>
            <a:ext cx="2651760" cy="182880"/>
          </a:xfrm>
          <a:prstGeom prst="rect">
            <a:avLst/>
          </a:prstGeom>
          <a:noFill/>
          <a:ln/>
        </p:spPr>
        <p:txBody>
          <a:bodyPr wrap="square" lIns="0" tIns="0" rIns="0" bIns="0" rtlCol="0" anchor="ctr"/>
          <a:lstStyle/>
          <a:p>
            <a:pPr algn="ctr" indent="0" marL="0">
              <a:buNone/>
            </a:pPr>
            <a:r>
              <a:rPr lang="en-US" sz="680" dirty="0">
                <a:solidFill>
                  <a:srgbClr val="0A6ED1"/>
                </a:solidFill>
                <a:latin typeface="Calibri" pitchFamily="34" charset="0"/>
                <a:ea typeface="Calibri" pitchFamily="34" charset="-122"/>
                <a:cs typeface="Calibri" pitchFamily="34" charset="-120"/>
              </a:rPr>
              <a:t>employee, job and organisation data</a:t>
            </a:r>
            <a:endParaRPr lang="en-US" sz="680" dirty="0"/>
          </a:p>
        </p:txBody>
      </p:sp>
      <p:sp>
        <p:nvSpPr>
          <p:cNvPr id="93" name="Shape 91"/>
          <p:cNvSpPr/>
          <p:nvPr/>
        </p:nvSpPr>
        <p:spPr>
          <a:xfrm>
            <a:off x="7040880" y="2395728"/>
            <a:ext cx="0" cy="-384048"/>
          </a:xfrm>
          <a:prstGeom prst="line">
            <a:avLst/>
          </a:prstGeom>
          <a:noFill/>
          <a:ln w="19050">
            <a:solidFill>
              <a:srgbClr val="0A6ED1"/>
            </a:solidFill>
            <a:prstDash val="solid"/>
            <a:headEnd type="none"/>
            <a:tailEnd type="triangle"/>
          </a:ln>
        </p:spPr>
      </p:sp>
      <p:sp>
        <p:nvSpPr>
          <p:cNvPr id="94" name="Text 92"/>
          <p:cNvSpPr txBox="1"/>
          <p:nvPr/>
        </p:nvSpPr>
        <p:spPr>
          <a:xfrm>
            <a:off x="5989320" y="2066544"/>
            <a:ext cx="2377440" cy="182880"/>
          </a:xfrm>
          <a:prstGeom prst="rect">
            <a:avLst/>
          </a:prstGeom>
          <a:noFill/>
          <a:ln/>
        </p:spPr>
        <p:txBody>
          <a:bodyPr wrap="square" lIns="0" tIns="0" rIns="0" bIns="0" rtlCol="0" anchor="ctr"/>
          <a:lstStyle/>
          <a:p>
            <a:pPr algn="ctr" indent="0" marL="0">
              <a:buNone/>
            </a:pPr>
            <a:r>
              <a:rPr lang="en-US" sz="680" dirty="0">
                <a:solidFill>
                  <a:srgbClr val="0A6ED1"/>
                </a:solidFill>
                <a:latin typeface="Calibri" pitchFamily="34" charset="0"/>
                <a:ea typeface="Calibri" pitchFamily="34" charset="-122"/>
                <a:cs typeface="Calibri" pitchFamily="34" charset="-120"/>
              </a:rPr>
              <a:t>permit status and Iqama number</a:t>
            </a:r>
            <a:endParaRPr lang="en-US" sz="680" dirty="0"/>
          </a:p>
        </p:txBody>
      </p:sp>
      <p:sp>
        <p:nvSpPr>
          <p:cNvPr id="95" name="Shape 93"/>
          <p:cNvSpPr/>
          <p:nvPr/>
        </p:nvSpPr>
        <p:spPr>
          <a:xfrm>
            <a:off x="2423160" y="3703320"/>
            <a:ext cx="274320" cy="0"/>
          </a:xfrm>
          <a:prstGeom prst="line">
            <a:avLst/>
          </a:prstGeom>
          <a:noFill/>
          <a:ln w="19050">
            <a:solidFill>
              <a:srgbClr val="12756F"/>
            </a:solidFill>
            <a:prstDash val="solid"/>
            <a:headEnd type="triangle"/>
            <a:tailEnd type="triangle"/>
          </a:ln>
        </p:spPr>
      </p:sp>
      <p:sp>
        <p:nvSpPr>
          <p:cNvPr id="96" name="Shape 94"/>
          <p:cNvSpPr/>
          <p:nvPr/>
        </p:nvSpPr>
        <p:spPr>
          <a:xfrm>
            <a:off x="8503920" y="3703320"/>
            <a:ext cx="274320" cy="0"/>
          </a:xfrm>
          <a:prstGeom prst="line">
            <a:avLst/>
          </a:prstGeom>
          <a:noFill/>
          <a:ln w="19050">
            <a:solidFill>
              <a:srgbClr val="0A6ED1"/>
            </a:solidFill>
            <a:prstDash val="solid"/>
            <a:headEnd type="triangle"/>
            <a:tailEnd type="triangle"/>
          </a:ln>
        </p:spPr>
      </p:sp>
      <p:sp>
        <p:nvSpPr>
          <p:cNvPr id="97" name="Shape 95"/>
          <p:cNvSpPr/>
          <p:nvPr/>
        </p:nvSpPr>
        <p:spPr>
          <a:xfrm>
            <a:off x="9966960" y="3703320"/>
            <a:ext cx="274320" cy="0"/>
          </a:xfrm>
          <a:prstGeom prst="line">
            <a:avLst/>
          </a:prstGeom>
          <a:noFill/>
          <a:ln w="19050">
            <a:solidFill>
              <a:srgbClr val="C9A227"/>
            </a:solidFill>
            <a:prstDash val="solid"/>
            <a:headEnd type="triangle"/>
            <a:tailEnd type="triangle"/>
          </a:ln>
        </p:spPr>
      </p:sp>
      <p:sp>
        <p:nvSpPr>
          <p:cNvPr id="98" name="Shape 96"/>
          <p:cNvSpPr/>
          <p:nvPr/>
        </p:nvSpPr>
        <p:spPr>
          <a:xfrm>
            <a:off x="4087368" y="5010912"/>
            <a:ext cx="0" cy="219456"/>
          </a:xfrm>
          <a:prstGeom prst="line">
            <a:avLst/>
          </a:prstGeom>
          <a:noFill/>
          <a:ln w="19050">
            <a:solidFill>
              <a:srgbClr val="12756F"/>
            </a:solidFill>
            <a:prstDash val="solid"/>
            <a:headEnd type="none"/>
            <a:tailEnd type="triangle"/>
          </a:ln>
        </p:spPr>
      </p:sp>
      <p:sp>
        <p:nvSpPr>
          <p:cNvPr id="99" name="Text 97"/>
          <p:cNvSpPr txBox="1"/>
          <p:nvPr/>
        </p:nvSpPr>
        <p:spPr>
          <a:xfrm>
            <a:off x="2926080" y="5029200"/>
            <a:ext cx="2331720" cy="182880"/>
          </a:xfrm>
          <a:prstGeom prst="rect">
            <a:avLst/>
          </a:prstGeom>
          <a:noFill/>
          <a:ln/>
        </p:spPr>
        <p:txBody>
          <a:bodyPr wrap="square" lIns="0" tIns="0" rIns="0" bIns="0" rtlCol="0" anchor="ctr"/>
          <a:lstStyle/>
          <a:p>
            <a:pPr algn="ctr" indent="0" marL="0">
              <a:buNone/>
            </a:pPr>
            <a:r>
              <a:rPr lang="en-US" sz="680" dirty="0">
                <a:solidFill>
                  <a:srgbClr val="12756F"/>
                </a:solidFill>
                <a:latin typeface="Calibri" pitchFamily="34" charset="0"/>
                <a:ea typeface="Calibri" pitchFamily="34" charset="-122"/>
                <a:cs typeface="Calibri" pitchFamily="34" charset="-120"/>
              </a:rPr>
              <a:t>fee, receipt and cost centre</a:t>
            </a:r>
            <a:endParaRPr lang="en-US" sz="680" dirty="0"/>
          </a:p>
        </p:txBody>
      </p:sp>
      <p:sp>
        <p:nvSpPr>
          <p:cNvPr id="100" name="Shape 98"/>
          <p:cNvSpPr/>
          <p:nvPr/>
        </p:nvSpPr>
        <p:spPr>
          <a:xfrm>
            <a:off x="7104888" y="5010912"/>
            <a:ext cx="0" cy="219456"/>
          </a:xfrm>
          <a:prstGeom prst="line">
            <a:avLst/>
          </a:prstGeom>
          <a:noFill/>
          <a:ln w="19050">
            <a:solidFill>
              <a:srgbClr val="12756F"/>
            </a:solidFill>
            <a:prstDash val="solid"/>
            <a:headEnd type="none"/>
            <a:tailEnd type="triangle"/>
          </a:ln>
        </p:spPr>
      </p:sp>
      <p:sp>
        <p:nvSpPr>
          <p:cNvPr id="101" name="Text 99"/>
          <p:cNvSpPr txBox="1"/>
          <p:nvPr/>
        </p:nvSpPr>
        <p:spPr>
          <a:xfrm>
            <a:off x="5989320" y="5029200"/>
            <a:ext cx="2331720" cy="182880"/>
          </a:xfrm>
          <a:prstGeom prst="rect">
            <a:avLst/>
          </a:prstGeom>
          <a:noFill/>
          <a:ln/>
        </p:spPr>
        <p:txBody>
          <a:bodyPr wrap="square" lIns="0" tIns="0" rIns="0" bIns="0" rtlCol="0" anchor="ctr"/>
          <a:lstStyle/>
          <a:p>
            <a:pPr algn="ctr" indent="0" marL="0">
              <a:buNone/>
            </a:pPr>
            <a:r>
              <a:rPr lang="en-US" sz="680" dirty="0">
                <a:solidFill>
                  <a:srgbClr val="12756F"/>
                </a:solidFill>
                <a:latin typeface="Calibri" pitchFamily="34" charset="0"/>
                <a:ea typeface="Calibri" pitchFamily="34" charset="-122"/>
                <a:cs typeface="Calibri" pitchFamily="34" charset="-120"/>
              </a:rPr>
              <a:t>case, task and compliance data</a:t>
            </a:r>
            <a:endParaRPr lang="en-US" sz="680" dirty="0"/>
          </a:p>
        </p:txBody>
      </p:sp>
      <p:sp>
        <p:nvSpPr>
          <p:cNvPr id="102" name="Text 100"/>
          <p:cNvSpPr txBox="1"/>
          <p:nvPr/>
        </p:nvSpPr>
        <p:spPr>
          <a:xfrm>
            <a:off x="502920" y="6144768"/>
            <a:ext cx="11201400" cy="256032"/>
          </a:xfrm>
          <a:prstGeom prst="rect">
            <a:avLst/>
          </a:prstGeom>
          <a:noFill/>
          <a:ln/>
        </p:spPr>
        <p:txBody>
          <a:bodyPr wrap="square" lIns="0" tIns="0" rIns="0" bIns="0" rtlCol="0" anchor="ctr"/>
          <a:lstStyle/>
          <a:p>
            <a:pPr indent="0" marL="0">
              <a:lnSpc>
                <a:spcPts val="1000"/>
              </a:lnSpc>
              <a:buNone/>
            </a:pPr>
            <a:r>
              <a:rPr lang="en-US" sz="780" b="1" dirty="0">
                <a:solidFill>
                  <a:srgbClr val="0C1E33"/>
                </a:solidFill>
                <a:latin typeface="Calibri" pitchFamily="34" charset="0"/>
                <a:ea typeface="Calibri" pitchFamily="34" charset="-122"/>
                <a:cs typeface="Calibri" pitchFamily="34" charset="-120"/>
              </a:rPr>
              <a:t>Submission </a:t>
            </a:r>
            <a:pPr indent="0" marL="0">
              <a:lnSpc>
                <a:spcPts val="1000"/>
              </a:lnSpc>
              <a:buNone/>
            </a:pPr>
            <a:r>
              <a:rPr lang="en-US" sz="780" dirty="0">
                <a:solidFill>
                  <a:srgbClr val="5A6C82"/>
                </a:solidFill>
                <a:latin typeface="Calibri" pitchFamily="34" charset="0"/>
                <a:ea typeface="Calibri" pitchFamily="34" charset="-122"/>
                <a:cs typeface="Calibri" pitchFamily="34" charset="-120"/>
              </a:rPr>
              <a:t>to Qiwa, Muqeem and Enjaz is outbound and acknowledged. </a:t>
            </a:r>
            <a:pPr indent="0" marL="0">
              <a:lnSpc>
                <a:spcPts val="1000"/>
              </a:lnSpc>
              <a:buNone/>
            </a:pPr>
            <a:r>
              <a:rPr lang="en-US" sz="780" b="1" dirty="0">
                <a:solidFill>
                  <a:srgbClr val="0C1E33"/>
                </a:solidFill>
                <a:latin typeface="Calibri" pitchFamily="34" charset="0"/>
                <a:ea typeface="Calibri" pitchFamily="34" charset="-122"/>
                <a:cs typeface="Calibri" pitchFamily="34" charset="-120"/>
              </a:rPr>
              <a:t>Lookup </a:t>
            </a:r>
            <a:pPr indent="0" marL="0">
              <a:lnSpc>
                <a:spcPts val="1000"/>
              </a:lnSpc>
              <a:buNone/>
            </a:pPr>
            <a:r>
              <a:rPr lang="en-US" sz="780" dirty="0">
                <a:solidFill>
                  <a:srgbClr val="5A6C82"/>
                </a:solidFill>
                <a:latin typeface="Calibri" pitchFamily="34" charset="0"/>
                <a:ea typeface="Calibri" pitchFamily="34" charset="-122"/>
                <a:cs typeface="Calibri" pitchFamily="34" charset="-120"/>
              </a:rPr>
              <a:t>from Absher, GOSI, Mudad and CCHI is read only. Government access is granted to the employer under its own establishment registration, never to a software vendor, so each connector is built and waits on the customer credential.</a:t>
            </a:r>
            <a:endParaRPr lang="en-US" sz="780" dirty="0"/>
          </a:p>
        </p:txBody>
      </p:sp>
      <p:sp>
        <p:nvSpPr>
          <p:cNvPr id="103" name="Text 101"/>
          <p:cNvSpPr txBox="1"/>
          <p:nvPr/>
        </p:nvSpPr>
        <p:spPr>
          <a:xfrm>
            <a:off x="548640" y="6437376"/>
            <a:ext cx="10332720" cy="219456"/>
          </a:xfrm>
          <a:prstGeom prst="rect">
            <a:avLst/>
          </a:prstGeom>
          <a:noFill/>
          <a:ln/>
        </p:spPr>
        <p:txBody>
          <a:bodyPr wrap="square" lIns="0" tIns="0" rIns="0" bIns="0" rtlCol="0" anchor="ctr"/>
          <a:lstStyle/>
          <a:p>
            <a:pPr indent="0" marL="0">
              <a:buNone/>
            </a:pPr>
            <a:r>
              <a:rPr lang="en-US" sz="800" dirty="0">
                <a:solidFill>
                  <a:srgbClr val="96A3AE"/>
                </a:solidFill>
                <a:latin typeface="Calibri" pitchFamily="34" charset="0"/>
                <a:ea typeface="Calibri" pitchFamily="34" charset="-122"/>
                <a:cs typeface="Calibri" pitchFamily="34" charset="-120"/>
              </a:rPr>
              <a:t>INK IT Business Solutions   ·   Visa and Permits Management on SAP Business Technology Platform   ·   Kingdom of Saudi Arabia</a:t>
            </a:r>
            <a:endParaRPr lang="en-US" sz="800" dirty="0"/>
          </a:p>
        </p:txBody>
      </p:sp>
      <p:sp>
        <p:nvSpPr>
          <p:cNvPr id="104" name="Text 102"/>
          <p:cNvSpPr txBox="1"/>
          <p:nvPr/>
        </p:nvSpPr>
        <p:spPr>
          <a:xfrm>
            <a:off x="11064240" y="6437376"/>
            <a:ext cx="630936" cy="219456"/>
          </a:xfrm>
          <a:prstGeom prst="rect">
            <a:avLst/>
          </a:prstGeom>
          <a:noFill/>
          <a:ln/>
        </p:spPr>
        <p:txBody>
          <a:bodyPr wrap="square" lIns="0" tIns="0" rIns="0" bIns="0" rtlCol="0" anchor="ctr"/>
          <a:lstStyle/>
          <a:p>
            <a:pPr algn="r" indent="0" marL="0">
              <a:buNone/>
            </a:pPr>
            <a:r>
              <a:rPr lang="en-US" sz="800" dirty="0">
                <a:solidFill>
                  <a:srgbClr val="96A3AE"/>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219456"/>
          </a:xfrm>
          <a:prstGeom prst="rect">
            <a:avLst/>
          </a:prstGeom>
          <a:noFill/>
          <a:ln/>
        </p:spPr>
        <p:txBody>
          <a:bodyPr wrap="square" lIns="0" tIns="0" rIns="0" bIns="0" rtlCol="0" anchor="ctr"/>
          <a:lstStyle/>
          <a:p>
            <a:pPr indent="0" marL="0">
              <a:buNone/>
            </a:pPr>
            <a:r>
              <a:rPr lang="en-US" sz="1050" b="1" spc="220" kern="0" dirty="0">
                <a:solidFill>
                  <a:srgbClr val="20A098"/>
                </a:solidFill>
                <a:latin typeface="Calibri" pitchFamily="34" charset="0"/>
                <a:ea typeface="Calibri" pitchFamily="34" charset="-122"/>
                <a:cs typeface="Calibri" pitchFamily="34" charset="-120"/>
              </a:rPr>
              <a:t>WHAT IT RUNS ON</a:t>
            </a:r>
            <a:endParaRPr lang="en-US" sz="1050" dirty="0"/>
          </a:p>
        </p:txBody>
      </p:sp>
      <p:sp>
        <p:nvSpPr>
          <p:cNvPr id="3" name="Text 1"/>
          <p:cNvSpPr txBox="1"/>
          <p:nvPr/>
        </p:nvSpPr>
        <p:spPr>
          <a:xfrm>
            <a:off x="548640" y="603504"/>
            <a:ext cx="11064240" cy="512064"/>
          </a:xfrm>
          <a:prstGeom prst="rect">
            <a:avLst/>
          </a:prstGeom>
          <a:noFill/>
          <a:ln/>
        </p:spPr>
        <p:txBody>
          <a:bodyPr wrap="square" lIns="0" tIns="0" rIns="0" bIns="0" rtlCol="0" anchor="ctr"/>
          <a:lstStyle/>
          <a:p>
            <a:pPr indent="0" marL="0">
              <a:buNone/>
            </a:pPr>
            <a:r>
              <a:rPr lang="en-US" sz="2700" b="1" dirty="0">
                <a:solidFill>
                  <a:srgbClr val="0C1E33"/>
                </a:solidFill>
                <a:latin typeface="Arial" pitchFamily="34" charset="0"/>
                <a:ea typeface="Arial" pitchFamily="34" charset="-122"/>
                <a:cs typeface="Arial" pitchFamily="34" charset="-120"/>
              </a:rPr>
              <a:t>The SAP Business Technology Platform services required.</a:t>
            </a:r>
            <a:endParaRPr lang="en-US" sz="2700" dirty="0"/>
          </a:p>
        </p:txBody>
      </p:sp>
      <p:sp>
        <p:nvSpPr>
          <p:cNvPr id="4" name="Text 2"/>
          <p:cNvSpPr txBox="1"/>
          <p:nvPr/>
        </p:nvSpPr>
        <p:spPr>
          <a:xfrm>
            <a:off x="548640" y="1170432"/>
            <a:ext cx="10424160" cy="237744"/>
          </a:xfrm>
          <a:prstGeom prst="rect">
            <a:avLst/>
          </a:prstGeom>
          <a:noFill/>
          <a:ln/>
        </p:spPr>
        <p:txBody>
          <a:bodyPr wrap="square" lIns="0" tIns="0" rIns="0" bIns="0" rtlCol="0" anchor="ctr"/>
          <a:lstStyle/>
          <a:p>
            <a:pPr indent="0" marL="0">
              <a:buNone/>
            </a:pPr>
            <a:r>
              <a:rPr lang="en-US" sz="1250" dirty="0">
                <a:solidFill>
                  <a:srgbClr val="5A6C82"/>
                </a:solidFill>
                <a:latin typeface="Calibri" pitchFamily="34" charset="0"/>
                <a:ea typeface="Calibri" pitchFamily="34" charset="-122"/>
                <a:cs typeface="Calibri" pitchFamily="34" charset="-120"/>
              </a:rPr>
              <a:t>Six services are required for any deployment. The rest scale with how far the customer wants to take it.</a:t>
            </a:r>
            <a:endParaRPr lang="en-US" sz="1250" dirty="0"/>
          </a:p>
        </p:txBody>
      </p:sp>
      <p:sp>
        <p:nvSpPr>
          <p:cNvPr id="5" name="Text 3"/>
          <p:cNvSpPr txBox="1"/>
          <p:nvPr/>
        </p:nvSpPr>
        <p:spPr>
          <a:xfrm>
            <a:off x="1188720" y="1517904"/>
            <a:ext cx="3749040" cy="164592"/>
          </a:xfrm>
          <a:prstGeom prst="rect">
            <a:avLst/>
          </a:prstGeom>
          <a:noFill/>
          <a:ln/>
        </p:spPr>
        <p:txBody>
          <a:bodyPr wrap="square" lIns="0" tIns="0" rIns="0" bIns="0" rtlCol="0" anchor="ctr"/>
          <a:lstStyle/>
          <a:p>
            <a:pPr indent="0" marL="0">
              <a:buNone/>
            </a:pPr>
            <a:r>
              <a:rPr lang="en-US" sz="800" b="1" spc="130" kern="0" dirty="0">
                <a:solidFill>
                  <a:srgbClr val="96A3AE"/>
                </a:solidFill>
                <a:latin typeface="Calibri" pitchFamily="34" charset="0"/>
                <a:ea typeface="Calibri" pitchFamily="34" charset="-122"/>
                <a:cs typeface="Calibri" pitchFamily="34" charset="-120"/>
              </a:rPr>
              <a:t>SERVICE</a:t>
            </a:r>
            <a:endParaRPr lang="en-US" sz="800" dirty="0"/>
          </a:p>
        </p:txBody>
      </p:sp>
      <p:sp>
        <p:nvSpPr>
          <p:cNvPr id="6" name="Text 4"/>
          <p:cNvSpPr txBox="1"/>
          <p:nvPr/>
        </p:nvSpPr>
        <p:spPr>
          <a:xfrm>
            <a:off x="5029200" y="1517904"/>
            <a:ext cx="3977640" cy="164592"/>
          </a:xfrm>
          <a:prstGeom prst="rect">
            <a:avLst/>
          </a:prstGeom>
          <a:noFill/>
          <a:ln/>
        </p:spPr>
        <p:txBody>
          <a:bodyPr wrap="square" lIns="0" tIns="0" rIns="0" bIns="0" rtlCol="0" anchor="ctr"/>
          <a:lstStyle/>
          <a:p>
            <a:pPr indent="0" marL="0">
              <a:buNone/>
            </a:pPr>
            <a:r>
              <a:rPr lang="en-US" sz="800" b="1" spc="130" kern="0" dirty="0">
                <a:solidFill>
                  <a:srgbClr val="96A3AE"/>
                </a:solidFill>
                <a:latin typeface="Calibri" pitchFamily="34" charset="0"/>
                <a:ea typeface="Calibri" pitchFamily="34" charset="-122"/>
                <a:cs typeface="Calibri" pitchFamily="34" charset="-120"/>
              </a:rPr>
              <a:t>WHAT IT DOES</a:t>
            </a:r>
            <a:endParaRPr lang="en-US" sz="800" dirty="0"/>
          </a:p>
        </p:txBody>
      </p:sp>
      <p:sp>
        <p:nvSpPr>
          <p:cNvPr id="7" name="Text 5"/>
          <p:cNvSpPr txBox="1"/>
          <p:nvPr/>
        </p:nvSpPr>
        <p:spPr>
          <a:xfrm>
            <a:off x="9098280" y="1517904"/>
            <a:ext cx="2606040" cy="164592"/>
          </a:xfrm>
          <a:prstGeom prst="rect">
            <a:avLst/>
          </a:prstGeom>
          <a:noFill/>
          <a:ln/>
        </p:spPr>
        <p:txBody>
          <a:bodyPr wrap="square" lIns="0" tIns="0" rIns="0" bIns="0" rtlCol="0" anchor="ctr"/>
          <a:lstStyle/>
          <a:p>
            <a:pPr indent="0" marL="0">
              <a:buNone/>
            </a:pPr>
            <a:r>
              <a:rPr lang="en-US" sz="800" b="1" spc="130" kern="0" dirty="0">
                <a:solidFill>
                  <a:srgbClr val="96A3AE"/>
                </a:solidFill>
                <a:latin typeface="Calibri" pitchFamily="34" charset="0"/>
                <a:ea typeface="Calibri" pitchFamily="34" charset="-122"/>
                <a:cs typeface="Calibri" pitchFamily="34" charset="-120"/>
              </a:rPr>
              <a:t>HOW IT IS LICENSED</a:t>
            </a:r>
            <a:endParaRPr lang="en-US" sz="800" dirty="0"/>
          </a:p>
        </p:txBody>
      </p:sp>
      <p:sp>
        <p:nvSpPr>
          <p:cNvPr id="8" name="Shape 6"/>
          <p:cNvSpPr/>
          <p:nvPr/>
        </p:nvSpPr>
        <p:spPr>
          <a:xfrm>
            <a:off x="548640" y="1737360"/>
            <a:ext cx="11146536" cy="310896"/>
          </a:xfrm>
          <a:prstGeom prst="roundRect">
            <a:avLst>
              <a:gd name="adj" fmla="val 11765"/>
            </a:avLst>
          </a:prstGeom>
          <a:solidFill>
            <a:srgbClr val="F4F6F7"/>
          </a:solidFill>
          <a:ln w="10795">
            <a:solidFill>
              <a:srgbClr val="E3E7EA"/>
            </a:solidFill>
            <a:prstDash val="solid"/>
          </a:ln>
        </p:spPr>
      </p:sp>
      <p:sp>
        <p:nvSpPr>
          <p:cNvPr id="9" name="Shape 7"/>
          <p:cNvSpPr/>
          <p:nvPr/>
        </p:nvSpPr>
        <p:spPr>
          <a:xfrm>
            <a:off x="658368" y="1805940"/>
            <a:ext cx="457200" cy="187452"/>
          </a:xfrm>
          <a:prstGeom prst="roundRect">
            <a:avLst>
              <a:gd name="adj" fmla="val 19512"/>
            </a:avLst>
          </a:prstGeom>
          <a:solidFill>
            <a:srgbClr val="20A098"/>
          </a:solidFill>
          <a:ln/>
        </p:spPr>
      </p:sp>
      <p:sp>
        <p:nvSpPr>
          <p:cNvPr id="10" name="Text 8"/>
          <p:cNvSpPr txBox="1"/>
          <p:nvPr/>
        </p:nvSpPr>
        <p:spPr>
          <a:xfrm>
            <a:off x="658368" y="1805940"/>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CORE</a:t>
            </a:r>
            <a:endParaRPr lang="en-US" sz="620" dirty="0"/>
          </a:p>
        </p:txBody>
      </p:sp>
      <p:sp>
        <p:nvSpPr>
          <p:cNvPr id="11" name="Text 9"/>
          <p:cNvSpPr txBox="1"/>
          <p:nvPr/>
        </p:nvSpPr>
        <p:spPr>
          <a:xfrm>
            <a:off x="1188720" y="1737360"/>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BTP, Cloud Foundry runtime</a:t>
            </a:r>
            <a:endParaRPr lang="en-US" sz="940" dirty="0"/>
          </a:p>
        </p:txBody>
      </p:sp>
      <p:sp>
        <p:nvSpPr>
          <p:cNvPr id="12" name="Text 10"/>
          <p:cNvSpPr txBox="1"/>
          <p:nvPr/>
        </p:nvSpPr>
        <p:spPr>
          <a:xfrm>
            <a:off x="5029200" y="1737360"/>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Runs the application itself</a:t>
            </a:r>
            <a:endParaRPr lang="en-US" sz="900" dirty="0"/>
          </a:p>
        </p:txBody>
      </p:sp>
      <p:sp>
        <p:nvSpPr>
          <p:cNvPr id="13" name="Shape 11"/>
          <p:cNvSpPr/>
          <p:nvPr/>
        </p:nvSpPr>
        <p:spPr>
          <a:xfrm>
            <a:off x="9098280" y="1796796"/>
            <a:ext cx="1188720" cy="205740"/>
          </a:xfrm>
          <a:prstGeom prst="roundRect">
            <a:avLst>
              <a:gd name="adj" fmla="val 17778"/>
            </a:avLst>
          </a:prstGeom>
          <a:solidFill>
            <a:srgbClr val="E4F5F3"/>
          </a:solidFill>
          <a:ln/>
        </p:spPr>
      </p:sp>
      <p:sp>
        <p:nvSpPr>
          <p:cNvPr id="14" name="Text 12"/>
          <p:cNvSpPr txBox="1"/>
          <p:nvPr/>
        </p:nvSpPr>
        <p:spPr>
          <a:xfrm>
            <a:off x="9098280" y="1796796"/>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Consumption</a:t>
            </a:r>
            <a:endParaRPr lang="en-US" sz="760" dirty="0"/>
          </a:p>
        </p:txBody>
      </p:sp>
      <p:sp>
        <p:nvSpPr>
          <p:cNvPr id="15" name="Shape 13"/>
          <p:cNvSpPr/>
          <p:nvPr/>
        </p:nvSpPr>
        <p:spPr>
          <a:xfrm>
            <a:off x="548640" y="2071116"/>
            <a:ext cx="11146536" cy="310896"/>
          </a:xfrm>
          <a:prstGeom prst="roundRect">
            <a:avLst>
              <a:gd name="adj" fmla="val 11765"/>
            </a:avLst>
          </a:prstGeom>
          <a:solidFill>
            <a:srgbClr val="FFFFFF"/>
          </a:solidFill>
          <a:ln w="10795">
            <a:solidFill>
              <a:srgbClr val="E3E7EA"/>
            </a:solidFill>
            <a:prstDash val="solid"/>
          </a:ln>
        </p:spPr>
      </p:sp>
      <p:sp>
        <p:nvSpPr>
          <p:cNvPr id="16" name="Shape 14"/>
          <p:cNvSpPr/>
          <p:nvPr/>
        </p:nvSpPr>
        <p:spPr>
          <a:xfrm>
            <a:off x="658368" y="2139696"/>
            <a:ext cx="457200" cy="187452"/>
          </a:xfrm>
          <a:prstGeom prst="roundRect">
            <a:avLst>
              <a:gd name="adj" fmla="val 19512"/>
            </a:avLst>
          </a:prstGeom>
          <a:solidFill>
            <a:srgbClr val="20A098"/>
          </a:solidFill>
          <a:ln/>
        </p:spPr>
      </p:sp>
      <p:sp>
        <p:nvSpPr>
          <p:cNvPr id="17" name="Text 15"/>
          <p:cNvSpPr txBox="1"/>
          <p:nvPr/>
        </p:nvSpPr>
        <p:spPr>
          <a:xfrm>
            <a:off x="658368" y="2139696"/>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CORE</a:t>
            </a:r>
            <a:endParaRPr lang="en-US" sz="620" dirty="0"/>
          </a:p>
        </p:txBody>
      </p:sp>
      <p:sp>
        <p:nvSpPr>
          <p:cNvPr id="18" name="Text 16"/>
          <p:cNvSpPr txBox="1"/>
          <p:nvPr/>
        </p:nvSpPr>
        <p:spPr>
          <a:xfrm>
            <a:off x="1188720" y="2071116"/>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HANA Cloud</a:t>
            </a:r>
            <a:endParaRPr lang="en-US" sz="940" dirty="0"/>
          </a:p>
        </p:txBody>
      </p:sp>
      <p:sp>
        <p:nvSpPr>
          <p:cNvPr id="19" name="Text 17"/>
          <p:cNvSpPr txBox="1"/>
          <p:nvPr/>
        </p:nvSpPr>
        <p:spPr>
          <a:xfrm>
            <a:off x="5029200" y="2071116"/>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Case data, quota register, audit trail</a:t>
            </a:r>
            <a:endParaRPr lang="en-US" sz="900" dirty="0"/>
          </a:p>
        </p:txBody>
      </p:sp>
      <p:sp>
        <p:nvSpPr>
          <p:cNvPr id="20" name="Shape 18"/>
          <p:cNvSpPr/>
          <p:nvPr/>
        </p:nvSpPr>
        <p:spPr>
          <a:xfrm>
            <a:off x="9098280" y="2130552"/>
            <a:ext cx="1188720" cy="205740"/>
          </a:xfrm>
          <a:prstGeom prst="roundRect">
            <a:avLst>
              <a:gd name="adj" fmla="val 17778"/>
            </a:avLst>
          </a:prstGeom>
          <a:solidFill>
            <a:srgbClr val="E4F5F3"/>
          </a:solidFill>
          <a:ln/>
        </p:spPr>
      </p:sp>
      <p:sp>
        <p:nvSpPr>
          <p:cNvPr id="21" name="Text 19"/>
          <p:cNvSpPr txBox="1"/>
          <p:nvPr/>
        </p:nvSpPr>
        <p:spPr>
          <a:xfrm>
            <a:off x="9098280" y="2130552"/>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Consumption</a:t>
            </a:r>
            <a:endParaRPr lang="en-US" sz="760" dirty="0"/>
          </a:p>
        </p:txBody>
      </p:sp>
      <p:sp>
        <p:nvSpPr>
          <p:cNvPr id="22" name="Shape 20"/>
          <p:cNvSpPr/>
          <p:nvPr/>
        </p:nvSpPr>
        <p:spPr>
          <a:xfrm>
            <a:off x="548640" y="2404872"/>
            <a:ext cx="11146536" cy="310896"/>
          </a:xfrm>
          <a:prstGeom prst="roundRect">
            <a:avLst>
              <a:gd name="adj" fmla="val 11765"/>
            </a:avLst>
          </a:prstGeom>
          <a:solidFill>
            <a:srgbClr val="F4F6F7"/>
          </a:solidFill>
          <a:ln w="10795">
            <a:solidFill>
              <a:srgbClr val="E3E7EA"/>
            </a:solidFill>
            <a:prstDash val="solid"/>
          </a:ln>
        </p:spPr>
      </p:sp>
      <p:sp>
        <p:nvSpPr>
          <p:cNvPr id="23" name="Shape 21"/>
          <p:cNvSpPr/>
          <p:nvPr/>
        </p:nvSpPr>
        <p:spPr>
          <a:xfrm>
            <a:off x="658368" y="2473452"/>
            <a:ext cx="457200" cy="187452"/>
          </a:xfrm>
          <a:prstGeom prst="roundRect">
            <a:avLst>
              <a:gd name="adj" fmla="val 19512"/>
            </a:avLst>
          </a:prstGeom>
          <a:solidFill>
            <a:srgbClr val="20A098"/>
          </a:solidFill>
          <a:ln/>
        </p:spPr>
      </p:sp>
      <p:sp>
        <p:nvSpPr>
          <p:cNvPr id="24" name="Text 22"/>
          <p:cNvSpPr txBox="1"/>
          <p:nvPr/>
        </p:nvSpPr>
        <p:spPr>
          <a:xfrm>
            <a:off x="658368" y="2473452"/>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CORE</a:t>
            </a:r>
            <a:endParaRPr lang="en-US" sz="620" dirty="0"/>
          </a:p>
        </p:txBody>
      </p:sp>
      <p:sp>
        <p:nvSpPr>
          <p:cNvPr id="25" name="Text 23"/>
          <p:cNvSpPr txBox="1"/>
          <p:nvPr/>
        </p:nvSpPr>
        <p:spPr>
          <a:xfrm>
            <a:off x="1188720" y="2404872"/>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Build Work Zone, standard edition</a:t>
            </a:r>
            <a:endParaRPr lang="en-US" sz="940" dirty="0"/>
          </a:p>
        </p:txBody>
      </p:sp>
      <p:sp>
        <p:nvSpPr>
          <p:cNvPr id="26" name="Text 24"/>
          <p:cNvSpPr txBox="1"/>
          <p:nvPr/>
        </p:nvSpPr>
        <p:spPr>
          <a:xfrm>
            <a:off x="5029200" y="2404872"/>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Launchpad and the officer inbox</a:t>
            </a:r>
            <a:endParaRPr lang="en-US" sz="900" dirty="0"/>
          </a:p>
        </p:txBody>
      </p:sp>
      <p:sp>
        <p:nvSpPr>
          <p:cNvPr id="27" name="Shape 25"/>
          <p:cNvSpPr/>
          <p:nvPr/>
        </p:nvSpPr>
        <p:spPr>
          <a:xfrm>
            <a:off x="9098280" y="2464308"/>
            <a:ext cx="1188720" cy="205740"/>
          </a:xfrm>
          <a:prstGeom prst="roundRect">
            <a:avLst>
              <a:gd name="adj" fmla="val 17778"/>
            </a:avLst>
          </a:prstGeom>
          <a:solidFill>
            <a:srgbClr val="E4F5F3"/>
          </a:solidFill>
          <a:ln/>
        </p:spPr>
      </p:sp>
      <p:sp>
        <p:nvSpPr>
          <p:cNvPr id="28" name="Text 26"/>
          <p:cNvSpPr txBox="1"/>
          <p:nvPr/>
        </p:nvSpPr>
        <p:spPr>
          <a:xfrm>
            <a:off x="9098280" y="2464308"/>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Subscription</a:t>
            </a:r>
            <a:endParaRPr lang="en-US" sz="760" dirty="0"/>
          </a:p>
        </p:txBody>
      </p:sp>
      <p:sp>
        <p:nvSpPr>
          <p:cNvPr id="29" name="Shape 27"/>
          <p:cNvSpPr/>
          <p:nvPr/>
        </p:nvSpPr>
        <p:spPr>
          <a:xfrm>
            <a:off x="548640" y="2738628"/>
            <a:ext cx="11146536" cy="310896"/>
          </a:xfrm>
          <a:prstGeom prst="roundRect">
            <a:avLst>
              <a:gd name="adj" fmla="val 11765"/>
            </a:avLst>
          </a:prstGeom>
          <a:solidFill>
            <a:srgbClr val="FFFFFF"/>
          </a:solidFill>
          <a:ln w="10795">
            <a:solidFill>
              <a:srgbClr val="E3E7EA"/>
            </a:solidFill>
            <a:prstDash val="solid"/>
          </a:ln>
        </p:spPr>
      </p:sp>
      <p:sp>
        <p:nvSpPr>
          <p:cNvPr id="30" name="Shape 28"/>
          <p:cNvSpPr/>
          <p:nvPr/>
        </p:nvSpPr>
        <p:spPr>
          <a:xfrm>
            <a:off x="658368" y="2807208"/>
            <a:ext cx="457200" cy="187452"/>
          </a:xfrm>
          <a:prstGeom prst="roundRect">
            <a:avLst>
              <a:gd name="adj" fmla="val 19512"/>
            </a:avLst>
          </a:prstGeom>
          <a:solidFill>
            <a:srgbClr val="20A098"/>
          </a:solidFill>
          <a:ln/>
        </p:spPr>
      </p:sp>
      <p:sp>
        <p:nvSpPr>
          <p:cNvPr id="31" name="Text 29"/>
          <p:cNvSpPr txBox="1"/>
          <p:nvPr/>
        </p:nvSpPr>
        <p:spPr>
          <a:xfrm>
            <a:off x="658368" y="2807208"/>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CORE</a:t>
            </a:r>
            <a:endParaRPr lang="en-US" sz="620" dirty="0"/>
          </a:p>
        </p:txBody>
      </p:sp>
      <p:sp>
        <p:nvSpPr>
          <p:cNvPr id="32" name="Text 30"/>
          <p:cNvSpPr txBox="1"/>
          <p:nvPr/>
        </p:nvSpPr>
        <p:spPr>
          <a:xfrm>
            <a:off x="1188720" y="2738628"/>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Build Process Automation</a:t>
            </a:r>
            <a:endParaRPr lang="en-US" sz="940" dirty="0"/>
          </a:p>
        </p:txBody>
      </p:sp>
      <p:sp>
        <p:nvSpPr>
          <p:cNvPr id="33" name="Text 31"/>
          <p:cNvSpPr txBox="1"/>
          <p:nvPr/>
        </p:nvSpPr>
        <p:spPr>
          <a:xfrm>
            <a:off x="5029200" y="2738628"/>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Workflow, approvals, escalation, automation</a:t>
            </a:r>
            <a:endParaRPr lang="en-US" sz="900" dirty="0"/>
          </a:p>
        </p:txBody>
      </p:sp>
      <p:sp>
        <p:nvSpPr>
          <p:cNvPr id="34" name="Shape 32"/>
          <p:cNvSpPr/>
          <p:nvPr/>
        </p:nvSpPr>
        <p:spPr>
          <a:xfrm>
            <a:off x="9098280" y="2798064"/>
            <a:ext cx="1188720" cy="205740"/>
          </a:xfrm>
          <a:prstGeom prst="roundRect">
            <a:avLst>
              <a:gd name="adj" fmla="val 17778"/>
            </a:avLst>
          </a:prstGeom>
          <a:solidFill>
            <a:srgbClr val="E4F5F3"/>
          </a:solidFill>
          <a:ln/>
        </p:spPr>
      </p:sp>
      <p:sp>
        <p:nvSpPr>
          <p:cNvPr id="35" name="Text 33"/>
          <p:cNvSpPr txBox="1"/>
          <p:nvPr/>
        </p:nvSpPr>
        <p:spPr>
          <a:xfrm>
            <a:off x="9098280" y="2798064"/>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Both</a:t>
            </a:r>
            <a:endParaRPr lang="en-US" sz="760" dirty="0"/>
          </a:p>
        </p:txBody>
      </p:sp>
      <p:sp>
        <p:nvSpPr>
          <p:cNvPr id="36" name="Shape 34"/>
          <p:cNvSpPr/>
          <p:nvPr/>
        </p:nvSpPr>
        <p:spPr>
          <a:xfrm>
            <a:off x="548640" y="3072384"/>
            <a:ext cx="11146536" cy="310896"/>
          </a:xfrm>
          <a:prstGeom prst="roundRect">
            <a:avLst>
              <a:gd name="adj" fmla="val 11765"/>
            </a:avLst>
          </a:prstGeom>
          <a:solidFill>
            <a:srgbClr val="F4F6F7"/>
          </a:solidFill>
          <a:ln w="10795">
            <a:solidFill>
              <a:srgbClr val="E3E7EA"/>
            </a:solidFill>
            <a:prstDash val="solid"/>
          </a:ln>
        </p:spPr>
      </p:sp>
      <p:sp>
        <p:nvSpPr>
          <p:cNvPr id="37" name="Shape 35"/>
          <p:cNvSpPr/>
          <p:nvPr/>
        </p:nvSpPr>
        <p:spPr>
          <a:xfrm>
            <a:off x="658368" y="3140964"/>
            <a:ext cx="457200" cy="187452"/>
          </a:xfrm>
          <a:prstGeom prst="roundRect">
            <a:avLst>
              <a:gd name="adj" fmla="val 19512"/>
            </a:avLst>
          </a:prstGeom>
          <a:solidFill>
            <a:srgbClr val="20A098"/>
          </a:solidFill>
          <a:ln/>
        </p:spPr>
      </p:sp>
      <p:sp>
        <p:nvSpPr>
          <p:cNvPr id="38" name="Text 36"/>
          <p:cNvSpPr txBox="1"/>
          <p:nvPr/>
        </p:nvSpPr>
        <p:spPr>
          <a:xfrm>
            <a:off x="658368" y="3140964"/>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CORE</a:t>
            </a:r>
            <a:endParaRPr lang="en-US" sz="620" dirty="0"/>
          </a:p>
        </p:txBody>
      </p:sp>
      <p:sp>
        <p:nvSpPr>
          <p:cNvPr id="39" name="Text 37"/>
          <p:cNvSpPr txBox="1"/>
          <p:nvPr/>
        </p:nvSpPr>
        <p:spPr>
          <a:xfrm>
            <a:off x="1188720" y="3072384"/>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Cloud Identity Services</a:t>
            </a:r>
            <a:endParaRPr lang="en-US" sz="940" dirty="0"/>
          </a:p>
        </p:txBody>
      </p:sp>
      <p:sp>
        <p:nvSpPr>
          <p:cNvPr id="40" name="Text 38"/>
          <p:cNvSpPr txBox="1"/>
          <p:nvPr/>
        </p:nvSpPr>
        <p:spPr>
          <a:xfrm>
            <a:off x="5029200" y="3072384"/>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Single sign-on and role assignment</a:t>
            </a:r>
            <a:endParaRPr lang="en-US" sz="900" dirty="0"/>
          </a:p>
        </p:txBody>
      </p:sp>
      <p:sp>
        <p:nvSpPr>
          <p:cNvPr id="41" name="Shape 39"/>
          <p:cNvSpPr/>
          <p:nvPr/>
        </p:nvSpPr>
        <p:spPr>
          <a:xfrm>
            <a:off x="9098280" y="3131820"/>
            <a:ext cx="1188720" cy="205740"/>
          </a:xfrm>
          <a:prstGeom prst="roundRect">
            <a:avLst>
              <a:gd name="adj" fmla="val 17778"/>
            </a:avLst>
          </a:prstGeom>
          <a:solidFill>
            <a:srgbClr val="E4F5F3"/>
          </a:solidFill>
          <a:ln/>
        </p:spPr>
      </p:sp>
      <p:sp>
        <p:nvSpPr>
          <p:cNvPr id="42" name="Text 40"/>
          <p:cNvSpPr txBox="1"/>
          <p:nvPr/>
        </p:nvSpPr>
        <p:spPr>
          <a:xfrm>
            <a:off x="9098280" y="3131820"/>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Included</a:t>
            </a:r>
            <a:endParaRPr lang="en-US" sz="760" dirty="0"/>
          </a:p>
        </p:txBody>
      </p:sp>
      <p:sp>
        <p:nvSpPr>
          <p:cNvPr id="43" name="Shape 41"/>
          <p:cNvSpPr/>
          <p:nvPr/>
        </p:nvSpPr>
        <p:spPr>
          <a:xfrm>
            <a:off x="548640" y="3406140"/>
            <a:ext cx="11146536" cy="310896"/>
          </a:xfrm>
          <a:prstGeom prst="roundRect">
            <a:avLst>
              <a:gd name="adj" fmla="val 11765"/>
            </a:avLst>
          </a:prstGeom>
          <a:solidFill>
            <a:srgbClr val="FFFFFF"/>
          </a:solidFill>
          <a:ln w="10795">
            <a:solidFill>
              <a:srgbClr val="E3E7EA"/>
            </a:solidFill>
            <a:prstDash val="solid"/>
          </a:ln>
        </p:spPr>
      </p:sp>
      <p:sp>
        <p:nvSpPr>
          <p:cNvPr id="44" name="Shape 42"/>
          <p:cNvSpPr/>
          <p:nvPr/>
        </p:nvSpPr>
        <p:spPr>
          <a:xfrm>
            <a:off x="658368" y="3474720"/>
            <a:ext cx="457200" cy="187452"/>
          </a:xfrm>
          <a:prstGeom prst="roundRect">
            <a:avLst>
              <a:gd name="adj" fmla="val 19512"/>
            </a:avLst>
          </a:prstGeom>
          <a:solidFill>
            <a:srgbClr val="20A098"/>
          </a:solidFill>
          <a:ln/>
        </p:spPr>
      </p:sp>
      <p:sp>
        <p:nvSpPr>
          <p:cNvPr id="45" name="Text 43"/>
          <p:cNvSpPr txBox="1"/>
          <p:nvPr/>
        </p:nvSpPr>
        <p:spPr>
          <a:xfrm>
            <a:off x="658368" y="3474720"/>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CORE</a:t>
            </a:r>
            <a:endParaRPr lang="en-US" sz="620" dirty="0"/>
          </a:p>
        </p:txBody>
      </p:sp>
      <p:sp>
        <p:nvSpPr>
          <p:cNvPr id="46" name="Text 44"/>
          <p:cNvSpPr txBox="1"/>
          <p:nvPr/>
        </p:nvSpPr>
        <p:spPr>
          <a:xfrm>
            <a:off x="1188720" y="3406140"/>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Destination and Connectivity services</a:t>
            </a:r>
            <a:endParaRPr lang="en-US" sz="940" dirty="0"/>
          </a:p>
        </p:txBody>
      </p:sp>
      <p:sp>
        <p:nvSpPr>
          <p:cNvPr id="47" name="Text 45"/>
          <p:cNvSpPr txBox="1"/>
          <p:nvPr/>
        </p:nvSpPr>
        <p:spPr>
          <a:xfrm>
            <a:off x="5029200" y="3406140"/>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Every outbound call to a portal or system</a:t>
            </a:r>
            <a:endParaRPr lang="en-US" sz="900" dirty="0"/>
          </a:p>
        </p:txBody>
      </p:sp>
      <p:sp>
        <p:nvSpPr>
          <p:cNvPr id="48" name="Shape 46"/>
          <p:cNvSpPr/>
          <p:nvPr/>
        </p:nvSpPr>
        <p:spPr>
          <a:xfrm>
            <a:off x="9098280" y="3465576"/>
            <a:ext cx="1188720" cy="205740"/>
          </a:xfrm>
          <a:prstGeom prst="roundRect">
            <a:avLst>
              <a:gd name="adj" fmla="val 17778"/>
            </a:avLst>
          </a:prstGeom>
          <a:solidFill>
            <a:srgbClr val="E4F5F3"/>
          </a:solidFill>
          <a:ln/>
        </p:spPr>
      </p:sp>
      <p:sp>
        <p:nvSpPr>
          <p:cNvPr id="49" name="Text 47"/>
          <p:cNvSpPr txBox="1"/>
          <p:nvPr/>
        </p:nvSpPr>
        <p:spPr>
          <a:xfrm>
            <a:off x="9098280" y="3465576"/>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Included</a:t>
            </a:r>
            <a:endParaRPr lang="en-US" sz="760" dirty="0"/>
          </a:p>
        </p:txBody>
      </p:sp>
      <p:sp>
        <p:nvSpPr>
          <p:cNvPr id="50" name="Shape 48"/>
          <p:cNvSpPr/>
          <p:nvPr/>
        </p:nvSpPr>
        <p:spPr>
          <a:xfrm>
            <a:off x="548640" y="3739896"/>
            <a:ext cx="11146536" cy="310896"/>
          </a:xfrm>
          <a:prstGeom prst="roundRect">
            <a:avLst>
              <a:gd name="adj" fmla="val 11765"/>
            </a:avLst>
          </a:prstGeom>
          <a:solidFill>
            <a:srgbClr val="F4F6F7"/>
          </a:solidFill>
          <a:ln w="10795">
            <a:solidFill>
              <a:srgbClr val="E3E7EA"/>
            </a:solidFill>
            <a:prstDash val="solid"/>
          </a:ln>
        </p:spPr>
      </p:sp>
      <p:sp>
        <p:nvSpPr>
          <p:cNvPr id="51" name="Shape 49"/>
          <p:cNvSpPr/>
          <p:nvPr/>
        </p:nvSpPr>
        <p:spPr>
          <a:xfrm>
            <a:off x="658368" y="3808476"/>
            <a:ext cx="457200" cy="187452"/>
          </a:xfrm>
          <a:prstGeom prst="roundRect">
            <a:avLst>
              <a:gd name="adj" fmla="val 19512"/>
            </a:avLst>
          </a:prstGeom>
          <a:solidFill>
            <a:srgbClr val="0A6ED1"/>
          </a:solidFill>
          <a:ln/>
        </p:spPr>
      </p:sp>
      <p:sp>
        <p:nvSpPr>
          <p:cNvPr id="52" name="Text 50"/>
          <p:cNvSpPr txBox="1"/>
          <p:nvPr/>
        </p:nvSpPr>
        <p:spPr>
          <a:xfrm>
            <a:off x="658368" y="3808476"/>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INTE</a:t>
            </a:r>
            <a:endParaRPr lang="en-US" sz="620" dirty="0"/>
          </a:p>
        </p:txBody>
      </p:sp>
      <p:sp>
        <p:nvSpPr>
          <p:cNvPr id="53" name="Text 51"/>
          <p:cNvSpPr txBox="1"/>
          <p:nvPr/>
        </p:nvSpPr>
        <p:spPr>
          <a:xfrm>
            <a:off x="1188720" y="3739896"/>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Integration Suite</a:t>
            </a:r>
            <a:endParaRPr lang="en-US" sz="940" dirty="0"/>
          </a:p>
        </p:txBody>
      </p:sp>
      <p:sp>
        <p:nvSpPr>
          <p:cNvPr id="54" name="Text 52"/>
          <p:cNvSpPr txBox="1"/>
          <p:nvPr/>
        </p:nvSpPr>
        <p:spPr>
          <a:xfrm>
            <a:off x="5029200" y="3739896"/>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Government portal and SAP SuccessFactors integration</a:t>
            </a:r>
            <a:endParaRPr lang="en-US" sz="900" dirty="0"/>
          </a:p>
        </p:txBody>
      </p:sp>
      <p:sp>
        <p:nvSpPr>
          <p:cNvPr id="55" name="Shape 53"/>
          <p:cNvSpPr/>
          <p:nvPr/>
        </p:nvSpPr>
        <p:spPr>
          <a:xfrm>
            <a:off x="9098280" y="3799332"/>
            <a:ext cx="1188720" cy="205740"/>
          </a:xfrm>
          <a:prstGeom prst="roundRect">
            <a:avLst>
              <a:gd name="adj" fmla="val 17778"/>
            </a:avLst>
          </a:prstGeom>
          <a:solidFill>
            <a:srgbClr val="EAF2FC"/>
          </a:solidFill>
          <a:ln/>
        </p:spPr>
      </p:sp>
      <p:sp>
        <p:nvSpPr>
          <p:cNvPr id="56" name="Text 54"/>
          <p:cNvSpPr txBox="1"/>
          <p:nvPr/>
        </p:nvSpPr>
        <p:spPr>
          <a:xfrm>
            <a:off x="9098280" y="3799332"/>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Subscription</a:t>
            </a:r>
            <a:endParaRPr lang="en-US" sz="760" dirty="0"/>
          </a:p>
        </p:txBody>
      </p:sp>
      <p:sp>
        <p:nvSpPr>
          <p:cNvPr id="57" name="Shape 55"/>
          <p:cNvSpPr/>
          <p:nvPr/>
        </p:nvSpPr>
        <p:spPr>
          <a:xfrm>
            <a:off x="548640" y="4073652"/>
            <a:ext cx="11146536" cy="310896"/>
          </a:xfrm>
          <a:prstGeom prst="roundRect">
            <a:avLst>
              <a:gd name="adj" fmla="val 11765"/>
            </a:avLst>
          </a:prstGeom>
          <a:solidFill>
            <a:srgbClr val="FFFFFF"/>
          </a:solidFill>
          <a:ln w="10795">
            <a:solidFill>
              <a:srgbClr val="E3E7EA"/>
            </a:solidFill>
            <a:prstDash val="solid"/>
          </a:ln>
        </p:spPr>
      </p:sp>
      <p:sp>
        <p:nvSpPr>
          <p:cNvPr id="58" name="Shape 56"/>
          <p:cNvSpPr/>
          <p:nvPr/>
        </p:nvSpPr>
        <p:spPr>
          <a:xfrm>
            <a:off x="658368" y="4142232"/>
            <a:ext cx="457200" cy="187452"/>
          </a:xfrm>
          <a:prstGeom prst="roundRect">
            <a:avLst>
              <a:gd name="adj" fmla="val 19512"/>
            </a:avLst>
          </a:prstGeom>
          <a:solidFill>
            <a:srgbClr val="0A6ED1"/>
          </a:solidFill>
          <a:ln/>
        </p:spPr>
      </p:sp>
      <p:sp>
        <p:nvSpPr>
          <p:cNvPr id="59" name="Text 57"/>
          <p:cNvSpPr txBox="1"/>
          <p:nvPr/>
        </p:nvSpPr>
        <p:spPr>
          <a:xfrm>
            <a:off x="658368" y="4142232"/>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INTE</a:t>
            </a:r>
            <a:endParaRPr lang="en-US" sz="620" dirty="0"/>
          </a:p>
        </p:txBody>
      </p:sp>
      <p:sp>
        <p:nvSpPr>
          <p:cNvPr id="60" name="Text 58"/>
          <p:cNvSpPr txBox="1"/>
          <p:nvPr/>
        </p:nvSpPr>
        <p:spPr>
          <a:xfrm>
            <a:off x="1188720" y="4073652"/>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Document Management service</a:t>
            </a:r>
            <a:endParaRPr lang="en-US" sz="940" dirty="0"/>
          </a:p>
        </p:txBody>
      </p:sp>
      <p:sp>
        <p:nvSpPr>
          <p:cNvPr id="61" name="Text 59"/>
          <p:cNvSpPr txBox="1"/>
          <p:nvPr/>
        </p:nvSpPr>
        <p:spPr>
          <a:xfrm>
            <a:off x="5029200" y="4073652"/>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Contracts, receipts, certificates</a:t>
            </a:r>
            <a:endParaRPr lang="en-US" sz="900" dirty="0"/>
          </a:p>
        </p:txBody>
      </p:sp>
      <p:sp>
        <p:nvSpPr>
          <p:cNvPr id="62" name="Shape 60"/>
          <p:cNvSpPr/>
          <p:nvPr/>
        </p:nvSpPr>
        <p:spPr>
          <a:xfrm>
            <a:off x="9098280" y="4133088"/>
            <a:ext cx="1188720" cy="205740"/>
          </a:xfrm>
          <a:prstGeom prst="roundRect">
            <a:avLst>
              <a:gd name="adj" fmla="val 17778"/>
            </a:avLst>
          </a:prstGeom>
          <a:solidFill>
            <a:srgbClr val="EAF2FC"/>
          </a:solidFill>
          <a:ln/>
        </p:spPr>
      </p:sp>
      <p:sp>
        <p:nvSpPr>
          <p:cNvPr id="63" name="Text 61"/>
          <p:cNvSpPr txBox="1"/>
          <p:nvPr/>
        </p:nvSpPr>
        <p:spPr>
          <a:xfrm>
            <a:off x="9098280" y="4133088"/>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Consumption</a:t>
            </a:r>
            <a:endParaRPr lang="en-US" sz="760" dirty="0"/>
          </a:p>
        </p:txBody>
      </p:sp>
      <p:sp>
        <p:nvSpPr>
          <p:cNvPr id="64" name="Shape 62"/>
          <p:cNvSpPr/>
          <p:nvPr/>
        </p:nvSpPr>
        <p:spPr>
          <a:xfrm>
            <a:off x="548640" y="4407408"/>
            <a:ext cx="11146536" cy="310896"/>
          </a:xfrm>
          <a:prstGeom prst="roundRect">
            <a:avLst>
              <a:gd name="adj" fmla="val 11765"/>
            </a:avLst>
          </a:prstGeom>
          <a:solidFill>
            <a:srgbClr val="F4F6F7"/>
          </a:solidFill>
          <a:ln w="10795">
            <a:solidFill>
              <a:srgbClr val="E3E7EA"/>
            </a:solidFill>
            <a:prstDash val="solid"/>
          </a:ln>
        </p:spPr>
      </p:sp>
      <p:sp>
        <p:nvSpPr>
          <p:cNvPr id="65" name="Shape 63"/>
          <p:cNvSpPr/>
          <p:nvPr/>
        </p:nvSpPr>
        <p:spPr>
          <a:xfrm>
            <a:off x="658368" y="4475988"/>
            <a:ext cx="457200" cy="187452"/>
          </a:xfrm>
          <a:prstGeom prst="roundRect">
            <a:avLst>
              <a:gd name="adj" fmla="val 19512"/>
            </a:avLst>
          </a:prstGeom>
          <a:solidFill>
            <a:srgbClr val="0A6ED1"/>
          </a:solidFill>
          <a:ln/>
        </p:spPr>
      </p:sp>
      <p:sp>
        <p:nvSpPr>
          <p:cNvPr id="66" name="Text 64"/>
          <p:cNvSpPr txBox="1"/>
          <p:nvPr/>
        </p:nvSpPr>
        <p:spPr>
          <a:xfrm>
            <a:off x="658368" y="4475988"/>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INTE</a:t>
            </a:r>
            <a:endParaRPr lang="en-US" sz="620" dirty="0"/>
          </a:p>
        </p:txBody>
      </p:sp>
      <p:sp>
        <p:nvSpPr>
          <p:cNvPr id="67" name="Text 65"/>
          <p:cNvSpPr txBox="1"/>
          <p:nvPr/>
        </p:nvSpPr>
        <p:spPr>
          <a:xfrm>
            <a:off x="1188720" y="4407408"/>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Alert Notification service</a:t>
            </a:r>
            <a:endParaRPr lang="en-US" sz="940" dirty="0"/>
          </a:p>
        </p:txBody>
      </p:sp>
      <p:sp>
        <p:nvSpPr>
          <p:cNvPr id="68" name="Text 66"/>
          <p:cNvSpPr txBox="1"/>
          <p:nvPr/>
        </p:nvSpPr>
        <p:spPr>
          <a:xfrm>
            <a:off x="5029200" y="4407408"/>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Expiry and due-date alerts</a:t>
            </a:r>
            <a:endParaRPr lang="en-US" sz="900" dirty="0"/>
          </a:p>
        </p:txBody>
      </p:sp>
      <p:sp>
        <p:nvSpPr>
          <p:cNvPr id="69" name="Shape 67"/>
          <p:cNvSpPr/>
          <p:nvPr/>
        </p:nvSpPr>
        <p:spPr>
          <a:xfrm>
            <a:off x="9098280" y="4466844"/>
            <a:ext cx="1188720" cy="205740"/>
          </a:xfrm>
          <a:prstGeom prst="roundRect">
            <a:avLst>
              <a:gd name="adj" fmla="val 17778"/>
            </a:avLst>
          </a:prstGeom>
          <a:solidFill>
            <a:srgbClr val="EAF2FC"/>
          </a:solidFill>
          <a:ln/>
        </p:spPr>
      </p:sp>
      <p:sp>
        <p:nvSpPr>
          <p:cNvPr id="70" name="Text 68"/>
          <p:cNvSpPr txBox="1"/>
          <p:nvPr/>
        </p:nvSpPr>
        <p:spPr>
          <a:xfrm>
            <a:off x="9098280" y="4466844"/>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Consumption</a:t>
            </a:r>
            <a:endParaRPr lang="en-US" sz="760" dirty="0"/>
          </a:p>
        </p:txBody>
      </p:sp>
      <p:sp>
        <p:nvSpPr>
          <p:cNvPr id="71" name="Shape 69"/>
          <p:cNvSpPr/>
          <p:nvPr/>
        </p:nvSpPr>
        <p:spPr>
          <a:xfrm>
            <a:off x="548640" y="4741164"/>
            <a:ext cx="11146536" cy="310896"/>
          </a:xfrm>
          <a:prstGeom prst="roundRect">
            <a:avLst>
              <a:gd name="adj" fmla="val 11765"/>
            </a:avLst>
          </a:prstGeom>
          <a:solidFill>
            <a:srgbClr val="FFFFFF"/>
          </a:solidFill>
          <a:ln w="10795">
            <a:solidFill>
              <a:srgbClr val="E3E7EA"/>
            </a:solidFill>
            <a:prstDash val="solid"/>
          </a:ln>
        </p:spPr>
      </p:sp>
      <p:sp>
        <p:nvSpPr>
          <p:cNvPr id="72" name="Shape 70"/>
          <p:cNvSpPr/>
          <p:nvPr/>
        </p:nvSpPr>
        <p:spPr>
          <a:xfrm>
            <a:off x="658368" y="4809744"/>
            <a:ext cx="457200" cy="187452"/>
          </a:xfrm>
          <a:prstGeom prst="roundRect">
            <a:avLst>
              <a:gd name="adj" fmla="val 19512"/>
            </a:avLst>
          </a:prstGeom>
          <a:solidFill>
            <a:srgbClr val="7A6096"/>
          </a:solidFill>
          <a:ln/>
        </p:spPr>
      </p:sp>
      <p:sp>
        <p:nvSpPr>
          <p:cNvPr id="73" name="Text 71"/>
          <p:cNvSpPr txBox="1"/>
          <p:nvPr/>
        </p:nvSpPr>
        <p:spPr>
          <a:xfrm>
            <a:off x="658368" y="4809744"/>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DELI</a:t>
            </a:r>
            <a:endParaRPr lang="en-US" sz="620" dirty="0"/>
          </a:p>
        </p:txBody>
      </p:sp>
      <p:sp>
        <p:nvSpPr>
          <p:cNvPr id="74" name="Text 72"/>
          <p:cNvSpPr txBox="1"/>
          <p:nvPr/>
        </p:nvSpPr>
        <p:spPr>
          <a:xfrm>
            <a:off x="1188720" y="4741164"/>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Cloud Transport Management</a:t>
            </a:r>
            <a:endParaRPr lang="en-US" sz="940" dirty="0"/>
          </a:p>
        </p:txBody>
      </p:sp>
      <p:sp>
        <p:nvSpPr>
          <p:cNvPr id="75" name="Text 73"/>
          <p:cNvSpPr txBox="1"/>
          <p:nvPr/>
        </p:nvSpPr>
        <p:spPr>
          <a:xfrm>
            <a:off x="5029200" y="4741164"/>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Moves releases across the three tiers</a:t>
            </a:r>
            <a:endParaRPr lang="en-US" sz="900" dirty="0"/>
          </a:p>
        </p:txBody>
      </p:sp>
      <p:sp>
        <p:nvSpPr>
          <p:cNvPr id="76" name="Shape 74"/>
          <p:cNvSpPr/>
          <p:nvPr/>
        </p:nvSpPr>
        <p:spPr>
          <a:xfrm>
            <a:off x="9098280" y="4800600"/>
            <a:ext cx="1188720" cy="205740"/>
          </a:xfrm>
          <a:prstGeom prst="roundRect">
            <a:avLst>
              <a:gd name="adj" fmla="val 17778"/>
            </a:avLst>
          </a:prstGeom>
          <a:solidFill>
            <a:srgbClr val="F0ECF6"/>
          </a:solidFill>
          <a:ln/>
        </p:spPr>
      </p:sp>
      <p:sp>
        <p:nvSpPr>
          <p:cNvPr id="77" name="Text 75"/>
          <p:cNvSpPr txBox="1"/>
          <p:nvPr/>
        </p:nvSpPr>
        <p:spPr>
          <a:xfrm>
            <a:off x="9098280" y="4800600"/>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Consumption</a:t>
            </a:r>
            <a:endParaRPr lang="en-US" sz="760" dirty="0"/>
          </a:p>
        </p:txBody>
      </p:sp>
      <p:sp>
        <p:nvSpPr>
          <p:cNvPr id="78" name="Shape 76"/>
          <p:cNvSpPr/>
          <p:nvPr/>
        </p:nvSpPr>
        <p:spPr>
          <a:xfrm>
            <a:off x="548640" y="5074920"/>
            <a:ext cx="11146536" cy="310896"/>
          </a:xfrm>
          <a:prstGeom prst="roundRect">
            <a:avLst>
              <a:gd name="adj" fmla="val 11765"/>
            </a:avLst>
          </a:prstGeom>
          <a:solidFill>
            <a:srgbClr val="F4F6F7"/>
          </a:solidFill>
          <a:ln w="10795">
            <a:solidFill>
              <a:srgbClr val="E3E7EA"/>
            </a:solidFill>
            <a:prstDash val="solid"/>
          </a:ln>
        </p:spPr>
      </p:sp>
      <p:sp>
        <p:nvSpPr>
          <p:cNvPr id="79" name="Shape 77"/>
          <p:cNvSpPr/>
          <p:nvPr/>
        </p:nvSpPr>
        <p:spPr>
          <a:xfrm>
            <a:off x="658368" y="5143500"/>
            <a:ext cx="457200" cy="187452"/>
          </a:xfrm>
          <a:prstGeom prst="roundRect">
            <a:avLst>
              <a:gd name="adj" fmla="val 19512"/>
            </a:avLst>
          </a:prstGeom>
          <a:solidFill>
            <a:srgbClr val="7A6096"/>
          </a:solidFill>
          <a:ln/>
        </p:spPr>
      </p:sp>
      <p:sp>
        <p:nvSpPr>
          <p:cNvPr id="80" name="Text 78"/>
          <p:cNvSpPr txBox="1"/>
          <p:nvPr/>
        </p:nvSpPr>
        <p:spPr>
          <a:xfrm>
            <a:off x="658368" y="5143500"/>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DELI</a:t>
            </a:r>
            <a:endParaRPr lang="en-US" sz="620" dirty="0"/>
          </a:p>
        </p:txBody>
      </p:sp>
      <p:sp>
        <p:nvSpPr>
          <p:cNvPr id="81" name="Text 79"/>
          <p:cNvSpPr txBox="1"/>
          <p:nvPr/>
        </p:nvSpPr>
        <p:spPr>
          <a:xfrm>
            <a:off x="1188720" y="5074920"/>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Continuous Integration and Delivery</a:t>
            </a:r>
            <a:endParaRPr lang="en-US" sz="940" dirty="0"/>
          </a:p>
        </p:txBody>
      </p:sp>
      <p:sp>
        <p:nvSpPr>
          <p:cNvPr id="82" name="Text 80"/>
          <p:cNvSpPr txBox="1"/>
          <p:nvPr/>
        </p:nvSpPr>
        <p:spPr>
          <a:xfrm>
            <a:off x="5029200" y="5074920"/>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Build and deploy pipeline</a:t>
            </a:r>
            <a:endParaRPr lang="en-US" sz="900" dirty="0"/>
          </a:p>
        </p:txBody>
      </p:sp>
      <p:sp>
        <p:nvSpPr>
          <p:cNvPr id="83" name="Shape 81"/>
          <p:cNvSpPr/>
          <p:nvPr/>
        </p:nvSpPr>
        <p:spPr>
          <a:xfrm>
            <a:off x="9098280" y="5134356"/>
            <a:ext cx="1188720" cy="205740"/>
          </a:xfrm>
          <a:prstGeom prst="roundRect">
            <a:avLst>
              <a:gd name="adj" fmla="val 17778"/>
            </a:avLst>
          </a:prstGeom>
          <a:solidFill>
            <a:srgbClr val="F0ECF6"/>
          </a:solidFill>
          <a:ln/>
        </p:spPr>
      </p:sp>
      <p:sp>
        <p:nvSpPr>
          <p:cNvPr id="84" name="Text 82"/>
          <p:cNvSpPr txBox="1"/>
          <p:nvPr/>
        </p:nvSpPr>
        <p:spPr>
          <a:xfrm>
            <a:off x="9098280" y="5134356"/>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Consumption</a:t>
            </a:r>
            <a:endParaRPr lang="en-US" sz="760" dirty="0"/>
          </a:p>
        </p:txBody>
      </p:sp>
      <p:sp>
        <p:nvSpPr>
          <p:cNvPr id="85" name="Shape 83"/>
          <p:cNvSpPr/>
          <p:nvPr/>
        </p:nvSpPr>
        <p:spPr>
          <a:xfrm>
            <a:off x="548640" y="5408676"/>
            <a:ext cx="11146536" cy="310896"/>
          </a:xfrm>
          <a:prstGeom prst="roundRect">
            <a:avLst>
              <a:gd name="adj" fmla="val 11765"/>
            </a:avLst>
          </a:prstGeom>
          <a:solidFill>
            <a:srgbClr val="FFFFFF"/>
          </a:solidFill>
          <a:ln w="10795">
            <a:solidFill>
              <a:srgbClr val="E3E7EA"/>
            </a:solidFill>
            <a:prstDash val="solid"/>
          </a:ln>
        </p:spPr>
      </p:sp>
      <p:sp>
        <p:nvSpPr>
          <p:cNvPr id="86" name="Shape 84"/>
          <p:cNvSpPr/>
          <p:nvPr/>
        </p:nvSpPr>
        <p:spPr>
          <a:xfrm>
            <a:off x="658368" y="5477256"/>
            <a:ext cx="457200" cy="187452"/>
          </a:xfrm>
          <a:prstGeom prst="roundRect">
            <a:avLst>
              <a:gd name="adj" fmla="val 19512"/>
            </a:avLst>
          </a:prstGeom>
          <a:solidFill>
            <a:srgbClr val="7A6096"/>
          </a:solidFill>
          <a:ln/>
        </p:spPr>
      </p:sp>
      <p:sp>
        <p:nvSpPr>
          <p:cNvPr id="87" name="Text 85"/>
          <p:cNvSpPr txBox="1"/>
          <p:nvPr/>
        </p:nvSpPr>
        <p:spPr>
          <a:xfrm>
            <a:off x="658368" y="5477256"/>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DELI</a:t>
            </a:r>
            <a:endParaRPr lang="en-US" sz="620" dirty="0"/>
          </a:p>
        </p:txBody>
      </p:sp>
      <p:sp>
        <p:nvSpPr>
          <p:cNvPr id="88" name="Text 86"/>
          <p:cNvSpPr txBox="1"/>
          <p:nvPr/>
        </p:nvSpPr>
        <p:spPr>
          <a:xfrm>
            <a:off x="1188720" y="5408676"/>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Business Application Studio</a:t>
            </a:r>
            <a:endParaRPr lang="en-US" sz="940" dirty="0"/>
          </a:p>
        </p:txBody>
      </p:sp>
      <p:sp>
        <p:nvSpPr>
          <p:cNvPr id="89" name="Text 87"/>
          <p:cNvSpPr txBox="1"/>
          <p:nvPr/>
        </p:nvSpPr>
        <p:spPr>
          <a:xfrm>
            <a:off x="5029200" y="5408676"/>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Where the application is developed</a:t>
            </a:r>
            <a:endParaRPr lang="en-US" sz="900" dirty="0"/>
          </a:p>
        </p:txBody>
      </p:sp>
      <p:sp>
        <p:nvSpPr>
          <p:cNvPr id="90" name="Shape 88"/>
          <p:cNvSpPr/>
          <p:nvPr/>
        </p:nvSpPr>
        <p:spPr>
          <a:xfrm>
            <a:off x="9098280" y="5468112"/>
            <a:ext cx="1188720" cy="205740"/>
          </a:xfrm>
          <a:prstGeom prst="roundRect">
            <a:avLst>
              <a:gd name="adj" fmla="val 17778"/>
            </a:avLst>
          </a:prstGeom>
          <a:solidFill>
            <a:srgbClr val="F0ECF6"/>
          </a:solidFill>
          <a:ln/>
        </p:spPr>
      </p:sp>
      <p:sp>
        <p:nvSpPr>
          <p:cNvPr id="91" name="Text 89"/>
          <p:cNvSpPr txBox="1"/>
          <p:nvPr/>
        </p:nvSpPr>
        <p:spPr>
          <a:xfrm>
            <a:off x="9098280" y="5468112"/>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Included</a:t>
            </a:r>
            <a:endParaRPr lang="en-US" sz="760" dirty="0"/>
          </a:p>
        </p:txBody>
      </p:sp>
      <p:sp>
        <p:nvSpPr>
          <p:cNvPr id="92" name="Shape 90"/>
          <p:cNvSpPr/>
          <p:nvPr/>
        </p:nvSpPr>
        <p:spPr>
          <a:xfrm>
            <a:off x="548640" y="5742432"/>
            <a:ext cx="11146536" cy="310896"/>
          </a:xfrm>
          <a:prstGeom prst="roundRect">
            <a:avLst>
              <a:gd name="adj" fmla="val 11765"/>
            </a:avLst>
          </a:prstGeom>
          <a:solidFill>
            <a:srgbClr val="F4F6F7"/>
          </a:solidFill>
          <a:ln w="10795">
            <a:solidFill>
              <a:srgbClr val="E3E7EA"/>
            </a:solidFill>
            <a:prstDash val="solid"/>
          </a:ln>
        </p:spPr>
      </p:sp>
      <p:sp>
        <p:nvSpPr>
          <p:cNvPr id="93" name="Shape 91"/>
          <p:cNvSpPr/>
          <p:nvPr/>
        </p:nvSpPr>
        <p:spPr>
          <a:xfrm>
            <a:off x="658368" y="5811012"/>
            <a:ext cx="457200" cy="187452"/>
          </a:xfrm>
          <a:prstGeom prst="roundRect">
            <a:avLst>
              <a:gd name="adj" fmla="val 19512"/>
            </a:avLst>
          </a:prstGeom>
          <a:solidFill>
            <a:srgbClr val="5A6C82"/>
          </a:solidFill>
          <a:ln/>
        </p:spPr>
      </p:sp>
      <p:sp>
        <p:nvSpPr>
          <p:cNvPr id="94" name="Text 92"/>
          <p:cNvSpPr txBox="1"/>
          <p:nvPr/>
        </p:nvSpPr>
        <p:spPr>
          <a:xfrm>
            <a:off x="658368" y="5811012"/>
            <a:ext cx="457200" cy="187452"/>
          </a:xfrm>
          <a:prstGeom prst="rect">
            <a:avLst/>
          </a:prstGeom>
          <a:noFill/>
          <a:ln/>
        </p:spPr>
        <p:txBody>
          <a:bodyPr wrap="square" lIns="0" tIns="0" rIns="0" bIns="0" rtlCol="0" anchor="ctr"/>
          <a:lstStyle/>
          <a:p>
            <a:pPr algn="ctr" indent="0" marL="0">
              <a:buNone/>
            </a:pPr>
            <a:r>
              <a:rPr lang="en-US" sz="620" b="1" dirty="0">
                <a:solidFill>
                  <a:srgbClr val="FFFFFF"/>
                </a:solidFill>
                <a:latin typeface="Calibri" pitchFamily="34" charset="0"/>
                <a:ea typeface="Calibri" pitchFamily="34" charset="-122"/>
                <a:cs typeface="Calibri" pitchFamily="34" charset="-120"/>
              </a:rPr>
              <a:t>OPTI</a:t>
            </a:r>
            <a:endParaRPr lang="en-US" sz="620" dirty="0"/>
          </a:p>
        </p:txBody>
      </p:sp>
      <p:sp>
        <p:nvSpPr>
          <p:cNvPr id="95" name="Text 93"/>
          <p:cNvSpPr txBox="1"/>
          <p:nvPr/>
        </p:nvSpPr>
        <p:spPr>
          <a:xfrm>
            <a:off x="1188720" y="5742432"/>
            <a:ext cx="3749040" cy="310896"/>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Analytics Cloud</a:t>
            </a:r>
            <a:endParaRPr lang="en-US" sz="940" dirty="0"/>
          </a:p>
        </p:txBody>
      </p:sp>
      <p:sp>
        <p:nvSpPr>
          <p:cNvPr id="96" name="Text 94"/>
          <p:cNvSpPr txBox="1"/>
          <p:nvPr/>
        </p:nvSpPr>
        <p:spPr>
          <a:xfrm>
            <a:off x="5029200" y="5742432"/>
            <a:ext cx="3977640" cy="310896"/>
          </a:xfrm>
          <a:prstGeom prst="rect">
            <a:avLst/>
          </a:prstGeom>
          <a:noFill/>
          <a:ln/>
        </p:spPr>
        <p:txBody>
          <a:bodyPr wrap="square" lIns="0" tIns="0" rIns="0" bIns="0" rtlCol="0" anchor="ctr"/>
          <a:lstStyle/>
          <a:p>
            <a:pPr indent="0" marL="0">
              <a:buNone/>
            </a:pPr>
            <a:r>
              <a:rPr lang="en-US" sz="900" dirty="0">
                <a:solidFill>
                  <a:srgbClr val="5A6C82"/>
                </a:solidFill>
                <a:latin typeface="Calibri" pitchFamily="34" charset="0"/>
                <a:ea typeface="Calibri" pitchFamily="34" charset="-122"/>
                <a:cs typeface="Calibri" pitchFamily="34" charset="-120"/>
              </a:rPr>
              <a:t>Nitaqat and compliance dashboards</a:t>
            </a:r>
            <a:endParaRPr lang="en-US" sz="900" dirty="0"/>
          </a:p>
        </p:txBody>
      </p:sp>
      <p:sp>
        <p:nvSpPr>
          <p:cNvPr id="97" name="Shape 95"/>
          <p:cNvSpPr/>
          <p:nvPr/>
        </p:nvSpPr>
        <p:spPr>
          <a:xfrm>
            <a:off x="9098280" y="5801868"/>
            <a:ext cx="1188720" cy="205740"/>
          </a:xfrm>
          <a:prstGeom prst="roundRect">
            <a:avLst>
              <a:gd name="adj" fmla="val 17778"/>
            </a:avLst>
          </a:prstGeom>
          <a:solidFill>
            <a:srgbClr val="F4F6F7"/>
          </a:solidFill>
          <a:ln/>
        </p:spPr>
      </p:sp>
      <p:sp>
        <p:nvSpPr>
          <p:cNvPr id="98" name="Text 96"/>
          <p:cNvSpPr txBox="1"/>
          <p:nvPr/>
        </p:nvSpPr>
        <p:spPr>
          <a:xfrm>
            <a:off x="9098280" y="5801868"/>
            <a:ext cx="1188720" cy="205740"/>
          </a:xfrm>
          <a:prstGeom prst="rect">
            <a:avLst/>
          </a:prstGeom>
          <a:noFill/>
          <a:ln/>
        </p:spPr>
        <p:txBody>
          <a:bodyPr wrap="square" lIns="0" tIns="0" rIns="0" bIns="0" rtlCol="0" anchor="ctr"/>
          <a:lstStyle/>
          <a:p>
            <a:pPr algn="ctr" indent="0" marL="0">
              <a:buNone/>
            </a:pPr>
            <a:r>
              <a:rPr lang="en-US" sz="760" b="1" dirty="0">
                <a:solidFill>
                  <a:srgbClr val="0C1E33"/>
                </a:solidFill>
                <a:latin typeface="Calibri" pitchFamily="34" charset="0"/>
                <a:ea typeface="Calibri" pitchFamily="34" charset="-122"/>
                <a:cs typeface="Calibri" pitchFamily="34" charset="-120"/>
              </a:rPr>
              <a:t>Subscription</a:t>
            </a:r>
            <a:endParaRPr lang="en-US" sz="760" dirty="0"/>
          </a:p>
        </p:txBody>
      </p:sp>
      <p:sp>
        <p:nvSpPr>
          <p:cNvPr id="99" name="Text 97"/>
          <p:cNvSpPr txBox="1"/>
          <p:nvPr/>
        </p:nvSpPr>
        <p:spPr>
          <a:xfrm>
            <a:off x="548640" y="6144768"/>
            <a:ext cx="11146536" cy="201168"/>
          </a:xfrm>
          <a:prstGeom prst="rect">
            <a:avLst/>
          </a:prstGeom>
          <a:noFill/>
          <a:ln/>
        </p:spPr>
        <p:txBody>
          <a:bodyPr wrap="square" lIns="0" tIns="0" rIns="0" bIns="0" rtlCol="0" anchor="ctr"/>
          <a:lstStyle/>
          <a:p>
            <a:pPr indent="0" marL="0">
              <a:buNone/>
            </a:pPr>
            <a:r>
              <a:rPr lang="en-US" sz="840" b="1" dirty="0">
                <a:solidFill>
                  <a:srgbClr val="0C1E33"/>
                </a:solidFill>
                <a:latin typeface="Calibri" pitchFamily="34" charset="0"/>
                <a:ea typeface="Calibri" pitchFamily="34" charset="-122"/>
                <a:cs typeface="Calibri" pitchFamily="34" charset="-120"/>
              </a:rPr>
              <a:t>Consumption </a:t>
            </a:r>
            <a:pPr indent="0" marL="0">
              <a:buNone/>
            </a:pPr>
            <a:r>
              <a:rPr lang="en-US" sz="840" dirty="0">
                <a:solidFill>
                  <a:srgbClr val="5A6C82"/>
                </a:solidFill>
                <a:latin typeface="Calibri" pitchFamily="34" charset="0"/>
                <a:ea typeface="Calibri" pitchFamily="34" charset="-122"/>
                <a:cs typeface="Calibri" pitchFamily="34" charset="-120"/>
              </a:rPr>
              <a:t>is drawn from the cloud credit pool. </a:t>
            </a:r>
            <a:pPr indent="0" marL="0">
              <a:buNone/>
            </a:pPr>
            <a:r>
              <a:rPr lang="en-US" sz="840" b="1" dirty="0">
                <a:solidFill>
                  <a:srgbClr val="0C1E33"/>
                </a:solidFill>
                <a:latin typeface="Calibri" pitchFamily="34" charset="0"/>
                <a:ea typeface="Calibri" pitchFamily="34" charset="-122"/>
                <a:cs typeface="Calibri" pitchFamily="34" charset="-120"/>
              </a:rPr>
              <a:t>Subscription </a:t>
            </a:r>
            <a:pPr indent="0" marL="0">
              <a:buNone/>
            </a:pPr>
            <a:r>
              <a:rPr lang="en-US" sz="840" dirty="0">
                <a:solidFill>
                  <a:srgbClr val="5A6C82"/>
                </a:solidFill>
                <a:latin typeface="Calibri" pitchFamily="34" charset="0"/>
                <a:ea typeface="Calibri" pitchFamily="34" charset="-122"/>
                <a:cs typeface="Calibri" pitchFamily="34" charset="-120"/>
              </a:rPr>
              <a:t>is licensed separately from credits. </a:t>
            </a:r>
            <a:pPr indent="0" marL="0">
              <a:buNone/>
            </a:pPr>
            <a:r>
              <a:rPr lang="en-US" sz="840" b="1" dirty="0">
                <a:solidFill>
                  <a:srgbClr val="0C1E33"/>
                </a:solidFill>
                <a:latin typeface="Calibri" pitchFamily="34" charset="0"/>
                <a:ea typeface="Calibri" pitchFamily="34" charset="-122"/>
                <a:cs typeface="Calibri" pitchFamily="34" charset="-120"/>
              </a:rPr>
              <a:t>Included </a:t>
            </a:r>
            <a:pPr indent="0" marL="0">
              <a:buNone/>
            </a:pPr>
            <a:r>
              <a:rPr lang="en-US" sz="840" dirty="0">
                <a:solidFill>
                  <a:srgbClr val="5A6C82"/>
                </a:solidFill>
                <a:latin typeface="Calibri" pitchFamily="34" charset="0"/>
                <a:ea typeface="Calibri" pitchFamily="34" charset="-122"/>
                <a:cs typeface="Calibri" pitchFamily="34" charset="-120"/>
              </a:rPr>
              <a:t>comes with the platform at no separate charge.</a:t>
            </a:r>
            <a:endParaRPr lang="en-US" sz="840" dirty="0"/>
          </a:p>
        </p:txBody>
      </p:sp>
      <p:sp>
        <p:nvSpPr>
          <p:cNvPr id="100" name="Text 98"/>
          <p:cNvSpPr txBox="1"/>
          <p:nvPr/>
        </p:nvSpPr>
        <p:spPr>
          <a:xfrm>
            <a:off x="548640" y="6437376"/>
            <a:ext cx="10332720" cy="219456"/>
          </a:xfrm>
          <a:prstGeom prst="rect">
            <a:avLst/>
          </a:prstGeom>
          <a:noFill/>
          <a:ln/>
        </p:spPr>
        <p:txBody>
          <a:bodyPr wrap="square" lIns="0" tIns="0" rIns="0" bIns="0" rtlCol="0" anchor="ctr"/>
          <a:lstStyle/>
          <a:p>
            <a:pPr indent="0" marL="0">
              <a:buNone/>
            </a:pPr>
            <a:r>
              <a:rPr lang="en-US" sz="800" dirty="0">
                <a:solidFill>
                  <a:srgbClr val="96A3AE"/>
                </a:solidFill>
                <a:latin typeface="Calibri" pitchFamily="34" charset="0"/>
                <a:ea typeface="Calibri" pitchFamily="34" charset="-122"/>
                <a:cs typeface="Calibri" pitchFamily="34" charset="-120"/>
              </a:rPr>
              <a:t>INK IT Business Solutions   ·   Visa and Permits Management on SAP Business Technology Platform   ·   Kingdom of Saudi Arabia</a:t>
            </a:r>
            <a:endParaRPr lang="en-US" sz="800" dirty="0"/>
          </a:p>
        </p:txBody>
      </p:sp>
      <p:sp>
        <p:nvSpPr>
          <p:cNvPr id="101" name="Text 99"/>
          <p:cNvSpPr txBox="1"/>
          <p:nvPr/>
        </p:nvSpPr>
        <p:spPr>
          <a:xfrm>
            <a:off x="11064240" y="6437376"/>
            <a:ext cx="630936" cy="219456"/>
          </a:xfrm>
          <a:prstGeom prst="rect">
            <a:avLst/>
          </a:prstGeom>
          <a:noFill/>
          <a:ln/>
        </p:spPr>
        <p:txBody>
          <a:bodyPr wrap="square" lIns="0" tIns="0" rIns="0" bIns="0" rtlCol="0" anchor="ctr"/>
          <a:lstStyle/>
          <a:p>
            <a:pPr algn="r" indent="0" marL="0">
              <a:buNone/>
            </a:pPr>
            <a:r>
              <a:rPr lang="en-US" sz="800" dirty="0">
                <a:solidFill>
                  <a:srgbClr val="96A3AE"/>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219456"/>
          </a:xfrm>
          <a:prstGeom prst="rect">
            <a:avLst/>
          </a:prstGeom>
          <a:noFill/>
          <a:ln/>
        </p:spPr>
        <p:txBody>
          <a:bodyPr wrap="square" lIns="0" tIns="0" rIns="0" bIns="0" rtlCol="0" anchor="ctr"/>
          <a:lstStyle/>
          <a:p>
            <a:pPr indent="0" marL="0">
              <a:buNone/>
            </a:pPr>
            <a:r>
              <a:rPr lang="en-US" sz="1050" b="1" spc="220" kern="0" dirty="0">
                <a:solidFill>
                  <a:srgbClr val="20A098"/>
                </a:solidFill>
                <a:latin typeface="Calibri" pitchFamily="34" charset="0"/>
                <a:ea typeface="Calibri" pitchFamily="34" charset="-122"/>
                <a:cs typeface="Calibri" pitchFamily="34" charset="-120"/>
              </a:rPr>
              <a:t>SAMPLE SIZING</a:t>
            </a:r>
            <a:endParaRPr lang="en-US" sz="1050" dirty="0"/>
          </a:p>
        </p:txBody>
      </p:sp>
      <p:sp>
        <p:nvSpPr>
          <p:cNvPr id="3" name="Text 1"/>
          <p:cNvSpPr txBox="1"/>
          <p:nvPr/>
        </p:nvSpPr>
        <p:spPr>
          <a:xfrm>
            <a:off x="548640" y="603504"/>
            <a:ext cx="11064240" cy="512064"/>
          </a:xfrm>
          <a:prstGeom prst="rect">
            <a:avLst/>
          </a:prstGeom>
          <a:noFill/>
          <a:ln/>
        </p:spPr>
        <p:txBody>
          <a:bodyPr wrap="square" lIns="0" tIns="0" rIns="0" bIns="0" rtlCol="0" anchor="ctr"/>
          <a:lstStyle/>
          <a:p>
            <a:pPr indent="0" marL="0">
              <a:buNone/>
            </a:pPr>
            <a:r>
              <a:rPr lang="en-US" sz="2700" b="1" dirty="0">
                <a:solidFill>
                  <a:srgbClr val="0C1E33"/>
                </a:solidFill>
                <a:latin typeface="Arial" pitchFamily="34" charset="0"/>
                <a:ea typeface="Arial" pitchFamily="34" charset="-122"/>
                <a:cs typeface="Arial" pitchFamily="34" charset="-120"/>
              </a:rPr>
              <a:t>One Saudi customer, 1,000 employees.</a:t>
            </a:r>
            <a:endParaRPr lang="en-US" sz="2700" dirty="0"/>
          </a:p>
        </p:txBody>
      </p:sp>
      <p:sp>
        <p:nvSpPr>
          <p:cNvPr id="4" name="Text 2"/>
          <p:cNvSpPr txBox="1"/>
          <p:nvPr/>
        </p:nvSpPr>
        <p:spPr>
          <a:xfrm>
            <a:off x="548640" y="1170432"/>
            <a:ext cx="10424160" cy="237744"/>
          </a:xfrm>
          <a:prstGeom prst="rect">
            <a:avLst/>
          </a:prstGeom>
          <a:noFill/>
          <a:ln/>
        </p:spPr>
        <p:txBody>
          <a:bodyPr wrap="square" lIns="0" tIns="0" rIns="0" bIns="0" rtlCol="0" anchor="ctr"/>
          <a:lstStyle/>
          <a:p>
            <a:pPr indent="0" marL="0">
              <a:buNone/>
            </a:pPr>
            <a:r>
              <a:rPr lang="en-US" sz="1250" dirty="0">
                <a:solidFill>
                  <a:srgbClr val="5A6C82"/>
                </a:solidFill>
                <a:latin typeface="Calibri" pitchFamily="34" charset="0"/>
                <a:ea typeface="Calibri" pitchFamily="34" charset="-122"/>
                <a:cs typeface="Calibri" pitchFamily="34" charset="-120"/>
              </a:rPr>
              <a:t>Demand is derived from the workload, not guessed. Seven hundred of the thousand are expatriates, so seven hundred Iqamas renew every year.</a:t>
            </a:r>
            <a:endParaRPr lang="en-US" sz="1250" dirty="0"/>
          </a:p>
        </p:txBody>
      </p:sp>
      <p:sp>
        <p:nvSpPr>
          <p:cNvPr id="5" name="Shape 3"/>
          <p:cNvSpPr/>
          <p:nvPr/>
        </p:nvSpPr>
        <p:spPr>
          <a:xfrm>
            <a:off x="548640" y="1517904"/>
            <a:ext cx="2651760" cy="566928"/>
          </a:xfrm>
          <a:prstGeom prst="roundRect">
            <a:avLst>
              <a:gd name="adj" fmla="val 9677"/>
            </a:avLst>
          </a:prstGeom>
          <a:solidFill>
            <a:srgbClr val="F4F6F7"/>
          </a:solidFill>
          <a:ln w="10795">
            <a:solidFill>
              <a:srgbClr val="E3E7EA"/>
            </a:solidFill>
            <a:prstDash val="solid"/>
          </a:ln>
        </p:spPr>
      </p:sp>
      <p:sp>
        <p:nvSpPr>
          <p:cNvPr id="6" name="Text 4"/>
          <p:cNvSpPr txBox="1"/>
          <p:nvPr/>
        </p:nvSpPr>
        <p:spPr>
          <a:xfrm>
            <a:off x="694944" y="1581912"/>
            <a:ext cx="2377440" cy="256032"/>
          </a:xfrm>
          <a:prstGeom prst="rect">
            <a:avLst/>
          </a:prstGeom>
          <a:noFill/>
          <a:ln/>
        </p:spPr>
        <p:txBody>
          <a:bodyPr wrap="square" lIns="0" tIns="0" rIns="0" bIns="0" rtlCol="0" anchor="ctr"/>
          <a:lstStyle/>
          <a:p>
            <a:pPr indent="0" marL="0">
              <a:buNone/>
            </a:pPr>
            <a:r>
              <a:rPr lang="en-US" sz="1500" b="1" dirty="0">
                <a:solidFill>
                  <a:srgbClr val="0C1E33"/>
                </a:solidFill>
                <a:latin typeface="Arial" pitchFamily="34" charset="0"/>
                <a:ea typeface="Arial" pitchFamily="34" charset="-122"/>
                <a:cs typeface="Arial" pitchFamily="34" charset="-120"/>
              </a:rPr>
              <a:t>1,930</a:t>
            </a:r>
            <a:endParaRPr lang="en-US" sz="1500" dirty="0"/>
          </a:p>
        </p:txBody>
      </p:sp>
      <p:sp>
        <p:nvSpPr>
          <p:cNvPr id="7" name="Text 5"/>
          <p:cNvSpPr txBox="1"/>
          <p:nvPr/>
        </p:nvSpPr>
        <p:spPr>
          <a:xfrm>
            <a:off x="694944" y="1837944"/>
            <a:ext cx="2377440" cy="182880"/>
          </a:xfrm>
          <a:prstGeom prst="rect">
            <a:avLst/>
          </a:prstGeom>
          <a:noFill/>
          <a:ln/>
        </p:spPr>
        <p:txBody>
          <a:bodyPr wrap="square" lIns="0" tIns="0" rIns="0" bIns="0" rtlCol="0" anchor="ctr"/>
          <a:lstStyle/>
          <a:p>
            <a:pPr indent="0" marL="0">
              <a:buNone/>
            </a:pPr>
            <a:r>
              <a:rPr lang="en-US" sz="860" dirty="0">
                <a:solidFill>
                  <a:srgbClr val="5A6C82"/>
                </a:solidFill>
                <a:latin typeface="Calibri" pitchFamily="34" charset="0"/>
                <a:ea typeface="Calibri" pitchFamily="34" charset="-122"/>
                <a:cs typeface="Calibri" pitchFamily="34" charset="-120"/>
              </a:rPr>
              <a:t>permit cases a year</a:t>
            </a:r>
            <a:endParaRPr lang="en-US" sz="860" dirty="0"/>
          </a:p>
        </p:txBody>
      </p:sp>
      <p:sp>
        <p:nvSpPr>
          <p:cNvPr id="8" name="Shape 6"/>
          <p:cNvSpPr/>
          <p:nvPr/>
        </p:nvSpPr>
        <p:spPr>
          <a:xfrm>
            <a:off x="3355848" y="1517904"/>
            <a:ext cx="2651760" cy="566928"/>
          </a:xfrm>
          <a:prstGeom prst="roundRect">
            <a:avLst>
              <a:gd name="adj" fmla="val 9677"/>
            </a:avLst>
          </a:prstGeom>
          <a:solidFill>
            <a:srgbClr val="F4F6F7"/>
          </a:solidFill>
          <a:ln w="10795">
            <a:solidFill>
              <a:srgbClr val="E3E7EA"/>
            </a:solidFill>
            <a:prstDash val="solid"/>
          </a:ln>
        </p:spPr>
      </p:sp>
      <p:sp>
        <p:nvSpPr>
          <p:cNvPr id="9" name="Text 7"/>
          <p:cNvSpPr txBox="1"/>
          <p:nvPr/>
        </p:nvSpPr>
        <p:spPr>
          <a:xfrm>
            <a:off x="3502152" y="1581912"/>
            <a:ext cx="2377440" cy="256032"/>
          </a:xfrm>
          <a:prstGeom prst="rect">
            <a:avLst/>
          </a:prstGeom>
          <a:noFill/>
          <a:ln/>
        </p:spPr>
        <p:txBody>
          <a:bodyPr wrap="square" lIns="0" tIns="0" rIns="0" bIns="0" rtlCol="0" anchor="ctr"/>
          <a:lstStyle/>
          <a:p>
            <a:pPr indent="0" marL="0">
              <a:buNone/>
            </a:pPr>
            <a:r>
              <a:rPr lang="en-US" sz="1500" b="1" dirty="0">
                <a:solidFill>
                  <a:srgbClr val="0C1E33"/>
                </a:solidFill>
                <a:latin typeface="Arial" pitchFamily="34" charset="0"/>
                <a:ea typeface="Arial" pitchFamily="34" charset="-122"/>
                <a:cs typeface="Arial" pitchFamily="34" charset="-120"/>
              </a:rPr>
              <a:t>23,160</a:t>
            </a:r>
            <a:endParaRPr lang="en-US" sz="1500" dirty="0"/>
          </a:p>
        </p:txBody>
      </p:sp>
      <p:sp>
        <p:nvSpPr>
          <p:cNvPr id="10" name="Text 8"/>
          <p:cNvSpPr txBox="1"/>
          <p:nvPr/>
        </p:nvSpPr>
        <p:spPr>
          <a:xfrm>
            <a:off x="3502152" y="1837944"/>
            <a:ext cx="2377440" cy="182880"/>
          </a:xfrm>
          <a:prstGeom prst="rect">
            <a:avLst/>
          </a:prstGeom>
          <a:noFill/>
          <a:ln/>
        </p:spPr>
        <p:txBody>
          <a:bodyPr wrap="square" lIns="0" tIns="0" rIns="0" bIns="0" rtlCol="0" anchor="ctr"/>
          <a:lstStyle/>
          <a:p>
            <a:pPr indent="0" marL="0">
              <a:buNone/>
            </a:pPr>
            <a:r>
              <a:rPr lang="en-US" sz="860" dirty="0">
                <a:solidFill>
                  <a:srgbClr val="5A6C82"/>
                </a:solidFill>
                <a:latin typeface="Calibri" pitchFamily="34" charset="0"/>
                <a:ea typeface="Calibri" pitchFamily="34" charset="-122"/>
                <a:cs typeface="Calibri" pitchFamily="34" charset="-120"/>
              </a:rPr>
              <a:t>tracked tasks a year</a:t>
            </a:r>
            <a:endParaRPr lang="en-US" sz="860" dirty="0"/>
          </a:p>
        </p:txBody>
      </p:sp>
      <p:sp>
        <p:nvSpPr>
          <p:cNvPr id="11" name="Shape 9"/>
          <p:cNvSpPr/>
          <p:nvPr/>
        </p:nvSpPr>
        <p:spPr>
          <a:xfrm>
            <a:off x="6163056" y="1517904"/>
            <a:ext cx="2651760" cy="566928"/>
          </a:xfrm>
          <a:prstGeom prst="roundRect">
            <a:avLst>
              <a:gd name="adj" fmla="val 9677"/>
            </a:avLst>
          </a:prstGeom>
          <a:solidFill>
            <a:srgbClr val="F4F6F7"/>
          </a:solidFill>
          <a:ln w="10795">
            <a:solidFill>
              <a:srgbClr val="E3E7EA"/>
            </a:solidFill>
            <a:prstDash val="solid"/>
          </a:ln>
        </p:spPr>
      </p:sp>
      <p:sp>
        <p:nvSpPr>
          <p:cNvPr id="12" name="Text 10"/>
          <p:cNvSpPr txBox="1"/>
          <p:nvPr/>
        </p:nvSpPr>
        <p:spPr>
          <a:xfrm>
            <a:off x="6309360" y="1581912"/>
            <a:ext cx="2377440" cy="256032"/>
          </a:xfrm>
          <a:prstGeom prst="rect">
            <a:avLst/>
          </a:prstGeom>
          <a:noFill/>
          <a:ln/>
        </p:spPr>
        <p:txBody>
          <a:bodyPr wrap="square" lIns="0" tIns="0" rIns="0" bIns="0" rtlCol="0" anchor="ctr"/>
          <a:lstStyle/>
          <a:p>
            <a:pPr indent="0" marL="0">
              <a:buNone/>
            </a:pPr>
            <a:r>
              <a:rPr lang="en-US" sz="1500" b="1" dirty="0">
                <a:solidFill>
                  <a:srgbClr val="0C1E33"/>
                </a:solidFill>
                <a:latin typeface="Arial" pitchFamily="34" charset="0"/>
                <a:ea typeface="Arial" pitchFamily="34" charset="-122"/>
                <a:cs typeface="Arial" pitchFamily="34" charset="-120"/>
              </a:rPr>
              <a:t>15,440</a:t>
            </a:r>
            <a:endParaRPr lang="en-US" sz="1500" dirty="0"/>
          </a:p>
        </p:txBody>
      </p:sp>
      <p:sp>
        <p:nvSpPr>
          <p:cNvPr id="13" name="Text 11"/>
          <p:cNvSpPr txBox="1"/>
          <p:nvPr/>
        </p:nvSpPr>
        <p:spPr>
          <a:xfrm>
            <a:off x="6309360" y="1837944"/>
            <a:ext cx="2377440" cy="182880"/>
          </a:xfrm>
          <a:prstGeom prst="rect">
            <a:avLst/>
          </a:prstGeom>
          <a:noFill/>
          <a:ln/>
        </p:spPr>
        <p:txBody>
          <a:bodyPr wrap="square" lIns="0" tIns="0" rIns="0" bIns="0" rtlCol="0" anchor="ctr"/>
          <a:lstStyle/>
          <a:p>
            <a:pPr indent="0" marL="0">
              <a:buNone/>
            </a:pPr>
            <a:r>
              <a:rPr lang="en-US" sz="860" dirty="0">
                <a:solidFill>
                  <a:srgbClr val="5A6C82"/>
                </a:solidFill>
                <a:latin typeface="Calibri" pitchFamily="34" charset="0"/>
                <a:ea typeface="Calibri" pitchFamily="34" charset="-122"/>
                <a:cs typeface="Calibri" pitchFamily="34" charset="-120"/>
              </a:rPr>
              <a:t>documents a year</a:t>
            </a:r>
            <a:endParaRPr lang="en-US" sz="860" dirty="0"/>
          </a:p>
        </p:txBody>
      </p:sp>
      <p:sp>
        <p:nvSpPr>
          <p:cNvPr id="14" name="Shape 12"/>
          <p:cNvSpPr/>
          <p:nvPr/>
        </p:nvSpPr>
        <p:spPr>
          <a:xfrm>
            <a:off x="8970264" y="1517904"/>
            <a:ext cx="2651760" cy="566928"/>
          </a:xfrm>
          <a:prstGeom prst="roundRect">
            <a:avLst>
              <a:gd name="adj" fmla="val 9677"/>
            </a:avLst>
          </a:prstGeom>
          <a:solidFill>
            <a:srgbClr val="F4F6F7"/>
          </a:solidFill>
          <a:ln w="10795">
            <a:solidFill>
              <a:srgbClr val="E3E7EA"/>
            </a:solidFill>
            <a:prstDash val="solid"/>
          </a:ln>
        </p:spPr>
      </p:sp>
      <p:sp>
        <p:nvSpPr>
          <p:cNvPr id="15" name="Text 13"/>
          <p:cNvSpPr txBox="1"/>
          <p:nvPr/>
        </p:nvSpPr>
        <p:spPr>
          <a:xfrm>
            <a:off x="9116568" y="1581912"/>
            <a:ext cx="2377440" cy="256032"/>
          </a:xfrm>
          <a:prstGeom prst="rect">
            <a:avLst/>
          </a:prstGeom>
          <a:noFill/>
          <a:ln/>
        </p:spPr>
        <p:txBody>
          <a:bodyPr wrap="square" lIns="0" tIns="0" rIns="0" bIns="0" rtlCol="0" anchor="ctr"/>
          <a:lstStyle/>
          <a:p>
            <a:pPr indent="0" marL="0">
              <a:buNone/>
            </a:pPr>
            <a:r>
              <a:rPr lang="en-US" sz="1500" b="1" dirty="0">
                <a:solidFill>
                  <a:srgbClr val="0C1E33"/>
                </a:solidFill>
                <a:latin typeface="Arial" pitchFamily="34" charset="0"/>
                <a:ea typeface="Arial" pitchFamily="34" charset="-122"/>
                <a:cs typeface="Arial" pitchFamily="34" charset="-120"/>
              </a:rPr>
              <a:t>700</a:t>
            </a:r>
            <a:endParaRPr lang="en-US" sz="1500" dirty="0"/>
          </a:p>
        </p:txBody>
      </p:sp>
      <p:sp>
        <p:nvSpPr>
          <p:cNvPr id="16" name="Text 14"/>
          <p:cNvSpPr txBox="1"/>
          <p:nvPr/>
        </p:nvSpPr>
        <p:spPr>
          <a:xfrm>
            <a:off x="9116568" y="1837944"/>
            <a:ext cx="2377440" cy="182880"/>
          </a:xfrm>
          <a:prstGeom prst="rect">
            <a:avLst/>
          </a:prstGeom>
          <a:noFill/>
          <a:ln/>
        </p:spPr>
        <p:txBody>
          <a:bodyPr wrap="square" lIns="0" tIns="0" rIns="0" bIns="0" rtlCol="0" anchor="ctr"/>
          <a:lstStyle/>
          <a:p>
            <a:pPr indent="0" marL="0">
              <a:buNone/>
            </a:pPr>
            <a:r>
              <a:rPr lang="en-US" sz="860" dirty="0">
                <a:solidFill>
                  <a:srgbClr val="5A6C82"/>
                </a:solidFill>
                <a:latin typeface="Calibri" pitchFamily="34" charset="0"/>
                <a:ea typeface="Calibri" pitchFamily="34" charset="-122"/>
                <a:cs typeface="Calibri" pitchFamily="34" charset="-120"/>
              </a:rPr>
              <a:t>Iqama renewals a year</a:t>
            </a:r>
            <a:endParaRPr lang="en-US" sz="860" dirty="0"/>
          </a:p>
        </p:txBody>
      </p:sp>
      <p:sp>
        <p:nvSpPr>
          <p:cNvPr id="17" name="Text 15"/>
          <p:cNvSpPr txBox="1"/>
          <p:nvPr/>
        </p:nvSpPr>
        <p:spPr>
          <a:xfrm>
            <a:off x="658368" y="2249424"/>
            <a:ext cx="3520440" cy="164592"/>
          </a:xfrm>
          <a:prstGeom prst="rect">
            <a:avLst/>
          </a:prstGeom>
          <a:noFill/>
          <a:ln/>
        </p:spPr>
        <p:txBody>
          <a:bodyPr wrap="square" lIns="0" tIns="0" rIns="0" bIns="0" rtlCol="0" anchor="ctr"/>
          <a:lstStyle/>
          <a:p>
            <a:pPr indent="0" marL="0">
              <a:buNone/>
            </a:pPr>
            <a:r>
              <a:rPr lang="en-US" sz="800" b="1" spc="130" kern="0" dirty="0">
                <a:solidFill>
                  <a:srgbClr val="96A3AE"/>
                </a:solidFill>
                <a:latin typeface="Calibri" pitchFamily="34" charset="0"/>
                <a:ea typeface="Calibri" pitchFamily="34" charset="-122"/>
                <a:cs typeface="Calibri" pitchFamily="34" charset="-120"/>
              </a:rPr>
              <a:t>SERVICE</a:t>
            </a:r>
            <a:endParaRPr lang="en-US" sz="800" dirty="0"/>
          </a:p>
        </p:txBody>
      </p:sp>
      <p:sp>
        <p:nvSpPr>
          <p:cNvPr id="18" name="Text 16"/>
          <p:cNvSpPr txBox="1"/>
          <p:nvPr/>
        </p:nvSpPr>
        <p:spPr>
          <a:xfrm>
            <a:off x="4251960" y="2249424"/>
            <a:ext cx="4160520" cy="164592"/>
          </a:xfrm>
          <a:prstGeom prst="rect">
            <a:avLst/>
          </a:prstGeom>
          <a:noFill/>
          <a:ln/>
        </p:spPr>
        <p:txBody>
          <a:bodyPr wrap="square" lIns="0" tIns="0" rIns="0" bIns="0" rtlCol="0" anchor="ctr"/>
          <a:lstStyle/>
          <a:p>
            <a:pPr indent="0" marL="0">
              <a:buNone/>
            </a:pPr>
            <a:r>
              <a:rPr lang="en-US" sz="800" b="1" spc="130" kern="0" dirty="0">
                <a:solidFill>
                  <a:srgbClr val="96A3AE"/>
                </a:solidFill>
                <a:latin typeface="Calibri" pitchFamily="34" charset="0"/>
                <a:ea typeface="Calibri" pitchFamily="34" charset="-122"/>
                <a:cs typeface="Calibri" pitchFamily="34" charset="-120"/>
              </a:rPr>
              <a:t>SIZED ON</a:t>
            </a:r>
            <a:endParaRPr lang="en-US" sz="800" dirty="0"/>
          </a:p>
        </p:txBody>
      </p:sp>
      <p:sp>
        <p:nvSpPr>
          <p:cNvPr id="19" name="Text 17"/>
          <p:cNvSpPr txBox="1"/>
          <p:nvPr/>
        </p:nvSpPr>
        <p:spPr>
          <a:xfrm>
            <a:off x="8503920" y="2249424"/>
            <a:ext cx="3063240" cy="164592"/>
          </a:xfrm>
          <a:prstGeom prst="rect">
            <a:avLst/>
          </a:prstGeom>
          <a:noFill/>
          <a:ln/>
        </p:spPr>
        <p:txBody>
          <a:bodyPr wrap="square" lIns="0" tIns="0" rIns="0" bIns="0" rtlCol="0" anchor="ctr"/>
          <a:lstStyle/>
          <a:p>
            <a:pPr algn="r" indent="0" marL="0">
              <a:buNone/>
            </a:pPr>
            <a:r>
              <a:rPr lang="en-US" sz="800" b="1" spc="130" kern="0" dirty="0">
                <a:solidFill>
                  <a:srgbClr val="96A3AE"/>
                </a:solidFill>
                <a:latin typeface="Calibri" pitchFamily="34" charset="0"/>
                <a:ea typeface="Calibri" pitchFamily="34" charset="-122"/>
                <a:cs typeface="Calibri" pitchFamily="34" charset="-120"/>
              </a:rPr>
              <a:t>CAPACITY UNITS A MONTH</a:t>
            </a:r>
            <a:endParaRPr lang="en-US" sz="800" dirty="0"/>
          </a:p>
        </p:txBody>
      </p:sp>
      <p:sp>
        <p:nvSpPr>
          <p:cNvPr id="20" name="Shape 18"/>
          <p:cNvSpPr/>
          <p:nvPr/>
        </p:nvSpPr>
        <p:spPr>
          <a:xfrm>
            <a:off x="548640" y="2468880"/>
            <a:ext cx="11146536" cy="365760"/>
          </a:xfrm>
          <a:prstGeom prst="roundRect">
            <a:avLst>
              <a:gd name="adj" fmla="val 10000"/>
            </a:avLst>
          </a:prstGeom>
          <a:solidFill>
            <a:srgbClr val="F4F6F7"/>
          </a:solidFill>
          <a:ln w="10795">
            <a:solidFill>
              <a:srgbClr val="E3E7EA"/>
            </a:solidFill>
            <a:prstDash val="solid"/>
          </a:ln>
        </p:spPr>
      </p:sp>
      <p:sp>
        <p:nvSpPr>
          <p:cNvPr id="21" name="Text 19"/>
          <p:cNvSpPr txBox="1"/>
          <p:nvPr/>
        </p:nvSpPr>
        <p:spPr>
          <a:xfrm>
            <a:off x="658368" y="2468880"/>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BTP, Cloud Foundry runtime</a:t>
            </a:r>
            <a:endParaRPr lang="en-US" sz="940" dirty="0"/>
          </a:p>
        </p:txBody>
      </p:sp>
      <p:sp>
        <p:nvSpPr>
          <p:cNvPr id="22" name="Text 20"/>
          <p:cNvSpPr txBox="1"/>
          <p:nvPr/>
        </p:nvSpPr>
        <p:spPr>
          <a:xfrm>
            <a:off x="4251960" y="2468880"/>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10 GB memory (production and non-production)</a:t>
            </a:r>
            <a:endParaRPr lang="en-US" sz="880" dirty="0"/>
          </a:p>
        </p:txBody>
      </p:sp>
      <p:sp>
        <p:nvSpPr>
          <p:cNvPr id="23" name="Text 21"/>
          <p:cNvSpPr txBox="1"/>
          <p:nvPr/>
        </p:nvSpPr>
        <p:spPr>
          <a:xfrm>
            <a:off x="8503920" y="2468880"/>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850</a:t>
            </a:r>
            <a:endParaRPr lang="en-US" sz="1100" dirty="0"/>
          </a:p>
        </p:txBody>
      </p:sp>
      <p:sp>
        <p:nvSpPr>
          <p:cNvPr id="24" name="Text 22"/>
          <p:cNvSpPr txBox="1"/>
          <p:nvPr/>
        </p:nvSpPr>
        <p:spPr>
          <a:xfrm>
            <a:off x="10607040" y="2468880"/>
            <a:ext cx="978408" cy="365760"/>
          </a:xfrm>
          <a:prstGeom prst="rect">
            <a:avLst/>
          </a:prstGeom>
          <a:noFill/>
          <a:ln/>
        </p:spPr>
        <p:txBody>
          <a:bodyPr wrap="square" lIns="0" tIns="0" rIns="0" bIns="0" rtlCol="0" anchor="ctr"/>
          <a:lstStyle/>
          <a:p>
            <a:pPr algn="r" indent="0" marL="0">
              <a:buNone/>
            </a:pPr>
            <a:r>
              <a:rPr lang="en-US" sz="680" dirty="0">
                <a:solidFill>
                  <a:srgbClr val="17795E"/>
                </a:solidFill>
                <a:latin typeface="Calibri" pitchFamily="34" charset="0"/>
                <a:ea typeface="Calibri" pitchFamily="34" charset="-122"/>
                <a:cs typeface="Calibri" pitchFamily="34" charset="-120"/>
              </a:rPr>
              <a:t>SAP rate card</a:t>
            </a:r>
            <a:endParaRPr lang="en-US" sz="680" dirty="0"/>
          </a:p>
        </p:txBody>
      </p:sp>
      <p:sp>
        <p:nvSpPr>
          <p:cNvPr id="25" name="Shape 23"/>
          <p:cNvSpPr/>
          <p:nvPr/>
        </p:nvSpPr>
        <p:spPr>
          <a:xfrm>
            <a:off x="548640" y="2862072"/>
            <a:ext cx="11146536" cy="365760"/>
          </a:xfrm>
          <a:prstGeom prst="roundRect">
            <a:avLst>
              <a:gd name="adj" fmla="val 10000"/>
            </a:avLst>
          </a:prstGeom>
          <a:solidFill>
            <a:srgbClr val="FFFFFF"/>
          </a:solidFill>
          <a:ln w="10795">
            <a:solidFill>
              <a:srgbClr val="E3E7EA"/>
            </a:solidFill>
            <a:prstDash val="solid"/>
          </a:ln>
        </p:spPr>
      </p:sp>
      <p:sp>
        <p:nvSpPr>
          <p:cNvPr id="26" name="Text 24"/>
          <p:cNvSpPr txBox="1"/>
          <p:nvPr/>
        </p:nvSpPr>
        <p:spPr>
          <a:xfrm>
            <a:off x="658368" y="2862072"/>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HANA Cloud</a:t>
            </a:r>
            <a:endParaRPr lang="en-US" sz="940" dirty="0"/>
          </a:p>
        </p:txBody>
      </p:sp>
      <p:sp>
        <p:nvSpPr>
          <p:cNvPr id="27" name="Text 25"/>
          <p:cNvSpPr txBox="1"/>
          <p:nvPr/>
        </p:nvSpPr>
        <p:spPr>
          <a:xfrm>
            <a:off x="4251960" y="2862072"/>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32 GB memory, 2 vCPU, 120 GB storage</a:t>
            </a:r>
            <a:endParaRPr lang="en-US" sz="880" dirty="0"/>
          </a:p>
        </p:txBody>
      </p:sp>
      <p:sp>
        <p:nvSpPr>
          <p:cNvPr id="28" name="Text 26"/>
          <p:cNvSpPr txBox="1"/>
          <p:nvPr/>
        </p:nvSpPr>
        <p:spPr>
          <a:xfrm>
            <a:off x="8503920" y="2862072"/>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1,400</a:t>
            </a:r>
            <a:endParaRPr lang="en-US" sz="1100" dirty="0"/>
          </a:p>
        </p:txBody>
      </p:sp>
      <p:sp>
        <p:nvSpPr>
          <p:cNvPr id="29" name="Text 27"/>
          <p:cNvSpPr txBox="1"/>
          <p:nvPr/>
        </p:nvSpPr>
        <p:spPr>
          <a:xfrm>
            <a:off x="10607040" y="2862072"/>
            <a:ext cx="978408" cy="365760"/>
          </a:xfrm>
          <a:prstGeom prst="rect">
            <a:avLst/>
          </a:prstGeom>
          <a:noFill/>
          <a:ln/>
        </p:spPr>
        <p:txBody>
          <a:bodyPr wrap="square" lIns="0" tIns="0" rIns="0" bIns="0" rtlCol="0" anchor="ctr"/>
          <a:lstStyle/>
          <a:p>
            <a:pPr algn="r" indent="0" marL="0">
              <a:buNone/>
            </a:pPr>
            <a:r>
              <a:rPr lang="en-US" sz="680" dirty="0">
                <a:solidFill>
                  <a:srgbClr val="C9A227"/>
                </a:solidFill>
                <a:latin typeface="Calibri" pitchFamily="34" charset="0"/>
                <a:ea typeface="Calibri" pitchFamily="34" charset="-122"/>
                <a:cs typeface="Calibri" pitchFamily="34" charset="-120"/>
              </a:rPr>
              <a:t>Confirm in estimator</a:t>
            </a:r>
            <a:endParaRPr lang="en-US" sz="680" dirty="0"/>
          </a:p>
        </p:txBody>
      </p:sp>
      <p:sp>
        <p:nvSpPr>
          <p:cNvPr id="30" name="Shape 28"/>
          <p:cNvSpPr/>
          <p:nvPr/>
        </p:nvSpPr>
        <p:spPr>
          <a:xfrm>
            <a:off x="548640" y="3255264"/>
            <a:ext cx="11146536" cy="365760"/>
          </a:xfrm>
          <a:prstGeom prst="roundRect">
            <a:avLst>
              <a:gd name="adj" fmla="val 10000"/>
            </a:avLst>
          </a:prstGeom>
          <a:solidFill>
            <a:srgbClr val="F4F6F7"/>
          </a:solidFill>
          <a:ln w="10795">
            <a:solidFill>
              <a:srgbClr val="E3E7EA"/>
            </a:solidFill>
            <a:prstDash val="solid"/>
          </a:ln>
        </p:spPr>
      </p:sp>
      <p:sp>
        <p:nvSpPr>
          <p:cNvPr id="31" name="Text 29"/>
          <p:cNvSpPr txBox="1"/>
          <p:nvPr/>
        </p:nvSpPr>
        <p:spPr>
          <a:xfrm>
            <a:off x="658368" y="3255264"/>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Document Management service</a:t>
            </a:r>
            <a:endParaRPr lang="en-US" sz="940" dirty="0"/>
          </a:p>
        </p:txBody>
      </p:sp>
      <p:sp>
        <p:nvSpPr>
          <p:cNvPr id="32" name="Text 30"/>
          <p:cNvSpPr txBox="1"/>
          <p:nvPr/>
        </p:nvSpPr>
        <p:spPr>
          <a:xfrm>
            <a:off x="4251960" y="3255264"/>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25 GB plus 1287 documents a month</a:t>
            </a:r>
            <a:endParaRPr lang="en-US" sz="880" dirty="0"/>
          </a:p>
        </p:txBody>
      </p:sp>
      <p:sp>
        <p:nvSpPr>
          <p:cNvPr id="33" name="Text 31"/>
          <p:cNvSpPr txBox="1"/>
          <p:nvPr/>
        </p:nvSpPr>
        <p:spPr>
          <a:xfrm>
            <a:off x="8503920" y="3255264"/>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177</a:t>
            </a:r>
            <a:endParaRPr lang="en-US" sz="1100" dirty="0"/>
          </a:p>
        </p:txBody>
      </p:sp>
      <p:sp>
        <p:nvSpPr>
          <p:cNvPr id="34" name="Text 32"/>
          <p:cNvSpPr txBox="1"/>
          <p:nvPr/>
        </p:nvSpPr>
        <p:spPr>
          <a:xfrm>
            <a:off x="10607040" y="3255264"/>
            <a:ext cx="978408" cy="365760"/>
          </a:xfrm>
          <a:prstGeom prst="rect">
            <a:avLst/>
          </a:prstGeom>
          <a:noFill/>
          <a:ln/>
        </p:spPr>
        <p:txBody>
          <a:bodyPr wrap="square" lIns="0" tIns="0" rIns="0" bIns="0" rtlCol="0" anchor="ctr"/>
          <a:lstStyle/>
          <a:p>
            <a:pPr algn="r" indent="0" marL="0">
              <a:buNone/>
            </a:pPr>
            <a:r>
              <a:rPr lang="en-US" sz="680" dirty="0">
                <a:solidFill>
                  <a:srgbClr val="17795E"/>
                </a:solidFill>
                <a:latin typeface="Calibri" pitchFamily="34" charset="0"/>
                <a:ea typeface="Calibri" pitchFamily="34" charset="-122"/>
                <a:cs typeface="Calibri" pitchFamily="34" charset="-120"/>
              </a:rPr>
              <a:t>SAP rate card</a:t>
            </a:r>
            <a:endParaRPr lang="en-US" sz="680" dirty="0"/>
          </a:p>
        </p:txBody>
      </p:sp>
      <p:sp>
        <p:nvSpPr>
          <p:cNvPr id="35" name="Shape 33"/>
          <p:cNvSpPr/>
          <p:nvPr/>
        </p:nvSpPr>
        <p:spPr>
          <a:xfrm>
            <a:off x="548640" y="3648456"/>
            <a:ext cx="11146536" cy="365760"/>
          </a:xfrm>
          <a:prstGeom prst="roundRect">
            <a:avLst>
              <a:gd name="adj" fmla="val 10000"/>
            </a:avLst>
          </a:prstGeom>
          <a:solidFill>
            <a:srgbClr val="FFFFFF"/>
          </a:solidFill>
          <a:ln w="10795">
            <a:solidFill>
              <a:srgbClr val="E3E7EA"/>
            </a:solidFill>
            <a:prstDash val="solid"/>
          </a:ln>
        </p:spPr>
      </p:sp>
      <p:sp>
        <p:nvSpPr>
          <p:cNvPr id="36" name="Text 34"/>
          <p:cNvSpPr txBox="1"/>
          <p:nvPr/>
        </p:nvSpPr>
        <p:spPr>
          <a:xfrm>
            <a:off x="658368" y="3648456"/>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Build Process Automation</a:t>
            </a:r>
            <a:endParaRPr lang="en-US" sz="940" dirty="0"/>
          </a:p>
        </p:txBody>
      </p:sp>
      <p:sp>
        <p:nvSpPr>
          <p:cNvPr id="37" name="Text 35"/>
          <p:cNvSpPr txBox="1"/>
          <p:nvPr/>
        </p:nvSpPr>
        <p:spPr>
          <a:xfrm>
            <a:off x="4251960" y="3648456"/>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6 unattended automations</a:t>
            </a:r>
            <a:endParaRPr lang="en-US" sz="880" dirty="0"/>
          </a:p>
        </p:txBody>
      </p:sp>
      <p:sp>
        <p:nvSpPr>
          <p:cNvPr id="38" name="Text 36"/>
          <p:cNvSpPr txBox="1"/>
          <p:nvPr/>
        </p:nvSpPr>
        <p:spPr>
          <a:xfrm>
            <a:off x="8503920" y="3648456"/>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96</a:t>
            </a:r>
            <a:endParaRPr lang="en-US" sz="1100" dirty="0"/>
          </a:p>
        </p:txBody>
      </p:sp>
      <p:sp>
        <p:nvSpPr>
          <p:cNvPr id="39" name="Text 37"/>
          <p:cNvSpPr txBox="1"/>
          <p:nvPr/>
        </p:nvSpPr>
        <p:spPr>
          <a:xfrm>
            <a:off x="10607040" y="3648456"/>
            <a:ext cx="978408" cy="365760"/>
          </a:xfrm>
          <a:prstGeom prst="rect">
            <a:avLst/>
          </a:prstGeom>
          <a:noFill/>
          <a:ln/>
        </p:spPr>
        <p:txBody>
          <a:bodyPr wrap="square" lIns="0" tIns="0" rIns="0" bIns="0" rtlCol="0" anchor="ctr"/>
          <a:lstStyle/>
          <a:p>
            <a:pPr algn="r" indent="0" marL="0">
              <a:buNone/>
            </a:pPr>
            <a:r>
              <a:rPr lang="en-US" sz="680" dirty="0">
                <a:solidFill>
                  <a:srgbClr val="17795E"/>
                </a:solidFill>
                <a:latin typeface="Calibri" pitchFamily="34" charset="0"/>
                <a:ea typeface="Calibri" pitchFamily="34" charset="-122"/>
                <a:cs typeface="Calibri" pitchFamily="34" charset="-120"/>
              </a:rPr>
              <a:t>SAP rate card</a:t>
            </a:r>
            <a:endParaRPr lang="en-US" sz="680" dirty="0"/>
          </a:p>
        </p:txBody>
      </p:sp>
      <p:sp>
        <p:nvSpPr>
          <p:cNvPr id="40" name="Shape 38"/>
          <p:cNvSpPr/>
          <p:nvPr/>
        </p:nvSpPr>
        <p:spPr>
          <a:xfrm>
            <a:off x="548640" y="4041648"/>
            <a:ext cx="11146536" cy="365760"/>
          </a:xfrm>
          <a:prstGeom prst="roundRect">
            <a:avLst>
              <a:gd name="adj" fmla="val 10000"/>
            </a:avLst>
          </a:prstGeom>
          <a:solidFill>
            <a:srgbClr val="F4F6F7"/>
          </a:solidFill>
          <a:ln w="10795">
            <a:solidFill>
              <a:srgbClr val="E3E7EA"/>
            </a:solidFill>
            <a:prstDash val="solid"/>
          </a:ln>
        </p:spPr>
      </p:sp>
      <p:sp>
        <p:nvSpPr>
          <p:cNvPr id="41" name="Text 39"/>
          <p:cNvSpPr txBox="1"/>
          <p:nvPr/>
        </p:nvSpPr>
        <p:spPr>
          <a:xfrm>
            <a:off x="658368" y="4041648"/>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Alert Notification service</a:t>
            </a:r>
            <a:endParaRPr lang="en-US" sz="940" dirty="0"/>
          </a:p>
        </p:txBody>
      </p:sp>
      <p:sp>
        <p:nvSpPr>
          <p:cNvPr id="42" name="Text 40"/>
          <p:cNvSpPr txBox="1"/>
          <p:nvPr/>
        </p:nvSpPr>
        <p:spPr>
          <a:xfrm>
            <a:off x="4251960" y="4041648"/>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643 notifications a month</a:t>
            </a:r>
            <a:endParaRPr lang="en-US" sz="880" dirty="0"/>
          </a:p>
        </p:txBody>
      </p:sp>
      <p:sp>
        <p:nvSpPr>
          <p:cNvPr id="43" name="Text 41"/>
          <p:cNvSpPr txBox="1"/>
          <p:nvPr/>
        </p:nvSpPr>
        <p:spPr>
          <a:xfrm>
            <a:off x="8503920" y="4041648"/>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1</a:t>
            </a:r>
            <a:endParaRPr lang="en-US" sz="1100" dirty="0"/>
          </a:p>
        </p:txBody>
      </p:sp>
      <p:sp>
        <p:nvSpPr>
          <p:cNvPr id="44" name="Text 42"/>
          <p:cNvSpPr txBox="1"/>
          <p:nvPr/>
        </p:nvSpPr>
        <p:spPr>
          <a:xfrm>
            <a:off x="10607040" y="4041648"/>
            <a:ext cx="978408" cy="365760"/>
          </a:xfrm>
          <a:prstGeom prst="rect">
            <a:avLst/>
          </a:prstGeom>
          <a:noFill/>
          <a:ln/>
        </p:spPr>
        <p:txBody>
          <a:bodyPr wrap="square" lIns="0" tIns="0" rIns="0" bIns="0" rtlCol="0" anchor="ctr"/>
          <a:lstStyle/>
          <a:p>
            <a:pPr algn="r" indent="0" marL="0">
              <a:buNone/>
            </a:pPr>
            <a:r>
              <a:rPr lang="en-US" sz="680" dirty="0">
                <a:solidFill>
                  <a:srgbClr val="17795E"/>
                </a:solidFill>
                <a:latin typeface="Calibri" pitchFamily="34" charset="0"/>
                <a:ea typeface="Calibri" pitchFamily="34" charset="-122"/>
                <a:cs typeface="Calibri" pitchFamily="34" charset="-120"/>
              </a:rPr>
              <a:t>SAP rate card</a:t>
            </a:r>
            <a:endParaRPr lang="en-US" sz="680" dirty="0"/>
          </a:p>
        </p:txBody>
      </p:sp>
      <p:sp>
        <p:nvSpPr>
          <p:cNvPr id="45" name="Shape 43"/>
          <p:cNvSpPr/>
          <p:nvPr/>
        </p:nvSpPr>
        <p:spPr>
          <a:xfrm>
            <a:off x="548640" y="4434840"/>
            <a:ext cx="11146536" cy="365760"/>
          </a:xfrm>
          <a:prstGeom prst="roundRect">
            <a:avLst>
              <a:gd name="adj" fmla="val 10000"/>
            </a:avLst>
          </a:prstGeom>
          <a:solidFill>
            <a:srgbClr val="FFFFFF"/>
          </a:solidFill>
          <a:ln w="10795">
            <a:solidFill>
              <a:srgbClr val="E3E7EA"/>
            </a:solidFill>
            <a:prstDash val="solid"/>
          </a:ln>
        </p:spPr>
      </p:sp>
      <p:sp>
        <p:nvSpPr>
          <p:cNvPr id="46" name="Text 44"/>
          <p:cNvSpPr txBox="1"/>
          <p:nvPr/>
        </p:nvSpPr>
        <p:spPr>
          <a:xfrm>
            <a:off x="658368" y="4434840"/>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Cloud Transport Management</a:t>
            </a:r>
            <a:endParaRPr lang="en-US" sz="940" dirty="0"/>
          </a:p>
        </p:txBody>
      </p:sp>
      <p:sp>
        <p:nvSpPr>
          <p:cNvPr id="47" name="Text 45"/>
          <p:cNvSpPr txBox="1"/>
          <p:nvPr/>
        </p:nvSpPr>
        <p:spPr>
          <a:xfrm>
            <a:off x="4251960" y="4434840"/>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One landscape, three tiers</a:t>
            </a:r>
            <a:endParaRPr lang="en-US" sz="880" dirty="0"/>
          </a:p>
        </p:txBody>
      </p:sp>
      <p:sp>
        <p:nvSpPr>
          <p:cNvPr id="48" name="Text 46"/>
          <p:cNvSpPr txBox="1"/>
          <p:nvPr/>
        </p:nvSpPr>
        <p:spPr>
          <a:xfrm>
            <a:off x="8503920" y="4434840"/>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18</a:t>
            </a:r>
            <a:endParaRPr lang="en-US" sz="1100" dirty="0"/>
          </a:p>
        </p:txBody>
      </p:sp>
      <p:sp>
        <p:nvSpPr>
          <p:cNvPr id="49" name="Text 47"/>
          <p:cNvSpPr txBox="1"/>
          <p:nvPr/>
        </p:nvSpPr>
        <p:spPr>
          <a:xfrm>
            <a:off x="10607040" y="4434840"/>
            <a:ext cx="978408" cy="365760"/>
          </a:xfrm>
          <a:prstGeom prst="rect">
            <a:avLst/>
          </a:prstGeom>
          <a:noFill/>
          <a:ln/>
        </p:spPr>
        <p:txBody>
          <a:bodyPr wrap="square" lIns="0" tIns="0" rIns="0" bIns="0" rtlCol="0" anchor="ctr"/>
          <a:lstStyle/>
          <a:p>
            <a:pPr algn="r" indent="0" marL="0">
              <a:buNone/>
            </a:pPr>
            <a:r>
              <a:rPr lang="en-US" sz="680" dirty="0">
                <a:solidFill>
                  <a:srgbClr val="17795E"/>
                </a:solidFill>
                <a:latin typeface="Calibri" pitchFamily="34" charset="0"/>
                <a:ea typeface="Calibri" pitchFamily="34" charset="-122"/>
                <a:cs typeface="Calibri" pitchFamily="34" charset="-120"/>
              </a:rPr>
              <a:t>SAP rate card</a:t>
            </a:r>
            <a:endParaRPr lang="en-US" sz="680" dirty="0"/>
          </a:p>
        </p:txBody>
      </p:sp>
      <p:sp>
        <p:nvSpPr>
          <p:cNvPr id="50" name="Shape 48"/>
          <p:cNvSpPr/>
          <p:nvPr/>
        </p:nvSpPr>
        <p:spPr>
          <a:xfrm>
            <a:off x="548640" y="4828032"/>
            <a:ext cx="11146536" cy="365760"/>
          </a:xfrm>
          <a:prstGeom prst="roundRect">
            <a:avLst>
              <a:gd name="adj" fmla="val 10000"/>
            </a:avLst>
          </a:prstGeom>
          <a:solidFill>
            <a:srgbClr val="F4F6F7"/>
          </a:solidFill>
          <a:ln w="10795">
            <a:solidFill>
              <a:srgbClr val="E3E7EA"/>
            </a:solidFill>
            <a:prstDash val="solid"/>
          </a:ln>
        </p:spPr>
      </p:sp>
      <p:sp>
        <p:nvSpPr>
          <p:cNvPr id="51" name="Text 49"/>
          <p:cNvSpPr txBox="1"/>
          <p:nvPr/>
        </p:nvSpPr>
        <p:spPr>
          <a:xfrm>
            <a:off x="658368" y="4828032"/>
            <a:ext cx="3520440" cy="365760"/>
          </a:xfrm>
          <a:prstGeom prst="rect">
            <a:avLst/>
          </a:prstGeom>
          <a:noFill/>
          <a:ln/>
        </p:spPr>
        <p:txBody>
          <a:bodyPr wrap="square" lIns="0" tIns="0" rIns="0" bIns="0" rtlCol="0" anchor="ctr"/>
          <a:lstStyle/>
          <a:p>
            <a:pPr indent="0" marL="0">
              <a:buNone/>
            </a:pPr>
            <a:r>
              <a:rPr lang="en-US" sz="940" b="1" dirty="0">
                <a:solidFill>
                  <a:srgbClr val="0C1E33"/>
                </a:solidFill>
                <a:latin typeface="Calibri" pitchFamily="34" charset="0"/>
                <a:ea typeface="Calibri" pitchFamily="34" charset="-122"/>
                <a:cs typeface="Calibri" pitchFamily="34" charset="-120"/>
              </a:rPr>
              <a:t>SAP Continuous Integration and Delivery</a:t>
            </a:r>
            <a:endParaRPr lang="en-US" sz="940" dirty="0"/>
          </a:p>
        </p:txBody>
      </p:sp>
      <p:sp>
        <p:nvSpPr>
          <p:cNvPr id="52" name="Text 50"/>
          <p:cNvSpPr txBox="1"/>
          <p:nvPr/>
        </p:nvSpPr>
        <p:spPr>
          <a:xfrm>
            <a:off x="4251960" y="4828032"/>
            <a:ext cx="4160520" cy="365760"/>
          </a:xfrm>
          <a:prstGeom prst="rect">
            <a:avLst/>
          </a:prstGeom>
          <a:noFill/>
          <a:ln/>
        </p:spPr>
        <p:txBody>
          <a:bodyPr wrap="square" lIns="0" tIns="0" rIns="0" bIns="0" rtlCol="0" anchor="ctr"/>
          <a:lstStyle/>
          <a:p>
            <a:pPr indent="0" marL="0">
              <a:buNone/>
            </a:pPr>
            <a:r>
              <a:rPr lang="en-US" sz="880" dirty="0">
                <a:solidFill>
                  <a:srgbClr val="5A6C82"/>
                </a:solidFill>
                <a:latin typeface="Calibri" pitchFamily="34" charset="0"/>
                <a:ea typeface="Calibri" pitchFamily="34" charset="-122"/>
                <a:cs typeface="Calibri" pitchFamily="34" charset="-120"/>
              </a:rPr>
              <a:t>One pipeline</a:t>
            </a:r>
            <a:endParaRPr lang="en-US" sz="880" dirty="0"/>
          </a:p>
        </p:txBody>
      </p:sp>
      <p:sp>
        <p:nvSpPr>
          <p:cNvPr id="53" name="Text 51"/>
          <p:cNvSpPr txBox="1"/>
          <p:nvPr/>
        </p:nvSpPr>
        <p:spPr>
          <a:xfrm>
            <a:off x="8503920" y="4828032"/>
            <a:ext cx="1965960" cy="365760"/>
          </a:xfrm>
          <a:prstGeom prst="rect">
            <a:avLst/>
          </a:prstGeom>
          <a:noFill/>
          <a:ln/>
        </p:spPr>
        <p:txBody>
          <a:bodyPr wrap="square" lIns="0" tIns="0" rIns="0" bIns="0" rtlCol="0" anchor="ctr"/>
          <a:lstStyle/>
          <a:p>
            <a:pPr algn="r" indent="0" marL="0">
              <a:buNone/>
            </a:pPr>
            <a:r>
              <a:rPr lang="en-US" sz="1100" b="1" dirty="0">
                <a:solidFill>
                  <a:srgbClr val="0C1E33"/>
                </a:solidFill>
                <a:latin typeface="Calibri" pitchFamily="34" charset="0"/>
                <a:ea typeface="Calibri" pitchFamily="34" charset="-122"/>
                <a:cs typeface="Calibri" pitchFamily="34" charset="-120"/>
              </a:rPr>
              <a:t>3</a:t>
            </a:r>
            <a:endParaRPr lang="en-US" sz="1100" dirty="0"/>
          </a:p>
        </p:txBody>
      </p:sp>
      <p:sp>
        <p:nvSpPr>
          <p:cNvPr id="54" name="Text 52"/>
          <p:cNvSpPr txBox="1"/>
          <p:nvPr/>
        </p:nvSpPr>
        <p:spPr>
          <a:xfrm>
            <a:off x="10607040" y="4828032"/>
            <a:ext cx="978408" cy="365760"/>
          </a:xfrm>
          <a:prstGeom prst="rect">
            <a:avLst/>
          </a:prstGeom>
          <a:noFill/>
          <a:ln/>
        </p:spPr>
        <p:txBody>
          <a:bodyPr wrap="square" lIns="0" tIns="0" rIns="0" bIns="0" rtlCol="0" anchor="ctr"/>
          <a:lstStyle/>
          <a:p>
            <a:pPr algn="r" indent="0" marL="0">
              <a:buNone/>
            </a:pPr>
            <a:r>
              <a:rPr lang="en-US" sz="680" dirty="0">
                <a:solidFill>
                  <a:srgbClr val="17795E"/>
                </a:solidFill>
                <a:latin typeface="Calibri" pitchFamily="34" charset="0"/>
                <a:ea typeface="Calibri" pitchFamily="34" charset="-122"/>
                <a:cs typeface="Calibri" pitchFamily="34" charset="-120"/>
              </a:rPr>
              <a:t>SAP rate card</a:t>
            </a:r>
            <a:endParaRPr lang="en-US" sz="680" dirty="0"/>
          </a:p>
        </p:txBody>
      </p:sp>
      <p:sp>
        <p:nvSpPr>
          <p:cNvPr id="55" name="Shape 53"/>
          <p:cNvSpPr/>
          <p:nvPr/>
        </p:nvSpPr>
        <p:spPr>
          <a:xfrm>
            <a:off x="548640" y="5276088"/>
            <a:ext cx="11146536" cy="841248"/>
          </a:xfrm>
          <a:prstGeom prst="roundRect">
            <a:avLst>
              <a:gd name="adj" fmla="val 7609"/>
            </a:avLst>
          </a:prstGeom>
          <a:solidFill>
            <a:srgbClr val="0C1E33"/>
          </a:solidFill>
          <a:ln/>
        </p:spPr>
      </p:sp>
      <p:sp>
        <p:nvSpPr>
          <p:cNvPr id="56" name="Text 54"/>
          <p:cNvSpPr txBox="1"/>
          <p:nvPr/>
        </p:nvSpPr>
        <p:spPr>
          <a:xfrm>
            <a:off x="777240" y="5404104"/>
            <a:ext cx="3840480"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Total platform consumption</a:t>
            </a:r>
            <a:endParaRPr lang="en-US" sz="1300" dirty="0"/>
          </a:p>
        </p:txBody>
      </p:sp>
      <p:sp>
        <p:nvSpPr>
          <p:cNvPr id="57" name="Text 55"/>
          <p:cNvSpPr txBox="1"/>
          <p:nvPr/>
        </p:nvSpPr>
        <p:spPr>
          <a:xfrm>
            <a:off x="777240" y="5660136"/>
            <a:ext cx="4937760" cy="310896"/>
          </a:xfrm>
          <a:prstGeom prst="rect">
            <a:avLst/>
          </a:prstGeom>
          <a:noFill/>
          <a:ln/>
        </p:spPr>
        <p:txBody>
          <a:bodyPr wrap="square" lIns="0" tIns="0" rIns="0" bIns="0" rtlCol="0" anchor="ctr"/>
          <a:lstStyle/>
          <a:p>
            <a:pPr indent="0" marL="0">
              <a:buNone/>
            </a:pPr>
            <a:r>
              <a:rPr lang="en-US" sz="860" dirty="0">
                <a:solidFill>
                  <a:srgbClr val="9FB6CC"/>
                </a:solidFill>
                <a:latin typeface="Calibri" pitchFamily="34" charset="0"/>
                <a:ea typeface="Calibri" pitchFamily="34" charset="-122"/>
                <a:cs typeface="Calibri" pitchFamily="34" charset="-120"/>
              </a:rPr>
              <a:t>Subscription services are licensed separately and are not in this figure.</a:t>
            </a:r>
            <a:endParaRPr lang="en-US" sz="860" dirty="0"/>
          </a:p>
        </p:txBody>
      </p:sp>
      <p:sp>
        <p:nvSpPr>
          <p:cNvPr id="58" name="Text 56"/>
          <p:cNvSpPr txBox="1"/>
          <p:nvPr/>
        </p:nvSpPr>
        <p:spPr>
          <a:xfrm>
            <a:off x="5989320" y="5422392"/>
            <a:ext cx="1965960" cy="310896"/>
          </a:xfrm>
          <a:prstGeom prst="rect">
            <a:avLst/>
          </a:prstGeom>
          <a:noFill/>
          <a:ln/>
        </p:spPr>
        <p:txBody>
          <a:bodyPr wrap="square" lIns="0" tIns="0" rIns="0" bIns="0" rtlCol="0" anchor="ctr"/>
          <a:lstStyle/>
          <a:p>
            <a:pPr indent="0" marL="0">
              <a:buNone/>
            </a:pPr>
            <a:r>
              <a:rPr lang="en-US" sz="1600" b="1" dirty="0">
                <a:solidFill>
                  <a:srgbClr val="20A098"/>
                </a:solidFill>
                <a:latin typeface="Arial" pitchFamily="34" charset="0"/>
                <a:ea typeface="Arial" pitchFamily="34" charset="-122"/>
                <a:cs typeface="Arial" pitchFamily="34" charset="-120"/>
              </a:rPr>
              <a:t>2,545</a:t>
            </a:r>
            <a:endParaRPr lang="en-US" sz="1600" dirty="0"/>
          </a:p>
        </p:txBody>
      </p:sp>
      <p:sp>
        <p:nvSpPr>
          <p:cNvPr id="59" name="Text 57"/>
          <p:cNvSpPr txBox="1"/>
          <p:nvPr/>
        </p:nvSpPr>
        <p:spPr>
          <a:xfrm>
            <a:off x="5989320" y="5751576"/>
            <a:ext cx="1965960" cy="219456"/>
          </a:xfrm>
          <a:prstGeom prst="rect">
            <a:avLst/>
          </a:prstGeom>
          <a:noFill/>
          <a:ln/>
        </p:spPr>
        <p:txBody>
          <a:bodyPr wrap="square" lIns="0" tIns="0" rIns="0" bIns="0" rtlCol="0" anchor="ctr"/>
          <a:lstStyle/>
          <a:p>
            <a:pPr indent="0" marL="0">
              <a:buNone/>
            </a:pPr>
            <a:r>
              <a:rPr lang="en-US" sz="820" dirty="0">
                <a:solidFill>
                  <a:srgbClr val="9FB6CC"/>
                </a:solidFill>
                <a:latin typeface="Calibri" pitchFamily="34" charset="0"/>
                <a:ea typeface="Calibri" pitchFamily="34" charset="-122"/>
                <a:cs typeface="Calibri" pitchFamily="34" charset="-120"/>
              </a:rPr>
              <a:t>capacity units a month</a:t>
            </a:r>
            <a:endParaRPr lang="en-US" sz="820" dirty="0"/>
          </a:p>
        </p:txBody>
      </p:sp>
      <p:sp>
        <p:nvSpPr>
          <p:cNvPr id="60" name="Text 58"/>
          <p:cNvSpPr txBox="1"/>
          <p:nvPr/>
        </p:nvSpPr>
        <p:spPr>
          <a:xfrm>
            <a:off x="8092440" y="5422392"/>
            <a:ext cx="1737360" cy="310896"/>
          </a:xfrm>
          <a:prstGeom prst="rect">
            <a:avLst/>
          </a:prstGeom>
          <a:noFill/>
          <a:ln/>
        </p:spPr>
        <p:txBody>
          <a:bodyPr wrap="square" lIns="0" tIns="0" rIns="0" bIns="0" rtlCol="0" anchor="ctr"/>
          <a:lstStyle/>
          <a:p>
            <a:pPr indent="0" marL="0">
              <a:buNone/>
            </a:pPr>
            <a:r>
              <a:rPr lang="en-US" sz="1600" b="1" dirty="0">
                <a:solidFill>
                  <a:srgbClr val="20A098"/>
                </a:solidFill>
                <a:latin typeface="Arial" pitchFamily="34" charset="0"/>
                <a:ea typeface="Arial" pitchFamily="34" charset="-122"/>
                <a:cs typeface="Arial" pitchFamily="34" charset="-120"/>
              </a:rPr>
              <a:t>30,540</a:t>
            </a:r>
            <a:endParaRPr lang="en-US" sz="1600" dirty="0"/>
          </a:p>
        </p:txBody>
      </p:sp>
      <p:sp>
        <p:nvSpPr>
          <p:cNvPr id="61" name="Text 59"/>
          <p:cNvSpPr txBox="1"/>
          <p:nvPr/>
        </p:nvSpPr>
        <p:spPr>
          <a:xfrm>
            <a:off x="8092440" y="5751576"/>
            <a:ext cx="1737360" cy="219456"/>
          </a:xfrm>
          <a:prstGeom prst="rect">
            <a:avLst/>
          </a:prstGeom>
          <a:noFill/>
          <a:ln/>
        </p:spPr>
        <p:txBody>
          <a:bodyPr wrap="square" lIns="0" tIns="0" rIns="0" bIns="0" rtlCol="0" anchor="ctr"/>
          <a:lstStyle/>
          <a:p>
            <a:pPr indent="0" marL="0">
              <a:buNone/>
            </a:pPr>
            <a:r>
              <a:rPr lang="en-US" sz="820" dirty="0">
                <a:solidFill>
                  <a:srgbClr val="9FB6CC"/>
                </a:solidFill>
                <a:latin typeface="Calibri" pitchFamily="34" charset="0"/>
                <a:ea typeface="Calibri" pitchFamily="34" charset="-122"/>
                <a:cs typeface="Calibri" pitchFamily="34" charset="-120"/>
              </a:rPr>
              <a:t>capacity units a year</a:t>
            </a:r>
            <a:endParaRPr lang="en-US" sz="820" dirty="0"/>
          </a:p>
        </p:txBody>
      </p:sp>
      <p:sp>
        <p:nvSpPr>
          <p:cNvPr id="62" name="Text 60"/>
          <p:cNvSpPr txBox="1"/>
          <p:nvPr/>
        </p:nvSpPr>
        <p:spPr>
          <a:xfrm>
            <a:off x="9921240" y="5422392"/>
            <a:ext cx="1737360" cy="310896"/>
          </a:xfrm>
          <a:prstGeom prst="rect">
            <a:avLst/>
          </a:prstGeom>
          <a:noFill/>
          <a:ln/>
        </p:spPr>
        <p:txBody>
          <a:bodyPr wrap="square" lIns="0" tIns="0" rIns="0" bIns="0" rtlCol="0" anchor="ctr"/>
          <a:lstStyle/>
          <a:p>
            <a:pPr indent="0" marL="0">
              <a:buNone/>
            </a:pPr>
            <a:r>
              <a:rPr lang="en-US" sz="1600" b="1" dirty="0">
                <a:solidFill>
                  <a:srgbClr val="C9A227"/>
                </a:solidFill>
                <a:latin typeface="Arial" pitchFamily="34" charset="0"/>
                <a:ea typeface="Arial" pitchFamily="34" charset="-122"/>
                <a:cs typeface="Arial" pitchFamily="34" charset="-120"/>
              </a:rPr>
              <a:t>EUR 30,540</a:t>
            </a:r>
            <a:endParaRPr lang="en-US" sz="1600" dirty="0"/>
          </a:p>
        </p:txBody>
      </p:sp>
      <p:sp>
        <p:nvSpPr>
          <p:cNvPr id="63" name="Text 61"/>
          <p:cNvSpPr txBox="1"/>
          <p:nvPr/>
        </p:nvSpPr>
        <p:spPr>
          <a:xfrm>
            <a:off x="9921240" y="5751576"/>
            <a:ext cx="1737360" cy="219456"/>
          </a:xfrm>
          <a:prstGeom prst="rect">
            <a:avLst/>
          </a:prstGeom>
          <a:noFill/>
          <a:ln/>
        </p:spPr>
        <p:txBody>
          <a:bodyPr wrap="square" lIns="0" tIns="0" rIns="0" bIns="0" rtlCol="0" anchor="ctr"/>
          <a:lstStyle/>
          <a:p>
            <a:pPr indent="0" marL="0">
              <a:buNone/>
            </a:pPr>
            <a:r>
              <a:rPr lang="en-US" sz="820" dirty="0">
                <a:solidFill>
                  <a:srgbClr val="9FB6CC"/>
                </a:solidFill>
                <a:latin typeface="Calibri" pitchFamily="34" charset="0"/>
                <a:ea typeface="Calibri" pitchFamily="34" charset="-122"/>
                <a:cs typeface="Calibri" pitchFamily="34" charset="-120"/>
              </a:rPr>
              <a:t>a year at list, before discount</a:t>
            </a:r>
            <a:endParaRPr lang="en-US" sz="820" dirty="0"/>
          </a:p>
        </p:txBody>
      </p:sp>
      <p:sp>
        <p:nvSpPr>
          <p:cNvPr id="64" name="Text 62"/>
          <p:cNvSpPr txBox="1"/>
          <p:nvPr/>
        </p:nvSpPr>
        <p:spPr>
          <a:xfrm>
            <a:off x="548640" y="6190488"/>
            <a:ext cx="11146536" cy="219456"/>
          </a:xfrm>
          <a:prstGeom prst="rect">
            <a:avLst/>
          </a:prstGeom>
          <a:noFill/>
          <a:ln/>
        </p:spPr>
        <p:txBody>
          <a:bodyPr wrap="square" lIns="0" tIns="0" rIns="0" bIns="0" rtlCol="0" anchor="ctr"/>
          <a:lstStyle/>
          <a:p>
            <a:pPr indent="0" marL="0">
              <a:lnSpc>
                <a:spcPts val="960"/>
              </a:lnSpc>
              <a:buNone/>
            </a:pPr>
            <a:r>
              <a:rPr lang="en-US" sz="780" b="1" dirty="0">
                <a:solidFill>
                  <a:srgbClr val="0C1E33"/>
                </a:solidFill>
                <a:latin typeface="Calibri" pitchFamily="34" charset="0"/>
                <a:ea typeface="Calibri" pitchFamily="34" charset="-122"/>
                <a:cs typeface="Calibri" pitchFamily="34" charset="-120"/>
              </a:rPr>
              <a:t>Where the rates come from. </a:t>
            </a:r>
            <a:pPr indent="0" marL="0">
              <a:lnSpc>
                <a:spcPts val="960"/>
              </a:lnSpc>
              <a:buNone/>
            </a:pPr>
            <a:r>
              <a:rPr lang="en-US" sz="780" dirty="0">
                <a:solidFill>
                  <a:srgbClr val="5A6C82"/>
                </a:solidFill>
                <a:latin typeface="Calibri" pitchFamily="34" charset="0"/>
                <a:ea typeface="Calibri" pitchFamily="34" charset="-122"/>
                <a:cs typeface="Calibri" pitchFamily="34" charset="-120"/>
              </a:rPr>
              <a:t>Rates marked in green are SAP published rates, read from the SAP Build Runtime Capacity Unit Calculator in September 2026, and SAP Discovery Center lists one capacity unit at 1.00 EUR. The SAP HANA Cloud line is an estimate for the stated configuration and is the one to reconfirm in the SAP HANA Cloud Capacity Unit Estimator before quoting. Final pricing depends on the customer agreement.</a:t>
            </a:r>
            <a:endParaRPr lang="en-US" sz="780" dirty="0"/>
          </a:p>
        </p:txBody>
      </p:sp>
      <p:sp>
        <p:nvSpPr>
          <p:cNvPr id="65" name="Text 63"/>
          <p:cNvSpPr txBox="1"/>
          <p:nvPr/>
        </p:nvSpPr>
        <p:spPr>
          <a:xfrm>
            <a:off x="548640" y="6437376"/>
            <a:ext cx="10332720" cy="219456"/>
          </a:xfrm>
          <a:prstGeom prst="rect">
            <a:avLst/>
          </a:prstGeom>
          <a:noFill/>
          <a:ln/>
        </p:spPr>
        <p:txBody>
          <a:bodyPr wrap="square" lIns="0" tIns="0" rIns="0" bIns="0" rtlCol="0" anchor="ctr"/>
          <a:lstStyle/>
          <a:p>
            <a:pPr indent="0" marL="0">
              <a:buNone/>
            </a:pPr>
            <a:r>
              <a:rPr lang="en-US" sz="800" dirty="0">
                <a:solidFill>
                  <a:srgbClr val="96A3AE"/>
                </a:solidFill>
                <a:latin typeface="Calibri" pitchFamily="34" charset="0"/>
                <a:ea typeface="Calibri" pitchFamily="34" charset="-122"/>
                <a:cs typeface="Calibri" pitchFamily="34" charset="-120"/>
              </a:rPr>
              <a:t>INK IT Business Solutions   ·   Visa and Permits Management on SAP Business Technology Platform   ·   Kingdom of Saudi Arabia</a:t>
            </a:r>
            <a:endParaRPr lang="en-US" sz="800" dirty="0"/>
          </a:p>
        </p:txBody>
      </p:sp>
      <p:sp>
        <p:nvSpPr>
          <p:cNvPr id="66" name="Text 64"/>
          <p:cNvSpPr txBox="1"/>
          <p:nvPr/>
        </p:nvSpPr>
        <p:spPr>
          <a:xfrm>
            <a:off x="11064240" y="6437376"/>
            <a:ext cx="630936" cy="219456"/>
          </a:xfrm>
          <a:prstGeom prst="rect">
            <a:avLst/>
          </a:prstGeom>
          <a:noFill/>
          <a:ln/>
        </p:spPr>
        <p:txBody>
          <a:bodyPr wrap="square" lIns="0" tIns="0" rIns="0" bIns="0" rtlCol="0" anchor="ctr"/>
          <a:lstStyle/>
          <a:p>
            <a:pPr algn="r" indent="0" marL="0">
              <a:buNone/>
            </a:pPr>
            <a:r>
              <a:rPr lang="en-US" sz="800" dirty="0">
                <a:solidFill>
                  <a:srgbClr val="96A3AE"/>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INK IT Business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Visa and Permits Management on SAP Business Technology Platform</dc:title>
  <dc:subject>PptxGenJS Presentation</dc:subject>
  <dc:creator>INK IT Business Solutions</dc:creator>
  <cp:lastModifiedBy>INK IT Business Solutions</cp:lastModifiedBy>
  <cp:revision>1</cp:revision>
  <dcterms:created xsi:type="dcterms:W3CDTF">2026-09-25T05:25:58Z</dcterms:created>
  <dcterms:modified xsi:type="dcterms:W3CDTF">2026-09-25T05:25:58Z</dcterms:modified>
</cp:coreProperties>
</file>