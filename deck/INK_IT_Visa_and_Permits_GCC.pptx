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frame. The pitch: a pre-built SAP BTP application covering the work permit, renewal and cancellation lifecycles, with configured country packs across the GCC and Libya. Emphasise three words: owned, visible, reconciled.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audience recognise themselves here. Ask which of the six they have. Almost every GCC enterprise has at least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on the screenshot — this is the built application, not a mock-up. The five capability tiles are what makes it a governance tool rather than a tracker.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wins the room — people see their own job. Pause on the GRO row: that is the persona whose working life changes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differentiating slide. Other tools track visas; this one manages the people doing the work. Stress the escalation ladder — it is what converts a tracker into accountability.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CFO slide. The line that lands: a payment cannot exist in this system without a receipt and a GL code, so duplicates are prevented at entry rather than discovered at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GCC-ready slide. The message is breadth from one engine: each pack is configuration, not a rebuild, which is why deployment is weeks rather than quarters. For KSA note the three-authority split: Qiwa for labour, Muqeem for the Iqama, Absher as the employee-facing mirror.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healthcare prospects this is the slide that proves domain depth. Note that the same model handles facility permits — pharmacy and clinic licences, trade licences, civil defence — and any industry-grade permit that expires.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Handle the API question head-on before the customer raises it. The value is not automating the click on the government site — it is knowing the click happened, who made it, when, what it cost and what came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provisioning and commercials. The core six are non-negotiable; the rest scale with ambition. Two licensing routes matters — INK IT-managed operation is materially cheaper and is often the deciding factor.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011680"/>
            <a:ext cx="6949440" cy="6949440"/>
          </a:xfrm>
          <a:prstGeom prst="ellipse">
            <a:avLst/>
          </a:prstGeom>
          <a:solidFill>
            <a:srgbClr val="20A09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108960"/>
            <a:ext cx="4754880" cy="4754880"/>
          </a:xfrm>
          <a:prstGeom prst="ellipse">
            <a:avLst/>
          </a:prstGeom>
          <a:solidFill>
            <a:srgbClr val="C9A227">
              <a:alpha val="8000"/>
            </a:srgbClr>
          </a:solidFill>
          <a:ln/>
        </p:spPr>
      </p:sp>
      <p:pic>
        <p:nvPicPr>
          <p:cNvPr id="4" name="Image 0" descr="./img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24028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8368" y="17830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 &amp; Permits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358444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SAP BTP  ·  Ready for the GCC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4041648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A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governance of work permits, residency and professional licences — with every task owned, every deadline visible, and every government payment matched to a receipt and a GL account.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58368" y="5230368"/>
            <a:ext cx="498348" cy="329184"/>
          </a:xfrm>
          <a:prstGeom prst="roundRect">
            <a:avLst>
              <a:gd name="adj" fmla="val 47222"/>
            </a:avLst>
          </a:prstGeom>
          <a:solidFill>
            <a:srgbClr val="16304C"/>
          </a:solidFill>
          <a:ln w="9525">
            <a:solidFill>
              <a:srgbClr val="2C4A6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" y="5230368"/>
            <a:ext cx="4983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F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284732" y="5230368"/>
            <a:ext cx="498348" cy="329184"/>
          </a:xfrm>
          <a:prstGeom prst="roundRect">
            <a:avLst>
              <a:gd name="adj" fmla="val 47222"/>
            </a:avLst>
          </a:prstGeom>
          <a:solidFill>
            <a:srgbClr val="16304C"/>
          </a:solidFill>
          <a:ln w="9525">
            <a:solidFill>
              <a:srgbClr val="2C4A6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84732" y="5230368"/>
            <a:ext cx="4983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F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1911096" y="5230368"/>
            <a:ext cx="708660" cy="329184"/>
          </a:xfrm>
          <a:prstGeom prst="roundRect">
            <a:avLst>
              <a:gd name="adj" fmla="val 47222"/>
            </a:avLst>
          </a:prstGeom>
          <a:solidFill>
            <a:srgbClr val="16304C"/>
          </a:solidFill>
          <a:ln w="9525">
            <a:solidFill>
              <a:srgbClr val="2C4A6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911096" y="5230368"/>
            <a:ext cx="7086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F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747772" y="5230368"/>
            <a:ext cx="813816" cy="329184"/>
          </a:xfrm>
          <a:prstGeom prst="roundRect">
            <a:avLst>
              <a:gd name="adj" fmla="val 47222"/>
            </a:avLst>
          </a:prstGeom>
          <a:solidFill>
            <a:srgbClr val="16304C"/>
          </a:solidFill>
          <a:ln w="9525">
            <a:solidFill>
              <a:srgbClr val="2C4A6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747772" y="5230368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F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689604" y="5230368"/>
            <a:ext cx="603504" cy="329184"/>
          </a:xfrm>
          <a:prstGeom prst="roundRect">
            <a:avLst>
              <a:gd name="adj" fmla="val 47222"/>
            </a:avLst>
          </a:prstGeom>
          <a:solidFill>
            <a:srgbClr val="16304C"/>
          </a:solidFill>
          <a:ln w="9525">
            <a:solidFill>
              <a:srgbClr val="2C4A6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89604" y="5230368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F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421124" y="5230368"/>
            <a:ext cx="918972" cy="329184"/>
          </a:xfrm>
          <a:prstGeom prst="roundRect">
            <a:avLst>
              <a:gd name="adj" fmla="val 47222"/>
            </a:avLst>
          </a:prstGeom>
          <a:solidFill>
            <a:srgbClr val="16304C"/>
          </a:solidFill>
          <a:ln w="9525">
            <a:solidFill>
              <a:srgbClr val="2C4A6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421124" y="5230368"/>
            <a:ext cx="9189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F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Bahrain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68112" y="5230368"/>
            <a:ext cx="708660" cy="329184"/>
          </a:xfrm>
          <a:prstGeom prst="roundRect">
            <a:avLst>
              <a:gd name="adj" fmla="val 47222"/>
            </a:avLst>
          </a:prstGeom>
          <a:solidFill>
            <a:srgbClr val="16304C"/>
          </a:solidFill>
          <a:ln w="9525">
            <a:solidFill>
              <a:srgbClr val="2C4A6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68112" y="5230368"/>
            <a:ext cx="7086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F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Libya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658368" y="5760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 ·  Industry-grade permits  ·  SAP SuccessFactors integrated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58368" y="6217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8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sales and solution overview for SAP and enterprise customers across the GCC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0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permit. Six teams. No shared clock.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work permit crosses recruitment, onboarding, the PRO desk, the employee, HR and finance — and touches a government portal at least five times. Miss one hand-off and it stalls silently, usually until a fine arrives.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02152" cy="1755648"/>
          </a:xfrm>
          <a:prstGeom prst="roundRect">
            <a:avLst>
              <a:gd name="adj" fmla="val 4167"/>
            </a:avLst>
          </a:prstGeom>
          <a:solidFill>
            <a:srgbClr val="F4F6F7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2093976"/>
            <a:ext cx="384048" cy="384048"/>
          </a:xfrm>
          <a:prstGeom prst="ellipse">
            <a:avLst/>
          </a:prstGeom>
          <a:solidFill>
            <a:srgbClr val="20A09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8096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2112264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lives in a spreadsheet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624328"/>
            <a:ext cx="3063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dates sit in one person’s file. When they are on leave the company is blind — and overstay fines start at the border, not in the system.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34256" y="1874520"/>
            <a:ext cx="3502152" cy="1755648"/>
          </a:xfrm>
          <a:prstGeom prst="roundRect">
            <a:avLst>
              <a:gd name="adj" fmla="val 4167"/>
            </a:avLst>
          </a:prstGeom>
          <a:solidFill>
            <a:srgbClr val="F4F6F7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2093976"/>
            <a:ext cx="384048" cy="384048"/>
          </a:xfrm>
          <a:prstGeom prst="ellipse">
            <a:avLst/>
          </a:prstGeom>
          <a:solidFill>
            <a:srgbClr val="20A09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53712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47488" y="2112264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 has no digital desk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53712" y="2624328"/>
            <a:ext cx="3063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relations officers run everything from WhatsApp, email and memory. No queue, no due date, no proof of who was asked what.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19872" y="1874520"/>
            <a:ext cx="3502152" cy="1755648"/>
          </a:xfrm>
          <a:prstGeom prst="roundRect">
            <a:avLst>
              <a:gd name="adj" fmla="val 4167"/>
            </a:avLst>
          </a:prstGeom>
          <a:solidFill>
            <a:srgbClr val="F4F6F7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9328" y="2093976"/>
            <a:ext cx="384048" cy="384048"/>
          </a:xfrm>
          <a:prstGeom prst="ellipse">
            <a:avLst/>
          </a:prstGeom>
          <a:solidFill>
            <a:srgbClr val="20A09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39328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33104" y="2112264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money is untraceable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39328" y="2624328"/>
            <a:ext cx="3063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fees, medicals, insurance and ID charges paid on cards and petty cash. Receipts arrive late, or never. Duplicates surface at audit.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3502152" cy="1755648"/>
          </a:xfrm>
          <a:prstGeom prst="roundRect">
            <a:avLst>
              <a:gd name="adj" fmla="val 4167"/>
            </a:avLst>
          </a:prstGeom>
          <a:solidFill>
            <a:srgbClr val="F4F6F7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" y="4105656"/>
            <a:ext cx="384048" cy="384048"/>
          </a:xfrm>
          <a:prstGeom prst="ellipse">
            <a:avLst/>
          </a:prstGeom>
          <a:solidFill>
            <a:srgbClr val="20A09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8096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4123944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 and PRO are unsynced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" y="4636008"/>
            <a:ext cx="3063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promises a joining date. The PRO has not been told the file exists. The candidate waits abroad for a permit nobody started.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34256" y="3886200"/>
            <a:ext cx="3502152" cy="1755648"/>
          </a:xfrm>
          <a:prstGeom prst="roundRect">
            <a:avLst>
              <a:gd name="adj" fmla="val 4167"/>
            </a:avLst>
          </a:prstGeom>
          <a:solidFill>
            <a:srgbClr val="F4F6F7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53712" y="4105656"/>
            <a:ext cx="384048" cy="384048"/>
          </a:xfrm>
          <a:prstGeom prst="ellipse">
            <a:avLst/>
          </a:prstGeom>
          <a:solidFill>
            <a:srgbClr val="20A09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53712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047488" y="4123944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is a memory test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53712" y="4636008"/>
            <a:ext cx="3063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Quota, skill classification, profession matching, work-location alignment — rules a human must recall correctly, every time, under pressure.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19872" y="3886200"/>
            <a:ext cx="3502152" cy="1755648"/>
          </a:xfrm>
          <a:prstGeom prst="roundRect">
            <a:avLst>
              <a:gd name="adj" fmla="val 4167"/>
            </a:avLst>
          </a:prstGeom>
          <a:solidFill>
            <a:srgbClr val="F4F6F7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39328" y="4105656"/>
            <a:ext cx="384048" cy="384048"/>
          </a:xfrm>
          <a:prstGeom prst="ellipse">
            <a:avLst/>
          </a:prstGeom>
          <a:solidFill>
            <a:srgbClr val="20A09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39328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833104" y="4123944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can answer "where is it?"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39328" y="4636008"/>
            <a:ext cx="3063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employee query takes three calls and a day. Multiply that across thousands of permits and several operating countries.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815584"/>
            <a:ext cx="10424160" cy="475488"/>
          </a:xfrm>
          <a:prstGeom prst="roundRect">
            <a:avLst>
              <a:gd name="adj" fmla="val 17308"/>
            </a:avLst>
          </a:prstGeom>
          <a:solidFill>
            <a:srgbClr val="E4F5F3"/>
          </a:solidFill>
          <a:ln w="9525">
            <a:solidFill>
              <a:srgbClr val="20A09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5815584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getting this wrong:  </a:t>
            </a:r>
            <a:pPr indent="0" marL="0">
              <a:buNone/>
            </a:pPr>
            <a:r>
              <a:rPr lang="en-US" sz="1150" dirty="0">
                <a:solidFill>
                  <a:srgbClr val="0C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overstay and labour fines, blocked quotas, employees who cannot legally be rostered, and a compliance position no one can evidence to a regulator or an auditor.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1908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6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IT Business Solutions  ·  Visa &amp; Permits Management on SAP BTP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155680" y="64190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6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0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tracked runway for every permit.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governed lifecycles, twenty-two milestones, one task inbox.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029200" cy="1060704"/>
          </a:xfrm>
          <a:prstGeom prst="roundRect">
            <a:avLst>
              <a:gd name="adj" fmla="val 6897"/>
            </a:avLst>
          </a:prstGeom>
          <a:solidFill>
            <a:srgbClr val="F4F6F7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8580" cy="1060704"/>
          </a:xfrm>
          <a:prstGeom prst="roundRect">
            <a:avLst>
              <a:gd name="adj" fmla="val 40000"/>
            </a:avLst>
          </a:prstGeom>
          <a:solidFill>
            <a:srgbClr val="20A09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901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Work Permit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886200" y="192938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0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milestones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1945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to legally employed — offer, labour card, entry permit or status change, medical, Emirates ID.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5029200" cy="1060704"/>
          </a:xfrm>
          <a:prstGeom prst="roundRect">
            <a:avLst>
              <a:gd name="adj" fmla="val 6897"/>
            </a:avLst>
          </a:prstGeom>
          <a:solidFill>
            <a:srgbClr val="F4F6F7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971800"/>
            <a:ext cx="68580" cy="1060704"/>
          </a:xfrm>
          <a:prstGeom prst="roundRect">
            <a:avLst>
              <a:gd name="adj" fmla="val 40000"/>
            </a:avLst>
          </a:prstGeom>
          <a:solidFill>
            <a:srgbClr val="12756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3090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 Work Permit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311810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2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milestones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33832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expiry alerts six weeks ahead — medical, contract, stamping, ID renewal and collection.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029200" cy="1060704"/>
          </a:xfrm>
          <a:prstGeom prst="roundRect">
            <a:avLst>
              <a:gd name="adj" fmla="val 6897"/>
            </a:avLst>
          </a:prstGeom>
          <a:solidFill>
            <a:srgbClr val="F4F6F7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160520"/>
            <a:ext cx="68580" cy="1060704"/>
          </a:xfrm>
          <a:prstGeom prst="roundRect">
            <a:avLst>
              <a:gd name="adj" fmla="val 40000"/>
            </a:avLst>
          </a:prstGeom>
          <a:solidFill>
            <a:srgbClr val="16304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" y="42793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Work Permit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886200" y="430682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milestones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45720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behind end-of-service settlement — cancellation forms, ministry submission, residence cancellation.</a:t>
            </a:r>
            <a:endParaRPr lang="en-US" sz="1100" dirty="0"/>
          </a:p>
        </p:txBody>
      </p:sp>
      <p:pic>
        <p:nvPicPr>
          <p:cNvPr id="20" name="Image 0" descr="./img/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783080"/>
            <a:ext cx="5742432" cy="91440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20000"/>
              </a:srgbClr>
            </a:outerShdw>
          </a:effectLst>
        </p:spPr>
      </p:pic>
      <p:sp>
        <p:nvSpPr>
          <p:cNvPr id="21" name="Text 18"/>
          <p:cNvSpPr txBox="1"/>
          <p:nvPr/>
        </p:nvSpPr>
        <p:spPr>
          <a:xfrm>
            <a:off x="5870448" y="452628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dashboard — running, completed and cancelled counts across all three lifecycles, over a queue of initiated cases with priority, status and assigned agent.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5468112"/>
            <a:ext cx="21031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13232" y="557784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20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713232" y="5779008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milestones per country and permit type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834640" y="5468112"/>
            <a:ext cx="21031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999232" y="557784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20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2999232" y="5779008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due date, reminders and escalation per step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120640" y="5468112"/>
            <a:ext cx="21031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285232" y="557784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20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5285232" y="5779008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attachments before a step can close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406640" y="5468112"/>
            <a:ext cx="21031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571232" y="557784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20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7571232" y="5779008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VAT, mode, reference, receipt and GL account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9692640" y="5468112"/>
            <a:ext cx="21031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857232" y="557784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20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9857232" y="5779008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Filterable, exportable reports per process and payment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641908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6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IT Business Solutions  ·  Visa &amp; Permits Management on SAP BTP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11155680" y="64190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6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0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gets their own to-do list.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sees only what is theirs to do, with a due date against it — which is how the PRO desk, recruitment, onboarding and employee relations stay coordinated.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424160" cy="548640"/>
          </a:xfrm>
          <a:prstGeom prst="roundRect">
            <a:avLst>
              <a:gd name="adj" fmla="val 10000"/>
            </a:avLst>
          </a:prstGeom>
          <a:solidFill>
            <a:srgbClr val="F4F6F7"/>
          </a:solidFill>
          <a:ln w="7620">
            <a:solidFill>
              <a:srgbClr val="E3E7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929384"/>
            <a:ext cx="347472" cy="347472"/>
          </a:xfrm>
          <a:prstGeom prst="ellipse">
            <a:avLst/>
          </a:prstGeom>
          <a:solidFill>
            <a:srgbClr val="20A09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94944" y="1929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188366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Relations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21031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desk · GRO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1883664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cases from the queue; files MOHRE / Qiwa applications; records every payment and receipt; books medicals and biometrics; tracks stamping to ID collection; maintains quota.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883664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b="1" i="1" dirty="0">
                <a:solidFill>
                  <a:srgbClr val="177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with priorities, due dates and proof of what was done.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414016"/>
            <a:ext cx="10424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E3E7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" y="2514600"/>
            <a:ext cx="347472" cy="347472"/>
          </a:xfrm>
          <a:prstGeom prst="ellipse">
            <a:avLst/>
          </a:prstGeom>
          <a:solidFill>
            <a:srgbClr val="12756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4944" y="2514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46888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268833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acquisition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246888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the candidate file and document checklist; releases accepted candidates into the permit process; aligns profession and work-location codes with the PRO.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468880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b="1" i="1" dirty="0">
                <a:solidFill>
                  <a:srgbClr val="177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dates based on real progress, not optimism.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999232"/>
            <a:ext cx="10424160" cy="548640"/>
          </a:xfrm>
          <a:prstGeom prst="roundRect">
            <a:avLst>
              <a:gd name="adj" fmla="val 10000"/>
            </a:avLst>
          </a:prstGeom>
          <a:solidFill>
            <a:srgbClr val="F4F6F7"/>
          </a:solidFill>
          <a:ln w="7620">
            <a:solidFill>
              <a:srgbClr val="E3E7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" y="3099816"/>
            <a:ext cx="347472" cy="347472"/>
          </a:xfrm>
          <a:prstGeom prst="ellipse">
            <a:avLst/>
          </a:prstGeom>
          <a:solidFill>
            <a:srgbClr val="20A09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4944" y="3099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05409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Coordinator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327355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relations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246120" y="3054096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Initiates the permit; checks quota; chases signed offers, contracts and medical receipts; sends biometric appointments; handles national-hire pension steps.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3054096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b="1" i="1" dirty="0">
                <a:solidFill>
                  <a:srgbClr val="177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joiner arrives without the paperwork that makes them legal.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584448"/>
            <a:ext cx="10424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E3E7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944" y="3685032"/>
            <a:ext cx="347472" cy="347472"/>
          </a:xfrm>
          <a:prstGeom prst="ellipse">
            <a:avLst/>
          </a:prstGeom>
          <a:solidFill>
            <a:srgbClr val="12756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94944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363931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Business Partner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385876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relations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3246120" y="3639312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renewal contracts; approves visa allocation for senior grades; initiates cancellation after end-of-service; reviews fines before payroll deduction.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3639312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b="1" i="1" dirty="0">
                <a:solidFill>
                  <a:srgbClr val="177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Escalations arrive before the fine, not after it.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4169664"/>
            <a:ext cx="10424160" cy="548640"/>
          </a:xfrm>
          <a:prstGeom prst="roundRect">
            <a:avLst>
              <a:gd name="adj" fmla="val 10000"/>
            </a:avLst>
          </a:prstGeom>
          <a:solidFill>
            <a:srgbClr val="F4F6F7"/>
          </a:solidFill>
          <a:ln w="7620">
            <a:solidFill>
              <a:srgbClr val="E3E7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4944" y="4270248"/>
            <a:ext cx="347472" cy="347472"/>
          </a:xfrm>
          <a:prstGeom prst="ellipse">
            <a:avLst/>
          </a:prstGeom>
          <a:solidFill>
            <a:srgbClr val="20A09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94944" y="4270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" y="4224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/ Candidate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" y="44439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3246120" y="4224528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Acknowledges and uploads signed contracts; confirms in-country or out-of-country status; confirms medical completion, insurance enrolment and ID receipt.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4224528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b="1" i="1" dirty="0">
                <a:solidFill>
                  <a:srgbClr val="177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exactly what is pending from them, and by when.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4754880"/>
            <a:ext cx="10424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E3E7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4944" y="4855464"/>
            <a:ext cx="347472" cy="347472"/>
          </a:xfrm>
          <a:prstGeom prst="ellipse">
            <a:avLst/>
          </a:prstGeom>
          <a:solidFill>
            <a:srgbClr val="12756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94944" y="4855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1152144" y="480974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Controller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152144" y="50292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GL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3246120" y="4809744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Reconciles government fees against receipts; posts permit costs to GL accounts; reviews card-holder spend for reimbursement; approves fine deductions.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8229600" y="4809744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b="1" i="1" dirty="0">
                <a:solidFill>
                  <a:srgbClr val="177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export instead of days of reconciliation.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48640" y="5340096"/>
            <a:ext cx="10424160" cy="548640"/>
          </a:xfrm>
          <a:prstGeom prst="roundRect">
            <a:avLst>
              <a:gd name="adj" fmla="val 10000"/>
            </a:avLst>
          </a:prstGeom>
          <a:solidFill>
            <a:srgbClr val="F4F6F7"/>
          </a:solidFill>
          <a:ln w="7620">
            <a:solidFill>
              <a:srgbClr val="E3E7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4944" y="5440680"/>
            <a:ext cx="347472" cy="347472"/>
          </a:xfrm>
          <a:prstGeom prst="ellipse">
            <a:avLst/>
          </a:prstGeom>
          <a:solidFill>
            <a:srgbClr val="16304C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94944" y="5440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1152144" y="539496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HR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1152144" y="56144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risk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3246120" y="539496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quota utilisation and Saudization or Emiratisation ratios; reviews compliance exposure by entity and country; signs off permit cost budgets.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8229600" y="5394960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b="1" i="1" dirty="0">
                <a:solidFill>
                  <a:srgbClr val="177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 as a dashboard, not a fire drill.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1152144" y="16093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6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3246120" y="160934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6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 IN THE SYSTEM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8229600" y="1609344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6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GET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548640" y="641908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6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IT Business Solutions  ·  Visa &amp; Permits Management on SAP BTP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11155680" y="64190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6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0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 &amp; ACCOUNTABILITY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task with a name on it behaves differently.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milestone becomes a real task with an assignee, a due date and an escalation path. Nothing sits in a grey zone where everybody assumes somebody else has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73936"/>
            <a:ext cx="5532120" cy="969264"/>
          </a:xfrm>
          <a:prstGeom prst="roundRect">
            <a:avLst>
              <a:gd name="adj" fmla="val 7547"/>
            </a:avLst>
          </a:prstGeom>
          <a:solidFill>
            <a:srgbClr val="F4F6F7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75104"/>
            <a:ext cx="402336" cy="402336"/>
          </a:xfrm>
          <a:prstGeom prst="ellipse">
            <a:avLst/>
          </a:prstGeom>
          <a:solidFill>
            <a:srgbClr val="20A09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9110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 </a:t>
            </a:r>
            <a:pPr indent="0" marL="0">
              <a:buNone/>
            </a:pPr>
            <a:r>
              <a:rPr lang="en-US" sz="12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The task gets an owner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218541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 a role, then claimed by a named officer with "Assign To Yourself" — or pushed by a supervisor with "Assign Agent". Priority and due date are stamped at that moment.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548640" y="2871216"/>
            <a:ext cx="553212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072384"/>
            <a:ext cx="402336" cy="402336"/>
          </a:xfrm>
          <a:prstGeom prst="ellipse">
            <a:avLst/>
          </a:prstGeom>
          <a:solidFill>
            <a:srgbClr val="B57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072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3008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7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Nudge  </a:t>
            </a:r>
            <a:pPr indent="0" marL="0">
              <a:buNone/>
            </a:pPr>
            <a:r>
              <a:rPr lang="en-US" sz="12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Reminder every 2 days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28269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tasks re-notify the assignee on a two-day cycle. Document expiries fire six weeks ahead, to the employee, the PRO and the HRBP together.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548640" y="3968496"/>
            <a:ext cx="5532120" cy="969264"/>
          </a:xfrm>
          <a:prstGeom prst="roundRect">
            <a:avLst>
              <a:gd name="adj" fmla="val 7547"/>
            </a:avLst>
          </a:prstGeom>
          <a:solidFill>
            <a:srgbClr val="F4F6F7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4169664"/>
            <a:ext cx="402336" cy="402336"/>
          </a:xfrm>
          <a:prstGeom prst="ellipse">
            <a:avLst/>
          </a:prstGeom>
          <a:solidFill>
            <a:srgbClr val="B23A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9808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41056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 </a:t>
            </a:r>
            <a:pPr indent="0" marL="0">
              <a:buNone/>
            </a:pPr>
            <a:r>
              <a:rPr lang="en-US" sz="12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The manager is told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437997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two weeks before expiry, or when a task passes its due date, the line escalates automatically to the HR Manager and the line manager.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48640" y="5065776"/>
            <a:ext cx="553212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5266944"/>
            <a:ext cx="402336" cy="402336"/>
          </a:xfrm>
          <a:prstGeom prst="ellipse">
            <a:avLst/>
          </a:prstGeom>
          <a:solidFill>
            <a:srgbClr val="17795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" y="5266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98448" y="5202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7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 </a:t>
            </a:r>
            <a:pPr indent="0" marL="0">
              <a:buNone/>
            </a:pPr>
            <a:r>
              <a:rPr lang="en-US" sz="12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The trail is permanent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298448" y="54772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was assigned, when they were reminded, what they uploaded and when they submitted is written to the record. Audits become a report, not an investigation.</a:t>
            </a:r>
            <a:endParaRPr lang="en-US" sz="980" dirty="0"/>
          </a:p>
        </p:txBody>
      </p:sp>
      <p:pic>
        <p:nvPicPr>
          <p:cNvPr id="25" name="Image 0" descr="./img/inbo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773936"/>
            <a:ext cx="5257800" cy="91440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20000"/>
              </a:srgbClr>
            </a:outerShdw>
          </a:effectLst>
        </p:spPr>
      </p:pic>
      <p:sp>
        <p:nvSpPr>
          <p:cNvPr id="26" name="Text 23"/>
          <p:cNvSpPr txBox="1"/>
          <p:nvPr/>
        </p:nvSpPr>
        <p:spPr>
          <a:xfrm>
            <a:off x="6355080" y="4443984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i="1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officer’s inbox — pending tasks with type and due date on the left, the task itself on the right: assignee, due date, comment thread and the document that must come back before it can be submitted.</a:t>
            </a:r>
            <a:endParaRPr lang="en-US" sz="980" dirty="0"/>
          </a:p>
        </p:txBody>
      </p:sp>
      <p:sp>
        <p:nvSpPr>
          <p:cNvPr id="27" name="Shape 24"/>
          <p:cNvSpPr/>
          <p:nvPr/>
        </p:nvSpPr>
        <p:spPr>
          <a:xfrm>
            <a:off x="6355080" y="5084064"/>
            <a:ext cx="5257800" cy="512064"/>
          </a:xfrm>
          <a:prstGeom prst="roundRect">
            <a:avLst>
              <a:gd name="adj" fmla="val 10714"/>
            </a:avLst>
          </a:prstGeom>
          <a:solidFill>
            <a:srgbClr val="E4F5F3"/>
          </a:solidFill>
          <a:ln w="7620">
            <a:solidFill>
              <a:srgbClr val="BFE3D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19672" y="508406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b="1" dirty="0">
                <a:solidFill>
                  <a:srgbClr val="12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surfaced at source  </a:t>
            </a:r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0C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shows where the wait actually is — the unsigned contract, the unbooked medical, the government step pending. The bottleneck has an address.</a:t>
            </a:r>
            <a:endParaRPr lang="en-US" sz="930" dirty="0"/>
          </a:p>
        </p:txBody>
      </p:sp>
      <p:sp>
        <p:nvSpPr>
          <p:cNvPr id="29" name="Shape 26"/>
          <p:cNvSpPr/>
          <p:nvPr/>
        </p:nvSpPr>
        <p:spPr>
          <a:xfrm>
            <a:off x="6355080" y="5687568"/>
            <a:ext cx="5257800" cy="512064"/>
          </a:xfrm>
          <a:prstGeom prst="roundRect">
            <a:avLst>
              <a:gd name="adj" fmla="val 10714"/>
            </a:avLst>
          </a:prstGeom>
          <a:solidFill>
            <a:srgbClr val="E4F5F3"/>
          </a:solidFill>
          <a:ln w="7620">
            <a:solidFill>
              <a:srgbClr val="BFE3D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519672" y="568756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b="1" dirty="0">
                <a:solidFill>
                  <a:srgbClr val="12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made visible  </a:t>
            </a:r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0C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admins can see how many assignments each officer has completed, so work is distributed on evidence rather than on who complains loudest.</a:t>
            </a:r>
            <a:endParaRPr lang="en-US" sz="93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1908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6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IT Business Solutions  ·  Visa &amp; Permits Management on SAP BTP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1155680" y="64190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6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0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CONTROL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payment without a receipt and a GL account.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fees are the leakiest part of permit management. Making the payment part of the task means the money cannot move without leaving a record.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73936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4F6F7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938528"/>
            <a:ext cx="347472" cy="347472"/>
          </a:xfrm>
          <a:prstGeom prst="ellipse">
            <a:avLst/>
          </a:prstGeom>
          <a:solidFill>
            <a:srgbClr val="20A09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35915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Captured in the step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651760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VAT, mode, date and reference are mandatory fields on the milestone form itself.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2834640" y="1773936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4F6F7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9232" y="1938528"/>
            <a:ext cx="347472" cy="347472"/>
          </a:xfrm>
          <a:prstGeom prst="ellipse">
            <a:avLst/>
          </a:prstGeom>
          <a:solidFill>
            <a:srgbClr val="20A09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99232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999232" y="235915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attached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999232" y="2651760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scanned receipt is a required attachment. No file, no submit — the milestone stays open.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5120640" y="1773936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4F6F7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85232" y="1938528"/>
            <a:ext cx="347472" cy="347472"/>
          </a:xfrm>
          <a:prstGeom prst="ellipse">
            <a:avLst/>
          </a:prstGeom>
          <a:solidFill>
            <a:srgbClr val="20A09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85232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285232" y="235915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holder recorded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285232" y="2651760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paid, on whose card, and whether the company or the employee bears the cost.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7406640" y="1773936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4F6F7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71232" y="1938528"/>
            <a:ext cx="347472" cy="347472"/>
          </a:xfrm>
          <a:prstGeom prst="ellipse">
            <a:avLst/>
          </a:prstGeom>
          <a:solidFill>
            <a:srgbClr val="20A09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571232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571232" y="235915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Posted to finance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571232" y="2651760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to the correct GL account with a payment document number for journal posting.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9692640" y="1773936"/>
            <a:ext cx="2103120" cy="1481328"/>
          </a:xfrm>
          <a:prstGeom prst="roundRect">
            <a:avLst>
              <a:gd name="adj" fmla="val 4938"/>
            </a:avLst>
          </a:prstGeom>
          <a:solidFill>
            <a:srgbClr val="F4F6F7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57232" y="1938528"/>
            <a:ext cx="347472" cy="347472"/>
          </a:xfrm>
          <a:prstGeom prst="ellipse">
            <a:avLst/>
          </a:prstGeom>
          <a:solidFill>
            <a:srgbClr val="20A09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857232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857232" y="235915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Reportable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857232" y="2651760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by process, company, employee, date, mode or card holder — then exported.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48640" y="3493008"/>
            <a:ext cx="55321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" y="3630168"/>
            <a:ext cx="365760" cy="365760"/>
          </a:xfrm>
          <a:prstGeom prst="ellipse">
            <a:avLst/>
          </a:prstGeom>
          <a:solidFill>
            <a:srgbClr val="17795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13232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207008" y="355701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duplicate payments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207008" y="377647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is captured against a specific milestone of a specific case, so the same fee cannot be recorded twice against the same step.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4224528"/>
            <a:ext cx="55321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" y="4361688"/>
            <a:ext cx="365760" cy="365760"/>
          </a:xfrm>
          <a:prstGeom prst="ellipse">
            <a:avLst/>
          </a:prstGeom>
          <a:solidFill>
            <a:srgbClr val="17795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13232" y="4361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207008" y="428853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unaccounted spend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1207008" y="45079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 leaves with a GL account and a document number. Finance reconciles from the report, not a shoebox of receipts.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4956048"/>
            <a:ext cx="55321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3232" y="5093208"/>
            <a:ext cx="365760" cy="365760"/>
          </a:xfrm>
          <a:prstGeom prst="ellipse">
            <a:avLst/>
          </a:prstGeom>
          <a:solidFill>
            <a:srgbClr val="17795E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13232" y="5093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207008" y="502005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Fines have a workflow too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1207008" y="52395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Overstay, traffic, labour and immigration fines are raised by the PRO, routed via the HRBP to payroll, and stored as a deduction.</a:t>
            </a:r>
            <a:endParaRPr lang="en-US" sz="900" dirty="0"/>
          </a:p>
        </p:txBody>
      </p:sp>
      <p:pic>
        <p:nvPicPr>
          <p:cNvPr id="45" name="Image 0" descr="./img/payme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3493008"/>
            <a:ext cx="5257800" cy="91440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20000"/>
              </a:srgbClr>
            </a:outerShdw>
          </a:effectLst>
        </p:spPr>
      </p:pic>
      <p:sp>
        <p:nvSpPr>
          <p:cNvPr id="46" name="Text 43"/>
          <p:cNvSpPr txBox="1"/>
          <p:nvPr/>
        </p:nvSpPr>
        <p:spPr>
          <a:xfrm>
            <a:off x="6355080" y="5961888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i="1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is auditable: amount, VAT, payment reference, payment document number, GL account and status — with the original receipt one click away under Download.</a:t>
            </a:r>
            <a:endParaRPr lang="en-US" sz="980" dirty="0"/>
          </a:p>
        </p:txBody>
      </p:sp>
      <p:sp>
        <p:nvSpPr>
          <p:cNvPr id="47" name="Text 44"/>
          <p:cNvSpPr txBox="1"/>
          <p:nvPr/>
        </p:nvSpPr>
        <p:spPr>
          <a:xfrm>
            <a:off x="548640" y="641908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6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IT Business Solutions  ·  Visa &amp; Permits Management on SAP BTP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11155680" y="64190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6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377440"/>
            <a:ext cx="5852160" cy="5852160"/>
          </a:xfrm>
          <a:prstGeom prst="ellipse">
            <a:avLst/>
          </a:prstGeom>
          <a:solidFill>
            <a:srgbClr val="20A098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0233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COVERAGE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engine. Seven rulebooks.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43584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law is national, so the process must be too. The workflow engine, task model, payment capture and reporting stay identical — what changes per country is the milestone set, the authorities, the document checklist and the alert thresholds.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424160" cy="530352"/>
          </a:xfrm>
          <a:prstGeom prst="roundRect">
            <a:avLst>
              <a:gd name="adj" fmla="val 8621"/>
            </a:avLst>
          </a:prstGeom>
          <a:solidFill>
            <a:srgbClr val="13314C"/>
          </a:solidFill>
          <a:ln w="9525">
            <a:solidFill>
              <a:srgbClr val="2741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7785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Arab Emirates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" y="2020824"/>
            <a:ext cx="566928" cy="173736"/>
          </a:xfrm>
          <a:prstGeom prst="roundRect">
            <a:avLst>
              <a:gd name="adj" fmla="val 52632"/>
            </a:avLst>
          </a:prstGeom>
          <a:solidFill>
            <a:srgbClr val="C9A2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020824"/>
            <a:ext cx="566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1792224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7F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MOHRE  ·  ICP  ·  GDRFA  ·  Tasheel / Tawjeeh  ·  ILOE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79222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60" dirty="0">
                <a:solidFill>
                  <a:srgbClr val="A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renew, cancel, quota, temporary permit, Emiratisation, absconding, company documents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548640" y="2322576"/>
            <a:ext cx="10424160" cy="530352"/>
          </a:xfrm>
          <a:prstGeom prst="roundRect">
            <a:avLst>
              <a:gd name="adj" fmla="val 8621"/>
            </a:avLst>
          </a:prstGeom>
          <a:solidFill>
            <a:srgbClr val="16304C"/>
          </a:solidFill>
          <a:ln w="9525">
            <a:solidFill>
              <a:srgbClr val="2741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36372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Kingdom of Saudi Arabia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9808" y="2606040"/>
            <a:ext cx="566928" cy="173736"/>
          </a:xfrm>
          <a:prstGeom prst="roundRect">
            <a:avLst>
              <a:gd name="adj" fmla="val 52632"/>
            </a:avLst>
          </a:prstGeom>
          <a:solidFill>
            <a:srgbClr val="C9A22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2606040"/>
            <a:ext cx="566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3200400" y="2377440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7F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Qiwa  ·  Muqeem  ·  Absher  ·  GOSI  ·  Mudad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237744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60" dirty="0">
                <a:solidFill>
                  <a:srgbClr val="A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visa &amp; quota, work permit, Iqama issue and renewal, exit / re-entry, final exit, profession change, transfer, Nitaqat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548640" y="2907792"/>
            <a:ext cx="10424160" cy="530352"/>
          </a:xfrm>
          <a:prstGeom prst="roundRect">
            <a:avLst>
              <a:gd name="adj" fmla="val 8621"/>
            </a:avLst>
          </a:prstGeom>
          <a:solidFill>
            <a:srgbClr val="13314C"/>
          </a:solidFill>
          <a:ln w="9525">
            <a:solidFill>
              <a:srgbClr val="2741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29489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Qatar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9808" y="3191256"/>
            <a:ext cx="566928" cy="173736"/>
          </a:xfrm>
          <a:prstGeom prst="roundRect">
            <a:avLst>
              <a:gd name="adj" fmla="val 52632"/>
            </a:avLst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3191256"/>
            <a:ext cx="566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2962656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7F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ADLSA  ·  MOI  ·  Metrash2  ·  Qatar Visa Centre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296265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60" dirty="0">
                <a:solidFill>
                  <a:srgbClr val="A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visa quota, contract attestation, entry visa, medical and biometrics, RP and Qatar ID, renewal, exit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48640" y="3493008"/>
            <a:ext cx="10424160" cy="530352"/>
          </a:xfrm>
          <a:prstGeom prst="roundRect">
            <a:avLst>
              <a:gd name="adj" fmla="val 8621"/>
            </a:avLst>
          </a:prstGeom>
          <a:solidFill>
            <a:srgbClr val="16304C"/>
          </a:solidFill>
          <a:ln w="9525">
            <a:solidFill>
              <a:srgbClr val="2741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353415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Kuwait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9808" y="3776472"/>
            <a:ext cx="566928" cy="173736"/>
          </a:xfrm>
          <a:prstGeom prst="roundRect">
            <a:avLst>
              <a:gd name="adj" fmla="val 52632"/>
            </a:avLst>
          </a:prstGeom>
          <a:solidFill>
            <a:srgbClr val="C9A22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" y="3776472"/>
            <a:ext cx="566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3200400" y="3547872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7F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(Ashal)  ·  MOI  ·  Sahel  ·  PACI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132320" y="354787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60" dirty="0">
                <a:solidFill>
                  <a:srgbClr val="A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18 work permit, entry visa, medical and fingerprint, residency stamping, Civil ID, renewal, cancellation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548640" y="4078224"/>
            <a:ext cx="10424160" cy="530352"/>
          </a:xfrm>
          <a:prstGeom prst="roundRect">
            <a:avLst>
              <a:gd name="adj" fmla="val 8621"/>
            </a:avLst>
          </a:prstGeom>
          <a:solidFill>
            <a:srgbClr val="13314C"/>
          </a:solidFill>
          <a:ln w="9525">
            <a:solidFill>
              <a:srgbClr val="27415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9808" y="411937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Oman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49808" y="4361688"/>
            <a:ext cx="566928" cy="173736"/>
          </a:xfrm>
          <a:prstGeom prst="roundRect">
            <a:avLst>
              <a:gd name="adj" fmla="val 52632"/>
            </a:avLst>
          </a:prstGeom>
          <a:solidFill>
            <a:srgbClr val="C9A22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49808" y="4361688"/>
            <a:ext cx="566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3200400" y="4133088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7F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Labour  ·  ROP  ·  Invest Easy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132320" y="41330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60" dirty="0">
                <a:solidFill>
                  <a:srgbClr val="A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clearance, employment visa, medical, resident card, renewal, Omanisation monitoring, exit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548640" y="4663440"/>
            <a:ext cx="10424160" cy="530352"/>
          </a:xfrm>
          <a:prstGeom prst="roundRect">
            <a:avLst>
              <a:gd name="adj" fmla="val 8621"/>
            </a:avLst>
          </a:prstGeom>
          <a:solidFill>
            <a:srgbClr val="16304C"/>
          </a:solidFill>
          <a:ln w="9525">
            <a:solidFill>
              <a:srgbClr val="27415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9808" y="470458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Bahrain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49808" y="4946904"/>
            <a:ext cx="566928" cy="173736"/>
          </a:xfrm>
          <a:prstGeom prst="roundRect">
            <a:avLst>
              <a:gd name="adj" fmla="val 52632"/>
            </a:avLst>
          </a:prstGeom>
          <a:solidFill>
            <a:srgbClr val="C9A227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49808" y="4946904"/>
            <a:ext cx="566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3200400" y="4718304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7F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LMRA (EMS)  ·  NPRA  ·  SIO / CPR  ·  GOSI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132320" y="471830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60" dirty="0">
                <a:solidFill>
                  <a:srgbClr val="A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Expatriate work permit, medical, residence permit, CPR card, renewal, flexi permit tracking, cancellation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548640" y="5248656"/>
            <a:ext cx="10424160" cy="530352"/>
          </a:xfrm>
          <a:prstGeom prst="roundRect">
            <a:avLst>
              <a:gd name="adj" fmla="val 8621"/>
            </a:avLst>
          </a:prstGeom>
          <a:solidFill>
            <a:srgbClr val="13314C"/>
          </a:solidFill>
          <a:ln w="9525">
            <a:solidFill>
              <a:srgbClr val="27415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49808" y="528980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Libya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49808" y="5532120"/>
            <a:ext cx="566928" cy="173736"/>
          </a:xfrm>
          <a:prstGeom prst="roundRect">
            <a:avLst>
              <a:gd name="adj" fmla="val 52632"/>
            </a:avLst>
          </a:prstGeom>
          <a:solidFill>
            <a:srgbClr val="C9A227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49808" y="5532120"/>
            <a:ext cx="566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3200400" y="5303520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7F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Labour  ·  Passport &amp; Nationality Authority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7132320" y="530352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60" dirty="0">
                <a:solidFill>
                  <a:srgbClr val="A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permit, entry visa, medical, residency, rotation tracking for expatriate crews, company operating permits</a:t>
            </a:r>
            <a:endParaRPr lang="en-US" sz="860" dirty="0"/>
          </a:p>
        </p:txBody>
      </p:sp>
      <p:sp>
        <p:nvSpPr>
          <p:cNvPr id="48" name="Text 46"/>
          <p:cNvSpPr txBox="1"/>
          <p:nvPr/>
        </p:nvSpPr>
        <p:spPr>
          <a:xfrm>
            <a:off x="749808" y="1517904"/>
            <a:ext cx="2194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6C8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3200400" y="1517904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6C8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 &amp; PORTALS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7132320" y="1517904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6C8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IN THE PACK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594360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the country’s statutory flow expressed as configuration on the shared engine — milestones, authorities, document checklist, mandatory fields, payment types and alert thresholds. Pre-built rather than custom-developed, with a localisation workshop confirming document names, fees and thresholds before go-live.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641908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IT Business Solutions  ·  Visa &amp; Permits Management on SAP BTP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11155680" y="64190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0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INDUSTRY PERMITS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nurse needs two permissions, not one.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clinician cannot legally practise until a health regulator has verified their credentials and issued a professional licence — on its own clock, with its own renewal cycle. The application runs that as a parallel lane on the same case.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73936"/>
            <a:ext cx="5394960" cy="2487168"/>
          </a:xfrm>
          <a:prstGeom prst="roundRect">
            <a:avLst>
              <a:gd name="adj" fmla="val 2941"/>
            </a:avLst>
          </a:prstGeom>
          <a:solidFill>
            <a:srgbClr val="F4F6F7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938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professional licensing lane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267712"/>
            <a:ext cx="493776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pack collected at recruitment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Primary-source verification (DataFlow) tracked to result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classification or eligibility assessment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exam booked, sat and certificate uploaded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issued, activated against the employing facility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driven by CME hours — 90-day alerts, 15-day escalations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44768" y="1773936"/>
            <a:ext cx="5486400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82512" y="1938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fails without a system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82512" y="2267712"/>
            <a:ext cx="502920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clinician joins on a valid visa but cannot be rostered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Primary-source verification stalls with nobody watching the queue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trainee’s 45-day dataflow deadline passes unnoticed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 hours logged only after the renewal window has closed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and visa expiry drift apart — one lapses, the other is fine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facility licence expires, exposing every practitioner under it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46227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regulators covered by the country packs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809744"/>
            <a:ext cx="2688336" cy="621792"/>
          </a:xfrm>
          <a:prstGeom prst="roundRect">
            <a:avLst>
              <a:gd name="adj" fmla="val 7353"/>
            </a:avLst>
          </a:prstGeom>
          <a:solidFill>
            <a:srgbClr val="F4F6F7"/>
          </a:solidFill>
          <a:ln w="7620">
            <a:solidFill>
              <a:srgbClr val="E3E7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" y="486460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94944" y="503834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SCFHS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94944" y="523036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Mumaris+ · DataFlow · Prometric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3407969" y="4809744"/>
            <a:ext cx="2688336" cy="621792"/>
          </a:xfrm>
          <a:prstGeom prst="roundRect">
            <a:avLst>
              <a:gd name="adj" fmla="val 7353"/>
            </a:avLst>
          </a:prstGeom>
          <a:solidFill>
            <a:srgbClr val="F4F6F7"/>
          </a:solidFill>
          <a:ln w="7620">
            <a:solidFill>
              <a:srgbClr val="E3E7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54273" y="486460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— Dubai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3554273" y="503834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554273" y="523036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Sheryan portal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267298" y="4809744"/>
            <a:ext cx="2688336" cy="621792"/>
          </a:xfrm>
          <a:prstGeom prst="roundRect">
            <a:avLst>
              <a:gd name="adj" fmla="val 7353"/>
            </a:avLst>
          </a:prstGeom>
          <a:solidFill>
            <a:srgbClr val="F4F6F7"/>
          </a:solidFill>
          <a:ln w="7620">
            <a:solidFill>
              <a:srgbClr val="E3E7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3602" y="486460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— Abu Dhabi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413602" y="503834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DOH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13602" y="523036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TAMM / DOH portal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9126626" y="4809744"/>
            <a:ext cx="2688336" cy="621792"/>
          </a:xfrm>
          <a:prstGeom prst="roundRect">
            <a:avLst>
              <a:gd name="adj" fmla="val 7353"/>
            </a:avLst>
          </a:prstGeom>
          <a:solidFill>
            <a:srgbClr val="F4F6F7"/>
          </a:solidFill>
          <a:ln w="7620">
            <a:solidFill>
              <a:srgbClr val="E3E7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72930" y="486460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— Northern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9272930" y="503834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MOHAP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272930" y="523036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MOHAP licensing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548640" y="5541264"/>
            <a:ext cx="2688336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620">
            <a:solidFill>
              <a:srgbClr val="E3E7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4944" y="559612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694944" y="576986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DHP (MOPH)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94944" y="596188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DHP practitioner portal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3407969" y="5541264"/>
            <a:ext cx="2688336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620">
            <a:solidFill>
              <a:srgbClr val="E3E7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54273" y="559612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Bahrain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3554273" y="576986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NHRA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3554273" y="596188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NHRA licensing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6267298" y="5541264"/>
            <a:ext cx="2688336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620">
            <a:solidFill>
              <a:srgbClr val="E3E7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13602" y="559612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6413602" y="576986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OMSB / MOH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413602" y="596188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 · Prometric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9126626" y="5541264"/>
            <a:ext cx="2688336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620">
            <a:solidFill>
              <a:srgbClr val="E3E7E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272930" y="559612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9272930" y="576986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9272930" y="596188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 · Kuwait Prometric</a:t>
            </a:r>
            <a:endParaRPr lang="en-US" sz="83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41908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6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IT Business Solutions  ·  Visa &amp; Permits Management on SAP BTP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155680" y="64190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6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0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INTEGRATION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the government portal and SuccessFactors.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sits exactly where the gap is: it takes candidates from Recruiting, drives the government-facing work, writes permit data back into Employee Central, and posts the money to finance.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92224"/>
            <a:ext cx="6903720" cy="859536"/>
          </a:xfrm>
          <a:prstGeom prst="roundRect">
            <a:avLst>
              <a:gd name="adj" fmla="val 7447"/>
            </a:avLst>
          </a:prstGeom>
          <a:solidFill>
            <a:srgbClr val="F4F6F7"/>
          </a:solidFill>
          <a:ln w="11430">
            <a:solidFill>
              <a:srgbClr val="E3E7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8836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SuccessFactors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031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Candidates, employee master, separations and expiry dates flow in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749808" y="2322576"/>
            <a:ext cx="1175918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7620">
            <a:solidFill>
              <a:srgbClr val="E3E7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322576"/>
            <a:ext cx="11759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2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Recruiting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2017166" y="2322576"/>
            <a:ext cx="1475842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7620">
            <a:solidFill>
              <a:srgbClr val="E3E7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17166" y="2322576"/>
            <a:ext cx="14758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2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Onboarding 2.0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3584448" y="2322576"/>
            <a:ext cx="1400861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7620">
            <a:solidFill>
              <a:srgbClr val="E3E7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84448" y="2322576"/>
            <a:ext cx="14008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2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Central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5076749" y="2322576"/>
            <a:ext cx="1100938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7620">
            <a:solidFill>
              <a:srgbClr val="E3E7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76749" y="2322576"/>
            <a:ext cx="11009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2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Work Zone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 rot="5400000">
            <a:off x="3703320" y="2683764"/>
            <a:ext cx="566928" cy="201168"/>
          </a:xfrm>
          <a:prstGeom prst="chevron">
            <a:avLst/>
          </a:prstGeom>
          <a:solidFill>
            <a:srgbClr val="C3CDD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926080"/>
            <a:ext cx="6903720" cy="1042416"/>
          </a:xfrm>
          <a:prstGeom prst="roundRect">
            <a:avLst>
              <a:gd name="adj" fmla="val 6140"/>
            </a:avLst>
          </a:prstGeom>
          <a:solidFill>
            <a:srgbClr val="20A098"/>
          </a:solidFill>
          <a:ln w="11430">
            <a:solidFill>
              <a:srgbClr val="12756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3017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 &amp; Permits on SAP BTP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3236976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CF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layer — where the work is actually managed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49808" y="3456432"/>
            <a:ext cx="1775765" cy="237744"/>
          </a:xfrm>
          <a:prstGeom prst="roundRect">
            <a:avLst>
              <a:gd name="adj" fmla="val 46154"/>
            </a:avLst>
          </a:prstGeom>
          <a:solidFill>
            <a:srgbClr val="12756F"/>
          </a:solidFill>
          <a:ln w="7620">
            <a:solidFill>
              <a:srgbClr val="0E5F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3456432"/>
            <a:ext cx="17757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milestones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2617013" y="3456432"/>
            <a:ext cx="1925726" cy="237744"/>
          </a:xfrm>
          <a:prstGeom prst="roundRect">
            <a:avLst>
              <a:gd name="adj" fmla="val 46154"/>
            </a:avLst>
          </a:prstGeom>
          <a:solidFill>
            <a:srgbClr val="12756F"/>
          </a:solidFill>
          <a:ln w="7620">
            <a:solidFill>
              <a:srgbClr val="0E5F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17013" y="3456432"/>
            <a:ext cx="19257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inbox &amp; escalation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4634179" y="3456432"/>
            <a:ext cx="875995" cy="237744"/>
          </a:xfrm>
          <a:prstGeom prst="roundRect">
            <a:avLst>
              <a:gd name="adj" fmla="val 46154"/>
            </a:avLst>
          </a:prstGeom>
          <a:solidFill>
            <a:srgbClr val="12756F"/>
          </a:solidFill>
          <a:ln w="7620">
            <a:solidFill>
              <a:srgbClr val="0E5F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34179" y="3456432"/>
            <a:ext cx="8759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5601614" y="3456432"/>
            <a:ext cx="801014" cy="237744"/>
          </a:xfrm>
          <a:prstGeom prst="roundRect">
            <a:avLst>
              <a:gd name="adj" fmla="val 46154"/>
            </a:avLst>
          </a:prstGeom>
          <a:solidFill>
            <a:srgbClr val="12756F"/>
          </a:solidFill>
          <a:ln w="7620">
            <a:solidFill>
              <a:srgbClr val="0E5F5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01614" y="3456432"/>
            <a:ext cx="8010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749808" y="3730752"/>
            <a:ext cx="1250899" cy="237744"/>
          </a:xfrm>
          <a:prstGeom prst="roundRect">
            <a:avLst>
              <a:gd name="adj" fmla="val 46154"/>
            </a:avLst>
          </a:prstGeom>
          <a:solidFill>
            <a:srgbClr val="12756F"/>
          </a:solidFill>
          <a:ln w="7620">
            <a:solidFill>
              <a:srgbClr val="0E5F5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3730752"/>
            <a:ext cx="12508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register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2092147" y="3730752"/>
            <a:ext cx="875995" cy="237744"/>
          </a:xfrm>
          <a:prstGeom prst="roundRect">
            <a:avLst>
              <a:gd name="adj" fmla="val 46154"/>
            </a:avLst>
          </a:prstGeom>
          <a:solidFill>
            <a:srgbClr val="12756F"/>
          </a:solidFill>
          <a:ln w="7620">
            <a:solidFill>
              <a:srgbClr val="0E5F5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092147" y="3730752"/>
            <a:ext cx="8759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 rot="5400000">
            <a:off x="3703320" y="4000500"/>
            <a:ext cx="566928" cy="201168"/>
          </a:xfrm>
          <a:prstGeom prst="chevron">
            <a:avLst/>
          </a:prstGeom>
          <a:solidFill>
            <a:srgbClr val="C3CDD4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4242816"/>
            <a:ext cx="6903720" cy="859536"/>
          </a:xfrm>
          <a:prstGeom prst="roundRect">
            <a:avLst>
              <a:gd name="adj" fmla="val 7447"/>
            </a:avLst>
          </a:prstGeom>
          <a:solidFill>
            <a:srgbClr val="F4F6F7"/>
          </a:solidFill>
          <a:ln w="11430">
            <a:solidFill>
              <a:srgbClr val="E3E7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9808" y="43342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S/4HANA Finance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49808" y="4553712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costs and approved fine deductions post outward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749808" y="4773168"/>
            <a:ext cx="1250899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7620">
            <a:solidFill>
              <a:srgbClr val="E3E7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9808" y="4773168"/>
            <a:ext cx="12508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2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to GL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2092147" y="4773168"/>
            <a:ext cx="1325880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7620">
            <a:solidFill>
              <a:srgbClr val="E3E7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092147" y="477316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2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posting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3509467" y="4773168"/>
            <a:ext cx="1550822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7620">
            <a:solidFill>
              <a:srgbClr val="E3E7E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509467" y="4773168"/>
            <a:ext cx="15508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2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deductions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7699248" y="1792224"/>
            <a:ext cx="3913632" cy="1115568"/>
          </a:xfrm>
          <a:prstGeom prst="roundRect">
            <a:avLst>
              <a:gd name="adj" fmla="val 5738"/>
            </a:avLst>
          </a:prstGeom>
          <a:solidFill>
            <a:srgbClr val="0C1E33"/>
          </a:solidFill>
          <a:ln w="12700">
            <a:solidFill>
              <a:srgbClr val="16304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900416" y="19202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portals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7900416" y="2176272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7F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Qiwa · Muqeem · Absher · MOHRE · ICP · GDRFA · LMRA · PAM · ADLSA · SCFHS · DHA · DOH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7699248" y="3054096"/>
            <a:ext cx="3913632" cy="3035808"/>
          </a:xfrm>
          <a:prstGeom prst="roundRect">
            <a:avLst>
              <a:gd name="adj" fmla="val 2108"/>
            </a:avLst>
          </a:prstGeom>
          <a:solidFill>
            <a:srgbClr val="FCF6E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900416" y="31821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6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integration — read this carefully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900416" y="3456432"/>
            <a:ext cx="351129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40"/>
              </a:lnSpc>
              <a:buNone/>
            </a:pPr>
            <a:r>
              <a:rPr lang="en-US" sz="840" b="1" dirty="0">
                <a:solidFill>
                  <a:srgbClr val="0C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is API-ready by design. </a:t>
            </a:r>
            <a:pPr indent="0" marL="0">
              <a:lnSpc>
                <a:spcPts val="1140"/>
              </a:lnSpc>
              <a:buNone/>
            </a:pPr>
            <a:r>
              <a:rPr lang="en-US" sz="84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government-facing milestone is an abstracted service call, so a portal integration drops into an existing slot rather than requiring the workflow to be rebuilt.
</a:t>
            </a:r>
            <a:pPr indent="0" marL="0">
              <a:lnSpc>
                <a:spcPts val="1140"/>
              </a:lnSpc>
              <a:buNone/>
            </a:pPr>
            <a:r>
              <a:rPr lang="en-US" sz="840" b="1" dirty="0">
                <a:solidFill>
                  <a:srgbClr val="0C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customer must obtain. </a:t>
            </a:r>
            <a:pPr indent="0" marL="0">
              <a:lnSpc>
                <a:spcPts val="1140"/>
              </a:lnSpc>
              <a:buNone/>
            </a:pPr>
            <a:r>
              <a:rPr lang="en-US" sz="84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governments do not publish open APIs, and access is granted to the employer — not to the software vendor. The customer approaches each authority directly (Qiwa and Muqeem in KSA, MOHRE and ICP in the UAE, LMRA in Bahrain) for API credentials, a specification and a sandbox under their own establishment registration. We build the connector from those.
</a:t>
            </a:r>
            <a:pPr indent="0" marL="0">
              <a:lnSpc>
                <a:spcPts val="1140"/>
              </a:lnSpc>
              <a:buNone/>
            </a:pPr>
            <a:r>
              <a:rPr lang="en-US" sz="840" b="1" dirty="0">
                <a:solidFill>
                  <a:srgbClr val="0C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then </a:t>
            </a:r>
            <a:pPr indent="0" marL="0">
              <a:lnSpc>
                <a:spcPts val="1140"/>
              </a:lnSpc>
              <a:buNone/>
            </a:pPr>
            <a:r>
              <a:rPr lang="en-US" sz="84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government step stays a tracked manual PRO activity, with reference number, receipt and status captured in the milestone — which is how the application is designed to operate from day one, with or without a portal connection.</a:t>
            </a:r>
            <a:endParaRPr lang="en-US" sz="84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641908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6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IT Business Solutions  ·  Visa &amp; Permits Management on SAP BTP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155680" y="64190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6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840480"/>
            <a:ext cx="6035040" cy="6035040"/>
          </a:xfrm>
          <a:prstGeom prst="ellipse">
            <a:avLst/>
          </a:prstGeom>
          <a:solidFill>
            <a:srgbClr val="20A098">
              <a:alpha val="9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0233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RUNS 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BTP services required.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0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— REQUIRED FOR ANY DEPLOYMENT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73936"/>
            <a:ext cx="5138928" cy="448056"/>
          </a:xfrm>
          <a:prstGeom prst="roundRect">
            <a:avLst>
              <a:gd name="adj" fmla="val 10204"/>
            </a:avLst>
          </a:prstGeom>
          <a:solidFill>
            <a:srgbClr val="16304C"/>
          </a:solidFill>
          <a:ln w="7620">
            <a:solidFill>
              <a:srgbClr val="2741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911096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20A09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50976" y="1815084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Foundry Runtime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2007108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application, workflow engine and APIs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548640" y="2272284"/>
            <a:ext cx="5138928" cy="448056"/>
          </a:xfrm>
          <a:prstGeom prst="roundRect">
            <a:avLst>
              <a:gd name="adj" fmla="val 10204"/>
            </a:avLst>
          </a:prstGeom>
          <a:solidFill>
            <a:srgbClr val="16304C"/>
          </a:solidFill>
          <a:ln w="7620">
            <a:solidFill>
              <a:srgbClr val="2741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409444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20A09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50976" y="2313432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HANA Cloud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50976" y="2505456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records, quotas, payments, audit trail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548640" y="2770632"/>
            <a:ext cx="5138928" cy="448056"/>
          </a:xfrm>
          <a:prstGeom prst="roundRect">
            <a:avLst>
              <a:gd name="adj" fmla="val 10204"/>
            </a:avLst>
          </a:prstGeom>
          <a:solidFill>
            <a:srgbClr val="16304C"/>
          </a:solidFill>
          <a:ln w="7620">
            <a:solidFill>
              <a:srgbClr val="2741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2907792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20A09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50976" y="281178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Build Work Zone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50976" y="3003804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portal and launchpad per persona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548640" y="3268980"/>
            <a:ext cx="5138928" cy="448056"/>
          </a:xfrm>
          <a:prstGeom prst="roundRect">
            <a:avLst>
              <a:gd name="adj" fmla="val 10204"/>
            </a:avLst>
          </a:prstGeom>
          <a:solidFill>
            <a:srgbClr val="16304C"/>
          </a:solidFill>
          <a:ln w="7620">
            <a:solidFill>
              <a:srgbClr val="2741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340614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20A09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50976" y="3310128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Build Process Automation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50976" y="3502152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Milestones, routing, due dates, escalation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548640" y="3767328"/>
            <a:ext cx="5138928" cy="448056"/>
          </a:xfrm>
          <a:prstGeom prst="roundRect">
            <a:avLst>
              <a:gd name="adj" fmla="val 10204"/>
            </a:avLst>
          </a:prstGeom>
          <a:solidFill>
            <a:srgbClr val="16304C"/>
          </a:solidFill>
          <a:ln w="7620">
            <a:solidFill>
              <a:srgbClr val="2741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" y="3904488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20A09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50976" y="3808476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Identity Authentication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50976" y="4000500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and directory federation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548640" y="4265676"/>
            <a:ext cx="5138928" cy="448056"/>
          </a:xfrm>
          <a:prstGeom prst="roundRect">
            <a:avLst>
              <a:gd name="adj" fmla="val 10204"/>
            </a:avLst>
          </a:prstGeom>
          <a:solidFill>
            <a:srgbClr val="16304C"/>
          </a:solidFill>
          <a:ln w="7620">
            <a:solidFill>
              <a:srgbClr val="2741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" y="4402836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20A09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50976" y="4306824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&amp; Connectivity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50976" y="4498848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outbound to SF, S/4HANA and future APIs</a:t>
            </a:r>
            <a:endParaRPr lang="en-US" sz="840" dirty="0"/>
          </a:p>
        </p:txBody>
      </p:sp>
      <p:sp>
        <p:nvSpPr>
          <p:cNvPr id="30" name="Text 28"/>
          <p:cNvSpPr txBox="1"/>
          <p:nvPr/>
        </p:nvSpPr>
        <p:spPr>
          <a:xfrm>
            <a:off x="5852160" y="148132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SCALE — AS REQUIRED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52160" y="1773936"/>
            <a:ext cx="5138928" cy="448056"/>
          </a:xfrm>
          <a:prstGeom prst="roundRect">
            <a:avLst>
              <a:gd name="adj" fmla="val 10204"/>
            </a:avLst>
          </a:prstGeom>
          <a:solidFill>
            <a:srgbClr val="16304C"/>
          </a:solidFill>
          <a:ln w="7620">
            <a:solidFill>
              <a:srgbClr val="2741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80176" y="1911096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C9A22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254496" y="1815084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Integration Suite (CPI)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254496" y="2007108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flows to SF and S/4HANA Finance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5852160" y="2272284"/>
            <a:ext cx="5138928" cy="448056"/>
          </a:xfrm>
          <a:prstGeom prst="roundRect">
            <a:avLst>
              <a:gd name="adj" fmla="val 10204"/>
            </a:avLst>
          </a:prstGeom>
          <a:solidFill>
            <a:srgbClr val="16304C"/>
          </a:solidFill>
          <a:ln w="7620">
            <a:solidFill>
              <a:srgbClr val="2741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80176" y="2409444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C9A22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54496" y="2313432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Management Service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254496" y="2505456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Passports, contracts, receipts, certificates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5852160" y="2770632"/>
            <a:ext cx="5138928" cy="448056"/>
          </a:xfrm>
          <a:prstGeom prst="roundRect">
            <a:avLst>
              <a:gd name="adj" fmla="val 10204"/>
            </a:avLst>
          </a:prstGeom>
          <a:solidFill>
            <a:srgbClr val="16304C"/>
          </a:solidFill>
          <a:ln w="7620">
            <a:solidFill>
              <a:srgbClr val="2741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0176" y="2907792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C9A22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254496" y="281178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Notification / Email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254496" y="3003804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alerts, reminders and escalation mails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5852160" y="3268980"/>
            <a:ext cx="5138928" cy="448056"/>
          </a:xfrm>
          <a:prstGeom prst="roundRect">
            <a:avLst>
              <a:gd name="adj" fmla="val 10204"/>
            </a:avLst>
          </a:prstGeom>
          <a:solidFill>
            <a:srgbClr val="16304C"/>
          </a:solidFill>
          <a:ln w="7620">
            <a:solidFill>
              <a:srgbClr val="2741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80176" y="340614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C9A227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254496" y="3310128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Scheduling Service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254496" y="3502152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expiry scans and scheduled reports</a:t>
            </a:r>
            <a:endParaRPr lang="en-US" sz="840" dirty="0"/>
          </a:p>
        </p:txBody>
      </p:sp>
      <p:sp>
        <p:nvSpPr>
          <p:cNvPr id="47" name="Shape 45"/>
          <p:cNvSpPr/>
          <p:nvPr/>
        </p:nvSpPr>
        <p:spPr>
          <a:xfrm>
            <a:off x="5852160" y="3767328"/>
            <a:ext cx="5138928" cy="448056"/>
          </a:xfrm>
          <a:prstGeom prst="roundRect">
            <a:avLst>
              <a:gd name="adj" fmla="val 10204"/>
            </a:avLst>
          </a:prstGeom>
          <a:solidFill>
            <a:srgbClr val="16304C"/>
          </a:solidFill>
          <a:ln w="7620">
            <a:solidFill>
              <a:srgbClr val="2741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80176" y="3904488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C9A22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254496" y="3808476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Analytics Cloud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6254496" y="4000500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dashboards and cross-country analytics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5852160" y="4265676"/>
            <a:ext cx="5138928" cy="448056"/>
          </a:xfrm>
          <a:prstGeom prst="roundRect">
            <a:avLst>
              <a:gd name="adj" fmla="val 10204"/>
            </a:avLst>
          </a:prstGeom>
          <a:solidFill>
            <a:srgbClr val="16304C"/>
          </a:solidFill>
          <a:ln w="7620">
            <a:solidFill>
              <a:srgbClr val="2741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80176" y="4402836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C9A227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254496" y="4306824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Application Studio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6254496" y="4498848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and change-request development</a:t>
            </a:r>
            <a:endParaRPr lang="en-US" sz="840" dirty="0"/>
          </a:p>
        </p:txBody>
      </p:sp>
      <p:sp>
        <p:nvSpPr>
          <p:cNvPr id="55" name="Shape 53"/>
          <p:cNvSpPr/>
          <p:nvPr/>
        </p:nvSpPr>
        <p:spPr>
          <a:xfrm>
            <a:off x="548640" y="4846320"/>
            <a:ext cx="10442448" cy="804672"/>
          </a:xfrm>
          <a:prstGeom prst="roundRect">
            <a:avLst>
              <a:gd name="adj" fmla="val 7955"/>
            </a:avLst>
          </a:prstGeom>
          <a:solidFill>
            <a:srgbClr val="123A4E"/>
          </a:solidFill>
          <a:ln w="12700">
            <a:solidFill>
              <a:srgbClr val="12756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49808" y="4956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licensing routes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749808" y="515721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40" dirty="0">
                <a:solidFill>
                  <a:srgbClr val="A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subscribe and operate the runtime and portal — or INK IT manages the subscription and operations entirely, removing separate developer licences.</a:t>
            </a:r>
            <a:endParaRPr lang="en-US" sz="840" dirty="0"/>
          </a:p>
        </p:txBody>
      </p:sp>
      <p:sp>
        <p:nvSpPr>
          <p:cNvPr id="58" name="Text 56"/>
          <p:cNvSpPr txBox="1"/>
          <p:nvPr/>
        </p:nvSpPr>
        <p:spPr>
          <a:xfrm>
            <a:off x="4187952" y="4956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without SuccessFactors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4187952" y="515721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40" dirty="0">
                <a:solidFill>
                  <a:srgbClr val="A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System-agnostic within BTP. If SF is not live yet, the non-integrated deployment still delivers full governance from day one.</a:t>
            </a:r>
            <a:endParaRPr lang="en-US" sz="840" dirty="0"/>
          </a:p>
        </p:txBody>
      </p:sp>
      <p:sp>
        <p:nvSpPr>
          <p:cNvPr id="60" name="Text 58"/>
          <p:cNvSpPr txBox="1"/>
          <p:nvPr/>
        </p:nvSpPr>
        <p:spPr>
          <a:xfrm>
            <a:off x="7626096" y="4956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Deployable in weeks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7626096" y="515721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40" dirty="0">
                <a:solidFill>
                  <a:srgbClr val="A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and configurable rather than custom-developed — environment and configuration, then integration, then localisation.</a:t>
            </a:r>
            <a:endParaRPr lang="en-US" sz="840" dirty="0"/>
          </a:p>
        </p:txBody>
      </p:sp>
      <p:sp>
        <p:nvSpPr>
          <p:cNvPr id="62" name="Text 60"/>
          <p:cNvSpPr txBox="1"/>
          <p:nvPr/>
        </p:nvSpPr>
        <p:spPr>
          <a:xfrm>
            <a:off x="548640" y="5779008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the GCC, today.</a:t>
            </a:r>
            <a:endParaRPr lang="en-US" sz="2000" dirty="0"/>
          </a:p>
        </p:txBody>
      </p:sp>
      <p:sp>
        <p:nvSpPr>
          <p:cNvPr id="63" name="Text 61"/>
          <p:cNvSpPr txBox="1"/>
          <p:nvPr/>
        </p:nvSpPr>
        <p:spPr>
          <a:xfrm>
            <a:off x="548640" y="6126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packs for the UAE, KSA, Qatar, Kuwait, Oman, Bahrain and Libya  ·  Work permits, healthcare licences and any industry-grade permit</a:t>
            </a:r>
            <a:endParaRPr lang="en-US" sz="1000" dirty="0"/>
          </a:p>
        </p:txBody>
      </p:sp>
      <p:pic>
        <p:nvPicPr>
          <p:cNvPr id="64" name="Image 0" descr="./img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5797296"/>
            <a:ext cx="1828800" cy="448056"/>
          </a:xfrm>
          <a:prstGeom prst="rect">
            <a:avLst/>
          </a:prstGeom>
        </p:spPr>
      </p:pic>
      <p:sp>
        <p:nvSpPr>
          <p:cNvPr id="65" name="Text 62"/>
          <p:cNvSpPr txBox="1"/>
          <p:nvPr/>
        </p:nvSpPr>
        <p:spPr>
          <a:xfrm>
            <a:off x="8778240" y="632764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info@inkitsolutions.com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INK IT Business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Visa &amp; Permits Management on SAP BTP</dc:title>
  <dc:subject>PptxGenJS Presentation</dc:subject>
  <dc:creator>INK IT Business Solutions</dc:creator>
  <cp:lastModifiedBy>INK IT Business Solutions</cp:lastModifiedBy>
  <cp:revision>1</cp:revision>
  <dcterms:created xsi:type="dcterms:W3CDTF">2026-09-15T21:34:45Z</dcterms:created>
  <dcterms:modified xsi:type="dcterms:W3CDTF">2026-09-15T21:34:45Z</dcterms:modified>
</cp:coreProperties>
</file>