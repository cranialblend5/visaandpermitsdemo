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The pitch: a pre-built SAP BTP application covering the work permit, renewal and cancellation lifecycles, with configured country packs across the GCC and Libya. Emphasise three words: owned, visible, reconciled.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recognise themselves here. Ask which of the six they have. Almost every GCC enterprise has at least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screenshot — this is the built application, not a mock-up. The five capability tiles are what makes it a governance tool rather than a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room — people see their own job. Pause on the GRO row: that is the persona whose working life changes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differentiating slide. Other tools track visas; this one manages the people doing the work. Stress the escalation ladder — it is what converts a tracker into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CFO slide. The line that lands: a payment cannot exist in this system without a receipt and a GL code, so duplicates are prevented at entry rather than discovered at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GCC-ready slide. The message is breadth from one engine: each pack is configuration, not a rebuild, which is why deployment is weeks rather than quarters. For KSA note the three-authority split: Qiwa for labour, Muqeem for the Iqama, Absher as the employee-facing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healthcare prospects this is the slide that proves domain depth. Note that the same model handles facility permits — pharmacy and clinic licences, trade licences, civil defence — and any industry-grade permit that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sides: SuccessFactors at the top stays the system of record, the people on the left, the government on the right, finance at the bottom. Then land the dashed arrows — that is the honest part of the picture and it is usually what a technical audience is waiting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API question head-on before the customer raises it. The value is not automating the click on the government site — it is knowing the click happened, who made it, when, what it cost and what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provisioning and commercials. The core six are non-negotiable; the rest scale with ambition. Two licensing routes matters — INK IT-managed operation is materially cheaper and is often the deciding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783080"/>
            <a:ext cx="7863840" cy="173736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Arial" pitchFamily="34" charset="0"/>
                <a:ea typeface="Arial" pitchFamily="34" charset="-122"/>
                <a:cs typeface="Arial" pitchFamily="34" charset="-120"/>
              </a:rPr>
              <a:t>Visa &amp; Permits</a:t>
            </a:r>
            <a:endParaRPr lang="en-US" sz="4800" dirty="0"/>
          </a:p>
          <a:p>
            <a:pPr indent="0" marL="0">
              <a:lnSpc>
                <a:spcPts val="5200"/>
              </a:lnSpc>
              <a:buNone/>
            </a:pPr>
            <a:r>
              <a:rPr lang="en-US" sz="4800" b="1" dirty="0">
                <a:solidFill>
                  <a:srgbClr val="FFFFFF"/>
                </a:solidFill>
                <a:latin typeface="Arial" pitchFamily="34" charset="0"/>
                <a:ea typeface="Arial" pitchFamily="34" charset="-122"/>
                <a:cs typeface="Arial" pitchFamily="34" charset="-120"/>
              </a:rPr>
              <a:t>Management</a:t>
            </a:r>
            <a:endParaRPr lang="en-US" sz="4800" dirty="0"/>
          </a:p>
        </p:txBody>
      </p:sp>
      <p:sp>
        <p:nvSpPr>
          <p:cNvPr id="6" name="Text 3"/>
          <p:cNvSpPr txBox="1"/>
          <p:nvPr/>
        </p:nvSpPr>
        <p:spPr>
          <a:xfrm>
            <a:off x="658368" y="3584448"/>
            <a:ext cx="7863840" cy="329184"/>
          </a:xfrm>
          <a:prstGeom prst="rect">
            <a:avLst/>
          </a:prstGeom>
          <a:noFill/>
          <a:ln/>
        </p:spPr>
        <p:txBody>
          <a:bodyPr wrap="square" lIns="0" tIns="0" rIns="0" bIns="0" rtlCol="0" anchor="ctr"/>
          <a:lstStyle/>
          <a:p>
            <a:pPr indent="0" marL="0">
              <a:buNone/>
            </a:pPr>
            <a:r>
              <a:rPr lang="en-US" sz="1900" b="1" dirty="0">
                <a:solidFill>
                  <a:srgbClr val="20A098"/>
                </a:solidFill>
                <a:latin typeface="Calibri" pitchFamily="34" charset="0"/>
                <a:ea typeface="Calibri" pitchFamily="34" charset="-122"/>
                <a:cs typeface="Calibri" pitchFamily="34" charset="-120"/>
              </a:rPr>
              <a:t>Built on SAP BTP  ·  Ready for the GCC</a:t>
            </a:r>
            <a:endParaRPr lang="en-US" sz="1900" dirty="0"/>
          </a:p>
        </p:txBody>
      </p:sp>
      <p:sp>
        <p:nvSpPr>
          <p:cNvPr id="7" name="Text 4"/>
          <p:cNvSpPr txBox="1"/>
          <p:nvPr/>
        </p:nvSpPr>
        <p:spPr>
          <a:xfrm>
            <a:off x="658368" y="4041648"/>
            <a:ext cx="7589520" cy="914400"/>
          </a:xfrm>
          <a:prstGeom prst="rect">
            <a:avLst/>
          </a:prstGeom>
          <a:noFill/>
          <a:ln/>
        </p:spPr>
        <p:txBody>
          <a:bodyPr wrap="square" lIns="0" tIns="0" rIns="0" bIns="0" rtlCol="0" anchor="ctr"/>
          <a:lstStyle/>
          <a:p>
            <a:pPr indent="0" marL="0">
              <a:lnSpc>
                <a:spcPts val="2200"/>
              </a:lnSpc>
              <a:buNone/>
            </a:pPr>
            <a:r>
              <a:rPr lang="en-US" sz="1450" dirty="0">
                <a:solidFill>
                  <a:srgbClr val="A9C2DA"/>
                </a:solidFill>
                <a:latin typeface="Calibri" pitchFamily="34" charset="0"/>
                <a:ea typeface="Calibri" pitchFamily="34" charset="-122"/>
                <a:cs typeface="Calibri" pitchFamily="34" charset="-120"/>
              </a:rPr>
              <a:t>We govern work permits, residency and professional licences end to end. Every task has an owner, every deadline shows up early, and every government payment has a receipt and a GL code against it.</a:t>
            </a:r>
            <a:endParaRPr lang="en-US" sz="1450" dirty="0"/>
          </a:p>
        </p:txBody>
      </p:sp>
      <p:sp>
        <p:nvSpPr>
          <p:cNvPr id="8" name="Shape 5"/>
          <p:cNvSpPr/>
          <p:nvPr/>
        </p:nvSpPr>
        <p:spPr>
          <a:xfrm>
            <a:off x="658368" y="5230368"/>
            <a:ext cx="498348" cy="329184"/>
          </a:xfrm>
          <a:prstGeom prst="roundRect">
            <a:avLst>
              <a:gd name="adj" fmla="val 47222"/>
            </a:avLst>
          </a:prstGeom>
          <a:solidFill>
            <a:srgbClr val="16304C"/>
          </a:solidFill>
          <a:ln w="9525">
            <a:solidFill>
              <a:srgbClr val="2C4A6A"/>
            </a:solidFill>
            <a:prstDash val="solid"/>
          </a:ln>
        </p:spPr>
      </p:sp>
      <p:sp>
        <p:nvSpPr>
          <p:cNvPr id="9" name="Text 6"/>
          <p:cNvSpPr txBox="1"/>
          <p:nvPr/>
        </p:nvSpPr>
        <p:spPr>
          <a:xfrm>
            <a:off x="658368"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UAE</a:t>
            </a:r>
            <a:endParaRPr lang="en-US" sz="1150" dirty="0"/>
          </a:p>
        </p:txBody>
      </p:sp>
      <p:sp>
        <p:nvSpPr>
          <p:cNvPr id="10" name="Shape 7"/>
          <p:cNvSpPr/>
          <p:nvPr/>
        </p:nvSpPr>
        <p:spPr>
          <a:xfrm>
            <a:off x="1284732" y="5230368"/>
            <a:ext cx="498348" cy="329184"/>
          </a:xfrm>
          <a:prstGeom prst="roundRect">
            <a:avLst>
              <a:gd name="adj" fmla="val 47222"/>
            </a:avLst>
          </a:prstGeom>
          <a:solidFill>
            <a:srgbClr val="16304C"/>
          </a:solidFill>
          <a:ln w="9525">
            <a:solidFill>
              <a:srgbClr val="2C4A6A"/>
            </a:solidFill>
            <a:prstDash val="solid"/>
          </a:ln>
        </p:spPr>
      </p:sp>
      <p:sp>
        <p:nvSpPr>
          <p:cNvPr id="11" name="Text 8"/>
          <p:cNvSpPr txBox="1"/>
          <p:nvPr/>
        </p:nvSpPr>
        <p:spPr>
          <a:xfrm>
            <a:off x="1284732"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KSA</a:t>
            </a:r>
            <a:endParaRPr lang="en-US" sz="1150" dirty="0"/>
          </a:p>
        </p:txBody>
      </p:sp>
      <p:sp>
        <p:nvSpPr>
          <p:cNvPr id="12" name="Shape 9"/>
          <p:cNvSpPr/>
          <p:nvPr/>
        </p:nvSpPr>
        <p:spPr>
          <a:xfrm>
            <a:off x="1911096" y="5230368"/>
            <a:ext cx="708660" cy="329184"/>
          </a:xfrm>
          <a:prstGeom prst="roundRect">
            <a:avLst>
              <a:gd name="adj" fmla="val 47222"/>
            </a:avLst>
          </a:prstGeom>
          <a:solidFill>
            <a:srgbClr val="16304C"/>
          </a:solidFill>
          <a:ln w="9525">
            <a:solidFill>
              <a:srgbClr val="2C4A6A"/>
            </a:solidFill>
            <a:prstDash val="solid"/>
          </a:ln>
        </p:spPr>
      </p:sp>
      <p:sp>
        <p:nvSpPr>
          <p:cNvPr id="13" name="Text 10"/>
          <p:cNvSpPr txBox="1"/>
          <p:nvPr/>
        </p:nvSpPr>
        <p:spPr>
          <a:xfrm>
            <a:off x="1911096"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Qatar</a:t>
            </a:r>
            <a:endParaRPr lang="en-US" sz="1150" dirty="0"/>
          </a:p>
        </p:txBody>
      </p:sp>
      <p:sp>
        <p:nvSpPr>
          <p:cNvPr id="14" name="Shape 11"/>
          <p:cNvSpPr/>
          <p:nvPr/>
        </p:nvSpPr>
        <p:spPr>
          <a:xfrm>
            <a:off x="2747772" y="5230368"/>
            <a:ext cx="813816" cy="329184"/>
          </a:xfrm>
          <a:prstGeom prst="roundRect">
            <a:avLst>
              <a:gd name="adj" fmla="val 47222"/>
            </a:avLst>
          </a:prstGeom>
          <a:solidFill>
            <a:srgbClr val="16304C"/>
          </a:solidFill>
          <a:ln w="9525">
            <a:solidFill>
              <a:srgbClr val="2C4A6A"/>
            </a:solidFill>
            <a:prstDash val="solid"/>
          </a:ln>
        </p:spPr>
      </p:sp>
      <p:sp>
        <p:nvSpPr>
          <p:cNvPr id="15" name="Text 12"/>
          <p:cNvSpPr txBox="1"/>
          <p:nvPr/>
        </p:nvSpPr>
        <p:spPr>
          <a:xfrm>
            <a:off x="2747772" y="5230368"/>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Kuwait</a:t>
            </a:r>
            <a:endParaRPr lang="en-US" sz="1150" dirty="0"/>
          </a:p>
        </p:txBody>
      </p:sp>
      <p:sp>
        <p:nvSpPr>
          <p:cNvPr id="16" name="Shape 13"/>
          <p:cNvSpPr/>
          <p:nvPr/>
        </p:nvSpPr>
        <p:spPr>
          <a:xfrm>
            <a:off x="3689604" y="5230368"/>
            <a:ext cx="603504" cy="329184"/>
          </a:xfrm>
          <a:prstGeom prst="roundRect">
            <a:avLst>
              <a:gd name="adj" fmla="val 47222"/>
            </a:avLst>
          </a:prstGeom>
          <a:solidFill>
            <a:srgbClr val="16304C"/>
          </a:solidFill>
          <a:ln w="9525">
            <a:solidFill>
              <a:srgbClr val="2C4A6A"/>
            </a:solidFill>
            <a:prstDash val="solid"/>
          </a:ln>
        </p:spPr>
      </p:sp>
      <p:sp>
        <p:nvSpPr>
          <p:cNvPr id="17" name="Text 14"/>
          <p:cNvSpPr txBox="1"/>
          <p:nvPr/>
        </p:nvSpPr>
        <p:spPr>
          <a:xfrm>
            <a:off x="3689604" y="5230368"/>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Oman</a:t>
            </a:r>
            <a:endParaRPr lang="en-US" sz="1150" dirty="0"/>
          </a:p>
        </p:txBody>
      </p:sp>
      <p:sp>
        <p:nvSpPr>
          <p:cNvPr id="18" name="Shape 15"/>
          <p:cNvSpPr/>
          <p:nvPr/>
        </p:nvSpPr>
        <p:spPr>
          <a:xfrm>
            <a:off x="4421124" y="5230368"/>
            <a:ext cx="918972" cy="329184"/>
          </a:xfrm>
          <a:prstGeom prst="roundRect">
            <a:avLst>
              <a:gd name="adj" fmla="val 47222"/>
            </a:avLst>
          </a:prstGeom>
          <a:solidFill>
            <a:srgbClr val="16304C"/>
          </a:solidFill>
          <a:ln w="9525">
            <a:solidFill>
              <a:srgbClr val="2C4A6A"/>
            </a:solidFill>
            <a:prstDash val="solid"/>
          </a:ln>
        </p:spPr>
      </p:sp>
      <p:sp>
        <p:nvSpPr>
          <p:cNvPr id="19" name="Text 16"/>
          <p:cNvSpPr txBox="1"/>
          <p:nvPr/>
        </p:nvSpPr>
        <p:spPr>
          <a:xfrm>
            <a:off x="4421124" y="5230368"/>
            <a:ext cx="918972"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Bahrain</a:t>
            </a:r>
            <a:endParaRPr lang="en-US" sz="1150" dirty="0"/>
          </a:p>
        </p:txBody>
      </p:sp>
      <p:sp>
        <p:nvSpPr>
          <p:cNvPr id="20" name="Shape 17"/>
          <p:cNvSpPr/>
          <p:nvPr/>
        </p:nvSpPr>
        <p:spPr>
          <a:xfrm>
            <a:off x="5468112" y="5230368"/>
            <a:ext cx="708660" cy="329184"/>
          </a:xfrm>
          <a:prstGeom prst="roundRect">
            <a:avLst>
              <a:gd name="adj" fmla="val 47222"/>
            </a:avLst>
          </a:prstGeom>
          <a:solidFill>
            <a:srgbClr val="16304C"/>
          </a:solidFill>
          <a:ln w="9525">
            <a:solidFill>
              <a:srgbClr val="2C4A6A"/>
            </a:solidFill>
            <a:prstDash val="solid"/>
          </a:ln>
        </p:spPr>
      </p:sp>
      <p:sp>
        <p:nvSpPr>
          <p:cNvPr id="21" name="Text 18"/>
          <p:cNvSpPr txBox="1"/>
          <p:nvPr/>
        </p:nvSpPr>
        <p:spPr>
          <a:xfrm>
            <a:off x="5468112"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Libya</a:t>
            </a:r>
            <a:endParaRPr lang="en-US" sz="1150" dirty="0"/>
          </a:p>
        </p:txBody>
      </p:sp>
      <p:sp>
        <p:nvSpPr>
          <p:cNvPr id="22" name="Text 19"/>
          <p:cNvSpPr txBox="1"/>
          <p:nvPr/>
        </p:nvSpPr>
        <p:spPr>
          <a:xfrm>
            <a:off x="658368" y="5760720"/>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Healthcare  ·  Industry-grade permits  ·  SAP SuccessFactors integrated</a:t>
            </a:r>
            <a:endParaRPr lang="en-US" sz="1200" dirty="0"/>
          </a:p>
        </p:txBody>
      </p:sp>
      <p:sp>
        <p:nvSpPr>
          <p:cNvPr id="23" name="Text 20"/>
          <p:cNvSpPr txBox="1"/>
          <p:nvPr/>
        </p:nvSpPr>
        <p:spPr>
          <a:xfrm>
            <a:off x="658368" y="6217920"/>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and enterprise customers across the GCC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permit, six teams, no shared clock.</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One work permit crosses recruitment, onboarding, the PRO desk, the employee, HR and finance, and touches a government portal at least five times. Miss a single hand-off and it just stops. Usually nobody notices until a fine turns up.</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Tracking lives in a spreadsheet</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Expiry dates sit in one person’s file. When they go on leave, the company is blind. And overstay fines start at the border, not in your system.</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PRO has no digital desk</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GROs run all of it from WhatsApp, email and memory. No queue, no due dates, no proof of who was asked what, or when.</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money is untraceable</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Typing fees, medicals, insurance and ID charges go on cards and petty cash. Receipts turn up late, or never. You find the duplicates at audit.</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Recruitment and PRO are unsynced</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Onboarding promises a joining date. Nobody told the PRO the file exists. The candidate waits abroad for a permit that was never started.</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Compliance is a memory test</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Quota, skill classification, profession matching, work location. Every one is a rule somebody has to remember correctly, every time, in a hurry.</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Nobody can answer "where is it?"</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One employee query takes three calls and a day. Now multiply that across thousands of permits and several countries.</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overstay and labour fines, blocked quotas, employees you cannot legally roster, and a compliance position nobody can actually prove to a regulator or an auditor.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permit on one track.</a:t>
            </a:r>
            <a:endParaRPr lang="en-US" sz="3000" dirty="0"/>
          </a:p>
        </p:txBody>
      </p:sp>
      <p:sp>
        <p:nvSpPr>
          <p:cNvPr id="4" name="Text 2"/>
          <p:cNvSpPr txBox="1"/>
          <p:nvPr/>
        </p:nvSpPr>
        <p:spPr>
          <a:xfrm>
            <a:off x="548640" y="1243584"/>
            <a:ext cx="10424160" cy="292608"/>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Three governed lifecycles, twenty-two milestones, one task inbox.</a:t>
            </a:r>
            <a:endParaRPr lang="en-US" sz="1350" dirty="0"/>
          </a:p>
        </p:txBody>
      </p:sp>
      <p:sp>
        <p:nvSpPr>
          <p:cNvPr id="5" name="Shape 3"/>
          <p:cNvSpPr/>
          <p:nvPr/>
        </p:nvSpPr>
        <p:spPr>
          <a:xfrm>
            <a:off x="548640" y="1783080"/>
            <a:ext cx="5029200" cy="1060704"/>
          </a:xfrm>
          <a:prstGeom prst="roundRect">
            <a:avLst>
              <a:gd name="adj" fmla="val 6897"/>
            </a:avLst>
          </a:prstGeom>
          <a:solidFill>
            <a:srgbClr val="F4F6F7"/>
          </a:solidFill>
          <a:ln w="9525">
            <a:solidFill>
              <a:srgbClr val="E3E7EA"/>
            </a:solidFill>
            <a:prstDash val="solid"/>
          </a:ln>
        </p:spPr>
      </p:sp>
      <p:sp>
        <p:nvSpPr>
          <p:cNvPr id="6" name="Shape 4"/>
          <p:cNvSpPr/>
          <p:nvPr/>
        </p:nvSpPr>
        <p:spPr>
          <a:xfrm>
            <a:off x="548640" y="1783080"/>
            <a:ext cx="68580" cy="1060704"/>
          </a:xfrm>
          <a:prstGeom prst="roundRect">
            <a:avLst>
              <a:gd name="adj" fmla="val 40000"/>
            </a:avLst>
          </a:prstGeom>
          <a:solidFill>
            <a:srgbClr val="20A098"/>
          </a:solidFill>
          <a:ln/>
        </p:spPr>
      </p:sp>
      <p:sp>
        <p:nvSpPr>
          <p:cNvPr id="7" name="Text 5"/>
          <p:cNvSpPr txBox="1"/>
          <p:nvPr/>
        </p:nvSpPr>
        <p:spPr>
          <a:xfrm>
            <a:off x="841248" y="190195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New Work Permit</a:t>
            </a:r>
            <a:endParaRPr lang="en-US" sz="1500" dirty="0"/>
          </a:p>
        </p:txBody>
      </p:sp>
      <p:sp>
        <p:nvSpPr>
          <p:cNvPr id="8" name="Text 6"/>
          <p:cNvSpPr txBox="1"/>
          <p:nvPr/>
        </p:nvSpPr>
        <p:spPr>
          <a:xfrm>
            <a:off x="3886200" y="1929384"/>
            <a:ext cx="1572768" cy="237744"/>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11 milestones</a:t>
            </a:r>
            <a:endParaRPr lang="en-US" sz="1050" dirty="0"/>
          </a:p>
        </p:txBody>
      </p:sp>
      <p:sp>
        <p:nvSpPr>
          <p:cNvPr id="9" name="Text 7"/>
          <p:cNvSpPr txBox="1"/>
          <p:nvPr/>
        </p:nvSpPr>
        <p:spPr>
          <a:xfrm>
            <a:off x="841248" y="219456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From candidate to legally employed: offer, labour card, entry permit or status change, medical, Emirates ID.</a:t>
            </a:r>
            <a:endParaRPr lang="en-US" sz="1100" dirty="0"/>
          </a:p>
        </p:txBody>
      </p:sp>
      <p:sp>
        <p:nvSpPr>
          <p:cNvPr id="10" name="Shape 8"/>
          <p:cNvSpPr/>
          <p:nvPr/>
        </p:nvSpPr>
        <p:spPr>
          <a:xfrm>
            <a:off x="548640" y="2971800"/>
            <a:ext cx="5029200" cy="1060704"/>
          </a:xfrm>
          <a:prstGeom prst="roundRect">
            <a:avLst>
              <a:gd name="adj" fmla="val 6897"/>
            </a:avLst>
          </a:prstGeom>
          <a:solidFill>
            <a:srgbClr val="F4F6F7"/>
          </a:solidFill>
          <a:ln w="9525">
            <a:solidFill>
              <a:srgbClr val="E3E7EA"/>
            </a:solidFill>
            <a:prstDash val="solid"/>
          </a:ln>
        </p:spPr>
      </p:sp>
      <p:sp>
        <p:nvSpPr>
          <p:cNvPr id="11" name="Shape 9"/>
          <p:cNvSpPr/>
          <p:nvPr/>
        </p:nvSpPr>
        <p:spPr>
          <a:xfrm>
            <a:off x="548640" y="2971800"/>
            <a:ext cx="68580" cy="1060704"/>
          </a:xfrm>
          <a:prstGeom prst="roundRect">
            <a:avLst>
              <a:gd name="adj" fmla="val 40000"/>
            </a:avLst>
          </a:prstGeom>
          <a:solidFill>
            <a:srgbClr val="12756F"/>
          </a:solidFill>
          <a:ln/>
        </p:spPr>
      </p:sp>
      <p:sp>
        <p:nvSpPr>
          <p:cNvPr id="12" name="Text 10"/>
          <p:cNvSpPr txBox="1"/>
          <p:nvPr/>
        </p:nvSpPr>
        <p:spPr>
          <a:xfrm>
            <a:off x="841248" y="309067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Renew Work Permit</a:t>
            </a:r>
            <a:endParaRPr lang="en-US" sz="1500" dirty="0"/>
          </a:p>
        </p:txBody>
      </p:sp>
      <p:sp>
        <p:nvSpPr>
          <p:cNvPr id="13" name="Text 11"/>
          <p:cNvSpPr txBox="1"/>
          <p:nvPr/>
        </p:nvSpPr>
        <p:spPr>
          <a:xfrm>
            <a:off x="3886200" y="3118104"/>
            <a:ext cx="1572768" cy="237744"/>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7 milestones</a:t>
            </a:r>
            <a:endParaRPr lang="en-US" sz="1050" dirty="0"/>
          </a:p>
        </p:txBody>
      </p:sp>
      <p:sp>
        <p:nvSpPr>
          <p:cNvPr id="14" name="Text 12"/>
          <p:cNvSpPr txBox="1"/>
          <p:nvPr/>
        </p:nvSpPr>
        <p:spPr>
          <a:xfrm>
            <a:off x="841248" y="338328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Starts from an expiry alert six weeks out: medical, contract, stamping, ID renewal and collection.</a:t>
            </a:r>
            <a:endParaRPr lang="en-US" sz="1100" dirty="0"/>
          </a:p>
        </p:txBody>
      </p:sp>
      <p:sp>
        <p:nvSpPr>
          <p:cNvPr id="15" name="Shape 13"/>
          <p:cNvSpPr/>
          <p:nvPr/>
        </p:nvSpPr>
        <p:spPr>
          <a:xfrm>
            <a:off x="548640" y="4160520"/>
            <a:ext cx="5029200" cy="1060704"/>
          </a:xfrm>
          <a:prstGeom prst="roundRect">
            <a:avLst>
              <a:gd name="adj" fmla="val 6897"/>
            </a:avLst>
          </a:prstGeom>
          <a:solidFill>
            <a:srgbClr val="F4F6F7"/>
          </a:solidFill>
          <a:ln w="9525">
            <a:solidFill>
              <a:srgbClr val="E3E7EA"/>
            </a:solidFill>
            <a:prstDash val="solid"/>
          </a:ln>
        </p:spPr>
      </p:sp>
      <p:sp>
        <p:nvSpPr>
          <p:cNvPr id="16" name="Shape 14"/>
          <p:cNvSpPr/>
          <p:nvPr/>
        </p:nvSpPr>
        <p:spPr>
          <a:xfrm>
            <a:off x="548640" y="4160520"/>
            <a:ext cx="68580" cy="1060704"/>
          </a:xfrm>
          <a:prstGeom prst="roundRect">
            <a:avLst>
              <a:gd name="adj" fmla="val 40000"/>
            </a:avLst>
          </a:prstGeom>
          <a:solidFill>
            <a:srgbClr val="16304C"/>
          </a:solidFill>
          <a:ln/>
        </p:spPr>
      </p:sp>
      <p:sp>
        <p:nvSpPr>
          <p:cNvPr id="17" name="Text 15"/>
          <p:cNvSpPr txBox="1"/>
          <p:nvPr/>
        </p:nvSpPr>
        <p:spPr>
          <a:xfrm>
            <a:off x="841248" y="427939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Cancel Work Permit</a:t>
            </a:r>
            <a:endParaRPr lang="en-US" sz="1500" dirty="0"/>
          </a:p>
        </p:txBody>
      </p:sp>
      <p:sp>
        <p:nvSpPr>
          <p:cNvPr id="18" name="Text 16"/>
          <p:cNvSpPr txBox="1"/>
          <p:nvPr/>
        </p:nvSpPr>
        <p:spPr>
          <a:xfrm>
            <a:off x="3886200" y="4306824"/>
            <a:ext cx="1572768" cy="237744"/>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4 milestones</a:t>
            </a:r>
            <a:endParaRPr lang="en-US" sz="1050" dirty="0"/>
          </a:p>
        </p:txBody>
      </p:sp>
      <p:sp>
        <p:nvSpPr>
          <p:cNvPr id="19" name="Text 17"/>
          <p:cNvSpPr txBox="1"/>
          <p:nvPr/>
        </p:nvSpPr>
        <p:spPr>
          <a:xfrm>
            <a:off x="841248" y="457200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Held until end-of-service is settled: cancellation forms, ministry submission, residence cancellation.</a:t>
            </a:r>
            <a:endParaRPr lang="en-US" sz="1100" dirty="0"/>
          </a:p>
        </p:txBody>
      </p:sp>
      <p:pic>
        <p:nvPicPr>
          <p:cNvPr id="20" name="Image 0" descr="./img/home.jpg">    </p:cNvPr>
          <p:cNvPicPr>
            <a:picLocks noChangeAspect="1"/>
          </p:cNvPicPr>
          <p:nvPr/>
        </p:nvPicPr>
        <p:blipFill>
          <a:blip r:embed="rId1"/>
          <a:stretch>
            <a:fillRect/>
          </a:stretch>
        </p:blipFill>
        <p:spPr>
          <a:xfrm>
            <a:off x="5870448" y="1783080"/>
            <a:ext cx="5742432" cy="914400"/>
          </a:xfrm>
          <a:prstGeom prst="rect">
            <a:avLst/>
          </a:prstGeom>
          <a:effectLst>
            <a:outerShdw sx="100000" sy="100000" kx="0" ky="0" algn="bl" rotWithShape="0" blurRad="177800" dist="38100" dir="5400000">
              <a:srgbClr val="000000">
                <a:alpha val="20000"/>
              </a:srgbClr>
            </a:outerShdw>
          </a:effectLst>
        </p:spPr>
      </p:pic>
      <p:sp>
        <p:nvSpPr>
          <p:cNvPr id="21" name="Text 18"/>
          <p:cNvSpPr txBox="1"/>
          <p:nvPr/>
        </p:nvSpPr>
        <p:spPr>
          <a:xfrm>
            <a:off x="5870448" y="4526280"/>
            <a:ext cx="5742432"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home dashboard: running, completed and cancelled counts across all three lifecycles, over a queue of initiated cases with priority, status and assigned agent.</a:t>
            </a:r>
            <a:endParaRPr lang="en-US" sz="1000" dirty="0"/>
          </a:p>
        </p:txBody>
      </p:sp>
      <p:sp>
        <p:nvSpPr>
          <p:cNvPr id="22" name="Shape 19"/>
          <p:cNvSpPr/>
          <p:nvPr/>
        </p:nvSpPr>
        <p:spPr>
          <a:xfrm>
            <a:off x="548640" y="5468112"/>
            <a:ext cx="2103120" cy="841248"/>
          </a:xfrm>
          <a:prstGeom prst="roundRect">
            <a:avLst>
              <a:gd name="adj" fmla="val 8696"/>
            </a:avLst>
          </a:prstGeom>
          <a:solidFill>
            <a:srgbClr val="FFFFFF"/>
          </a:solidFill>
          <a:ln w="9525">
            <a:solidFill>
              <a:srgbClr val="E3E7EA"/>
            </a:solidFill>
            <a:prstDash val="solid"/>
          </a:ln>
        </p:spPr>
      </p:sp>
      <p:sp>
        <p:nvSpPr>
          <p:cNvPr id="23" name="Text 20"/>
          <p:cNvSpPr txBox="1"/>
          <p:nvPr/>
        </p:nvSpPr>
        <p:spPr>
          <a:xfrm>
            <a:off x="713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WORKFLOW</a:t>
            </a:r>
            <a:endParaRPr lang="en-US" sz="950" dirty="0"/>
          </a:p>
        </p:txBody>
      </p:sp>
      <p:sp>
        <p:nvSpPr>
          <p:cNvPr id="24" name="Text 21"/>
          <p:cNvSpPr txBox="1"/>
          <p:nvPr/>
        </p:nvSpPr>
        <p:spPr>
          <a:xfrm>
            <a:off x="713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Configurable milestones per country and permit type</a:t>
            </a:r>
            <a:endParaRPr lang="en-US" sz="950" dirty="0"/>
          </a:p>
        </p:txBody>
      </p:sp>
      <p:sp>
        <p:nvSpPr>
          <p:cNvPr id="25" name="Shape 22"/>
          <p:cNvSpPr/>
          <p:nvPr/>
        </p:nvSpPr>
        <p:spPr>
          <a:xfrm>
            <a:off x="2834640" y="5468112"/>
            <a:ext cx="2103120" cy="841248"/>
          </a:xfrm>
          <a:prstGeom prst="roundRect">
            <a:avLst>
              <a:gd name="adj" fmla="val 8696"/>
            </a:avLst>
          </a:prstGeom>
          <a:solidFill>
            <a:srgbClr val="FFFFFF"/>
          </a:solidFill>
          <a:ln w="9525">
            <a:solidFill>
              <a:srgbClr val="E3E7EA"/>
            </a:solidFill>
            <a:prstDash val="solid"/>
          </a:ln>
        </p:spPr>
      </p:sp>
      <p:sp>
        <p:nvSpPr>
          <p:cNvPr id="26" name="Text 23"/>
          <p:cNvSpPr txBox="1"/>
          <p:nvPr/>
        </p:nvSpPr>
        <p:spPr>
          <a:xfrm>
            <a:off x="2999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TASKS</a:t>
            </a:r>
            <a:endParaRPr lang="en-US" sz="950" dirty="0"/>
          </a:p>
        </p:txBody>
      </p:sp>
      <p:sp>
        <p:nvSpPr>
          <p:cNvPr id="27" name="Text 24"/>
          <p:cNvSpPr txBox="1"/>
          <p:nvPr/>
        </p:nvSpPr>
        <p:spPr>
          <a:xfrm>
            <a:off x="2999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Owner, due date, reminders and escalation per step</a:t>
            </a:r>
            <a:endParaRPr lang="en-US" sz="950" dirty="0"/>
          </a:p>
        </p:txBody>
      </p:sp>
      <p:sp>
        <p:nvSpPr>
          <p:cNvPr id="28" name="Shape 25"/>
          <p:cNvSpPr/>
          <p:nvPr/>
        </p:nvSpPr>
        <p:spPr>
          <a:xfrm>
            <a:off x="5120640" y="5468112"/>
            <a:ext cx="2103120" cy="841248"/>
          </a:xfrm>
          <a:prstGeom prst="roundRect">
            <a:avLst>
              <a:gd name="adj" fmla="val 8696"/>
            </a:avLst>
          </a:prstGeom>
          <a:solidFill>
            <a:srgbClr val="FFFFFF"/>
          </a:solidFill>
          <a:ln w="9525">
            <a:solidFill>
              <a:srgbClr val="E3E7EA"/>
            </a:solidFill>
            <a:prstDash val="solid"/>
          </a:ln>
        </p:spPr>
      </p:sp>
      <p:sp>
        <p:nvSpPr>
          <p:cNvPr id="29" name="Text 26"/>
          <p:cNvSpPr txBox="1"/>
          <p:nvPr/>
        </p:nvSpPr>
        <p:spPr>
          <a:xfrm>
            <a:off x="5285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DOCUMENTS</a:t>
            </a:r>
            <a:endParaRPr lang="en-US" sz="950" dirty="0"/>
          </a:p>
        </p:txBody>
      </p:sp>
      <p:sp>
        <p:nvSpPr>
          <p:cNvPr id="30" name="Text 27"/>
          <p:cNvSpPr txBox="1"/>
          <p:nvPr/>
        </p:nvSpPr>
        <p:spPr>
          <a:xfrm>
            <a:off x="5285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Mandatory attachments before a step can close</a:t>
            </a:r>
            <a:endParaRPr lang="en-US" sz="950" dirty="0"/>
          </a:p>
        </p:txBody>
      </p:sp>
      <p:sp>
        <p:nvSpPr>
          <p:cNvPr id="31" name="Shape 28"/>
          <p:cNvSpPr/>
          <p:nvPr/>
        </p:nvSpPr>
        <p:spPr>
          <a:xfrm>
            <a:off x="7406640" y="5468112"/>
            <a:ext cx="2103120" cy="841248"/>
          </a:xfrm>
          <a:prstGeom prst="roundRect">
            <a:avLst>
              <a:gd name="adj" fmla="val 8696"/>
            </a:avLst>
          </a:prstGeom>
          <a:solidFill>
            <a:srgbClr val="FFFFFF"/>
          </a:solidFill>
          <a:ln w="9525">
            <a:solidFill>
              <a:srgbClr val="E3E7EA"/>
            </a:solidFill>
            <a:prstDash val="solid"/>
          </a:ln>
        </p:spPr>
      </p:sp>
      <p:sp>
        <p:nvSpPr>
          <p:cNvPr id="32" name="Text 29"/>
          <p:cNvSpPr txBox="1"/>
          <p:nvPr/>
        </p:nvSpPr>
        <p:spPr>
          <a:xfrm>
            <a:off x="7571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PAYMENTS</a:t>
            </a:r>
            <a:endParaRPr lang="en-US" sz="950" dirty="0"/>
          </a:p>
        </p:txBody>
      </p:sp>
      <p:sp>
        <p:nvSpPr>
          <p:cNvPr id="33" name="Text 30"/>
          <p:cNvSpPr txBox="1"/>
          <p:nvPr/>
        </p:nvSpPr>
        <p:spPr>
          <a:xfrm>
            <a:off x="7571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Amount, VAT, mode, reference, receipt and GL account</a:t>
            </a:r>
            <a:endParaRPr lang="en-US" sz="950" dirty="0"/>
          </a:p>
        </p:txBody>
      </p:sp>
      <p:sp>
        <p:nvSpPr>
          <p:cNvPr id="34" name="Shape 31"/>
          <p:cNvSpPr/>
          <p:nvPr/>
        </p:nvSpPr>
        <p:spPr>
          <a:xfrm>
            <a:off x="9692640" y="5468112"/>
            <a:ext cx="2103120" cy="841248"/>
          </a:xfrm>
          <a:prstGeom prst="roundRect">
            <a:avLst>
              <a:gd name="adj" fmla="val 8696"/>
            </a:avLst>
          </a:prstGeom>
          <a:solidFill>
            <a:srgbClr val="FFFFFF"/>
          </a:solidFill>
          <a:ln w="9525">
            <a:solidFill>
              <a:srgbClr val="E3E7EA"/>
            </a:solidFill>
            <a:prstDash val="solid"/>
          </a:ln>
        </p:spPr>
      </p:sp>
      <p:sp>
        <p:nvSpPr>
          <p:cNvPr id="35" name="Text 32"/>
          <p:cNvSpPr txBox="1"/>
          <p:nvPr/>
        </p:nvSpPr>
        <p:spPr>
          <a:xfrm>
            <a:off x="9857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REPORTING</a:t>
            </a:r>
            <a:endParaRPr lang="en-US" sz="950" dirty="0"/>
          </a:p>
        </p:txBody>
      </p:sp>
      <p:sp>
        <p:nvSpPr>
          <p:cNvPr id="36" name="Text 33"/>
          <p:cNvSpPr txBox="1"/>
          <p:nvPr/>
        </p:nvSpPr>
        <p:spPr>
          <a:xfrm>
            <a:off x="9857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Filterable, exportable reports per process and payment</a:t>
            </a:r>
            <a:endParaRPr lang="en-US" sz="950" dirty="0"/>
          </a:p>
        </p:txBody>
      </p:sp>
      <p:sp>
        <p:nvSpPr>
          <p:cNvPr id="37" name="Text 3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274320"/>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sees only what is theirs, with a due date on it. That is how the PRO desk, recruitment and onboarding stay in step.</a:t>
            </a:r>
            <a:endParaRPr lang="en-US" sz="1300" dirty="0"/>
          </a:p>
        </p:txBody>
      </p:sp>
      <p:sp>
        <p:nvSpPr>
          <p:cNvPr id="5" name="Shape 3"/>
          <p:cNvSpPr/>
          <p:nvPr/>
        </p:nvSpPr>
        <p:spPr>
          <a:xfrm>
            <a:off x="548640" y="1828800"/>
            <a:ext cx="10424160" cy="603504"/>
          </a:xfrm>
          <a:prstGeom prst="roundRect">
            <a:avLst>
              <a:gd name="adj" fmla="val 9091"/>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GRO</a:t>
            </a:r>
            <a:endParaRPr lang="en-US" sz="900" dirty="0"/>
          </a:p>
        </p:txBody>
      </p:sp>
      <p:sp>
        <p:nvSpPr>
          <p:cNvPr id="10" name="Text 8"/>
          <p:cNvSpPr txBox="1"/>
          <p:nvPr/>
        </p:nvSpPr>
        <p:spPr>
          <a:xfrm>
            <a:off x="3200400" y="1897380"/>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Claims cases from the queue and files them with the authority</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Records every payment and receipt as it happens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Books medicals and biometrics, tracks stamping to ID collection</a:t>
            </a:r>
            <a:endParaRPr lang="en-US" sz="860" dirty="0"/>
          </a:p>
        </p:txBody>
      </p:sp>
      <p:sp>
        <p:nvSpPr>
          <p:cNvPr id="11" name="Text 9"/>
          <p:cNvSpPr txBox="1"/>
          <p:nvPr/>
        </p:nvSpPr>
        <p:spPr>
          <a:xfrm>
            <a:off x="8229600" y="1897380"/>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A queue with priorities, due dates and proof of what was done.</a:t>
            </a:r>
            <a:endParaRPr lang="en-US" sz="930" dirty="0"/>
          </a:p>
        </p:txBody>
      </p:sp>
      <p:sp>
        <p:nvSpPr>
          <p:cNvPr id="12" name="Shape 10"/>
          <p:cNvSpPr/>
          <p:nvPr/>
        </p:nvSpPr>
        <p:spPr>
          <a:xfrm>
            <a:off x="548640" y="2473452"/>
            <a:ext cx="10424160" cy="603504"/>
          </a:xfrm>
          <a:prstGeom prst="roundRect">
            <a:avLst>
              <a:gd name="adj" fmla="val 9091"/>
            </a:avLst>
          </a:prstGeom>
          <a:solidFill>
            <a:srgbClr val="FFFFFF"/>
          </a:solidFill>
          <a:ln w="7620">
            <a:solidFill>
              <a:srgbClr val="E3E7EA"/>
            </a:solidFill>
            <a:prstDash val="solid"/>
          </a:ln>
        </p:spPr>
      </p:sp>
      <p:sp>
        <p:nvSpPr>
          <p:cNvPr id="13" name="Shape 11"/>
          <p:cNvSpPr/>
          <p:nvPr/>
        </p:nvSpPr>
        <p:spPr>
          <a:xfrm>
            <a:off x="694944" y="2574036"/>
            <a:ext cx="347472" cy="347472"/>
          </a:xfrm>
          <a:prstGeom prst="ellipse">
            <a:avLst/>
          </a:prstGeom>
          <a:solidFill>
            <a:srgbClr val="12756F"/>
          </a:solidFill>
          <a:ln/>
        </p:spPr>
      </p:sp>
      <p:sp>
        <p:nvSpPr>
          <p:cNvPr id="14" name="Text 12"/>
          <p:cNvSpPr txBox="1"/>
          <p:nvPr/>
        </p:nvSpPr>
        <p:spPr>
          <a:xfrm>
            <a:off x="694944" y="257403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52831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74777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00400" y="2542032"/>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Completes the candidate file and document checklist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Releases accepted candidates into the permit process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Aligns profession and work-location codes with the PRO</a:t>
            </a:r>
            <a:endParaRPr lang="en-US" sz="860" dirty="0"/>
          </a:p>
        </p:txBody>
      </p:sp>
      <p:sp>
        <p:nvSpPr>
          <p:cNvPr id="18" name="Text 16"/>
          <p:cNvSpPr txBox="1"/>
          <p:nvPr/>
        </p:nvSpPr>
        <p:spPr>
          <a:xfrm>
            <a:off x="8229600" y="2542032"/>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Joining dates based on real progress, not optimism.</a:t>
            </a:r>
            <a:endParaRPr lang="en-US" sz="930" dirty="0"/>
          </a:p>
        </p:txBody>
      </p:sp>
      <p:sp>
        <p:nvSpPr>
          <p:cNvPr id="19" name="Shape 17"/>
          <p:cNvSpPr/>
          <p:nvPr/>
        </p:nvSpPr>
        <p:spPr>
          <a:xfrm>
            <a:off x="548640" y="3118104"/>
            <a:ext cx="10424160" cy="603504"/>
          </a:xfrm>
          <a:prstGeom prst="roundRect">
            <a:avLst>
              <a:gd name="adj" fmla="val 9091"/>
            </a:avLst>
          </a:prstGeom>
          <a:solidFill>
            <a:srgbClr val="F4F6F7"/>
          </a:solidFill>
          <a:ln w="7620">
            <a:solidFill>
              <a:srgbClr val="E3E7EA"/>
            </a:solidFill>
            <a:prstDash val="solid"/>
          </a:ln>
        </p:spPr>
      </p:sp>
      <p:sp>
        <p:nvSpPr>
          <p:cNvPr id="20" name="Shape 18"/>
          <p:cNvSpPr/>
          <p:nvPr/>
        </p:nvSpPr>
        <p:spPr>
          <a:xfrm>
            <a:off x="694944" y="3218688"/>
            <a:ext cx="347472" cy="347472"/>
          </a:xfrm>
          <a:prstGeom prst="ellipse">
            <a:avLst/>
          </a:prstGeom>
          <a:solidFill>
            <a:srgbClr val="20A098"/>
          </a:solidFill>
          <a:ln/>
        </p:spPr>
      </p:sp>
      <p:sp>
        <p:nvSpPr>
          <p:cNvPr id="21" name="Text 19"/>
          <p:cNvSpPr txBox="1"/>
          <p:nvPr/>
        </p:nvSpPr>
        <p:spPr>
          <a:xfrm>
            <a:off x="694944" y="321868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17296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 Coordinator</a:t>
            </a:r>
            <a:endParaRPr lang="en-US" sz="1100" dirty="0"/>
          </a:p>
        </p:txBody>
      </p:sp>
      <p:sp>
        <p:nvSpPr>
          <p:cNvPr id="23" name="Text 21"/>
          <p:cNvSpPr txBox="1"/>
          <p:nvPr/>
        </p:nvSpPr>
        <p:spPr>
          <a:xfrm>
            <a:off x="1152144" y="339242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00400" y="3186684"/>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Initiates the permit and checks quota before it goes out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Chases signed offers, contracts and medical receipts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Sends biometric appointments and handles pension steps</a:t>
            </a:r>
            <a:endParaRPr lang="en-US" sz="860" dirty="0"/>
          </a:p>
        </p:txBody>
      </p:sp>
      <p:sp>
        <p:nvSpPr>
          <p:cNvPr id="25" name="Text 23"/>
          <p:cNvSpPr txBox="1"/>
          <p:nvPr/>
        </p:nvSpPr>
        <p:spPr>
          <a:xfrm>
            <a:off x="8229600" y="3186684"/>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No joiner arrives without the paperwork that makes them legal.</a:t>
            </a:r>
            <a:endParaRPr lang="en-US" sz="930" dirty="0"/>
          </a:p>
        </p:txBody>
      </p:sp>
      <p:sp>
        <p:nvSpPr>
          <p:cNvPr id="26" name="Shape 24"/>
          <p:cNvSpPr/>
          <p:nvPr/>
        </p:nvSpPr>
        <p:spPr>
          <a:xfrm>
            <a:off x="548640" y="3762756"/>
            <a:ext cx="10424160" cy="603504"/>
          </a:xfrm>
          <a:prstGeom prst="roundRect">
            <a:avLst>
              <a:gd name="adj" fmla="val 9091"/>
            </a:avLst>
          </a:prstGeom>
          <a:solidFill>
            <a:srgbClr val="FFFFFF"/>
          </a:solidFill>
          <a:ln w="7620">
            <a:solidFill>
              <a:srgbClr val="E3E7EA"/>
            </a:solidFill>
            <a:prstDash val="solid"/>
          </a:ln>
        </p:spPr>
      </p:sp>
      <p:sp>
        <p:nvSpPr>
          <p:cNvPr id="27" name="Shape 25"/>
          <p:cNvSpPr/>
          <p:nvPr/>
        </p:nvSpPr>
        <p:spPr>
          <a:xfrm>
            <a:off x="694944" y="3863340"/>
            <a:ext cx="347472" cy="347472"/>
          </a:xfrm>
          <a:prstGeom prst="ellipse">
            <a:avLst/>
          </a:prstGeom>
          <a:solidFill>
            <a:srgbClr val="12756F"/>
          </a:solidFill>
          <a:ln/>
        </p:spPr>
      </p:sp>
      <p:sp>
        <p:nvSpPr>
          <p:cNvPr id="28" name="Text 26"/>
          <p:cNvSpPr txBox="1"/>
          <p:nvPr/>
        </p:nvSpPr>
        <p:spPr>
          <a:xfrm>
            <a:off x="694944" y="386334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81762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403707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00400" y="3831336"/>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Verifies renewal contracts and approves senior allocations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Initiates cancellation once end-of-service is agreed</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Reviews fines before anything reaches payroll</a:t>
            </a:r>
            <a:endParaRPr lang="en-US" sz="860" dirty="0"/>
          </a:p>
        </p:txBody>
      </p:sp>
      <p:sp>
        <p:nvSpPr>
          <p:cNvPr id="32" name="Text 30"/>
          <p:cNvSpPr txBox="1"/>
          <p:nvPr/>
        </p:nvSpPr>
        <p:spPr>
          <a:xfrm>
            <a:off x="8229600" y="3831336"/>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Escalations arrive before the fine, not after it.</a:t>
            </a:r>
            <a:endParaRPr lang="en-US" sz="930" dirty="0"/>
          </a:p>
        </p:txBody>
      </p:sp>
      <p:sp>
        <p:nvSpPr>
          <p:cNvPr id="33" name="Shape 31"/>
          <p:cNvSpPr/>
          <p:nvPr/>
        </p:nvSpPr>
        <p:spPr>
          <a:xfrm>
            <a:off x="548640" y="4407408"/>
            <a:ext cx="10424160" cy="603504"/>
          </a:xfrm>
          <a:prstGeom prst="roundRect">
            <a:avLst>
              <a:gd name="adj" fmla="val 9091"/>
            </a:avLst>
          </a:prstGeom>
          <a:solidFill>
            <a:srgbClr val="F4F6F7"/>
          </a:solidFill>
          <a:ln w="7620">
            <a:solidFill>
              <a:srgbClr val="E3E7EA"/>
            </a:solidFill>
            <a:prstDash val="solid"/>
          </a:ln>
        </p:spPr>
      </p:sp>
      <p:sp>
        <p:nvSpPr>
          <p:cNvPr id="34" name="Shape 32"/>
          <p:cNvSpPr/>
          <p:nvPr/>
        </p:nvSpPr>
        <p:spPr>
          <a:xfrm>
            <a:off x="694944" y="4507992"/>
            <a:ext cx="347472" cy="347472"/>
          </a:xfrm>
          <a:prstGeom prst="ellipse">
            <a:avLst/>
          </a:prstGeom>
          <a:solidFill>
            <a:srgbClr val="20A098"/>
          </a:solidFill>
          <a:ln/>
        </p:spPr>
      </p:sp>
      <p:sp>
        <p:nvSpPr>
          <p:cNvPr id="35" name="Text 33"/>
          <p:cNvSpPr txBox="1"/>
          <p:nvPr/>
        </p:nvSpPr>
        <p:spPr>
          <a:xfrm>
            <a:off x="694944" y="450799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46227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 / Candidate</a:t>
            </a:r>
            <a:endParaRPr lang="en-US" sz="1100" dirty="0"/>
          </a:p>
        </p:txBody>
      </p:sp>
      <p:sp>
        <p:nvSpPr>
          <p:cNvPr id="37" name="Text 35"/>
          <p:cNvSpPr txBox="1"/>
          <p:nvPr/>
        </p:nvSpPr>
        <p:spPr>
          <a:xfrm>
            <a:off x="1152144" y="468172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00400" y="4475988"/>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Acknowledges and uploads the signed contract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Confirms in-country or out-of-country status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Confirms medical, insurance enrolment and ID receipt</a:t>
            </a:r>
            <a:endParaRPr lang="en-US" sz="860" dirty="0"/>
          </a:p>
        </p:txBody>
      </p:sp>
      <p:sp>
        <p:nvSpPr>
          <p:cNvPr id="39" name="Text 37"/>
          <p:cNvSpPr txBox="1"/>
          <p:nvPr/>
        </p:nvSpPr>
        <p:spPr>
          <a:xfrm>
            <a:off x="8229600" y="4475988"/>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Knows exactly what is pending from them, and by when.</a:t>
            </a:r>
            <a:endParaRPr lang="en-US" sz="930" dirty="0"/>
          </a:p>
        </p:txBody>
      </p:sp>
      <p:sp>
        <p:nvSpPr>
          <p:cNvPr id="40" name="Shape 38"/>
          <p:cNvSpPr/>
          <p:nvPr/>
        </p:nvSpPr>
        <p:spPr>
          <a:xfrm>
            <a:off x="548640" y="5052060"/>
            <a:ext cx="10424160" cy="603504"/>
          </a:xfrm>
          <a:prstGeom prst="roundRect">
            <a:avLst>
              <a:gd name="adj" fmla="val 9091"/>
            </a:avLst>
          </a:prstGeom>
          <a:solidFill>
            <a:srgbClr val="FFFFFF"/>
          </a:solidFill>
          <a:ln w="7620">
            <a:solidFill>
              <a:srgbClr val="E3E7EA"/>
            </a:solidFill>
            <a:prstDash val="solid"/>
          </a:ln>
        </p:spPr>
      </p:sp>
      <p:sp>
        <p:nvSpPr>
          <p:cNvPr id="41" name="Shape 39"/>
          <p:cNvSpPr/>
          <p:nvPr/>
        </p:nvSpPr>
        <p:spPr>
          <a:xfrm>
            <a:off x="694944" y="5152644"/>
            <a:ext cx="347472" cy="347472"/>
          </a:xfrm>
          <a:prstGeom prst="ellipse">
            <a:avLst/>
          </a:prstGeom>
          <a:solidFill>
            <a:srgbClr val="12756F"/>
          </a:solidFill>
          <a:ln/>
        </p:spPr>
      </p:sp>
      <p:sp>
        <p:nvSpPr>
          <p:cNvPr id="42" name="Text 40"/>
          <p:cNvSpPr txBox="1"/>
          <p:nvPr/>
        </p:nvSpPr>
        <p:spPr>
          <a:xfrm>
            <a:off x="694944" y="51526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510692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32638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&amp; GL</a:t>
            </a:r>
            <a:endParaRPr lang="en-US" sz="900" dirty="0"/>
          </a:p>
        </p:txBody>
      </p:sp>
      <p:sp>
        <p:nvSpPr>
          <p:cNvPr id="45" name="Text 43"/>
          <p:cNvSpPr txBox="1"/>
          <p:nvPr/>
        </p:nvSpPr>
        <p:spPr>
          <a:xfrm>
            <a:off x="3200400" y="5120640"/>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Reconciles government fees against receipts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Posts permit cost to the right GL account</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Reviews card-holder spend and approves fine deductions</a:t>
            </a:r>
            <a:endParaRPr lang="en-US" sz="860" dirty="0"/>
          </a:p>
        </p:txBody>
      </p:sp>
      <p:sp>
        <p:nvSpPr>
          <p:cNvPr id="46" name="Text 44"/>
          <p:cNvSpPr txBox="1"/>
          <p:nvPr/>
        </p:nvSpPr>
        <p:spPr>
          <a:xfrm>
            <a:off x="8229600" y="5120640"/>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One export instead of days of reconciliation.</a:t>
            </a:r>
            <a:endParaRPr lang="en-US" sz="930" dirty="0"/>
          </a:p>
        </p:txBody>
      </p:sp>
      <p:sp>
        <p:nvSpPr>
          <p:cNvPr id="47" name="Shape 45"/>
          <p:cNvSpPr/>
          <p:nvPr/>
        </p:nvSpPr>
        <p:spPr>
          <a:xfrm>
            <a:off x="548640" y="5696712"/>
            <a:ext cx="10424160" cy="603504"/>
          </a:xfrm>
          <a:prstGeom prst="roundRect">
            <a:avLst>
              <a:gd name="adj" fmla="val 9091"/>
            </a:avLst>
          </a:prstGeom>
          <a:solidFill>
            <a:srgbClr val="F4F6F7"/>
          </a:solidFill>
          <a:ln w="7620">
            <a:solidFill>
              <a:srgbClr val="E3E7EA"/>
            </a:solidFill>
            <a:prstDash val="solid"/>
          </a:ln>
        </p:spPr>
      </p:sp>
      <p:sp>
        <p:nvSpPr>
          <p:cNvPr id="48" name="Shape 46"/>
          <p:cNvSpPr/>
          <p:nvPr/>
        </p:nvSpPr>
        <p:spPr>
          <a:xfrm>
            <a:off x="694944" y="5797296"/>
            <a:ext cx="347472" cy="347472"/>
          </a:xfrm>
          <a:prstGeom prst="ellipse">
            <a:avLst/>
          </a:prstGeom>
          <a:solidFill>
            <a:srgbClr val="16304C"/>
          </a:solidFill>
          <a:ln/>
        </p:spPr>
      </p:sp>
      <p:sp>
        <p:nvSpPr>
          <p:cNvPr id="49" name="Text 47"/>
          <p:cNvSpPr txBox="1"/>
          <p:nvPr/>
        </p:nvSpPr>
        <p:spPr>
          <a:xfrm>
            <a:off x="694944" y="579729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75157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97103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&amp; risk</a:t>
            </a:r>
            <a:endParaRPr lang="en-US" sz="900" dirty="0"/>
          </a:p>
        </p:txBody>
      </p:sp>
      <p:sp>
        <p:nvSpPr>
          <p:cNvPr id="52" name="Text 50"/>
          <p:cNvSpPr txBox="1"/>
          <p:nvPr/>
        </p:nvSpPr>
        <p:spPr>
          <a:xfrm>
            <a:off x="3200400" y="5765292"/>
            <a:ext cx="4956048" cy="475488"/>
          </a:xfrm>
          <a:prstGeom prst="rect">
            <a:avLst/>
          </a:prstGeom>
          <a:noFill/>
          <a:ln/>
        </p:spPr>
        <p:txBody>
          <a:bodyPr wrap="square" lIns="0" tIns="0" rIns="0" bIns="0" rtlCol="0" anchor="ctr"/>
          <a:lstStyle/>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Monitors quota use and Saudization or Emiratisation ratios</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Reviews compliance exposure by entity and by country</a:t>
            </a:r>
            <a:endParaRPr lang="en-US" sz="860" dirty="0"/>
          </a:p>
          <a:p>
            <a:pPr marL="342900" indent="-342900">
              <a:lnSpc>
                <a:spcPts val="1100"/>
              </a:lnSpc>
              <a:buSzPct val="100000"/>
              <a:buChar char="•"/>
            </a:pPr>
            <a:r>
              <a:rPr lang="en-US" sz="860" dirty="0">
                <a:solidFill>
                  <a:srgbClr val="5A6C82"/>
                </a:solidFill>
                <a:latin typeface="Calibri" pitchFamily="34" charset="0"/>
                <a:ea typeface="Calibri" pitchFamily="34" charset="-122"/>
                <a:cs typeface="Calibri" pitchFamily="34" charset="-120"/>
              </a:rPr>
              <a:t>Signs off permit cost budgets for the year</a:t>
            </a:r>
            <a:endParaRPr lang="en-US" sz="860" dirty="0"/>
          </a:p>
        </p:txBody>
      </p:sp>
      <p:sp>
        <p:nvSpPr>
          <p:cNvPr id="53" name="Text 51"/>
          <p:cNvSpPr txBox="1"/>
          <p:nvPr/>
        </p:nvSpPr>
        <p:spPr>
          <a:xfrm>
            <a:off x="8229600" y="5765292"/>
            <a:ext cx="2615184" cy="475488"/>
          </a:xfrm>
          <a:prstGeom prst="rect">
            <a:avLst/>
          </a:prstGeom>
          <a:noFill/>
          <a:ln/>
        </p:spPr>
        <p:txBody>
          <a:bodyPr wrap="square" lIns="0" tIns="0" rIns="0" bIns="0" rtlCol="0" anchor="ctr"/>
          <a:lstStyle/>
          <a:p>
            <a:pPr indent="0" marL="0">
              <a:lnSpc>
                <a:spcPts val="1160"/>
              </a:lnSpc>
              <a:buNone/>
            </a:pPr>
            <a:r>
              <a:rPr lang="en-US" sz="930" b="1" i="1" dirty="0">
                <a:solidFill>
                  <a:srgbClr val="17795E"/>
                </a:solidFill>
                <a:latin typeface="Calibri" pitchFamily="34" charset="0"/>
                <a:ea typeface="Calibri" pitchFamily="34" charset="-122"/>
                <a:cs typeface="Calibri" pitchFamily="34" charset="-120"/>
              </a:rPr>
              <a:t>Compliance risk as a dashboard, not a fire drill.</a:t>
            </a:r>
            <a:endParaRPr lang="en-US" sz="93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TASK MANAGEMENT &amp; ACCOUNTABILITY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Put a name on a task and it behaves differently.</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step becomes a real task with a person, a due date and somewhere to escalate. Nothing sits in that grey area where everyone assumes someone else picked it up.</a:t>
            </a:r>
            <a:endParaRPr lang="en-US" sz="1300" dirty="0"/>
          </a:p>
        </p:txBody>
      </p:sp>
      <p:sp>
        <p:nvSpPr>
          <p:cNvPr id="5" name="Shape 3"/>
          <p:cNvSpPr/>
          <p:nvPr/>
        </p:nvSpPr>
        <p:spPr>
          <a:xfrm>
            <a:off x="548640" y="1773936"/>
            <a:ext cx="5532120" cy="969264"/>
          </a:xfrm>
          <a:prstGeom prst="roundRect">
            <a:avLst>
              <a:gd name="adj" fmla="val 7547"/>
            </a:avLst>
          </a:prstGeom>
          <a:solidFill>
            <a:srgbClr val="F4F6F7"/>
          </a:solidFill>
          <a:ln w="9525">
            <a:solidFill>
              <a:srgbClr val="E3E7EA"/>
            </a:solidFill>
            <a:prstDash val="solid"/>
          </a:ln>
        </p:spPr>
      </p:sp>
      <p:sp>
        <p:nvSpPr>
          <p:cNvPr id="6" name="Shape 4"/>
          <p:cNvSpPr/>
          <p:nvPr/>
        </p:nvSpPr>
        <p:spPr>
          <a:xfrm>
            <a:off x="749808" y="1975104"/>
            <a:ext cx="402336" cy="402336"/>
          </a:xfrm>
          <a:prstGeom prst="ellipse">
            <a:avLst/>
          </a:prstGeom>
          <a:solidFill>
            <a:srgbClr val="20A098"/>
          </a:solidFill>
          <a:ln/>
        </p:spPr>
      </p:sp>
      <p:sp>
        <p:nvSpPr>
          <p:cNvPr id="7" name="Text 5"/>
          <p:cNvSpPr txBox="1"/>
          <p:nvPr/>
        </p:nvSpPr>
        <p:spPr>
          <a:xfrm>
            <a:off x="749808" y="19751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98448" y="1911096"/>
            <a:ext cx="4572000" cy="256032"/>
          </a:xfrm>
          <a:prstGeom prst="rect">
            <a:avLst/>
          </a:prstGeom>
          <a:noFill/>
          <a:ln/>
        </p:spPr>
        <p:txBody>
          <a:bodyPr wrap="square" lIns="0" tIns="0" rIns="0" bIns="0" rtlCol="0" anchor="ctr"/>
          <a:lstStyle/>
          <a:p>
            <a:pPr indent="0" marL="0">
              <a:buNone/>
            </a:pPr>
            <a:r>
              <a:rPr lang="en-US" sz="1250" b="1" dirty="0">
                <a:solidFill>
                  <a:srgbClr val="20A098"/>
                </a:solidFill>
                <a:latin typeface="Arial" pitchFamily="34" charset="0"/>
                <a:ea typeface="Arial" pitchFamily="34" charset="-122"/>
                <a:cs typeface="Arial" pitchFamily="34" charset="-120"/>
              </a:rPr>
              <a:t>Assign  </a:t>
            </a:r>
            <a:pPr indent="0" marL="0">
              <a:buNone/>
            </a:pPr>
            <a:r>
              <a:rPr lang="en-US" sz="1200" b="1" dirty="0">
                <a:solidFill>
                  <a:srgbClr val="0C1E33"/>
                </a:solidFill>
                <a:latin typeface="Arial" pitchFamily="34" charset="0"/>
                <a:ea typeface="Arial" pitchFamily="34" charset="-122"/>
                <a:cs typeface="Arial" pitchFamily="34" charset="-120"/>
              </a:rPr>
              <a:t>· The task gets an owner</a:t>
            </a:r>
            <a:endParaRPr lang="en-US" sz="1250" dirty="0"/>
          </a:p>
        </p:txBody>
      </p:sp>
      <p:sp>
        <p:nvSpPr>
          <p:cNvPr id="9" name="Text 7"/>
          <p:cNvSpPr txBox="1"/>
          <p:nvPr/>
        </p:nvSpPr>
        <p:spPr>
          <a:xfrm>
            <a:off x="1298448" y="218541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It goes to a role, then a named officer picks it up with "Assign To Yourself", or a supervisor sends it over with "Assign Agent". Priority and due date are set right then.</a:t>
            </a:r>
            <a:endParaRPr lang="en-US" sz="980" dirty="0"/>
          </a:p>
        </p:txBody>
      </p:sp>
      <p:sp>
        <p:nvSpPr>
          <p:cNvPr id="10" name="Shape 8"/>
          <p:cNvSpPr/>
          <p:nvPr/>
        </p:nvSpPr>
        <p:spPr>
          <a:xfrm>
            <a:off x="548640" y="2871216"/>
            <a:ext cx="5532120" cy="969264"/>
          </a:xfrm>
          <a:prstGeom prst="roundRect">
            <a:avLst>
              <a:gd name="adj" fmla="val 7547"/>
            </a:avLst>
          </a:prstGeom>
          <a:solidFill>
            <a:srgbClr val="FFFFFF"/>
          </a:solidFill>
          <a:ln w="9525">
            <a:solidFill>
              <a:srgbClr val="E3E7EA"/>
            </a:solidFill>
            <a:prstDash val="solid"/>
          </a:ln>
        </p:spPr>
      </p:sp>
      <p:sp>
        <p:nvSpPr>
          <p:cNvPr id="11" name="Shape 9"/>
          <p:cNvSpPr/>
          <p:nvPr/>
        </p:nvSpPr>
        <p:spPr>
          <a:xfrm>
            <a:off x="749808" y="3072384"/>
            <a:ext cx="402336" cy="402336"/>
          </a:xfrm>
          <a:prstGeom prst="ellipse">
            <a:avLst/>
          </a:prstGeom>
          <a:solidFill>
            <a:srgbClr val="B5730F"/>
          </a:solidFill>
          <a:ln/>
        </p:spPr>
      </p:sp>
      <p:sp>
        <p:nvSpPr>
          <p:cNvPr id="12" name="Text 10"/>
          <p:cNvSpPr txBox="1"/>
          <p:nvPr/>
        </p:nvSpPr>
        <p:spPr>
          <a:xfrm>
            <a:off x="749808" y="3072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298448" y="3008376"/>
            <a:ext cx="4572000" cy="256032"/>
          </a:xfrm>
          <a:prstGeom prst="rect">
            <a:avLst/>
          </a:prstGeom>
          <a:noFill/>
          <a:ln/>
        </p:spPr>
        <p:txBody>
          <a:bodyPr wrap="square" lIns="0" tIns="0" rIns="0" bIns="0" rtlCol="0" anchor="ctr"/>
          <a:lstStyle/>
          <a:p>
            <a:pPr indent="0" marL="0">
              <a:buNone/>
            </a:pPr>
            <a:r>
              <a:rPr lang="en-US" sz="1250" b="1" dirty="0">
                <a:solidFill>
                  <a:srgbClr val="B5730F"/>
                </a:solidFill>
                <a:latin typeface="Arial" pitchFamily="34" charset="0"/>
                <a:ea typeface="Arial" pitchFamily="34" charset="-122"/>
                <a:cs typeface="Arial" pitchFamily="34" charset="-120"/>
              </a:rPr>
              <a:t>Nudge  </a:t>
            </a:r>
            <a:pPr indent="0" marL="0">
              <a:buNone/>
            </a:pPr>
            <a:r>
              <a:rPr lang="en-US" sz="1200" b="1" dirty="0">
                <a:solidFill>
                  <a:srgbClr val="0C1E33"/>
                </a:solidFill>
                <a:latin typeface="Arial" pitchFamily="34" charset="0"/>
                <a:ea typeface="Arial" pitchFamily="34" charset="-122"/>
                <a:cs typeface="Arial" pitchFamily="34" charset="-120"/>
              </a:rPr>
              <a:t>· Reminder every 2 days</a:t>
            </a:r>
            <a:endParaRPr lang="en-US" sz="1250" dirty="0"/>
          </a:p>
        </p:txBody>
      </p:sp>
      <p:sp>
        <p:nvSpPr>
          <p:cNvPr id="14" name="Text 12"/>
          <p:cNvSpPr txBox="1"/>
          <p:nvPr/>
        </p:nvSpPr>
        <p:spPr>
          <a:xfrm>
            <a:off x="1298448" y="328269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Anything still open pings the owner again every two days. Document expiries go out six weeks ahead, to the employee, the PRO and the HRBP at once.</a:t>
            </a:r>
            <a:endParaRPr lang="en-US" sz="980" dirty="0"/>
          </a:p>
        </p:txBody>
      </p:sp>
      <p:sp>
        <p:nvSpPr>
          <p:cNvPr id="15" name="Shape 13"/>
          <p:cNvSpPr/>
          <p:nvPr/>
        </p:nvSpPr>
        <p:spPr>
          <a:xfrm>
            <a:off x="548640" y="3968496"/>
            <a:ext cx="5532120" cy="969264"/>
          </a:xfrm>
          <a:prstGeom prst="roundRect">
            <a:avLst>
              <a:gd name="adj" fmla="val 7547"/>
            </a:avLst>
          </a:prstGeom>
          <a:solidFill>
            <a:srgbClr val="F4F6F7"/>
          </a:solidFill>
          <a:ln w="9525">
            <a:solidFill>
              <a:srgbClr val="E3E7EA"/>
            </a:solidFill>
            <a:prstDash val="solid"/>
          </a:ln>
        </p:spPr>
      </p:sp>
      <p:sp>
        <p:nvSpPr>
          <p:cNvPr id="16" name="Shape 14"/>
          <p:cNvSpPr/>
          <p:nvPr/>
        </p:nvSpPr>
        <p:spPr>
          <a:xfrm>
            <a:off x="749808" y="4169664"/>
            <a:ext cx="402336" cy="402336"/>
          </a:xfrm>
          <a:prstGeom prst="ellipse">
            <a:avLst/>
          </a:prstGeom>
          <a:solidFill>
            <a:srgbClr val="B23A2F"/>
          </a:solidFill>
          <a:ln/>
        </p:spPr>
      </p:sp>
      <p:sp>
        <p:nvSpPr>
          <p:cNvPr id="17" name="Text 15"/>
          <p:cNvSpPr txBox="1"/>
          <p:nvPr/>
        </p:nvSpPr>
        <p:spPr>
          <a:xfrm>
            <a:off x="749808" y="4169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298448" y="4105656"/>
            <a:ext cx="4572000" cy="256032"/>
          </a:xfrm>
          <a:prstGeom prst="rect">
            <a:avLst/>
          </a:prstGeom>
          <a:noFill/>
          <a:ln/>
        </p:spPr>
        <p:txBody>
          <a:bodyPr wrap="square" lIns="0" tIns="0" rIns="0" bIns="0" rtlCol="0" anchor="ctr"/>
          <a:lstStyle/>
          <a:p>
            <a:pPr indent="0" marL="0">
              <a:buNone/>
            </a:pPr>
            <a:r>
              <a:rPr lang="en-US" sz="1250" b="1" dirty="0">
                <a:solidFill>
                  <a:srgbClr val="B23A2F"/>
                </a:solidFill>
                <a:latin typeface="Arial" pitchFamily="34" charset="0"/>
                <a:ea typeface="Arial" pitchFamily="34" charset="-122"/>
                <a:cs typeface="Arial" pitchFamily="34" charset="-120"/>
              </a:rPr>
              <a:t>Escalate  </a:t>
            </a:r>
            <a:pPr indent="0" marL="0">
              <a:buNone/>
            </a:pPr>
            <a:r>
              <a:rPr lang="en-US" sz="1200" b="1" dirty="0">
                <a:solidFill>
                  <a:srgbClr val="0C1E33"/>
                </a:solidFill>
                <a:latin typeface="Arial" pitchFamily="34" charset="0"/>
                <a:ea typeface="Arial" pitchFamily="34" charset="-122"/>
                <a:cs typeface="Arial" pitchFamily="34" charset="-120"/>
              </a:rPr>
              <a:t>· The manager is told</a:t>
            </a:r>
            <a:endParaRPr lang="en-US" sz="1250" dirty="0"/>
          </a:p>
        </p:txBody>
      </p:sp>
      <p:sp>
        <p:nvSpPr>
          <p:cNvPr id="19" name="Text 17"/>
          <p:cNvSpPr txBox="1"/>
          <p:nvPr/>
        </p:nvSpPr>
        <p:spPr>
          <a:xfrm>
            <a:off x="1298448" y="437997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Two weeks before expiry, or the moment a task goes past its due date, it escalates on its own to the HR manager and the line manager.</a:t>
            </a:r>
            <a:endParaRPr lang="en-US" sz="980" dirty="0"/>
          </a:p>
        </p:txBody>
      </p:sp>
      <p:sp>
        <p:nvSpPr>
          <p:cNvPr id="20" name="Shape 18"/>
          <p:cNvSpPr/>
          <p:nvPr/>
        </p:nvSpPr>
        <p:spPr>
          <a:xfrm>
            <a:off x="548640" y="5065776"/>
            <a:ext cx="5532120" cy="969264"/>
          </a:xfrm>
          <a:prstGeom prst="roundRect">
            <a:avLst>
              <a:gd name="adj" fmla="val 7547"/>
            </a:avLst>
          </a:prstGeom>
          <a:solidFill>
            <a:srgbClr val="FFFFFF"/>
          </a:solidFill>
          <a:ln w="9525">
            <a:solidFill>
              <a:srgbClr val="E3E7EA"/>
            </a:solidFill>
            <a:prstDash val="solid"/>
          </a:ln>
        </p:spPr>
      </p:sp>
      <p:sp>
        <p:nvSpPr>
          <p:cNvPr id="21" name="Shape 19"/>
          <p:cNvSpPr/>
          <p:nvPr/>
        </p:nvSpPr>
        <p:spPr>
          <a:xfrm>
            <a:off x="749808" y="5266944"/>
            <a:ext cx="402336" cy="402336"/>
          </a:xfrm>
          <a:prstGeom prst="ellipse">
            <a:avLst/>
          </a:prstGeom>
          <a:solidFill>
            <a:srgbClr val="17795E"/>
          </a:solidFill>
          <a:ln/>
        </p:spPr>
      </p:sp>
      <p:sp>
        <p:nvSpPr>
          <p:cNvPr id="22" name="Text 20"/>
          <p:cNvSpPr txBox="1"/>
          <p:nvPr/>
        </p:nvSpPr>
        <p:spPr>
          <a:xfrm>
            <a:off x="749808" y="52669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298448" y="5202936"/>
            <a:ext cx="4572000" cy="256032"/>
          </a:xfrm>
          <a:prstGeom prst="rect">
            <a:avLst/>
          </a:prstGeom>
          <a:noFill/>
          <a:ln/>
        </p:spPr>
        <p:txBody>
          <a:bodyPr wrap="square" lIns="0" tIns="0" rIns="0" bIns="0" rtlCol="0" anchor="ctr"/>
          <a:lstStyle/>
          <a:p>
            <a:pPr indent="0" marL="0">
              <a:buNone/>
            </a:pPr>
            <a:r>
              <a:rPr lang="en-US" sz="1250" b="1" dirty="0">
                <a:solidFill>
                  <a:srgbClr val="17795E"/>
                </a:solidFill>
                <a:latin typeface="Arial" pitchFamily="34" charset="0"/>
                <a:ea typeface="Arial" pitchFamily="34" charset="-122"/>
                <a:cs typeface="Arial" pitchFamily="34" charset="-120"/>
              </a:rPr>
              <a:t>Prove  </a:t>
            </a:r>
            <a:pPr indent="0" marL="0">
              <a:buNone/>
            </a:pPr>
            <a:r>
              <a:rPr lang="en-US" sz="1200" b="1" dirty="0">
                <a:solidFill>
                  <a:srgbClr val="0C1E33"/>
                </a:solidFill>
                <a:latin typeface="Arial" pitchFamily="34" charset="0"/>
                <a:ea typeface="Arial" pitchFamily="34" charset="-122"/>
                <a:cs typeface="Arial" pitchFamily="34" charset="-120"/>
              </a:rPr>
              <a:t>· The trail is permanent</a:t>
            </a:r>
            <a:endParaRPr lang="en-US" sz="1250" dirty="0"/>
          </a:p>
        </p:txBody>
      </p:sp>
      <p:sp>
        <p:nvSpPr>
          <p:cNvPr id="24" name="Text 22"/>
          <p:cNvSpPr txBox="1"/>
          <p:nvPr/>
        </p:nvSpPr>
        <p:spPr>
          <a:xfrm>
            <a:off x="1298448" y="547725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Who had it, when they were reminded, what they uploaded and when they submitted. An audit turns into a report instead of a dig through old emails.</a:t>
            </a:r>
            <a:endParaRPr lang="en-US" sz="980" dirty="0"/>
          </a:p>
        </p:txBody>
      </p:sp>
      <p:pic>
        <p:nvPicPr>
          <p:cNvPr id="25" name="Image 0" descr="./img/inbox.jpg">    </p:cNvPr>
          <p:cNvPicPr>
            <a:picLocks noChangeAspect="1"/>
          </p:cNvPicPr>
          <p:nvPr/>
        </p:nvPicPr>
        <p:blipFill>
          <a:blip r:embed="rId1"/>
          <a:stretch>
            <a:fillRect/>
          </a:stretch>
        </p:blipFill>
        <p:spPr>
          <a:xfrm>
            <a:off x="6355080" y="1773936"/>
            <a:ext cx="5257800" cy="914400"/>
          </a:xfrm>
          <a:prstGeom prst="rect">
            <a:avLst/>
          </a:prstGeom>
          <a:effectLst>
            <a:outerShdw sx="100000" sy="100000" kx="0" ky="0" algn="bl" rotWithShape="0" blurRad="177800" dist="38100" dir="5400000">
              <a:srgbClr val="000000">
                <a:alpha val="20000"/>
              </a:srgbClr>
            </a:outerShdw>
          </a:effectLst>
        </p:spPr>
      </p:pic>
      <p:sp>
        <p:nvSpPr>
          <p:cNvPr id="26" name="Text 23"/>
          <p:cNvSpPr txBox="1"/>
          <p:nvPr/>
        </p:nvSpPr>
        <p:spPr>
          <a:xfrm>
            <a:off x="6355080" y="4443984"/>
            <a:ext cx="5257800" cy="512064"/>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The officer’s inbox. Pending tasks with type and due date on the left, the task itself on the right: assignee, due date, comment thread and the document that must come back before it can be submitted.</a:t>
            </a:r>
            <a:endParaRPr lang="en-US" sz="980" dirty="0"/>
          </a:p>
        </p:txBody>
      </p:sp>
      <p:sp>
        <p:nvSpPr>
          <p:cNvPr id="27" name="Shape 24"/>
          <p:cNvSpPr/>
          <p:nvPr/>
        </p:nvSpPr>
        <p:spPr>
          <a:xfrm>
            <a:off x="6355080" y="5084064"/>
            <a:ext cx="5257800" cy="512064"/>
          </a:xfrm>
          <a:prstGeom prst="roundRect">
            <a:avLst>
              <a:gd name="adj" fmla="val 10714"/>
            </a:avLst>
          </a:prstGeom>
          <a:solidFill>
            <a:srgbClr val="E4F5F3"/>
          </a:solidFill>
          <a:ln w="7620">
            <a:solidFill>
              <a:srgbClr val="BFE3DF"/>
            </a:solidFill>
            <a:prstDash val="solid"/>
          </a:ln>
        </p:spPr>
      </p:sp>
      <p:sp>
        <p:nvSpPr>
          <p:cNvPr id="28" name="Text 25"/>
          <p:cNvSpPr txBox="1"/>
          <p:nvPr/>
        </p:nvSpPr>
        <p:spPr>
          <a:xfrm>
            <a:off x="6519672" y="5084064"/>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Delays surfaced at source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The system shows where the wait actually is: the unsigned contract, the unbooked medical, the government step pending. The bottleneck has an address.</a:t>
            </a:r>
            <a:endParaRPr lang="en-US" sz="930" dirty="0"/>
          </a:p>
        </p:txBody>
      </p:sp>
      <p:sp>
        <p:nvSpPr>
          <p:cNvPr id="29" name="Shape 26"/>
          <p:cNvSpPr/>
          <p:nvPr/>
        </p:nvSpPr>
        <p:spPr>
          <a:xfrm>
            <a:off x="6355080" y="5687568"/>
            <a:ext cx="5257800" cy="512064"/>
          </a:xfrm>
          <a:prstGeom prst="roundRect">
            <a:avLst>
              <a:gd name="adj" fmla="val 10714"/>
            </a:avLst>
          </a:prstGeom>
          <a:solidFill>
            <a:srgbClr val="E4F5F3"/>
          </a:solidFill>
          <a:ln w="7620">
            <a:solidFill>
              <a:srgbClr val="BFE3DF"/>
            </a:solidFill>
            <a:prstDash val="solid"/>
          </a:ln>
        </p:spPr>
      </p:sp>
      <p:sp>
        <p:nvSpPr>
          <p:cNvPr id="30" name="Text 27"/>
          <p:cNvSpPr txBox="1"/>
          <p:nvPr/>
        </p:nvSpPr>
        <p:spPr>
          <a:xfrm>
            <a:off x="6519672" y="5687568"/>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Workload made visible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HR admins can see how many assignments each officer has completed, so work is distributed on evidence rather than on who complains loudest.</a:t>
            </a:r>
            <a:endParaRPr lang="en-US" sz="93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FINANCIAL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Nothing gets paid without a receipt and a GL code.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Government fees are where the money leaks. Make the payment part of the task and it cannot move without leaving a trace.</a:t>
            </a:r>
            <a:endParaRPr lang="en-US" sz="1300" dirty="0"/>
          </a:p>
        </p:txBody>
      </p:sp>
      <p:sp>
        <p:nvSpPr>
          <p:cNvPr id="5" name="Shape 3"/>
          <p:cNvSpPr/>
          <p:nvPr/>
        </p:nvSpPr>
        <p:spPr>
          <a:xfrm>
            <a:off x="548640" y="1773936"/>
            <a:ext cx="2103120" cy="1481328"/>
          </a:xfrm>
          <a:prstGeom prst="roundRect">
            <a:avLst>
              <a:gd name="adj" fmla="val 4938"/>
            </a:avLst>
          </a:prstGeom>
          <a:solidFill>
            <a:srgbClr val="F4F6F7"/>
          </a:solidFill>
          <a:ln w="9525">
            <a:solidFill>
              <a:srgbClr val="E3E7EA"/>
            </a:solidFill>
            <a:prstDash val="solid"/>
          </a:ln>
        </p:spPr>
      </p:sp>
      <p:sp>
        <p:nvSpPr>
          <p:cNvPr id="6" name="Shape 4"/>
          <p:cNvSpPr/>
          <p:nvPr/>
        </p:nvSpPr>
        <p:spPr>
          <a:xfrm>
            <a:off x="713232" y="1938528"/>
            <a:ext cx="347472" cy="347472"/>
          </a:xfrm>
          <a:prstGeom prst="ellipse">
            <a:avLst/>
          </a:prstGeom>
          <a:solidFill>
            <a:srgbClr val="20A098"/>
          </a:solidFill>
          <a:ln/>
        </p:spPr>
      </p:sp>
      <p:sp>
        <p:nvSpPr>
          <p:cNvPr id="7" name="Text 5"/>
          <p:cNvSpPr txBox="1"/>
          <p:nvPr/>
        </p:nvSpPr>
        <p:spPr>
          <a:xfrm>
            <a:off x="713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8" name="Text 6"/>
          <p:cNvSpPr txBox="1"/>
          <p:nvPr/>
        </p:nvSpPr>
        <p:spPr>
          <a:xfrm>
            <a:off x="713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Captured in the step</a:t>
            </a:r>
            <a:endParaRPr lang="en-US" sz="1100" dirty="0"/>
          </a:p>
        </p:txBody>
      </p:sp>
      <p:sp>
        <p:nvSpPr>
          <p:cNvPr id="9" name="Text 7"/>
          <p:cNvSpPr txBox="1"/>
          <p:nvPr/>
        </p:nvSpPr>
        <p:spPr>
          <a:xfrm>
            <a:off x="713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Amount, VAT, how it was paid, the date and the reference are all compulsory on the step itself.</a:t>
            </a:r>
            <a:endParaRPr lang="en-US" sz="930" dirty="0"/>
          </a:p>
        </p:txBody>
      </p:sp>
      <p:sp>
        <p:nvSpPr>
          <p:cNvPr id="10" name="Shape 8"/>
          <p:cNvSpPr/>
          <p:nvPr/>
        </p:nvSpPr>
        <p:spPr>
          <a:xfrm>
            <a:off x="2834640" y="1773936"/>
            <a:ext cx="2103120" cy="1481328"/>
          </a:xfrm>
          <a:prstGeom prst="roundRect">
            <a:avLst>
              <a:gd name="adj" fmla="val 4938"/>
            </a:avLst>
          </a:prstGeom>
          <a:solidFill>
            <a:srgbClr val="F4F6F7"/>
          </a:solidFill>
          <a:ln w="9525">
            <a:solidFill>
              <a:srgbClr val="E3E7EA"/>
            </a:solidFill>
            <a:prstDash val="solid"/>
          </a:ln>
        </p:spPr>
      </p:sp>
      <p:sp>
        <p:nvSpPr>
          <p:cNvPr id="11" name="Shape 9"/>
          <p:cNvSpPr/>
          <p:nvPr/>
        </p:nvSpPr>
        <p:spPr>
          <a:xfrm>
            <a:off x="2999232" y="1938528"/>
            <a:ext cx="347472" cy="347472"/>
          </a:xfrm>
          <a:prstGeom prst="ellipse">
            <a:avLst/>
          </a:prstGeom>
          <a:solidFill>
            <a:srgbClr val="20A098"/>
          </a:solidFill>
          <a:ln/>
        </p:spPr>
      </p:sp>
      <p:sp>
        <p:nvSpPr>
          <p:cNvPr id="12" name="Text 10"/>
          <p:cNvSpPr txBox="1"/>
          <p:nvPr/>
        </p:nvSpPr>
        <p:spPr>
          <a:xfrm>
            <a:off x="2999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3" name="Text 11"/>
          <p:cNvSpPr txBox="1"/>
          <p:nvPr/>
        </p:nvSpPr>
        <p:spPr>
          <a:xfrm>
            <a:off x="2999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Receipt attached</a:t>
            </a:r>
            <a:endParaRPr lang="en-US" sz="1100" dirty="0"/>
          </a:p>
        </p:txBody>
      </p:sp>
      <p:sp>
        <p:nvSpPr>
          <p:cNvPr id="14" name="Text 12"/>
          <p:cNvSpPr txBox="1"/>
          <p:nvPr/>
        </p:nvSpPr>
        <p:spPr>
          <a:xfrm>
            <a:off x="2999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The scanned receipt has to be attached. No file, no submit, and the step stays open.</a:t>
            </a:r>
            <a:endParaRPr lang="en-US" sz="930" dirty="0"/>
          </a:p>
        </p:txBody>
      </p:sp>
      <p:sp>
        <p:nvSpPr>
          <p:cNvPr id="15" name="Shape 13"/>
          <p:cNvSpPr/>
          <p:nvPr/>
        </p:nvSpPr>
        <p:spPr>
          <a:xfrm>
            <a:off x="5120640" y="1773936"/>
            <a:ext cx="2103120" cy="1481328"/>
          </a:xfrm>
          <a:prstGeom prst="roundRect">
            <a:avLst>
              <a:gd name="adj" fmla="val 4938"/>
            </a:avLst>
          </a:prstGeom>
          <a:solidFill>
            <a:srgbClr val="F4F6F7"/>
          </a:solidFill>
          <a:ln w="9525">
            <a:solidFill>
              <a:srgbClr val="E3E7EA"/>
            </a:solidFill>
            <a:prstDash val="solid"/>
          </a:ln>
        </p:spPr>
      </p:sp>
      <p:sp>
        <p:nvSpPr>
          <p:cNvPr id="16" name="Shape 14"/>
          <p:cNvSpPr/>
          <p:nvPr/>
        </p:nvSpPr>
        <p:spPr>
          <a:xfrm>
            <a:off x="5285232" y="1938528"/>
            <a:ext cx="347472" cy="347472"/>
          </a:xfrm>
          <a:prstGeom prst="ellipse">
            <a:avLst/>
          </a:prstGeom>
          <a:solidFill>
            <a:srgbClr val="20A098"/>
          </a:solidFill>
          <a:ln/>
        </p:spPr>
      </p:sp>
      <p:sp>
        <p:nvSpPr>
          <p:cNvPr id="17" name="Text 15"/>
          <p:cNvSpPr txBox="1"/>
          <p:nvPr/>
        </p:nvSpPr>
        <p:spPr>
          <a:xfrm>
            <a:off x="5285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18" name="Text 16"/>
          <p:cNvSpPr txBox="1"/>
          <p:nvPr/>
        </p:nvSpPr>
        <p:spPr>
          <a:xfrm>
            <a:off x="5285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Card holder recorded</a:t>
            </a:r>
            <a:endParaRPr lang="en-US" sz="1100" dirty="0"/>
          </a:p>
        </p:txBody>
      </p:sp>
      <p:sp>
        <p:nvSpPr>
          <p:cNvPr id="19" name="Text 17"/>
          <p:cNvSpPr txBox="1"/>
          <p:nvPr/>
        </p:nvSpPr>
        <p:spPr>
          <a:xfrm>
            <a:off x="5285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Which card, whose card, and whether the company or the employee carries the cost.</a:t>
            </a:r>
            <a:endParaRPr lang="en-US" sz="930" dirty="0"/>
          </a:p>
        </p:txBody>
      </p:sp>
      <p:sp>
        <p:nvSpPr>
          <p:cNvPr id="20" name="Shape 18"/>
          <p:cNvSpPr/>
          <p:nvPr/>
        </p:nvSpPr>
        <p:spPr>
          <a:xfrm>
            <a:off x="7406640" y="1773936"/>
            <a:ext cx="2103120" cy="1481328"/>
          </a:xfrm>
          <a:prstGeom prst="roundRect">
            <a:avLst>
              <a:gd name="adj" fmla="val 4938"/>
            </a:avLst>
          </a:prstGeom>
          <a:solidFill>
            <a:srgbClr val="F4F6F7"/>
          </a:solidFill>
          <a:ln w="9525">
            <a:solidFill>
              <a:srgbClr val="E3E7EA"/>
            </a:solidFill>
            <a:prstDash val="solid"/>
          </a:ln>
        </p:spPr>
      </p:sp>
      <p:sp>
        <p:nvSpPr>
          <p:cNvPr id="21" name="Shape 19"/>
          <p:cNvSpPr/>
          <p:nvPr/>
        </p:nvSpPr>
        <p:spPr>
          <a:xfrm>
            <a:off x="7571232" y="1938528"/>
            <a:ext cx="347472" cy="347472"/>
          </a:xfrm>
          <a:prstGeom prst="ellipse">
            <a:avLst/>
          </a:prstGeom>
          <a:solidFill>
            <a:srgbClr val="20A098"/>
          </a:solidFill>
          <a:ln/>
        </p:spPr>
      </p:sp>
      <p:sp>
        <p:nvSpPr>
          <p:cNvPr id="22" name="Text 20"/>
          <p:cNvSpPr txBox="1"/>
          <p:nvPr/>
        </p:nvSpPr>
        <p:spPr>
          <a:xfrm>
            <a:off x="7571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23" name="Text 21"/>
          <p:cNvSpPr txBox="1"/>
          <p:nvPr/>
        </p:nvSpPr>
        <p:spPr>
          <a:xfrm>
            <a:off x="7571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Posted to finance</a:t>
            </a:r>
            <a:endParaRPr lang="en-US" sz="1100" dirty="0"/>
          </a:p>
        </p:txBody>
      </p:sp>
      <p:sp>
        <p:nvSpPr>
          <p:cNvPr id="24" name="Text 22"/>
          <p:cNvSpPr txBox="1"/>
          <p:nvPr/>
        </p:nvSpPr>
        <p:spPr>
          <a:xfrm>
            <a:off x="7571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Goes to the right GL account with a document number, ready to post.</a:t>
            </a:r>
            <a:endParaRPr lang="en-US" sz="930" dirty="0"/>
          </a:p>
        </p:txBody>
      </p:sp>
      <p:sp>
        <p:nvSpPr>
          <p:cNvPr id="25" name="Shape 23"/>
          <p:cNvSpPr/>
          <p:nvPr/>
        </p:nvSpPr>
        <p:spPr>
          <a:xfrm>
            <a:off x="9692640" y="1773936"/>
            <a:ext cx="2103120" cy="1481328"/>
          </a:xfrm>
          <a:prstGeom prst="roundRect">
            <a:avLst>
              <a:gd name="adj" fmla="val 4938"/>
            </a:avLst>
          </a:prstGeom>
          <a:solidFill>
            <a:srgbClr val="F4F6F7"/>
          </a:solidFill>
          <a:ln w="9525">
            <a:solidFill>
              <a:srgbClr val="E3E7EA"/>
            </a:solidFill>
            <a:prstDash val="solid"/>
          </a:ln>
        </p:spPr>
      </p:sp>
      <p:sp>
        <p:nvSpPr>
          <p:cNvPr id="26" name="Shape 24"/>
          <p:cNvSpPr/>
          <p:nvPr/>
        </p:nvSpPr>
        <p:spPr>
          <a:xfrm>
            <a:off x="9857232" y="1938528"/>
            <a:ext cx="347472" cy="347472"/>
          </a:xfrm>
          <a:prstGeom prst="ellipse">
            <a:avLst/>
          </a:prstGeom>
          <a:solidFill>
            <a:srgbClr val="20A098"/>
          </a:solidFill>
          <a:ln/>
        </p:spPr>
      </p:sp>
      <p:sp>
        <p:nvSpPr>
          <p:cNvPr id="27" name="Text 25"/>
          <p:cNvSpPr txBox="1"/>
          <p:nvPr/>
        </p:nvSpPr>
        <p:spPr>
          <a:xfrm>
            <a:off x="9857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05</a:t>
            </a:r>
            <a:endParaRPr lang="en-US" sz="1050" dirty="0"/>
          </a:p>
        </p:txBody>
      </p:sp>
      <p:sp>
        <p:nvSpPr>
          <p:cNvPr id="28" name="Text 26"/>
          <p:cNvSpPr txBox="1"/>
          <p:nvPr/>
        </p:nvSpPr>
        <p:spPr>
          <a:xfrm>
            <a:off x="9857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Reportable</a:t>
            </a:r>
            <a:endParaRPr lang="en-US" sz="1100" dirty="0"/>
          </a:p>
        </p:txBody>
      </p:sp>
      <p:sp>
        <p:nvSpPr>
          <p:cNvPr id="29" name="Text 27"/>
          <p:cNvSpPr txBox="1"/>
          <p:nvPr/>
        </p:nvSpPr>
        <p:spPr>
          <a:xfrm>
            <a:off x="9857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Filter by process, company, employee, date, mode or card holder, then export it.</a:t>
            </a:r>
            <a:endParaRPr lang="en-US" sz="930" dirty="0"/>
          </a:p>
        </p:txBody>
      </p:sp>
      <p:sp>
        <p:nvSpPr>
          <p:cNvPr id="30" name="Shape 28"/>
          <p:cNvSpPr/>
          <p:nvPr/>
        </p:nvSpPr>
        <p:spPr>
          <a:xfrm>
            <a:off x="548640" y="3493008"/>
            <a:ext cx="5532120" cy="640080"/>
          </a:xfrm>
          <a:prstGeom prst="roundRect">
            <a:avLst>
              <a:gd name="adj" fmla="val 8571"/>
            </a:avLst>
          </a:prstGeom>
          <a:solidFill>
            <a:srgbClr val="FFFFFF"/>
          </a:solidFill>
          <a:ln w="9525">
            <a:solidFill>
              <a:srgbClr val="E3E7EA"/>
            </a:solidFill>
            <a:prstDash val="solid"/>
          </a:ln>
        </p:spPr>
      </p:sp>
      <p:sp>
        <p:nvSpPr>
          <p:cNvPr id="31" name="Shape 29"/>
          <p:cNvSpPr/>
          <p:nvPr/>
        </p:nvSpPr>
        <p:spPr>
          <a:xfrm>
            <a:off x="713232" y="3630168"/>
            <a:ext cx="365760" cy="365760"/>
          </a:xfrm>
          <a:prstGeom prst="ellipse">
            <a:avLst/>
          </a:prstGeom>
          <a:solidFill>
            <a:srgbClr val="17795E"/>
          </a:solidFill>
          <a:ln/>
        </p:spPr>
      </p:sp>
      <p:sp>
        <p:nvSpPr>
          <p:cNvPr id="32" name="Text 30"/>
          <p:cNvSpPr txBox="1"/>
          <p:nvPr/>
        </p:nvSpPr>
        <p:spPr>
          <a:xfrm>
            <a:off x="713232" y="36301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1207008" y="355701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duplicate payments</a:t>
            </a:r>
            <a:endParaRPr lang="en-US" sz="1150" dirty="0"/>
          </a:p>
        </p:txBody>
      </p:sp>
      <p:sp>
        <p:nvSpPr>
          <p:cNvPr id="34" name="Text 32"/>
          <p:cNvSpPr txBox="1"/>
          <p:nvPr/>
        </p:nvSpPr>
        <p:spPr>
          <a:xfrm>
            <a:off x="1207008" y="377647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reference is tied to one step of one case, so the same fee cannot be recorded twice against the same step.</a:t>
            </a:r>
            <a:endParaRPr lang="en-US" sz="900" dirty="0"/>
          </a:p>
        </p:txBody>
      </p:sp>
      <p:sp>
        <p:nvSpPr>
          <p:cNvPr id="35" name="Shape 33"/>
          <p:cNvSpPr/>
          <p:nvPr/>
        </p:nvSpPr>
        <p:spPr>
          <a:xfrm>
            <a:off x="548640" y="4224528"/>
            <a:ext cx="5532120" cy="640080"/>
          </a:xfrm>
          <a:prstGeom prst="roundRect">
            <a:avLst>
              <a:gd name="adj" fmla="val 8571"/>
            </a:avLst>
          </a:prstGeom>
          <a:solidFill>
            <a:srgbClr val="FFFFFF"/>
          </a:solidFill>
          <a:ln w="9525">
            <a:solidFill>
              <a:srgbClr val="E3E7EA"/>
            </a:solidFill>
            <a:prstDash val="solid"/>
          </a:ln>
        </p:spPr>
      </p:sp>
      <p:sp>
        <p:nvSpPr>
          <p:cNvPr id="36" name="Shape 34"/>
          <p:cNvSpPr/>
          <p:nvPr/>
        </p:nvSpPr>
        <p:spPr>
          <a:xfrm>
            <a:off x="713232" y="4361688"/>
            <a:ext cx="365760" cy="365760"/>
          </a:xfrm>
          <a:prstGeom prst="ellipse">
            <a:avLst/>
          </a:prstGeom>
          <a:solidFill>
            <a:srgbClr val="17795E"/>
          </a:solidFill>
          <a:ln/>
        </p:spPr>
      </p:sp>
      <p:sp>
        <p:nvSpPr>
          <p:cNvPr id="37" name="Text 35"/>
          <p:cNvSpPr txBox="1"/>
          <p:nvPr/>
        </p:nvSpPr>
        <p:spPr>
          <a:xfrm>
            <a:off x="713232" y="4361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txBox="1"/>
          <p:nvPr/>
        </p:nvSpPr>
        <p:spPr>
          <a:xfrm>
            <a:off x="1207008" y="428853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unaccounted spend</a:t>
            </a:r>
            <a:endParaRPr lang="en-US" sz="1150" dirty="0"/>
          </a:p>
        </p:txBody>
      </p:sp>
      <p:sp>
        <p:nvSpPr>
          <p:cNvPr id="39" name="Text 37"/>
          <p:cNvSpPr txBox="1"/>
          <p:nvPr/>
        </p:nvSpPr>
        <p:spPr>
          <a:xfrm>
            <a:off x="1207008" y="450799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payment leaves with a GL account and a document number. Finance reconciles from a report, not a shoebox of receipts.</a:t>
            </a:r>
            <a:endParaRPr lang="en-US" sz="900" dirty="0"/>
          </a:p>
        </p:txBody>
      </p:sp>
      <p:sp>
        <p:nvSpPr>
          <p:cNvPr id="40" name="Shape 38"/>
          <p:cNvSpPr/>
          <p:nvPr/>
        </p:nvSpPr>
        <p:spPr>
          <a:xfrm>
            <a:off x="548640" y="4956048"/>
            <a:ext cx="5532120" cy="640080"/>
          </a:xfrm>
          <a:prstGeom prst="roundRect">
            <a:avLst>
              <a:gd name="adj" fmla="val 8571"/>
            </a:avLst>
          </a:prstGeom>
          <a:solidFill>
            <a:srgbClr val="FFFFFF"/>
          </a:solidFill>
          <a:ln w="9525">
            <a:solidFill>
              <a:srgbClr val="E3E7EA"/>
            </a:solidFill>
            <a:prstDash val="solid"/>
          </a:ln>
        </p:spPr>
      </p:sp>
      <p:sp>
        <p:nvSpPr>
          <p:cNvPr id="41" name="Shape 39"/>
          <p:cNvSpPr/>
          <p:nvPr/>
        </p:nvSpPr>
        <p:spPr>
          <a:xfrm>
            <a:off x="713232" y="5093208"/>
            <a:ext cx="365760" cy="365760"/>
          </a:xfrm>
          <a:prstGeom prst="ellipse">
            <a:avLst/>
          </a:prstGeom>
          <a:solidFill>
            <a:srgbClr val="17795E"/>
          </a:solidFill>
          <a:ln/>
        </p:spPr>
      </p:sp>
      <p:sp>
        <p:nvSpPr>
          <p:cNvPr id="42" name="Text 40"/>
          <p:cNvSpPr txBox="1"/>
          <p:nvPr/>
        </p:nvSpPr>
        <p:spPr>
          <a:xfrm>
            <a:off x="713232" y="5093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3" name="Text 41"/>
          <p:cNvSpPr txBox="1"/>
          <p:nvPr/>
        </p:nvSpPr>
        <p:spPr>
          <a:xfrm>
            <a:off x="1207008" y="502005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Fines have a workflow too</a:t>
            </a:r>
            <a:endParaRPr lang="en-US" sz="1150" dirty="0"/>
          </a:p>
        </p:txBody>
      </p:sp>
      <p:sp>
        <p:nvSpPr>
          <p:cNvPr id="44" name="Text 42"/>
          <p:cNvSpPr txBox="1"/>
          <p:nvPr/>
        </p:nvSpPr>
        <p:spPr>
          <a:xfrm>
            <a:off x="1207008" y="523951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Overstay, traffic, labour and immigration fines get raised by the PRO, go through the HRBP to payroll, and sit as a deduction.</a:t>
            </a:r>
            <a:endParaRPr lang="en-US" sz="900" dirty="0"/>
          </a:p>
        </p:txBody>
      </p:sp>
      <p:pic>
        <p:nvPicPr>
          <p:cNvPr id="45" name="Image 0" descr="./img/payment.jpg">    </p:cNvPr>
          <p:cNvPicPr>
            <a:picLocks noChangeAspect="1"/>
          </p:cNvPicPr>
          <p:nvPr/>
        </p:nvPicPr>
        <p:blipFill>
          <a:blip r:embed="rId1"/>
          <a:stretch>
            <a:fillRect/>
          </a:stretch>
        </p:blipFill>
        <p:spPr>
          <a:xfrm>
            <a:off x="6355080" y="3493008"/>
            <a:ext cx="5257800" cy="914400"/>
          </a:xfrm>
          <a:prstGeom prst="rect">
            <a:avLst/>
          </a:prstGeom>
          <a:effectLst>
            <a:outerShdw sx="100000" sy="100000" kx="0" ky="0" algn="bl" rotWithShape="0" blurRad="177800" dist="38100" dir="5400000">
              <a:srgbClr val="000000">
                <a:alpha val="20000"/>
              </a:srgbClr>
            </a:outerShdw>
          </a:effectLst>
        </p:spPr>
      </p:pic>
      <p:sp>
        <p:nvSpPr>
          <p:cNvPr id="46" name="Text 43"/>
          <p:cNvSpPr txBox="1"/>
          <p:nvPr/>
        </p:nvSpPr>
        <p:spPr>
          <a:xfrm>
            <a:off x="6355080" y="5961888"/>
            <a:ext cx="5257800" cy="384048"/>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Every row is auditable: amount, VAT, payment reference, payment document number, GL account and status, with the original receipt one click away under Download.</a:t>
            </a:r>
            <a:endParaRPr lang="en-US" sz="980" dirty="0"/>
          </a:p>
        </p:txBody>
      </p:sp>
      <p:sp>
        <p:nvSpPr>
          <p:cNvPr id="47" name="Text 4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8" name="Text 4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50976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GCC COVERAGE</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engine, seven rulebooks.</a:t>
            </a:r>
            <a:endParaRPr lang="en-US" sz="3000" dirty="0"/>
          </a:p>
        </p:txBody>
      </p:sp>
      <p:sp>
        <p:nvSpPr>
          <p:cNvPr id="5" name="Text 3"/>
          <p:cNvSpPr txBox="1"/>
          <p:nvPr/>
        </p:nvSpPr>
        <p:spPr>
          <a:xfrm>
            <a:off x="548640" y="1243584"/>
            <a:ext cx="10424160" cy="23774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The engine stays the same everywhere. What changes per country is the steps, the authorities, the checklist and when alerts fire.</a:t>
            </a:r>
            <a:endParaRPr lang="en-US" sz="1250" dirty="0"/>
          </a:p>
        </p:txBody>
      </p:sp>
      <p:sp>
        <p:nvSpPr>
          <p:cNvPr id="6" name="Shape 4"/>
          <p:cNvSpPr/>
          <p:nvPr/>
        </p:nvSpPr>
        <p:spPr>
          <a:xfrm>
            <a:off x="548640" y="1737360"/>
            <a:ext cx="10424160" cy="530352"/>
          </a:xfrm>
          <a:prstGeom prst="roundRect">
            <a:avLst>
              <a:gd name="adj" fmla="val 8621"/>
            </a:avLst>
          </a:prstGeom>
          <a:solidFill>
            <a:srgbClr val="13314C"/>
          </a:solidFill>
          <a:ln w="9525">
            <a:solidFill>
              <a:srgbClr val="27415C"/>
            </a:solidFill>
            <a:prstDash val="solid"/>
          </a:ln>
        </p:spPr>
      </p:sp>
      <p:sp>
        <p:nvSpPr>
          <p:cNvPr id="7" name="Text 5"/>
          <p:cNvSpPr txBox="1"/>
          <p:nvPr/>
        </p:nvSpPr>
        <p:spPr>
          <a:xfrm>
            <a:off x="749808" y="177850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United Arab Emirates</a:t>
            </a:r>
            <a:endParaRPr lang="en-US" sz="1150" dirty="0"/>
          </a:p>
        </p:txBody>
      </p:sp>
      <p:sp>
        <p:nvSpPr>
          <p:cNvPr id="8" name="Shape 6"/>
          <p:cNvSpPr/>
          <p:nvPr/>
        </p:nvSpPr>
        <p:spPr>
          <a:xfrm>
            <a:off x="749808" y="2020824"/>
            <a:ext cx="566928" cy="173736"/>
          </a:xfrm>
          <a:prstGeom prst="roundRect">
            <a:avLst>
              <a:gd name="adj" fmla="val 52632"/>
            </a:avLst>
          </a:prstGeom>
          <a:solidFill>
            <a:srgbClr val="C9A227"/>
          </a:solidFill>
          <a:ln/>
        </p:spPr>
      </p:sp>
      <p:sp>
        <p:nvSpPr>
          <p:cNvPr id="9" name="Text 7"/>
          <p:cNvSpPr txBox="1"/>
          <p:nvPr/>
        </p:nvSpPr>
        <p:spPr>
          <a:xfrm>
            <a:off x="749808" y="202082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0" name="Text 8"/>
          <p:cNvSpPr txBox="1"/>
          <p:nvPr/>
        </p:nvSpPr>
        <p:spPr>
          <a:xfrm>
            <a:off x="3200400" y="179222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MOHRE  ·  ICP  ·  GDRFA  ·  Tasheel / Tawjeeh  ·  ILOE</a:t>
            </a:r>
            <a:endParaRPr lang="en-US" sz="900" dirty="0"/>
          </a:p>
        </p:txBody>
      </p:sp>
      <p:sp>
        <p:nvSpPr>
          <p:cNvPr id="11" name="Text 9"/>
          <p:cNvSpPr txBox="1"/>
          <p:nvPr/>
        </p:nvSpPr>
        <p:spPr>
          <a:xfrm>
            <a:off x="7132320" y="179222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New, renew, cancel, quota, temporary permit, Emiratisation, absconding, company documents</a:t>
            </a:r>
            <a:endParaRPr lang="en-US" sz="860" dirty="0"/>
          </a:p>
        </p:txBody>
      </p:sp>
      <p:sp>
        <p:nvSpPr>
          <p:cNvPr id="12" name="Shape 10"/>
          <p:cNvSpPr/>
          <p:nvPr/>
        </p:nvSpPr>
        <p:spPr>
          <a:xfrm>
            <a:off x="548640" y="2322576"/>
            <a:ext cx="10424160" cy="530352"/>
          </a:xfrm>
          <a:prstGeom prst="roundRect">
            <a:avLst>
              <a:gd name="adj" fmla="val 8621"/>
            </a:avLst>
          </a:prstGeom>
          <a:solidFill>
            <a:srgbClr val="16304C"/>
          </a:solidFill>
          <a:ln w="9525">
            <a:solidFill>
              <a:srgbClr val="27415C"/>
            </a:solidFill>
            <a:prstDash val="solid"/>
          </a:ln>
        </p:spPr>
      </p:sp>
      <p:sp>
        <p:nvSpPr>
          <p:cNvPr id="13" name="Text 11"/>
          <p:cNvSpPr txBox="1"/>
          <p:nvPr/>
        </p:nvSpPr>
        <p:spPr>
          <a:xfrm>
            <a:off x="749808" y="236372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Kingdom of Saudi Arabia</a:t>
            </a:r>
            <a:endParaRPr lang="en-US" sz="1150" dirty="0"/>
          </a:p>
        </p:txBody>
      </p:sp>
      <p:sp>
        <p:nvSpPr>
          <p:cNvPr id="14" name="Shape 12"/>
          <p:cNvSpPr/>
          <p:nvPr/>
        </p:nvSpPr>
        <p:spPr>
          <a:xfrm>
            <a:off x="749808" y="2606040"/>
            <a:ext cx="566928" cy="173736"/>
          </a:xfrm>
          <a:prstGeom prst="roundRect">
            <a:avLst>
              <a:gd name="adj" fmla="val 52632"/>
            </a:avLst>
          </a:prstGeom>
          <a:solidFill>
            <a:srgbClr val="C9A227"/>
          </a:solidFill>
          <a:ln/>
        </p:spPr>
      </p:sp>
      <p:sp>
        <p:nvSpPr>
          <p:cNvPr id="15" name="Text 13"/>
          <p:cNvSpPr txBox="1"/>
          <p:nvPr/>
        </p:nvSpPr>
        <p:spPr>
          <a:xfrm>
            <a:off x="749808" y="260604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6" name="Text 14"/>
          <p:cNvSpPr txBox="1"/>
          <p:nvPr/>
        </p:nvSpPr>
        <p:spPr>
          <a:xfrm>
            <a:off x="3200400" y="237744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Qiwa  ·  Muqeem  ·  Absher  ·  GOSI  ·  Mudad</a:t>
            </a:r>
            <a:endParaRPr lang="en-US" sz="900" dirty="0"/>
          </a:p>
        </p:txBody>
      </p:sp>
      <p:sp>
        <p:nvSpPr>
          <p:cNvPr id="17" name="Text 15"/>
          <p:cNvSpPr txBox="1"/>
          <p:nvPr/>
        </p:nvSpPr>
        <p:spPr>
          <a:xfrm>
            <a:off x="7132320" y="237744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Block visa &amp; quota, work permit, Iqama issue and renewal, exit / re-entry, final exit, profession change, transfer, Nitaqat</a:t>
            </a:r>
            <a:endParaRPr lang="en-US" sz="860" dirty="0"/>
          </a:p>
        </p:txBody>
      </p:sp>
      <p:sp>
        <p:nvSpPr>
          <p:cNvPr id="18" name="Shape 16"/>
          <p:cNvSpPr/>
          <p:nvPr/>
        </p:nvSpPr>
        <p:spPr>
          <a:xfrm>
            <a:off x="548640" y="2907792"/>
            <a:ext cx="10424160" cy="530352"/>
          </a:xfrm>
          <a:prstGeom prst="roundRect">
            <a:avLst>
              <a:gd name="adj" fmla="val 8621"/>
            </a:avLst>
          </a:prstGeom>
          <a:solidFill>
            <a:srgbClr val="13314C"/>
          </a:solidFill>
          <a:ln w="9525">
            <a:solidFill>
              <a:srgbClr val="27415C"/>
            </a:solidFill>
            <a:prstDash val="solid"/>
          </a:ln>
        </p:spPr>
      </p:sp>
      <p:sp>
        <p:nvSpPr>
          <p:cNvPr id="19" name="Text 17"/>
          <p:cNvSpPr txBox="1"/>
          <p:nvPr/>
        </p:nvSpPr>
        <p:spPr>
          <a:xfrm>
            <a:off x="749808" y="2948940"/>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Qatar</a:t>
            </a:r>
            <a:endParaRPr lang="en-US" sz="1150" dirty="0"/>
          </a:p>
        </p:txBody>
      </p:sp>
      <p:sp>
        <p:nvSpPr>
          <p:cNvPr id="20" name="Shape 18"/>
          <p:cNvSpPr/>
          <p:nvPr/>
        </p:nvSpPr>
        <p:spPr>
          <a:xfrm>
            <a:off x="749808" y="3191256"/>
            <a:ext cx="566928" cy="173736"/>
          </a:xfrm>
          <a:prstGeom prst="roundRect">
            <a:avLst>
              <a:gd name="adj" fmla="val 52632"/>
            </a:avLst>
          </a:prstGeom>
          <a:solidFill>
            <a:srgbClr val="C9A227"/>
          </a:solidFill>
          <a:ln/>
        </p:spPr>
      </p:sp>
      <p:sp>
        <p:nvSpPr>
          <p:cNvPr id="21" name="Text 19"/>
          <p:cNvSpPr txBox="1"/>
          <p:nvPr/>
        </p:nvSpPr>
        <p:spPr>
          <a:xfrm>
            <a:off x="749808" y="3191256"/>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2" name="Text 20"/>
          <p:cNvSpPr txBox="1"/>
          <p:nvPr/>
        </p:nvSpPr>
        <p:spPr>
          <a:xfrm>
            <a:off x="3200400" y="2962656"/>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ADLSA  ·  MOI  ·  Metrash2  ·  Qatar Visa Centre</a:t>
            </a:r>
            <a:endParaRPr lang="en-US" sz="900" dirty="0"/>
          </a:p>
        </p:txBody>
      </p:sp>
      <p:sp>
        <p:nvSpPr>
          <p:cNvPr id="23" name="Text 21"/>
          <p:cNvSpPr txBox="1"/>
          <p:nvPr/>
        </p:nvSpPr>
        <p:spPr>
          <a:xfrm>
            <a:off x="7132320" y="2962656"/>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visa quota, contract attestation, entry visa, medical and biometrics, RP and Qatar ID, renewal, exit</a:t>
            </a:r>
            <a:endParaRPr lang="en-US" sz="860" dirty="0"/>
          </a:p>
        </p:txBody>
      </p:sp>
      <p:sp>
        <p:nvSpPr>
          <p:cNvPr id="24" name="Shape 22"/>
          <p:cNvSpPr/>
          <p:nvPr/>
        </p:nvSpPr>
        <p:spPr>
          <a:xfrm>
            <a:off x="548640" y="3493008"/>
            <a:ext cx="10424160" cy="530352"/>
          </a:xfrm>
          <a:prstGeom prst="roundRect">
            <a:avLst>
              <a:gd name="adj" fmla="val 8621"/>
            </a:avLst>
          </a:prstGeom>
          <a:solidFill>
            <a:srgbClr val="16304C"/>
          </a:solidFill>
          <a:ln w="9525">
            <a:solidFill>
              <a:srgbClr val="27415C"/>
            </a:solidFill>
            <a:prstDash val="solid"/>
          </a:ln>
        </p:spPr>
      </p:sp>
      <p:sp>
        <p:nvSpPr>
          <p:cNvPr id="25" name="Text 23"/>
          <p:cNvSpPr txBox="1"/>
          <p:nvPr/>
        </p:nvSpPr>
        <p:spPr>
          <a:xfrm>
            <a:off x="749808" y="3534156"/>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Kuwait</a:t>
            </a:r>
            <a:endParaRPr lang="en-US" sz="1150" dirty="0"/>
          </a:p>
        </p:txBody>
      </p:sp>
      <p:sp>
        <p:nvSpPr>
          <p:cNvPr id="26" name="Shape 24"/>
          <p:cNvSpPr/>
          <p:nvPr/>
        </p:nvSpPr>
        <p:spPr>
          <a:xfrm>
            <a:off x="749808" y="3776472"/>
            <a:ext cx="566928" cy="173736"/>
          </a:xfrm>
          <a:prstGeom prst="roundRect">
            <a:avLst>
              <a:gd name="adj" fmla="val 52632"/>
            </a:avLst>
          </a:prstGeom>
          <a:solidFill>
            <a:srgbClr val="C9A227"/>
          </a:solidFill>
          <a:ln/>
        </p:spPr>
      </p:sp>
      <p:sp>
        <p:nvSpPr>
          <p:cNvPr id="27" name="Text 25"/>
          <p:cNvSpPr txBox="1"/>
          <p:nvPr/>
        </p:nvSpPr>
        <p:spPr>
          <a:xfrm>
            <a:off x="749808" y="3776472"/>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8" name="Text 26"/>
          <p:cNvSpPr txBox="1"/>
          <p:nvPr/>
        </p:nvSpPr>
        <p:spPr>
          <a:xfrm>
            <a:off x="3200400" y="3547872"/>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PAM (Ashal)  ·  MOI  ·  Sahel  ·  PACI</a:t>
            </a:r>
            <a:endParaRPr lang="en-US" sz="900" dirty="0"/>
          </a:p>
        </p:txBody>
      </p:sp>
      <p:sp>
        <p:nvSpPr>
          <p:cNvPr id="29" name="Text 27"/>
          <p:cNvSpPr txBox="1"/>
          <p:nvPr/>
        </p:nvSpPr>
        <p:spPr>
          <a:xfrm>
            <a:off x="7132320" y="3547872"/>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Article 18 work permit, entry visa, medical and fingerprint, residency stamping, Civil ID, renewal, cancellation</a:t>
            </a:r>
            <a:endParaRPr lang="en-US" sz="860" dirty="0"/>
          </a:p>
        </p:txBody>
      </p:sp>
      <p:sp>
        <p:nvSpPr>
          <p:cNvPr id="30" name="Shape 28"/>
          <p:cNvSpPr/>
          <p:nvPr/>
        </p:nvSpPr>
        <p:spPr>
          <a:xfrm>
            <a:off x="548640" y="4078224"/>
            <a:ext cx="10424160" cy="530352"/>
          </a:xfrm>
          <a:prstGeom prst="roundRect">
            <a:avLst>
              <a:gd name="adj" fmla="val 8621"/>
            </a:avLst>
          </a:prstGeom>
          <a:solidFill>
            <a:srgbClr val="13314C"/>
          </a:solidFill>
          <a:ln w="9525">
            <a:solidFill>
              <a:srgbClr val="27415C"/>
            </a:solidFill>
            <a:prstDash val="solid"/>
          </a:ln>
        </p:spPr>
      </p:sp>
      <p:sp>
        <p:nvSpPr>
          <p:cNvPr id="31" name="Text 29"/>
          <p:cNvSpPr txBox="1"/>
          <p:nvPr/>
        </p:nvSpPr>
        <p:spPr>
          <a:xfrm>
            <a:off x="749808" y="4119372"/>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Oman</a:t>
            </a:r>
            <a:endParaRPr lang="en-US" sz="1150" dirty="0"/>
          </a:p>
        </p:txBody>
      </p:sp>
      <p:sp>
        <p:nvSpPr>
          <p:cNvPr id="32" name="Shape 30"/>
          <p:cNvSpPr/>
          <p:nvPr/>
        </p:nvSpPr>
        <p:spPr>
          <a:xfrm>
            <a:off x="749808" y="4361688"/>
            <a:ext cx="566928" cy="173736"/>
          </a:xfrm>
          <a:prstGeom prst="roundRect">
            <a:avLst>
              <a:gd name="adj" fmla="val 52632"/>
            </a:avLst>
          </a:prstGeom>
          <a:solidFill>
            <a:srgbClr val="C9A227"/>
          </a:solidFill>
          <a:ln/>
        </p:spPr>
      </p:sp>
      <p:sp>
        <p:nvSpPr>
          <p:cNvPr id="33" name="Text 31"/>
          <p:cNvSpPr txBox="1"/>
          <p:nvPr/>
        </p:nvSpPr>
        <p:spPr>
          <a:xfrm>
            <a:off x="749808" y="4361688"/>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34" name="Text 32"/>
          <p:cNvSpPr txBox="1"/>
          <p:nvPr/>
        </p:nvSpPr>
        <p:spPr>
          <a:xfrm>
            <a:off x="3200400" y="4133088"/>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ROP  ·  Invest Easy</a:t>
            </a:r>
            <a:endParaRPr lang="en-US" sz="900" dirty="0"/>
          </a:p>
        </p:txBody>
      </p:sp>
      <p:sp>
        <p:nvSpPr>
          <p:cNvPr id="35" name="Text 33"/>
          <p:cNvSpPr txBox="1"/>
          <p:nvPr/>
        </p:nvSpPr>
        <p:spPr>
          <a:xfrm>
            <a:off x="7132320" y="4133088"/>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Labour clearance, employment visa, medical, resident card, renewal, Omanisation monitoring, exit</a:t>
            </a:r>
            <a:endParaRPr lang="en-US" sz="860" dirty="0"/>
          </a:p>
        </p:txBody>
      </p:sp>
      <p:sp>
        <p:nvSpPr>
          <p:cNvPr id="36" name="Shape 34"/>
          <p:cNvSpPr/>
          <p:nvPr/>
        </p:nvSpPr>
        <p:spPr>
          <a:xfrm>
            <a:off x="548640" y="4663440"/>
            <a:ext cx="10424160" cy="530352"/>
          </a:xfrm>
          <a:prstGeom prst="roundRect">
            <a:avLst>
              <a:gd name="adj" fmla="val 8621"/>
            </a:avLst>
          </a:prstGeom>
          <a:solidFill>
            <a:srgbClr val="16304C"/>
          </a:solidFill>
          <a:ln w="9525">
            <a:solidFill>
              <a:srgbClr val="27415C"/>
            </a:solidFill>
            <a:prstDash val="solid"/>
          </a:ln>
        </p:spPr>
      </p:sp>
      <p:sp>
        <p:nvSpPr>
          <p:cNvPr id="37" name="Text 35"/>
          <p:cNvSpPr txBox="1"/>
          <p:nvPr/>
        </p:nvSpPr>
        <p:spPr>
          <a:xfrm>
            <a:off x="749808" y="470458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Bahrain</a:t>
            </a:r>
            <a:endParaRPr lang="en-US" sz="1150" dirty="0"/>
          </a:p>
        </p:txBody>
      </p:sp>
      <p:sp>
        <p:nvSpPr>
          <p:cNvPr id="38" name="Shape 36"/>
          <p:cNvSpPr/>
          <p:nvPr/>
        </p:nvSpPr>
        <p:spPr>
          <a:xfrm>
            <a:off x="749808" y="4946904"/>
            <a:ext cx="566928" cy="173736"/>
          </a:xfrm>
          <a:prstGeom prst="roundRect">
            <a:avLst>
              <a:gd name="adj" fmla="val 52632"/>
            </a:avLst>
          </a:prstGeom>
          <a:solidFill>
            <a:srgbClr val="C9A227"/>
          </a:solidFill>
          <a:ln/>
        </p:spPr>
      </p:sp>
      <p:sp>
        <p:nvSpPr>
          <p:cNvPr id="39" name="Text 37"/>
          <p:cNvSpPr txBox="1"/>
          <p:nvPr/>
        </p:nvSpPr>
        <p:spPr>
          <a:xfrm>
            <a:off x="749808" y="494690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0" name="Text 38"/>
          <p:cNvSpPr txBox="1"/>
          <p:nvPr/>
        </p:nvSpPr>
        <p:spPr>
          <a:xfrm>
            <a:off x="3200400" y="471830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LMRA (EMS)  ·  NPRA  ·  SIO / CPR  ·  GOSI</a:t>
            </a:r>
            <a:endParaRPr lang="en-US" sz="900" dirty="0"/>
          </a:p>
        </p:txBody>
      </p:sp>
      <p:sp>
        <p:nvSpPr>
          <p:cNvPr id="41" name="Text 39"/>
          <p:cNvSpPr txBox="1"/>
          <p:nvPr/>
        </p:nvSpPr>
        <p:spPr>
          <a:xfrm>
            <a:off x="7132320" y="471830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Expatriate work permit, medical, residence permit, CPR card, renewal, flexi permit tracking, cancellation</a:t>
            </a:r>
            <a:endParaRPr lang="en-US" sz="860" dirty="0"/>
          </a:p>
        </p:txBody>
      </p:sp>
      <p:sp>
        <p:nvSpPr>
          <p:cNvPr id="42" name="Shape 40"/>
          <p:cNvSpPr/>
          <p:nvPr/>
        </p:nvSpPr>
        <p:spPr>
          <a:xfrm>
            <a:off x="548640" y="5248656"/>
            <a:ext cx="10424160" cy="530352"/>
          </a:xfrm>
          <a:prstGeom prst="roundRect">
            <a:avLst>
              <a:gd name="adj" fmla="val 8621"/>
            </a:avLst>
          </a:prstGeom>
          <a:solidFill>
            <a:srgbClr val="13314C"/>
          </a:solidFill>
          <a:ln w="9525">
            <a:solidFill>
              <a:srgbClr val="27415C"/>
            </a:solidFill>
            <a:prstDash val="solid"/>
          </a:ln>
        </p:spPr>
      </p:sp>
      <p:sp>
        <p:nvSpPr>
          <p:cNvPr id="43" name="Text 41"/>
          <p:cNvSpPr txBox="1"/>
          <p:nvPr/>
        </p:nvSpPr>
        <p:spPr>
          <a:xfrm>
            <a:off x="749808" y="528980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Libya</a:t>
            </a:r>
            <a:endParaRPr lang="en-US" sz="1150" dirty="0"/>
          </a:p>
        </p:txBody>
      </p:sp>
      <p:sp>
        <p:nvSpPr>
          <p:cNvPr id="44" name="Shape 42"/>
          <p:cNvSpPr/>
          <p:nvPr/>
        </p:nvSpPr>
        <p:spPr>
          <a:xfrm>
            <a:off x="749808" y="5532120"/>
            <a:ext cx="566928" cy="173736"/>
          </a:xfrm>
          <a:prstGeom prst="roundRect">
            <a:avLst>
              <a:gd name="adj" fmla="val 52632"/>
            </a:avLst>
          </a:prstGeom>
          <a:solidFill>
            <a:srgbClr val="C9A227"/>
          </a:solidFill>
          <a:ln/>
        </p:spPr>
      </p:sp>
      <p:sp>
        <p:nvSpPr>
          <p:cNvPr id="45" name="Text 43"/>
          <p:cNvSpPr txBox="1"/>
          <p:nvPr/>
        </p:nvSpPr>
        <p:spPr>
          <a:xfrm>
            <a:off x="749808" y="553212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6" name="Text 44"/>
          <p:cNvSpPr txBox="1"/>
          <p:nvPr/>
        </p:nvSpPr>
        <p:spPr>
          <a:xfrm>
            <a:off x="3200400" y="530352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Passport &amp; Nationality Authority</a:t>
            </a:r>
            <a:endParaRPr lang="en-US" sz="900" dirty="0"/>
          </a:p>
        </p:txBody>
      </p:sp>
      <p:sp>
        <p:nvSpPr>
          <p:cNvPr id="47" name="Text 45"/>
          <p:cNvSpPr txBox="1"/>
          <p:nvPr/>
        </p:nvSpPr>
        <p:spPr>
          <a:xfrm>
            <a:off x="7132320" y="530352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permit, entry visa, medical, residency, rotation tracking for expatriate crews, company operating permits</a:t>
            </a:r>
            <a:endParaRPr lang="en-US" sz="860" dirty="0"/>
          </a:p>
        </p:txBody>
      </p:sp>
      <p:sp>
        <p:nvSpPr>
          <p:cNvPr id="48" name="Text 46"/>
          <p:cNvSpPr txBox="1"/>
          <p:nvPr/>
        </p:nvSpPr>
        <p:spPr>
          <a:xfrm>
            <a:off x="749808" y="1517904"/>
            <a:ext cx="219456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COUNTRY</a:t>
            </a:r>
            <a:endParaRPr lang="en-US" sz="800" dirty="0"/>
          </a:p>
        </p:txBody>
      </p:sp>
      <p:sp>
        <p:nvSpPr>
          <p:cNvPr id="49" name="Text 47"/>
          <p:cNvSpPr txBox="1"/>
          <p:nvPr/>
        </p:nvSpPr>
        <p:spPr>
          <a:xfrm>
            <a:off x="3200400" y="1517904"/>
            <a:ext cx="374904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AUTHORITIES &amp; PORTALS</a:t>
            </a:r>
            <a:endParaRPr lang="en-US" sz="800" dirty="0"/>
          </a:p>
        </p:txBody>
      </p:sp>
      <p:sp>
        <p:nvSpPr>
          <p:cNvPr id="50" name="Text 48"/>
          <p:cNvSpPr txBox="1"/>
          <p:nvPr/>
        </p:nvSpPr>
        <p:spPr>
          <a:xfrm>
            <a:off x="7132320" y="1517904"/>
            <a:ext cx="365760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PROCESSES IN THE PACK</a:t>
            </a:r>
            <a:endParaRPr lang="en-US" sz="800" dirty="0"/>
          </a:p>
        </p:txBody>
      </p:sp>
      <p:sp>
        <p:nvSpPr>
          <p:cNvPr id="51" name="Text 49"/>
          <p:cNvSpPr txBox="1"/>
          <p:nvPr/>
        </p:nvSpPr>
        <p:spPr>
          <a:xfrm>
            <a:off x="548640" y="5943600"/>
            <a:ext cx="10424160" cy="384048"/>
          </a:xfrm>
          <a:prstGeom prst="rect">
            <a:avLst/>
          </a:prstGeom>
          <a:noFill/>
          <a:ln/>
        </p:spPr>
        <p:txBody>
          <a:bodyPr wrap="square" lIns="0" tIns="0" rIns="0" bIns="0" rtlCol="0" anchor="ctr"/>
          <a:lstStyle/>
          <a:p>
            <a:pPr indent="0" marL="0">
              <a:lnSpc>
                <a:spcPts val="1300"/>
              </a:lnSpc>
              <a:buNone/>
            </a:pPr>
            <a:r>
              <a:rPr lang="en-US" sz="950" b="1" dirty="0">
                <a:solidFill>
                  <a:srgbClr val="C9A227"/>
                </a:solidFill>
                <a:latin typeface="Calibri" pitchFamily="34" charset="0"/>
                <a:ea typeface="Calibri" pitchFamily="34" charset="-122"/>
                <a:cs typeface="Calibri" pitchFamily="34" charset="-120"/>
              </a:rPr>
              <a:t>PACK</a:t>
            </a:r>
            <a:pPr indent="0" marL="0">
              <a:lnSpc>
                <a:spcPts val="1300"/>
              </a:lnSpc>
              <a:buNone/>
            </a:pPr>
            <a:r>
              <a:rPr lang="en-US" sz="950" dirty="0">
                <a:solidFill>
                  <a:srgbClr val="A9C2DA"/>
                </a:solidFill>
                <a:latin typeface="Calibri" pitchFamily="34" charset="0"/>
                <a:ea typeface="Calibri" pitchFamily="34" charset="-122"/>
                <a:cs typeface="Calibri" pitchFamily="34" charset="-120"/>
              </a:rPr>
              <a:t> = the country’s statutory flow expressed as configuration on the shared engine: milestones, authorities, document checklist, mandatory fields, payment types and alert thresholds. Pre-built rather than custom-developed, with a localisation workshop confirming document names, fees and thresholds before go-live.</a:t>
            </a:r>
            <a:endParaRPr lang="en-US" sz="950" dirty="0"/>
          </a:p>
        </p:txBody>
      </p:sp>
      <p:sp>
        <p:nvSpPr>
          <p:cNvPr id="52" name="Text 5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3" name="Text 5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HEALTHCARE &amp; INDUSTRY PERMITS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A nurse needs two permissions, not one.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A clinician cannot legally treat anyone until a health regulator has checked their credentials and issued a professional licence. That runs on its own clock, with its own renewal cycle. We run it as a second lane on the same case.</a:t>
            </a:r>
            <a:endParaRPr lang="en-US" sz="1300" dirty="0"/>
          </a:p>
        </p:txBody>
      </p:sp>
      <p:sp>
        <p:nvSpPr>
          <p:cNvPr id="5" name="Shape 3"/>
          <p:cNvSpPr/>
          <p:nvPr/>
        </p:nvSpPr>
        <p:spPr>
          <a:xfrm>
            <a:off x="548640" y="1773936"/>
            <a:ext cx="5394960" cy="2487168"/>
          </a:xfrm>
          <a:prstGeom prst="roundRect">
            <a:avLst>
              <a:gd name="adj" fmla="val 2941"/>
            </a:avLst>
          </a:prstGeom>
          <a:solidFill>
            <a:srgbClr val="F4F6F7"/>
          </a:solidFill>
          <a:ln w="9525">
            <a:solidFill>
              <a:srgbClr val="E3E7EA"/>
            </a:solidFill>
            <a:prstDash val="solid"/>
          </a:ln>
        </p:spPr>
      </p:sp>
      <p:sp>
        <p:nvSpPr>
          <p:cNvPr id="6" name="Text 4"/>
          <p:cNvSpPr txBox="1"/>
          <p:nvPr/>
        </p:nvSpPr>
        <p:spPr>
          <a:xfrm>
            <a:off x="786384" y="1938528"/>
            <a:ext cx="4937760" cy="274320"/>
          </a:xfrm>
          <a:prstGeom prst="rect">
            <a:avLst/>
          </a:prstGeom>
          <a:noFill/>
          <a:ln/>
        </p:spPr>
        <p:txBody>
          <a:bodyPr wrap="square" lIns="0" tIns="0" rIns="0" bIns="0" rtlCol="0" anchor="ctr"/>
          <a:lstStyle/>
          <a:p>
            <a:pPr indent="0" marL="0">
              <a:buNone/>
            </a:pPr>
            <a:r>
              <a:rPr lang="en-US" sz="1400" b="1" dirty="0">
                <a:solidFill>
                  <a:srgbClr val="0C1E33"/>
                </a:solidFill>
                <a:latin typeface="Arial" pitchFamily="34" charset="0"/>
                <a:ea typeface="Arial" pitchFamily="34" charset="-122"/>
                <a:cs typeface="Arial" pitchFamily="34" charset="-120"/>
              </a:rPr>
              <a:t>The licensing lane, running alongside</a:t>
            </a:r>
            <a:endParaRPr lang="en-US" sz="1400" dirty="0"/>
          </a:p>
        </p:txBody>
      </p:sp>
      <p:sp>
        <p:nvSpPr>
          <p:cNvPr id="7" name="Text 5"/>
          <p:cNvSpPr txBox="1"/>
          <p:nvPr/>
        </p:nvSpPr>
        <p:spPr>
          <a:xfrm>
            <a:off x="786384" y="2267712"/>
            <a:ext cx="493776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Credential pack collected at recruitment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(DataFlow) tracked to result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Professional classification or eligibility assessment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Licensing exam booked, sat and certificate uploaded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issued, activated against the employing facility</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Renewal driven by CME hours, with 90-day alerts and 15-day escalations</a:t>
            </a:r>
            <a:endParaRPr lang="en-US" sz="1050" dirty="0"/>
          </a:p>
        </p:txBody>
      </p:sp>
      <p:sp>
        <p:nvSpPr>
          <p:cNvPr id="8" name="Shape 6"/>
          <p:cNvSpPr/>
          <p:nvPr/>
        </p:nvSpPr>
        <p:spPr>
          <a:xfrm>
            <a:off x="6144768" y="1773936"/>
            <a:ext cx="5486400" cy="2487168"/>
          </a:xfrm>
          <a:prstGeom prst="roundRect">
            <a:avLst>
              <a:gd name="adj" fmla="val 2941"/>
            </a:avLst>
          </a:prstGeom>
          <a:solidFill>
            <a:srgbClr val="FFFFFF"/>
          </a:solidFill>
          <a:ln w="9525">
            <a:solidFill>
              <a:srgbClr val="E3E7EA"/>
            </a:solidFill>
            <a:prstDash val="solid"/>
          </a:ln>
        </p:spPr>
      </p:sp>
      <p:sp>
        <p:nvSpPr>
          <p:cNvPr id="9" name="Text 7"/>
          <p:cNvSpPr txBox="1"/>
          <p:nvPr/>
        </p:nvSpPr>
        <p:spPr>
          <a:xfrm>
            <a:off x="6382512" y="1938528"/>
            <a:ext cx="5029200" cy="274320"/>
          </a:xfrm>
          <a:prstGeom prst="rect">
            <a:avLst/>
          </a:prstGeom>
          <a:noFill/>
          <a:ln/>
        </p:spPr>
        <p:txBody>
          <a:bodyPr wrap="square" lIns="0" tIns="0" rIns="0" bIns="0" rtlCol="0" anchor="ctr"/>
          <a:lstStyle/>
          <a:p>
            <a:pPr indent="0" marL="0">
              <a:buNone/>
            </a:pPr>
            <a:r>
              <a:rPr lang="en-US" sz="1400" b="1" dirty="0">
                <a:solidFill>
                  <a:srgbClr val="B23A2F"/>
                </a:solidFill>
                <a:latin typeface="Arial" pitchFamily="34" charset="0"/>
                <a:ea typeface="Arial" pitchFamily="34" charset="-122"/>
                <a:cs typeface="Arial" pitchFamily="34" charset="-120"/>
              </a:rPr>
              <a:t>What goes wrong without it</a:t>
            </a:r>
            <a:endParaRPr lang="en-US" sz="1400" dirty="0"/>
          </a:p>
        </p:txBody>
      </p:sp>
      <p:sp>
        <p:nvSpPr>
          <p:cNvPr id="10" name="Text 8"/>
          <p:cNvSpPr txBox="1"/>
          <p:nvPr/>
        </p:nvSpPr>
        <p:spPr>
          <a:xfrm>
            <a:off x="6382512" y="2267712"/>
            <a:ext cx="502920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clinician joins on a valid visa but cannot be rostered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stalls with nobody watching the queue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trainee’s 45-day dataflow deadline passes unnoticed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CME hours logged only after the renewal window has closed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and visa expiry drift apart, so one lapses while the other is fine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The facility licence expires, exposing every practitioner under it</a:t>
            </a:r>
            <a:endParaRPr lang="en-US" sz="1050" dirty="0"/>
          </a:p>
        </p:txBody>
      </p:sp>
      <p:sp>
        <p:nvSpPr>
          <p:cNvPr id="11" name="Text 9"/>
          <p:cNvSpPr txBox="1"/>
          <p:nvPr/>
        </p:nvSpPr>
        <p:spPr>
          <a:xfrm>
            <a:off x="548640" y="4462272"/>
            <a:ext cx="10424160" cy="256032"/>
          </a:xfrm>
          <a:prstGeom prst="rect">
            <a:avLst/>
          </a:prstGeom>
          <a:noFill/>
          <a:ln/>
        </p:spPr>
        <p:txBody>
          <a:bodyPr wrap="square" lIns="0" tIns="0" rIns="0" bIns="0" rtlCol="0" anchor="ctr"/>
          <a:lstStyle/>
          <a:p>
            <a:pPr indent="0" marL="0">
              <a:buNone/>
            </a:pPr>
            <a:r>
              <a:rPr lang="en-US" sz="1300" b="1" dirty="0">
                <a:solidFill>
                  <a:srgbClr val="0C1E33"/>
                </a:solidFill>
                <a:latin typeface="Arial" pitchFamily="34" charset="0"/>
                <a:ea typeface="Arial" pitchFamily="34" charset="-122"/>
                <a:cs typeface="Arial" pitchFamily="34" charset="-120"/>
              </a:rPr>
              <a:t>Health regulators covered by the country packs</a:t>
            </a:r>
            <a:endParaRPr lang="en-US" sz="1300" dirty="0"/>
          </a:p>
        </p:txBody>
      </p:sp>
      <p:sp>
        <p:nvSpPr>
          <p:cNvPr id="12" name="Shape 10"/>
          <p:cNvSpPr/>
          <p:nvPr/>
        </p:nvSpPr>
        <p:spPr>
          <a:xfrm>
            <a:off x="548640" y="4809744"/>
            <a:ext cx="2688336" cy="621792"/>
          </a:xfrm>
          <a:prstGeom prst="roundRect">
            <a:avLst>
              <a:gd name="adj" fmla="val 7353"/>
            </a:avLst>
          </a:prstGeom>
          <a:solidFill>
            <a:srgbClr val="F4F6F7"/>
          </a:solidFill>
          <a:ln w="7620">
            <a:solidFill>
              <a:srgbClr val="E3E7EA"/>
            </a:solidFill>
            <a:prstDash val="solid"/>
          </a:ln>
        </p:spPr>
      </p:sp>
      <p:sp>
        <p:nvSpPr>
          <p:cNvPr id="13" name="Text 11"/>
          <p:cNvSpPr txBox="1"/>
          <p:nvPr/>
        </p:nvSpPr>
        <p:spPr>
          <a:xfrm>
            <a:off x="694944"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Saudi Arabia</a:t>
            </a:r>
            <a:endParaRPr lang="en-US" sz="850" dirty="0"/>
          </a:p>
        </p:txBody>
      </p:sp>
      <p:sp>
        <p:nvSpPr>
          <p:cNvPr id="14" name="Text 12"/>
          <p:cNvSpPr txBox="1"/>
          <p:nvPr/>
        </p:nvSpPr>
        <p:spPr>
          <a:xfrm>
            <a:off x="694944"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SCFHS</a:t>
            </a:r>
            <a:endParaRPr lang="en-US" sz="1150" dirty="0"/>
          </a:p>
        </p:txBody>
      </p:sp>
      <p:sp>
        <p:nvSpPr>
          <p:cNvPr id="15" name="Text 13"/>
          <p:cNvSpPr txBox="1"/>
          <p:nvPr/>
        </p:nvSpPr>
        <p:spPr>
          <a:xfrm>
            <a:off x="694944"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Mumaris+ · DataFlow · Prometric</a:t>
            </a:r>
            <a:endParaRPr lang="en-US" sz="830" dirty="0"/>
          </a:p>
        </p:txBody>
      </p:sp>
      <p:sp>
        <p:nvSpPr>
          <p:cNvPr id="16" name="Shape 14"/>
          <p:cNvSpPr/>
          <p:nvPr/>
        </p:nvSpPr>
        <p:spPr>
          <a:xfrm>
            <a:off x="3407969" y="4809744"/>
            <a:ext cx="2688336" cy="621792"/>
          </a:xfrm>
          <a:prstGeom prst="roundRect">
            <a:avLst>
              <a:gd name="adj" fmla="val 7353"/>
            </a:avLst>
          </a:prstGeom>
          <a:solidFill>
            <a:srgbClr val="F4F6F7"/>
          </a:solidFill>
          <a:ln w="7620">
            <a:solidFill>
              <a:srgbClr val="E3E7EA"/>
            </a:solidFill>
            <a:prstDash val="solid"/>
          </a:ln>
        </p:spPr>
      </p:sp>
      <p:sp>
        <p:nvSpPr>
          <p:cNvPr id="17" name="Text 15"/>
          <p:cNvSpPr txBox="1"/>
          <p:nvPr/>
        </p:nvSpPr>
        <p:spPr>
          <a:xfrm>
            <a:off x="3554273"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Dubai</a:t>
            </a:r>
            <a:endParaRPr lang="en-US" sz="850" dirty="0"/>
          </a:p>
        </p:txBody>
      </p:sp>
      <p:sp>
        <p:nvSpPr>
          <p:cNvPr id="18" name="Text 16"/>
          <p:cNvSpPr txBox="1"/>
          <p:nvPr/>
        </p:nvSpPr>
        <p:spPr>
          <a:xfrm>
            <a:off x="3554273"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DHA</a:t>
            </a:r>
            <a:endParaRPr lang="en-US" sz="1150" dirty="0"/>
          </a:p>
        </p:txBody>
      </p:sp>
      <p:sp>
        <p:nvSpPr>
          <p:cNvPr id="19" name="Text 17"/>
          <p:cNvSpPr txBox="1"/>
          <p:nvPr/>
        </p:nvSpPr>
        <p:spPr>
          <a:xfrm>
            <a:off x="3554273"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Sheryan portal</a:t>
            </a:r>
            <a:endParaRPr lang="en-US" sz="830" dirty="0"/>
          </a:p>
        </p:txBody>
      </p:sp>
      <p:sp>
        <p:nvSpPr>
          <p:cNvPr id="20" name="Shape 18"/>
          <p:cNvSpPr/>
          <p:nvPr/>
        </p:nvSpPr>
        <p:spPr>
          <a:xfrm>
            <a:off x="6267298" y="4809744"/>
            <a:ext cx="2688336" cy="621792"/>
          </a:xfrm>
          <a:prstGeom prst="roundRect">
            <a:avLst>
              <a:gd name="adj" fmla="val 7353"/>
            </a:avLst>
          </a:prstGeom>
          <a:solidFill>
            <a:srgbClr val="F4F6F7"/>
          </a:solidFill>
          <a:ln w="7620">
            <a:solidFill>
              <a:srgbClr val="E3E7EA"/>
            </a:solidFill>
            <a:prstDash val="solid"/>
          </a:ln>
        </p:spPr>
      </p:sp>
      <p:sp>
        <p:nvSpPr>
          <p:cNvPr id="21" name="Text 19"/>
          <p:cNvSpPr txBox="1"/>
          <p:nvPr/>
        </p:nvSpPr>
        <p:spPr>
          <a:xfrm>
            <a:off x="6413602"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Abu Dhabi</a:t>
            </a:r>
            <a:endParaRPr lang="en-US" sz="850" dirty="0"/>
          </a:p>
        </p:txBody>
      </p:sp>
      <p:sp>
        <p:nvSpPr>
          <p:cNvPr id="22" name="Text 20"/>
          <p:cNvSpPr txBox="1"/>
          <p:nvPr/>
        </p:nvSpPr>
        <p:spPr>
          <a:xfrm>
            <a:off x="6413602"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DOH</a:t>
            </a:r>
            <a:endParaRPr lang="en-US" sz="1150" dirty="0"/>
          </a:p>
        </p:txBody>
      </p:sp>
      <p:sp>
        <p:nvSpPr>
          <p:cNvPr id="23" name="Text 21"/>
          <p:cNvSpPr txBox="1"/>
          <p:nvPr/>
        </p:nvSpPr>
        <p:spPr>
          <a:xfrm>
            <a:off x="6413602"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TAMM / DOH portal</a:t>
            </a:r>
            <a:endParaRPr lang="en-US" sz="830" dirty="0"/>
          </a:p>
        </p:txBody>
      </p:sp>
      <p:sp>
        <p:nvSpPr>
          <p:cNvPr id="24" name="Shape 22"/>
          <p:cNvSpPr/>
          <p:nvPr/>
        </p:nvSpPr>
        <p:spPr>
          <a:xfrm>
            <a:off x="9126626" y="4809744"/>
            <a:ext cx="2688336" cy="621792"/>
          </a:xfrm>
          <a:prstGeom prst="roundRect">
            <a:avLst>
              <a:gd name="adj" fmla="val 7353"/>
            </a:avLst>
          </a:prstGeom>
          <a:solidFill>
            <a:srgbClr val="F4F6F7"/>
          </a:solidFill>
          <a:ln w="7620">
            <a:solidFill>
              <a:srgbClr val="E3E7EA"/>
            </a:solidFill>
            <a:prstDash val="solid"/>
          </a:ln>
        </p:spPr>
      </p:sp>
      <p:sp>
        <p:nvSpPr>
          <p:cNvPr id="25" name="Text 23"/>
          <p:cNvSpPr txBox="1"/>
          <p:nvPr/>
        </p:nvSpPr>
        <p:spPr>
          <a:xfrm>
            <a:off x="9272930"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Northern</a:t>
            </a:r>
            <a:endParaRPr lang="en-US" sz="850" dirty="0"/>
          </a:p>
        </p:txBody>
      </p:sp>
      <p:sp>
        <p:nvSpPr>
          <p:cNvPr id="26" name="Text 24"/>
          <p:cNvSpPr txBox="1"/>
          <p:nvPr/>
        </p:nvSpPr>
        <p:spPr>
          <a:xfrm>
            <a:off x="9272930"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MOHAP</a:t>
            </a:r>
            <a:endParaRPr lang="en-US" sz="1150" dirty="0"/>
          </a:p>
        </p:txBody>
      </p:sp>
      <p:sp>
        <p:nvSpPr>
          <p:cNvPr id="27" name="Text 25"/>
          <p:cNvSpPr txBox="1"/>
          <p:nvPr/>
        </p:nvSpPr>
        <p:spPr>
          <a:xfrm>
            <a:off x="9272930"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MOHAP licensing</a:t>
            </a:r>
            <a:endParaRPr lang="en-US" sz="830" dirty="0"/>
          </a:p>
        </p:txBody>
      </p:sp>
      <p:sp>
        <p:nvSpPr>
          <p:cNvPr id="28" name="Shape 26"/>
          <p:cNvSpPr/>
          <p:nvPr/>
        </p:nvSpPr>
        <p:spPr>
          <a:xfrm>
            <a:off x="548640" y="5541264"/>
            <a:ext cx="2688336" cy="621792"/>
          </a:xfrm>
          <a:prstGeom prst="roundRect">
            <a:avLst>
              <a:gd name="adj" fmla="val 7353"/>
            </a:avLst>
          </a:prstGeom>
          <a:solidFill>
            <a:srgbClr val="FFFFFF"/>
          </a:solidFill>
          <a:ln w="7620">
            <a:solidFill>
              <a:srgbClr val="E3E7EA"/>
            </a:solidFill>
            <a:prstDash val="solid"/>
          </a:ln>
        </p:spPr>
      </p:sp>
      <p:sp>
        <p:nvSpPr>
          <p:cNvPr id="29" name="Text 27"/>
          <p:cNvSpPr txBox="1"/>
          <p:nvPr/>
        </p:nvSpPr>
        <p:spPr>
          <a:xfrm>
            <a:off x="694944"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Qatar</a:t>
            </a:r>
            <a:endParaRPr lang="en-US" sz="850" dirty="0"/>
          </a:p>
        </p:txBody>
      </p:sp>
      <p:sp>
        <p:nvSpPr>
          <p:cNvPr id="30" name="Text 28"/>
          <p:cNvSpPr txBox="1"/>
          <p:nvPr/>
        </p:nvSpPr>
        <p:spPr>
          <a:xfrm>
            <a:off x="694944"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DHP (MOPH)</a:t>
            </a:r>
            <a:endParaRPr lang="en-US" sz="1150" dirty="0"/>
          </a:p>
        </p:txBody>
      </p:sp>
      <p:sp>
        <p:nvSpPr>
          <p:cNvPr id="31" name="Text 29"/>
          <p:cNvSpPr txBox="1"/>
          <p:nvPr/>
        </p:nvSpPr>
        <p:spPr>
          <a:xfrm>
            <a:off x="694944"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DHP practitioner portal</a:t>
            </a:r>
            <a:endParaRPr lang="en-US" sz="830" dirty="0"/>
          </a:p>
        </p:txBody>
      </p:sp>
      <p:sp>
        <p:nvSpPr>
          <p:cNvPr id="32" name="Shape 30"/>
          <p:cNvSpPr/>
          <p:nvPr/>
        </p:nvSpPr>
        <p:spPr>
          <a:xfrm>
            <a:off x="3407969" y="5541264"/>
            <a:ext cx="2688336" cy="621792"/>
          </a:xfrm>
          <a:prstGeom prst="roundRect">
            <a:avLst>
              <a:gd name="adj" fmla="val 7353"/>
            </a:avLst>
          </a:prstGeom>
          <a:solidFill>
            <a:srgbClr val="FFFFFF"/>
          </a:solidFill>
          <a:ln w="7620">
            <a:solidFill>
              <a:srgbClr val="E3E7EA"/>
            </a:solidFill>
            <a:prstDash val="solid"/>
          </a:ln>
        </p:spPr>
      </p:sp>
      <p:sp>
        <p:nvSpPr>
          <p:cNvPr id="33" name="Text 31"/>
          <p:cNvSpPr txBox="1"/>
          <p:nvPr/>
        </p:nvSpPr>
        <p:spPr>
          <a:xfrm>
            <a:off x="3554273"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Bahrain</a:t>
            </a:r>
            <a:endParaRPr lang="en-US" sz="850" dirty="0"/>
          </a:p>
        </p:txBody>
      </p:sp>
      <p:sp>
        <p:nvSpPr>
          <p:cNvPr id="34" name="Text 32"/>
          <p:cNvSpPr txBox="1"/>
          <p:nvPr/>
        </p:nvSpPr>
        <p:spPr>
          <a:xfrm>
            <a:off x="3554273"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NHRA</a:t>
            </a:r>
            <a:endParaRPr lang="en-US" sz="1150" dirty="0"/>
          </a:p>
        </p:txBody>
      </p:sp>
      <p:sp>
        <p:nvSpPr>
          <p:cNvPr id="35" name="Text 33"/>
          <p:cNvSpPr txBox="1"/>
          <p:nvPr/>
        </p:nvSpPr>
        <p:spPr>
          <a:xfrm>
            <a:off x="3554273"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NHRA licensing</a:t>
            </a:r>
            <a:endParaRPr lang="en-US" sz="830" dirty="0"/>
          </a:p>
        </p:txBody>
      </p:sp>
      <p:sp>
        <p:nvSpPr>
          <p:cNvPr id="36" name="Shape 34"/>
          <p:cNvSpPr/>
          <p:nvPr/>
        </p:nvSpPr>
        <p:spPr>
          <a:xfrm>
            <a:off x="6267298" y="5541264"/>
            <a:ext cx="2688336" cy="621792"/>
          </a:xfrm>
          <a:prstGeom prst="roundRect">
            <a:avLst>
              <a:gd name="adj" fmla="val 7353"/>
            </a:avLst>
          </a:prstGeom>
          <a:solidFill>
            <a:srgbClr val="FFFFFF"/>
          </a:solidFill>
          <a:ln w="7620">
            <a:solidFill>
              <a:srgbClr val="E3E7EA"/>
            </a:solidFill>
            <a:prstDash val="solid"/>
          </a:ln>
        </p:spPr>
      </p:sp>
      <p:sp>
        <p:nvSpPr>
          <p:cNvPr id="37" name="Text 35"/>
          <p:cNvSpPr txBox="1"/>
          <p:nvPr/>
        </p:nvSpPr>
        <p:spPr>
          <a:xfrm>
            <a:off x="6413602"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Oman</a:t>
            </a:r>
            <a:endParaRPr lang="en-US" sz="850" dirty="0"/>
          </a:p>
        </p:txBody>
      </p:sp>
      <p:sp>
        <p:nvSpPr>
          <p:cNvPr id="38" name="Text 36"/>
          <p:cNvSpPr txBox="1"/>
          <p:nvPr/>
        </p:nvSpPr>
        <p:spPr>
          <a:xfrm>
            <a:off x="6413602"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OMSB / MOH</a:t>
            </a:r>
            <a:endParaRPr lang="en-US" sz="1150" dirty="0"/>
          </a:p>
        </p:txBody>
      </p:sp>
      <p:sp>
        <p:nvSpPr>
          <p:cNvPr id="39" name="Text 37"/>
          <p:cNvSpPr txBox="1"/>
          <p:nvPr/>
        </p:nvSpPr>
        <p:spPr>
          <a:xfrm>
            <a:off x="6413602"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Prometric</a:t>
            </a:r>
            <a:endParaRPr lang="en-US" sz="830" dirty="0"/>
          </a:p>
        </p:txBody>
      </p:sp>
      <p:sp>
        <p:nvSpPr>
          <p:cNvPr id="40" name="Shape 38"/>
          <p:cNvSpPr/>
          <p:nvPr/>
        </p:nvSpPr>
        <p:spPr>
          <a:xfrm>
            <a:off x="9126626" y="5541264"/>
            <a:ext cx="2688336" cy="621792"/>
          </a:xfrm>
          <a:prstGeom prst="roundRect">
            <a:avLst>
              <a:gd name="adj" fmla="val 7353"/>
            </a:avLst>
          </a:prstGeom>
          <a:solidFill>
            <a:srgbClr val="FFFFFF"/>
          </a:solidFill>
          <a:ln w="7620">
            <a:solidFill>
              <a:srgbClr val="E3E7EA"/>
            </a:solidFill>
            <a:prstDash val="solid"/>
          </a:ln>
        </p:spPr>
      </p:sp>
      <p:sp>
        <p:nvSpPr>
          <p:cNvPr id="41" name="Text 39"/>
          <p:cNvSpPr txBox="1"/>
          <p:nvPr/>
        </p:nvSpPr>
        <p:spPr>
          <a:xfrm>
            <a:off x="9272930"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Kuwait</a:t>
            </a:r>
            <a:endParaRPr lang="en-US" sz="850" dirty="0"/>
          </a:p>
        </p:txBody>
      </p:sp>
      <p:sp>
        <p:nvSpPr>
          <p:cNvPr id="42" name="Text 40"/>
          <p:cNvSpPr txBox="1"/>
          <p:nvPr/>
        </p:nvSpPr>
        <p:spPr>
          <a:xfrm>
            <a:off x="9272930"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t>
            </a:r>
            <a:endParaRPr lang="en-US" sz="1150" dirty="0"/>
          </a:p>
        </p:txBody>
      </p:sp>
      <p:sp>
        <p:nvSpPr>
          <p:cNvPr id="43" name="Text 41"/>
          <p:cNvSpPr txBox="1"/>
          <p:nvPr/>
        </p:nvSpPr>
        <p:spPr>
          <a:xfrm>
            <a:off x="9272930"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Kuwait Prometric</a:t>
            </a:r>
            <a:endParaRPr lang="en-US" sz="830" dirty="0"/>
          </a:p>
        </p:txBody>
      </p:sp>
      <p:sp>
        <p:nvSpPr>
          <p:cNvPr id="44" name="Text 42"/>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5" name="Text 43"/>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SOLUTION ARCHITECTURE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system, and what moves between them.</a:t>
            </a:r>
            <a:endParaRPr lang="en-US" sz="3000" dirty="0"/>
          </a:p>
        </p:txBody>
      </p:sp>
      <p:pic>
        <p:nvPicPr>
          <p:cNvPr id="4" name="Image 0" descr="./img/architecture.png">    </p:cNvPr>
          <p:cNvPicPr>
            <a:picLocks noChangeAspect="1"/>
          </p:cNvPicPr>
          <p:nvPr/>
        </p:nvPicPr>
        <p:blipFill>
          <a:blip r:embed="rId1"/>
          <a:stretch>
            <a:fillRect/>
          </a:stretch>
        </p:blipFill>
        <p:spPr>
          <a:xfrm>
            <a:off x="548640" y="1152144"/>
            <a:ext cx="7543800" cy="5120640"/>
          </a:xfrm>
          <a:prstGeom prst="rect">
            <a:avLst/>
          </a:prstGeom>
        </p:spPr>
      </p:pic>
      <p:sp>
        <p:nvSpPr>
          <p:cNvPr id="5" name="Shape 2"/>
          <p:cNvSpPr/>
          <p:nvPr/>
        </p:nvSpPr>
        <p:spPr>
          <a:xfrm>
            <a:off x="8275320" y="1152144"/>
            <a:ext cx="3364992" cy="1188720"/>
          </a:xfrm>
          <a:prstGeom prst="roundRect">
            <a:avLst>
              <a:gd name="adj" fmla="val 5385"/>
            </a:avLst>
          </a:prstGeom>
          <a:solidFill>
            <a:srgbClr val="F4F6F7"/>
          </a:solidFill>
          <a:ln w="11430">
            <a:solidFill>
              <a:srgbClr val="E3E7EA"/>
            </a:solidFill>
            <a:prstDash val="solid"/>
          </a:ln>
        </p:spPr>
      </p:sp>
      <p:sp>
        <p:nvSpPr>
          <p:cNvPr id="6" name="Text 3"/>
          <p:cNvSpPr txBox="1"/>
          <p:nvPr/>
        </p:nvSpPr>
        <p:spPr>
          <a:xfrm>
            <a:off x="8449056" y="1252728"/>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in</a:t>
            </a:r>
            <a:endParaRPr lang="en-US" sz="1150" dirty="0"/>
          </a:p>
        </p:txBody>
      </p:sp>
      <p:sp>
        <p:nvSpPr>
          <p:cNvPr id="7" name="Text 4"/>
          <p:cNvSpPr txBox="1"/>
          <p:nvPr/>
        </p:nvSpPr>
        <p:spPr>
          <a:xfrm>
            <a:off x="8449056" y="1481328"/>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Candidates who accepted an offer, the employee master, separations and the expiry dates that start a renewal. All through SAP Integration Suite, so it is monitored and retried like any other SAP integration.</a:t>
            </a:r>
            <a:endParaRPr lang="en-US" sz="860" dirty="0"/>
          </a:p>
        </p:txBody>
      </p:sp>
      <p:sp>
        <p:nvSpPr>
          <p:cNvPr id="8" name="Shape 5"/>
          <p:cNvSpPr/>
          <p:nvPr/>
        </p:nvSpPr>
        <p:spPr>
          <a:xfrm>
            <a:off x="8275320" y="2450592"/>
            <a:ext cx="3364992" cy="1188720"/>
          </a:xfrm>
          <a:prstGeom prst="roundRect">
            <a:avLst>
              <a:gd name="adj" fmla="val 5385"/>
            </a:avLst>
          </a:prstGeom>
          <a:solidFill>
            <a:srgbClr val="F4F6F7"/>
          </a:solidFill>
          <a:ln w="11430">
            <a:solidFill>
              <a:srgbClr val="E3E7EA"/>
            </a:solidFill>
            <a:prstDash val="solid"/>
          </a:ln>
        </p:spPr>
      </p:sp>
      <p:sp>
        <p:nvSpPr>
          <p:cNvPr id="9" name="Text 6"/>
          <p:cNvSpPr txBox="1"/>
          <p:nvPr/>
        </p:nvSpPr>
        <p:spPr>
          <a:xfrm>
            <a:off x="8449056" y="2551176"/>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back</a:t>
            </a:r>
            <a:endParaRPr lang="en-US" sz="1150" dirty="0"/>
          </a:p>
        </p:txBody>
      </p:sp>
      <p:sp>
        <p:nvSpPr>
          <p:cNvPr id="10" name="Text 7"/>
          <p:cNvSpPr txBox="1"/>
          <p:nvPr/>
        </p:nvSpPr>
        <p:spPr>
          <a:xfrm>
            <a:off x="8449056" y="2779776"/>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Work permit and labour card numbers, Emirates ID, visa issue and expiry dates, straight into Employee Central. Nobody re-types anything and the two systems cannot disagree.</a:t>
            </a:r>
            <a:endParaRPr lang="en-US" sz="860" dirty="0"/>
          </a:p>
        </p:txBody>
      </p:sp>
      <p:sp>
        <p:nvSpPr>
          <p:cNvPr id="11" name="Shape 8"/>
          <p:cNvSpPr/>
          <p:nvPr/>
        </p:nvSpPr>
        <p:spPr>
          <a:xfrm>
            <a:off x="8275320" y="3749040"/>
            <a:ext cx="3364992" cy="1188720"/>
          </a:xfrm>
          <a:prstGeom prst="roundRect">
            <a:avLst>
              <a:gd name="adj" fmla="val 5385"/>
            </a:avLst>
          </a:prstGeom>
          <a:solidFill>
            <a:srgbClr val="F4F6F7"/>
          </a:solidFill>
          <a:ln w="11430">
            <a:solidFill>
              <a:srgbClr val="E3E7EA"/>
            </a:solidFill>
            <a:prstDash val="solid"/>
          </a:ln>
        </p:spPr>
      </p:sp>
      <p:sp>
        <p:nvSpPr>
          <p:cNvPr id="12" name="Text 9"/>
          <p:cNvSpPr txBox="1"/>
          <p:nvPr/>
        </p:nvSpPr>
        <p:spPr>
          <a:xfrm>
            <a:off x="8449056" y="3849624"/>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down</a:t>
            </a:r>
            <a:endParaRPr lang="en-US" sz="1150" dirty="0"/>
          </a:p>
        </p:txBody>
      </p:sp>
      <p:sp>
        <p:nvSpPr>
          <p:cNvPr id="13" name="Text 10"/>
          <p:cNvSpPr txBox="1"/>
          <p:nvPr/>
        </p:nvSpPr>
        <p:spPr>
          <a:xfrm>
            <a:off x="8449056" y="4078224"/>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Every payment with its amount, VAT, reference, receipt and GL account, posted to S/4HANA as a journal. Approved fines go to payroll as deductions.</a:t>
            </a:r>
            <a:endParaRPr lang="en-US" sz="860" dirty="0"/>
          </a:p>
        </p:txBody>
      </p:sp>
      <p:sp>
        <p:nvSpPr>
          <p:cNvPr id="14" name="Shape 11"/>
          <p:cNvSpPr/>
          <p:nvPr/>
        </p:nvSpPr>
        <p:spPr>
          <a:xfrm>
            <a:off x="8275320" y="5047488"/>
            <a:ext cx="3364992" cy="1188720"/>
          </a:xfrm>
          <a:prstGeom prst="roundRect">
            <a:avLst>
              <a:gd name="adj" fmla="val 5385"/>
            </a:avLst>
          </a:prstGeom>
          <a:solidFill>
            <a:srgbClr val="FCF6E4"/>
          </a:solidFill>
          <a:ln w="11430">
            <a:solidFill>
              <a:srgbClr val="C9A227"/>
            </a:solidFill>
            <a:prstDash val="solid"/>
          </a:ln>
        </p:spPr>
      </p:sp>
      <p:sp>
        <p:nvSpPr>
          <p:cNvPr id="15" name="Text 12"/>
          <p:cNvSpPr txBox="1"/>
          <p:nvPr/>
        </p:nvSpPr>
        <p:spPr>
          <a:xfrm>
            <a:off x="8449056" y="5148072"/>
            <a:ext cx="3017520" cy="219456"/>
          </a:xfrm>
          <a:prstGeom prst="rect">
            <a:avLst/>
          </a:prstGeom>
          <a:noFill/>
          <a:ln/>
        </p:spPr>
        <p:txBody>
          <a:bodyPr wrap="square" lIns="0" tIns="0" rIns="0" bIns="0" rtlCol="0" anchor="ctr"/>
          <a:lstStyle/>
          <a:p>
            <a:pPr indent="0" marL="0">
              <a:buNone/>
            </a:pPr>
            <a:r>
              <a:rPr lang="en-US" sz="1150" b="1" dirty="0">
                <a:solidFill>
                  <a:srgbClr val="7A6410"/>
                </a:solidFill>
                <a:latin typeface="Arial" pitchFamily="34" charset="0"/>
                <a:ea typeface="Arial" pitchFamily="34" charset="-122"/>
                <a:cs typeface="Arial" pitchFamily="34" charset="-120"/>
              </a:rPr>
              <a:t>The dashed arrows</a:t>
            </a:r>
            <a:endParaRPr lang="en-US" sz="1150" dirty="0"/>
          </a:p>
        </p:txBody>
      </p:sp>
      <p:sp>
        <p:nvSpPr>
          <p:cNvPr id="16" name="Text 13"/>
          <p:cNvSpPr txBox="1"/>
          <p:nvPr/>
        </p:nvSpPr>
        <p:spPr>
          <a:xfrm>
            <a:off x="8449056" y="5376672"/>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The two government arrows are the ones a person still makes. The connectors behind them are built. The day you hand us credentials they go solid, and nothing else in this picture changes.</a:t>
            </a:r>
            <a:endParaRPr lang="en-US" sz="860" dirty="0"/>
          </a:p>
        </p:txBody>
      </p:sp>
      <p:sp>
        <p:nvSpPr>
          <p:cNvPr id="17" name="Text 1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18" name="Text 1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ARCHITECTURE &amp; INTEGRATION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We sit between government and SuccessFactors.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That gap is where the problem lives. We take candidates from Recruiting, drive the government-facing work, write the permit details back into Employee Central, and send the money to finance.</a:t>
            </a:r>
            <a:endParaRPr lang="en-US" sz="1300" dirty="0"/>
          </a:p>
        </p:txBody>
      </p:sp>
      <p:sp>
        <p:nvSpPr>
          <p:cNvPr id="5" name="Shape 3"/>
          <p:cNvSpPr/>
          <p:nvPr/>
        </p:nvSpPr>
        <p:spPr>
          <a:xfrm>
            <a:off x="548640" y="1792224"/>
            <a:ext cx="6903720" cy="859536"/>
          </a:xfrm>
          <a:prstGeom prst="roundRect">
            <a:avLst>
              <a:gd name="adj" fmla="val 7447"/>
            </a:avLst>
          </a:prstGeom>
          <a:solidFill>
            <a:srgbClr val="F4F6F7"/>
          </a:solidFill>
          <a:ln w="11430">
            <a:solidFill>
              <a:srgbClr val="E3E7EA"/>
            </a:solidFill>
            <a:prstDash val="solid"/>
          </a:ln>
        </p:spPr>
      </p:sp>
      <p:sp>
        <p:nvSpPr>
          <p:cNvPr id="6" name="Text 4"/>
          <p:cNvSpPr txBox="1"/>
          <p:nvPr/>
        </p:nvSpPr>
        <p:spPr>
          <a:xfrm>
            <a:off x="749808" y="1883664"/>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SuccessFactors</a:t>
            </a:r>
            <a:endParaRPr lang="en-US" sz="1250" dirty="0"/>
          </a:p>
        </p:txBody>
      </p:sp>
      <p:sp>
        <p:nvSpPr>
          <p:cNvPr id="7" name="Text 5"/>
          <p:cNvSpPr txBox="1"/>
          <p:nvPr/>
        </p:nvSpPr>
        <p:spPr>
          <a:xfrm>
            <a:off x="749808" y="2103120"/>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Candidates, employee master, separations and expiry dates flow in</a:t>
            </a:r>
            <a:endParaRPr lang="en-US" sz="880" dirty="0"/>
          </a:p>
        </p:txBody>
      </p:sp>
      <p:sp>
        <p:nvSpPr>
          <p:cNvPr id="8" name="Shape 6"/>
          <p:cNvSpPr/>
          <p:nvPr/>
        </p:nvSpPr>
        <p:spPr>
          <a:xfrm>
            <a:off x="749808" y="2322576"/>
            <a:ext cx="1175918" cy="237744"/>
          </a:xfrm>
          <a:prstGeom prst="roundRect">
            <a:avLst>
              <a:gd name="adj" fmla="val 46154"/>
            </a:avLst>
          </a:prstGeom>
          <a:solidFill>
            <a:srgbClr val="FFFFFF"/>
          </a:solidFill>
          <a:ln w="7620">
            <a:solidFill>
              <a:srgbClr val="E3E7EA"/>
            </a:solidFill>
            <a:prstDash val="solid"/>
          </a:ln>
        </p:spPr>
      </p:sp>
      <p:sp>
        <p:nvSpPr>
          <p:cNvPr id="9" name="Text 7"/>
          <p:cNvSpPr txBox="1"/>
          <p:nvPr/>
        </p:nvSpPr>
        <p:spPr>
          <a:xfrm>
            <a:off x="749808" y="2322576"/>
            <a:ext cx="117591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Recruiting</a:t>
            </a:r>
            <a:endParaRPr lang="en-US" sz="860" dirty="0"/>
          </a:p>
        </p:txBody>
      </p:sp>
      <p:sp>
        <p:nvSpPr>
          <p:cNvPr id="10" name="Shape 8"/>
          <p:cNvSpPr/>
          <p:nvPr/>
        </p:nvSpPr>
        <p:spPr>
          <a:xfrm>
            <a:off x="2017166" y="2322576"/>
            <a:ext cx="1475842" cy="237744"/>
          </a:xfrm>
          <a:prstGeom prst="roundRect">
            <a:avLst>
              <a:gd name="adj" fmla="val 46154"/>
            </a:avLst>
          </a:prstGeom>
          <a:solidFill>
            <a:srgbClr val="FFFFFF"/>
          </a:solidFill>
          <a:ln w="7620">
            <a:solidFill>
              <a:srgbClr val="E3E7EA"/>
            </a:solidFill>
            <a:prstDash val="solid"/>
          </a:ln>
        </p:spPr>
      </p:sp>
      <p:sp>
        <p:nvSpPr>
          <p:cNvPr id="11" name="Text 9"/>
          <p:cNvSpPr txBox="1"/>
          <p:nvPr/>
        </p:nvSpPr>
        <p:spPr>
          <a:xfrm>
            <a:off x="2017166" y="2322576"/>
            <a:ext cx="147584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Onboarding 2.0</a:t>
            </a:r>
            <a:endParaRPr lang="en-US" sz="860" dirty="0"/>
          </a:p>
        </p:txBody>
      </p:sp>
      <p:sp>
        <p:nvSpPr>
          <p:cNvPr id="12" name="Shape 10"/>
          <p:cNvSpPr/>
          <p:nvPr/>
        </p:nvSpPr>
        <p:spPr>
          <a:xfrm>
            <a:off x="3584448" y="2322576"/>
            <a:ext cx="1400861" cy="237744"/>
          </a:xfrm>
          <a:prstGeom prst="roundRect">
            <a:avLst>
              <a:gd name="adj" fmla="val 46154"/>
            </a:avLst>
          </a:prstGeom>
          <a:solidFill>
            <a:srgbClr val="FFFFFF"/>
          </a:solidFill>
          <a:ln w="7620">
            <a:solidFill>
              <a:srgbClr val="E3E7EA"/>
            </a:solidFill>
            <a:prstDash val="solid"/>
          </a:ln>
        </p:spPr>
      </p:sp>
      <p:sp>
        <p:nvSpPr>
          <p:cNvPr id="13" name="Text 11"/>
          <p:cNvSpPr txBox="1"/>
          <p:nvPr/>
        </p:nvSpPr>
        <p:spPr>
          <a:xfrm>
            <a:off x="3584448" y="2322576"/>
            <a:ext cx="1400861"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Employee Central</a:t>
            </a:r>
            <a:endParaRPr lang="en-US" sz="860" dirty="0"/>
          </a:p>
        </p:txBody>
      </p:sp>
      <p:sp>
        <p:nvSpPr>
          <p:cNvPr id="14" name="Shape 12"/>
          <p:cNvSpPr/>
          <p:nvPr/>
        </p:nvSpPr>
        <p:spPr>
          <a:xfrm>
            <a:off x="5076749" y="2322576"/>
            <a:ext cx="1100938" cy="237744"/>
          </a:xfrm>
          <a:prstGeom prst="roundRect">
            <a:avLst>
              <a:gd name="adj" fmla="val 46154"/>
            </a:avLst>
          </a:prstGeom>
          <a:solidFill>
            <a:srgbClr val="FFFFFF"/>
          </a:solidFill>
          <a:ln w="7620">
            <a:solidFill>
              <a:srgbClr val="E3E7EA"/>
            </a:solidFill>
            <a:prstDash val="solid"/>
          </a:ln>
        </p:spPr>
      </p:sp>
      <p:sp>
        <p:nvSpPr>
          <p:cNvPr id="15" name="Text 13"/>
          <p:cNvSpPr txBox="1"/>
          <p:nvPr/>
        </p:nvSpPr>
        <p:spPr>
          <a:xfrm>
            <a:off x="5076749" y="2322576"/>
            <a:ext cx="110093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Work Zone</a:t>
            </a:r>
            <a:endParaRPr lang="en-US" sz="860" dirty="0"/>
          </a:p>
        </p:txBody>
      </p:sp>
      <p:sp>
        <p:nvSpPr>
          <p:cNvPr id="16" name="Shape 14"/>
          <p:cNvSpPr/>
          <p:nvPr/>
        </p:nvSpPr>
        <p:spPr>
          <a:xfrm rot="5400000">
            <a:off x="3703320" y="2683764"/>
            <a:ext cx="566928" cy="201168"/>
          </a:xfrm>
          <a:prstGeom prst="chevron">
            <a:avLst/>
          </a:prstGeom>
          <a:solidFill>
            <a:srgbClr val="C3CDD4"/>
          </a:solidFill>
          <a:ln/>
        </p:spPr>
      </p:sp>
      <p:sp>
        <p:nvSpPr>
          <p:cNvPr id="17" name="Shape 15"/>
          <p:cNvSpPr/>
          <p:nvPr/>
        </p:nvSpPr>
        <p:spPr>
          <a:xfrm>
            <a:off x="548640" y="2926080"/>
            <a:ext cx="6903720" cy="1042416"/>
          </a:xfrm>
          <a:prstGeom prst="roundRect">
            <a:avLst>
              <a:gd name="adj" fmla="val 6140"/>
            </a:avLst>
          </a:prstGeom>
          <a:solidFill>
            <a:srgbClr val="20A098"/>
          </a:solidFill>
          <a:ln w="11430">
            <a:solidFill>
              <a:srgbClr val="12756F"/>
            </a:solidFill>
            <a:prstDash val="solid"/>
          </a:ln>
        </p:spPr>
      </p:sp>
      <p:sp>
        <p:nvSpPr>
          <p:cNvPr id="18" name="Text 16"/>
          <p:cNvSpPr txBox="1"/>
          <p:nvPr/>
        </p:nvSpPr>
        <p:spPr>
          <a:xfrm>
            <a:off x="749808" y="3017520"/>
            <a:ext cx="457200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Visa &amp; Permits on SAP BTP</a:t>
            </a:r>
            <a:endParaRPr lang="en-US" sz="1250" dirty="0"/>
          </a:p>
        </p:txBody>
      </p:sp>
      <p:sp>
        <p:nvSpPr>
          <p:cNvPr id="19" name="Text 17"/>
          <p:cNvSpPr txBox="1"/>
          <p:nvPr/>
        </p:nvSpPr>
        <p:spPr>
          <a:xfrm>
            <a:off x="749808" y="3236976"/>
            <a:ext cx="6309360" cy="182880"/>
          </a:xfrm>
          <a:prstGeom prst="rect">
            <a:avLst/>
          </a:prstGeom>
          <a:noFill/>
          <a:ln/>
        </p:spPr>
        <p:txBody>
          <a:bodyPr wrap="square" lIns="0" tIns="0" rIns="0" bIns="0" rtlCol="0" anchor="ctr"/>
          <a:lstStyle/>
          <a:p>
            <a:pPr indent="0" marL="0">
              <a:buNone/>
            </a:pPr>
            <a:r>
              <a:rPr lang="en-US" sz="880" i="1" dirty="0">
                <a:solidFill>
                  <a:srgbClr val="CFEFEB"/>
                </a:solidFill>
                <a:latin typeface="Calibri" pitchFamily="34" charset="0"/>
                <a:ea typeface="Calibri" pitchFamily="34" charset="-122"/>
                <a:cs typeface="Calibri" pitchFamily="34" charset="-120"/>
              </a:rPr>
              <a:t>The governed layer, where the work is actually managed</a:t>
            </a:r>
            <a:endParaRPr lang="en-US" sz="880" dirty="0"/>
          </a:p>
        </p:txBody>
      </p:sp>
      <p:sp>
        <p:nvSpPr>
          <p:cNvPr id="20" name="Shape 18"/>
          <p:cNvSpPr/>
          <p:nvPr/>
        </p:nvSpPr>
        <p:spPr>
          <a:xfrm>
            <a:off x="749808" y="3456432"/>
            <a:ext cx="1775765" cy="237744"/>
          </a:xfrm>
          <a:prstGeom prst="roundRect">
            <a:avLst>
              <a:gd name="adj" fmla="val 46154"/>
            </a:avLst>
          </a:prstGeom>
          <a:solidFill>
            <a:srgbClr val="12756F"/>
          </a:solidFill>
          <a:ln w="7620">
            <a:solidFill>
              <a:srgbClr val="0E5F5A"/>
            </a:solidFill>
            <a:prstDash val="solid"/>
          </a:ln>
        </p:spPr>
      </p:sp>
      <p:sp>
        <p:nvSpPr>
          <p:cNvPr id="21" name="Text 19"/>
          <p:cNvSpPr txBox="1"/>
          <p:nvPr/>
        </p:nvSpPr>
        <p:spPr>
          <a:xfrm>
            <a:off x="749808" y="3456432"/>
            <a:ext cx="177576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Workflow &amp; milestones</a:t>
            </a:r>
            <a:endParaRPr lang="en-US" sz="860" dirty="0"/>
          </a:p>
        </p:txBody>
      </p:sp>
      <p:sp>
        <p:nvSpPr>
          <p:cNvPr id="22" name="Shape 20"/>
          <p:cNvSpPr/>
          <p:nvPr/>
        </p:nvSpPr>
        <p:spPr>
          <a:xfrm>
            <a:off x="2617013" y="3456432"/>
            <a:ext cx="1925726" cy="237744"/>
          </a:xfrm>
          <a:prstGeom prst="roundRect">
            <a:avLst>
              <a:gd name="adj" fmla="val 46154"/>
            </a:avLst>
          </a:prstGeom>
          <a:solidFill>
            <a:srgbClr val="12756F"/>
          </a:solidFill>
          <a:ln w="7620">
            <a:solidFill>
              <a:srgbClr val="0E5F5A"/>
            </a:solidFill>
            <a:prstDash val="solid"/>
          </a:ln>
        </p:spPr>
      </p:sp>
      <p:sp>
        <p:nvSpPr>
          <p:cNvPr id="23" name="Text 21"/>
          <p:cNvSpPr txBox="1"/>
          <p:nvPr/>
        </p:nvSpPr>
        <p:spPr>
          <a:xfrm>
            <a:off x="2617013" y="3456432"/>
            <a:ext cx="1925726"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Task inbox &amp; escalation</a:t>
            </a:r>
            <a:endParaRPr lang="en-US" sz="860" dirty="0"/>
          </a:p>
        </p:txBody>
      </p:sp>
      <p:sp>
        <p:nvSpPr>
          <p:cNvPr id="24" name="Shape 22"/>
          <p:cNvSpPr/>
          <p:nvPr/>
        </p:nvSpPr>
        <p:spPr>
          <a:xfrm>
            <a:off x="4634179" y="3456432"/>
            <a:ext cx="875995" cy="237744"/>
          </a:xfrm>
          <a:prstGeom prst="roundRect">
            <a:avLst>
              <a:gd name="adj" fmla="val 46154"/>
            </a:avLst>
          </a:prstGeom>
          <a:solidFill>
            <a:srgbClr val="12756F"/>
          </a:solidFill>
          <a:ln w="7620">
            <a:solidFill>
              <a:srgbClr val="0E5F5A"/>
            </a:solidFill>
            <a:prstDash val="solid"/>
          </a:ln>
        </p:spPr>
      </p:sp>
      <p:sp>
        <p:nvSpPr>
          <p:cNvPr id="25" name="Text 23"/>
          <p:cNvSpPr txBox="1"/>
          <p:nvPr/>
        </p:nvSpPr>
        <p:spPr>
          <a:xfrm>
            <a:off x="4634179" y="345643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Documents</a:t>
            </a:r>
            <a:endParaRPr lang="en-US" sz="860" dirty="0"/>
          </a:p>
        </p:txBody>
      </p:sp>
      <p:sp>
        <p:nvSpPr>
          <p:cNvPr id="26" name="Shape 24"/>
          <p:cNvSpPr/>
          <p:nvPr/>
        </p:nvSpPr>
        <p:spPr>
          <a:xfrm>
            <a:off x="5601614" y="3456432"/>
            <a:ext cx="801014" cy="237744"/>
          </a:xfrm>
          <a:prstGeom prst="roundRect">
            <a:avLst>
              <a:gd name="adj" fmla="val 46154"/>
            </a:avLst>
          </a:prstGeom>
          <a:solidFill>
            <a:srgbClr val="12756F"/>
          </a:solidFill>
          <a:ln w="7620">
            <a:solidFill>
              <a:srgbClr val="0E5F5A"/>
            </a:solidFill>
            <a:prstDash val="solid"/>
          </a:ln>
        </p:spPr>
      </p:sp>
      <p:sp>
        <p:nvSpPr>
          <p:cNvPr id="27" name="Text 25"/>
          <p:cNvSpPr txBox="1"/>
          <p:nvPr/>
        </p:nvSpPr>
        <p:spPr>
          <a:xfrm>
            <a:off x="5601614" y="3456432"/>
            <a:ext cx="801014"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Payments</a:t>
            </a:r>
            <a:endParaRPr lang="en-US" sz="860" dirty="0"/>
          </a:p>
        </p:txBody>
      </p:sp>
      <p:sp>
        <p:nvSpPr>
          <p:cNvPr id="28" name="Shape 26"/>
          <p:cNvSpPr/>
          <p:nvPr/>
        </p:nvSpPr>
        <p:spPr>
          <a:xfrm>
            <a:off x="749808" y="3730752"/>
            <a:ext cx="1250899" cy="237744"/>
          </a:xfrm>
          <a:prstGeom prst="roundRect">
            <a:avLst>
              <a:gd name="adj" fmla="val 46154"/>
            </a:avLst>
          </a:prstGeom>
          <a:solidFill>
            <a:srgbClr val="12756F"/>
          </a:solidFill>
          <a:ln w="7620">
            <a:solidFill>
              <a:srgbClr val="0E5F5A"/>
            </a:solidFill>
            <a:prstDash val="solid"/>
          </a:ln>
        </p:spPr>
      </p:sp>
      <p:sp>
        <p:nvSpPr>
          <p:cNvPr id="29" name="Text 27"/>
          <p:cNvSpPr txBox="1"/>
          <p:nvPr/>
        </p:nvSpPr>
        <p:spPr>
          <a:xfrm>
            <a:off x="749808" y="3730752"/>
            <a:ext cx="1250899"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Quota register</a:t>
            </a:r>
            <a:endParaRPr lang="en-US" sz="860" dirty="0"/>
          </a:p>
        </p:txBody>
      </p:sp>
      <p:sp>
        <p:nvSpPr>
          <p:cNvPr id="30" name="Shape 28"/>
          <p:cNvSpPr/>
          <p:nvPr/>
        </p:nvSpPr>
        <p:spPr>
          <a:xfrm>
            <a:off x="2092147" y="3730752"/>
            <a:ext cx="875995" cy="237744"/>
          </a:xfrm>
          <a:prstGeom prst="roundRect">
            <a:avLst>
              <a:gd name="adj" fmla="val 46154"/>
            </a:avLst>
          </a:prstGeom>
          <a:solidFill>
            <a:srgbClr val="12756F"/>
          </a:solidFill>
          <a:ln w="7620">
            <a:solidFill>
              <a:srgbClr val="0E5F5A"/>
            </a:solidFill>
            <a:prstDash val="solid"/>
          </a:ln>
        </p:spPr>
      </p:sp>
      <p:sp>
        <p:nvSpPr>
          <p:cNvPr id="31" name="Text 29"/>
          <p:cNvSpPr txBox="1"/>
          <p:nvPr/>
        </p:nvSpPr>
        <p:spPr>
          <a:xfrm>
            <a:off x="2092147" y="373075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Reporting</a:t>
            </a:r>
            <a:endParaRPr lang="en-US" sz="860" dirty="0"/>
          </a:p>
        </p:txBody>
      </p:sp>
      <p:sp>
        <p:nvSpPr>
          <p:cNvPr id="32" name="Shape 30"/>
          <p:cNvSpPr/>
          <p:nvPr/>
        </p:nvSpPr>
        <p:spPr>
          <a:xfrm rot="5400000">
            <a:off x="3703320" y="4000500"/>
            <a:ext cx="566928" cy="201168"/>
          </a:xfrm>
          <a:prstGeom prst="chevron">
            <a:avLst/>
          </a:prstGeom>
          <a:solidFill>
            <a:srgbClr val="C3CDD4"/>
          </a:solidFill>
          <a:ln/>
        </p:spPr>
      </p:sp>
      <p:sp>
        <p:nvSpPr>
          <p:cNvPr id="33" name="Shape 31"/>
          <p:cNvSpPr/>
          <p:nvPr/>
        </p:nvSpPr>
        <p:spPr>
          <a:xfrm>
            <a:off x="548640" y="4242816"/>
            <a:ext cx="6903720" cy="859536"/>
          </a:xfrm>
          <a:prstGeom prst="roundRect">
            <a:avLst>
              <a:gd name="adj" fmla="val 7447"/>
            </a:avLst>
          </a:prstGeom>
          <a:solidFill>
            <a:srgbClr val="F4F6F7"/>
          </a:solidFill>
          <a:ln w="11430">
            <a:solidFill>
              <a:srgbClr val="E3E7EA"/>
            </a:solidFill>
            <a:prstDash val="solid"/>
          </a:ln>
        </p:spPr>
      </p:sp>
      <p:sp>
        <p:nvSpPr>
          <p:cNvPr id="34" name="Text 32"/>
          <p:cNvSpPr txBox="1"/>
          <p:nvPr/>
        </p:nvSpPr>
        <p:spPr>
          <a:xfrm>
            <a:off x="749808" y="4334256"/>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S/4HANA Finance</a:t>
            </a:r>
            <a:endParaRPr lang="en-US" sz="1250" dirty="0"/>
          </a:p>
        </p:txBody>
      </p:sp>
      <p:sp>
        <p:nvSpPr>
          <p:cNvPr id="35" name="Text 33"/>
          <p:cNvSpPr txBox="1"/>
          <p:nvPr/>
        </p:nvSpPr>
        <p:spPr>
          <a:xfrm>
            <a:off x="749808" y="4553712"/>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Permit costs and approved fine deductions post outward</a:t>
            </a:r>
            <a:endParaRPr lang="en-US" sz="880" dirty="0"/>
          </a:p>
        </p:txBody>
      </p:sp>
      <p:sp>
        <p:nvSpPr>
          <p:cNvPr id="36" name="Shape 34"/>
          <p:cNvSpPr/>
          <p:nvPr/>
        </p:nvSpPr>
        <p:spPr>
          <a:xfrm>
            <a:off x="749808" y="4773168"/>
            <a:ext cx="1250899" cy="237744"/>
          </a:xfrm>
          <a:prstGeom prst="roundRect">
            <a:avLst>
              <a:gd name="adj" fmla="val 46154"/>
            </a:avLst>
          </a:prstGeom>
          <a:solidFill>
            <a:srgbClr val="FFFFFF"/>
          </a:solidFill>
          <a:ln w="7620">
            <a:solidFill>
              <a:srgbClr val="E3E7EA"/>
            </a:solidFill>
            <a:prstDash val="solid"/>
          </a:ln>
        </p:spPr>
      </p:sp>
      <p:sp>
        <p:nvSpPr>
          <p:cNvPr id="37" name="Text 35"/>
          <p:cNvSpPr txBox="1"/>
          <p:nvPr/>
        </p:nvSpPr>
        <p:spPr>
          <a:xfrm>
            <a:off x="749808" y="4773168"/>
            <a:ext cx="1250899"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Payments to GL</a:t>
            </a:r>
            <a:endParaRPr lang="en-US" sz="860" dirty="0"/>
          </a:p>
        </p:txBody>
      </p:sp>
      <p:sp>
        <p:nvSpPr>
          <p:cNvPr id="38" name="Shape 36"/>
          <p:cNvSpPr/>
          <p:nvPr/>
        </p:nvSpPr>
        <p:spPr>
          <a:xfrm>
            <a:off x="2092147" y="4773168"/>
            <a:ext cx="1325880" cy="237744"/>
          </a:xfrm>
          <a:prstGeom prst="roundRect">
            <a:avLst>
              <a:gd name="adj" fmla="val 46154"/>
            </a:avLst>
          </a:prstGeom>
          <a:solidFill>
            <a:srgbClr val="FFFFFF"/>
          </a:solidFill>
          <a:ln w="7620">
            <a:solidFill>
              <a:srgbClr val="E3E7EA"/>
            </a:solidFill>
            <a:prstDash val="solid"/>
          </a:ln>
        </p:spPr>
      </p:sp>
      <p:sp>
        <p:nvSpPr>
          <p:cNvPr id="39" name="Text 37"/>
          <p:cNvSpPr txBox="1"/>
          <p:nvPr/>
        </p:nvSpPr>
        <p:spPr>
          <a:xfrm>
            <a:off x="2092147" y="4773168"/>
            <a:ext cx="1325880"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Journal posting</a:t>
            </a:r>
            <a:endParaRPr lang="en-US" sz="860" dirty="0"/>
          </a:p>
        </p:txBody>
      </p:sp>
      <p:sp>
        <p:nvSpPr>
          <p:cNvPr id="40" name="Shape 38"/>
          <p:cNvSpPr/>
          <p:nvPr/>
        </p:nvSpPr>
        <p:spPr>
          <a:xfrm>
            <a:off x="3509467" y="4773168"/>
            <a:ext cx="1550822" cy="237744"/>
          </a:xfrm>
          <a:prstGeom prst="roundRect">
            <a:avLst>
              <a:gd name="adj" fmla="val 46154"/>
            </a:avLst>
          </a:prstGeom>
          <a:solidFill>
            <a:srgbClr val="FFFFFF"/>
          </a:solidFill>
          <a:ln w="7620">
            <a:solidFill>
              <a:srgbClr val="E3E7EA"/>
            </a:solidFill>
            <a:prstDash val="solid"/>
          </a:ln>
        </p:spPr>
      </p:sp>
      <p:sp>
        <p:nvSpPr>
          <p:cNvPr id="41" name="Text 39"/>
          <p:cNvSpPr txBox="1"/>
          <p:nvPr/>
        </p:nvSpPr>
        <p:spPr>
          <a:xfrm>
            <a:off x="3509467" y="4773168"/>
            <a:ext cx="155082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Payroll deductions</a:t>
            </a:r>
            <a:endParaRPr lang="en-US" sz="860" dirty="0"/>
          </a:p>
        </p:txBody>
      </p:sp>
      <p:sp>
        <p:nvSpPr>
          <p:cNvPr id="42" name="Shape 40"/>
          <p:cNvSpPr/>
          <p:nvPr/>
        </p:nvSpPr>
        <p:spPr>
          <a:xfrm>
            <a:off x="7699248" y="1792224"/>
            <a:ext cx="3913632" cy="1115568"/>
          </a:xfrm>
          <a:prstGeom prst="roundRect">
            <a:avLst>
              <a:gd name="adj" fmla="val 5738"/>
            </a:avLst>
          </a:prstGeom>
          <a:solidFill>
            <a:srgbClr val="0C1E33"/>
          </a:solidFill>
          <a:ln w="12700">
            <a:solidFill>
              <a:srgbClr val="16304C"/>
            </a:solidFill>
            <a:prstDash val="solid"/>
          </a:ln>
        </p:spPr>
      </p:sp>
      <p:sp>
        <p:nvSpPr>
          <p:cNvPr id="43" name="Text 41"/>
          <p:cNvSpPr txBox="1"/>
          <p:nvPr/>
        </p:nvSpPr>
        <p:spPr>
          <a:xfrm>
            <a:off x="7900416" y="1920240"/>
            <a:ext cx="356616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Government portals</a:t>
            </a:r>
            <a:endParaRPr lang="en-US" sz="1250" dirty="0"/>
          </a:p>
        </p:txBody>
      </p:sp>
      <p:sp>
        <p:nvSpPr>
          <p:cNvPr id="44" name="Text 42"/>
          <p:cNvSpPr txBox="1"/>
          <p:nvPr/>
        </p:nvSpPr>
        <p:spPr>
          <a:xfrm>
            <a:off x="7900416" y="2176272"/>
            <a:ext cx="3511296" cy="658368"/>
          </a:xfrm>
          <a:prstGeom prst="rect">
            <a:avLst/>
          </a:prstGeom>
          <a:noFill/>
          <a:ln/>
        </p:spPr>
        <p:txBody>
          <a:bodyPr wrap="square" lIns="0" tIns="0" rIns="0" bIns="0" rtlCol="0" anchor="ctr"/>
          <a:lstStyle/>
          <a:p>
            <a:pPr indent="0" marL="0">
              <a:lnSpc>
                <a:spcPts val="1200"/>
              </a:lnSpc>
              <a:buNone/>
            </a:pPr>
            <a:r>
              <a:rPr lang="en-US" sz="880" dirty="0">
                <a:solidFill>
                  <a:srgbClr val="7FD4CC"/>
                </a:solidFill>
                <a:latin typeface="Calibri" pitchFamily="34" charset="0"/>
                <a:ea typeface="Calibri" pitchFamily="34" charset="-122"/>
                <a:cs typeface="Calibri" pitchFamily="34" charset="-120"/>
              </a:rPr>
              <a:t>Qiwa · Muqeem · Absher · MOHRE · ICP · GDRFA · LMRA · PAM · ADLSA · SCFHS · DHA · DOH</a:t>
            </a:r>
            <a:endParaRPr lang="en-US" sz="880" dirty="0"/>
          </a:p>
        </p:txBody>
      </p:sp>
      <p:sp>
        <p:nvSpPr>
          <p:cNvPr id="45" name="Shape 43"/>
          <p:cNvSpPr/>
          <p:nvPr/>
        </p:nvSpPr>
        <p:spPr>
          <a:xfrm>
            <a:off x="7699248" y="3054096"/>
            <a:ext cx="3913632" cy="3035808"/>
          </a:xfrm>
          <a:prstGeom prst="roundRect">
            <a:avLst>
              <a:gd name="adj" fmla="val 2108"/>
            </a:avLst>
          </a:prstGeom>
          <a:solidFill>
            <a:srgbClr val="FCF6E4"/>
          </a:solidFill>
          <a:ln w="12700">
            <a:solidFill>
              <a:srgbClr val="C9A227"/>
            </a:solidFill>
            <a:prstDash val="solid"/>
          </a:ln>
        </p:spPr>
      </p:sp>
      <p:sp>
        <p:nvSpPr>
          <p:cNvPr id="46" name="Text 44"/>
          <p:cNvSpPr txBox="1"/>
          <p:nvPr/>
        </p:nvSpPr>
        <p:spPr>
          <a:xfrm>
            <a:off x="7900416" y="3182112"/>
            <a:ext cx="356616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About government APIs</a:t>
            </a:r>
            <a:endParaRPr lang="en-US" sz="1200" dirty="0"/>
          </a:p>
        </p:txBody>
      </p:sp>
      <p:sp>
        <p:nvSpPr>
          <p:cNvPr id="47" name="Text 45"/>
          <p:cNvSpPr txBox="1"/>
          <p:nvPr/>
        </p:nvSpPr>
        <p:spPr>
          <a:xfrm>
            <a:off x="7900416" y="3456432"/>
            <a:ext cx="3511296" cy="2523744"/>
          </a:xfrm>
          <a:prstGeom prst="rect">
            <a:avLst/>
          </a:prstGeom>
          <a:noFill/>
          <a:ln/>
        </p:spPr>
        <p:txBody>
          <a:bodyPr wrap="square" lIns="0" tIns="0" rIns="0" bIns="0" rtlCol="0" anchor="ctr"/>
          <a:lstStyle/>
          <a:p>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We built this ready for APIs.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Every government-facing step is a service call with a slot waiting behind it, so connecting a portal means plugging it in rather than rebuilding the process.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What we will need from you.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GCC governments do not publish open APIs, and when they do give access they give it to the employer, not to a software vendor. So you go to each authority yourself (Qiwa and Muqeem in Saudi, MOHRE and ICP in the UAE, LMRA in Bahrain) and ask for API credentials, the specification and a sandbox under your own establishment registration. Hand those to us and we build the connector.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Until then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the government step stays a tracked manual PRO activity, with reference number, receipt and status captured in the milestone. That is how the application is designed to operate from day one, with or without a portal connection.</a:t>
            </a:r>
            <a:endParaRPr lang="en-US" sz="840" dirty="0"/>
          </a:p>
        </p:txBody>
      </p:sp>
      <p:sp>
        <p:nvSpPr>
          <p:cNvPr id="48" name="Text 4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9" name="Text 4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you will need on SAP BTP.</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Permit records, quotas,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and launchpad per persona</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Milestones, routing, due dates,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future APIs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Integration flows to SF and S/4HANA Finance</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 Service</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Passports, contracts, receipts,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Expiry alerts, reminders and escalation mails</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 Service</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scans and scheduled reports</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Executive dashboards and cross-country analytics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and change-request development</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Two licensing routes</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Either you subscribe and run the runtime and portal yourself, or we manage the whole thing, which means no separate developer licences.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Works without SuccessFactors</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If your SuccessFactors modules are not live yet, that is fine. The non-integrated version still gives you full governance from day one.</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Deployable in weeks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5779008"/>
            <a:ext cx="585216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Ready for the GCC.</a:t>
            </a:r>
            <a:endParaRPr lang="en-US" sz="2000" dirty="0"/>
          </a:p>
        </p:txBody>
      </p:sp>
      <p:sp>
        <p:nvSpPr>
          <p:cNvPr id="63" name="Text 61"/>
          <p:cNvSpPr txBox="1"/>
          <p:nvPr/>
        </p:nvSpPr>
        <p:spPr>
          <a:xfrm>
            <a:off x="548640" y="6126480"/>
            <a:ext cx="786384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Country packs for the UAE, KSA, Qatar, Kuwait, Oman, Bahrain and Libya  ·  Work permits, healthcare licences and any industry-grade permit</a:t>
            </a:r>
            <a:endParaRPr lang="en-US" sz="1000" dirty="0"/>
          </a:p>
        </p:txBody>
      </p:sp>
      <p:pic>
        <p:nvPicPr>
          <p:cNvPr id="64" name="Image 0" descr="./img/logo-white.png">    </p:cNvPr>
          <p:cNvPicPr>
            <a:picLocks noChangeAspect="1"/>
          </p:cNvPicPr>
          <p:nvPr/>
        </p:nvPicPr>
        <p:blipFill>
          <a:blip r:embed="rId1"/>
          <a:stretch>
            <a:fillRect/>
          </a:stretch>
        </p:blipFill>
        <p:spPr>
          <a:xfrm>
            <a:off x="9464040" y="5797296"/>
            <a:ext cx="1828800" cy="448056"/>
          </a:xfrm>
          <a:prstGeom prst="rect">
            <a:avLst/>
          </a:prstGeom>
        </p:spPr>
      </p:pic>
      <p:sp>
        <p:nvSpPr>
          <p:cNvPr id="65" name="Text 62"/>
          <p:cNvSpPr txBox="1"/>
          <p:nvPr/>
        </p:nvSpPr>
        <p:spPr>
          <a:xfrm>
            <a:off x="8778240" y="6327648"/>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on SAP BTP</dc:title>
  <dc:subject>PptxGenJS Presentation</dc:subject>
  <dc:creator>INK IT Business Solutions</dc:creator>
  <cp:lastModifiedBy>INK IT Business Solutions</cp:lastModifiedBy>
  <cp:revision>1</cp:revision>
  <dcterms:created xsi:type="dcterms:W3CDTF">2026-09-21T22:33:44Z</dcterms:created>
  <dcterms:modified xsi:type="dcterms:W3CDTF">2026-09-21T22:33:44Z</dcterms:modified>
</cp:coreProperties>
</file>