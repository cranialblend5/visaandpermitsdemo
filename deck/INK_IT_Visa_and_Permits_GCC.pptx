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The pitch: this is not a concept — it is a live SAP BTP application running work permit, renewal and cancellation lifecycles in production in the UAE, with configured country packs for the rest of the GCC and Libya. Emphasise three words: owned, visible, reconciled.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recognise themselves here. Ask which of the six they have. Almost every GCC enterprise has at least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the screenshot — this is a real system, not a mock-up. The five capability tiles are what makes it a governance tool rather than a tracker.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room — people see their own job. Pause on the GRO row: that is the persona whose working life changes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differentiating slide. Other tools track visas; this one manages the people doing the work. Stress the escalation ladder — it is what converts a tracker into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CFO slide. The line that lands: a payment cannot exist in this system without a receipt and a GL code, so duplicates are prevented at entry rather than discovered at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GCC-ready slide. Be straight about live versus pack — credibility here is worth more than an overclaim, and the honesty usually earns the follow-up meeting. For KSA note the three-authority split: Qiwa for labour, Muqeem for the Iqama, Absher as the employee-facing mirror.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healthcare prospects this is the slide that proves domain depth. Note that the same model handles facility permits — pharmacy and clinic licences, trade licences, civil defence — and any industry-grade permit that expires.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Handle the API question head-on before the customer raises it. The value is not automating the click on the government site — it is knowing the click happened, who made it, when, what it cost and what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provisioning and commercials. The core six are non-negotiable; the rest scale with ambition. Two licensing routes matters — INK IT-managed operation is materially cheaper and is often the deciding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8686800" y="-2011680"/>
            <a:ext cx="6949440" cy="6949440"/>
          </a:xfrm>
          <a:prstGeom prst="ellipse">
            <a:avLst/>
          </a:prstGeom>
          <a:solidFill>
            <a:srgbClr val="20A098">
              <a:alpha val="12000"/>
            </a:srgbClr>
          </a:solidFill>
          <a:ln/>
        </p:spPr>
      </p:sp>
      <p:sp>
        <p:nvSpPr>
          <p:cNvPr id="3" name="Shape 1"/>
          <p:cNvSpPr/>
          <p:nvPr/>
        </p:nvSpPr>
        <p:spPr>
          <a:xfrm>
            <a:off x="10058400" y="3108960"/>
            <a:ext cx="4754880" cy="4754880"/>
          </a:xfrm>
          <a:prstGeom prst="ellipse">
            <a:avLst/>
          </a:prstGeom>
          <a:solidFill>
            <a:srgbClr val="C9A227">
              <a:alpha val="8000"/>
            </a:srgbClr>
          </a:solidFill>
          <a:ln/>
        </p:spPr>
      </p:sp>
      <p:pic>
        <p:nvPicPr>
          <p:cNvPr id="4" name="Image 0" descr="./img/logo-white.png">    </p:cNvPr>
          <p:cNvPicPr>
            <a:picLocks noChangeAspect="1"/>
          </p:cNvPicPr>
          <p:nvPr/>
        </p:nvPicPr>
        <p:blipFill>
          <a:blip r:embed="rId1"/>
          <a:stretch>
            <a:fillRect/>
          </a:stretch>
        </p:blipFill>
        <p:spPr>
          <a:xfrm>
            <a:off x="658368" y="566928"/>
            <a:ext cx="2240280" cy="548640"/>
          </a:xfrm>
          <a:prstGeom prst="rect">
            <a:avLst/>
          </a:prstGeom>
        </p:spPr>
      </p:pic>
      <p:sp>
        <p:nvSpPr>
          <p:cNvPr id="5" name="Text 2"/>
          <p:cNvSpPr txBox="1"/>
          <p:nvPr/>
        </p:nvSpPr>
        <p:spPr>
          <a:xfrm>
            <a:off x="658368" y="1783080"/>
            <a:ext cx="7863840" cy="173736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Arial" pitchFamily="34" charset="0"/>
                <a:ea typeface="Arial" pitchFamily="34" charset="-122"/>
                <a:cs typeface="Arial" pitchFamily="34" charset="-120"/>
              </a:rPr>
              <a:t>Visa &amp; Permits</a:t>
            </a:r>
            <a:endParaRPr lang="en-US" sz="4800" dirty="0"/>
          </a:p>
          <a:p>
            <a:pPr indent="0" marL="0">
              <a:lnSpc>
                <a:spcPts val="5200"/>
              </a:lnSpc>
              <a:buNone/>
            </a:pPr>
            <a:r>
              <a:rPr lang="en-US" sz="4800" b="1" dirty="0">
                <a:solidFill>
                  <a:srgbClr val="FFFFFF"/>
                </a:solidFill>
                <a:latin typeface="Arial" pitchFamily="34" charset="0"/>
                <a:ea typeface="Arial" pitchFamily="34" charset="-122"/>
                <a:cs typeface="Arial" pitchFamily="34" charset="-120"/>
              </a:rPr>
              <a:t>Management</a:t>
            </a:r>
            <a:endParaRPr lang="en-US" sz="4800" dirty="0"/>
          </a:p>
        </p:txBody>
      </p:sp>
      <p:sp>
        <p:nvSpPr>
          <p:cNvPr id="6" name="Text 3"/>
          <p:cNvSpPr txBox="1"/>
          <p:nvPr/>
        </p:nvSpPr>
        <p:spPr>
          <a:xfrm>
            <a:off x="658368" y="3584448"/>
            <a:ext cx="7863840" cy="329184"/>
          </a:xfrm>
          <a:prstGeom prst="rect">
            <a:avLst/>
          </a:prstGeom>
          <a:noFill/>
          <a:ln/>
        </p:spPr>
        <p:txBody>
          <a:bodyPr wrap="square" lIns="0" tIns="0" rIns="0" bIns="0" rtlCol="0" anchor="ctr"/>
          <a:lstStyle/>
          <a:p>
            <a:pPr indent="0" marL="0">
              <a:buNone/>
            </a:pPr>
            <a:r>
              <a:rPr lang="en-US" sz="1900" b="1" dirty="0">
                <a:solidFill>
                  <a:srgbClr val="20A098"/>
                </a:solidFill>
                <a:latin typeface="Calibri" pitchFamily="34" charset="0"/>
                <a:ea typeface="Calibri" pitchFamily="34" charset="-122"/>
                <a:cs typeface="Calibri" pitchFamily="34" charset="-120"/>
              </a:rPr>
              <a:t>Built on SAP BTP  ·  Ready for the GCC</a:t>
            </a:r>
            <a:endParaRPr lang="en-US" sz="1900" dirty="0"/>
          </a:p>
        </p:txBody>
      </p:sp>
      <p:sp>
        <p:nvSpPr>
          <p:cNvPr id="7" name="Text 4"/>
          <p:cNvSpPr txBox="1"/>
          <p:nvPr/>
        </p:nvSpPr>
        <p:spPr>
          <a:xfrm>
            <a:off x="658368" y="4041648"/>
            <a:ext cx="7589520" cy="914400"/>
          </a:xfrm>
          <a:prstGeom prst="rect">
            <a:avLst/>
          </a:prstGeom>
          <a:noFill/>
          <a:ln/>
        </p:spPr>
        <p:txBody>
          <a:bodyPr wrap="square" lIns="0" tIns="0" rIns="0" bIns="0" rtlCol="0" anchor="ctr"/>
          <a:lstStyle/>
          <a:p>
            <a:pPr indent="0" marL="0">
              <a:lnSpc>
                <a:spcPts val="2200"/>
              </a:lnSpc>
              <a:buNone/>
            </a:pPr>
            <a:r>
              <a:rPr lang="en-US" sz="1450" dirty="0">
                <a:solidFill>
                  <a:srgbClr val="A9C2DA"/>
                </a:solidFill>
                <a:latin typeface="Calibri" pitchFamily="34" charset="0"/>
                <a:ea typeface="Calibri" pitchFamily="34" charset="-122"/>
                <a:cs typeface="Calibri" pitchFamily="34" charset="-120"/>
              </a:rPr>
              <a:t>End-to-end governance of work permits, residency and professional licences — with every task owned, every deadline visible, and every government payment matched to a receipt and a GL account.</a:t>
            </a:r>
            <a:endParaRPr lang="en-US" sz="1450" dirty="0"/>
          </a:p>
        </p:txBody>
      </p:sp>
      <p:sp>
        <p:nvSpPr>
          <p:cNvPr id="8" name="Shape 5"/>
          <p:cNvSpPr/>
          <p:nvPr/>
        </p:nvSpPr>
        <p:spPr>
          <a:xfrm>
            <a:off x="658368" y="5230368"/>
            <a:ext cx="498348" cy="329184"/>
          </a:xfrm>
          <a:prstGeom prst="roundRect">
            <a:avLst>
              <a:gd name="adj" fmla="val 47222"/>
            </a:avLst>
          </a:prstGeom>
          <a:solidFill>
            <a:srgbClr val="12756F"/>
          </a:solidFill>
          <a:ln w="9525">
            <a:solidFill>
              <a:srgbClr val="20A098"/>
            </a:solidFill>
            <a:prstDash val="solid"/>
          </a:ln>
        </p:spPr>
      </p:sp>
      <p:sp>
        <p:nvSpPr>
          <p:cNvPr id="9" name="Text 6"/>
          <p:cNvSpPr txBox="1"/>
          <p:nvPr/>
        </p:nvSpPr>
        <p:spPr>
          <a:xfrm>
            <a:off x="658368" y="5230368"/>
            <a:ext cx="498348" cy="32918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UAE</a:t>
            </a:r>
            <a:endParaRPr lang="en-US" sz="1150" dirty="0"/>
          </a:p>
        </p:txBody>
      </p:sp>
      <p:sp>
        <p:nvSpPr>
          <p:cNvPr id="10" name="Shape 7"/>
          <p:cNvSpPr/>
          <p:nvPr/>
        </p:nvSpPr>
        <p:spPr>
          <a:xfrm>
            <a:off x="1284732" y="5230368"/>
            <a:ext cx="498348" cy="329184"/>
          </a:xfrm>
          <a:prstGeom prst="roundRect">
            <a:avLst>
              <a:gd name="adj" fmla="val 47222"/>
            </a:avLst>
          </a:prstGeom>
          <a:solidFill>
            <a:srgbClr val="16304C"/>
          </a:solidFill>
          <a:ln w="9525">
            <a:solidFill>
              <a:srgbClr val="2C4A6A"/>
            </a:solidFill>
            <a:prstDash val="solid"/>
          </a:ln>
        </p:spPr>
      </p:sp>
      <p:sp>
        <p:nvSpPr>
          <p:cNvPr id="11" name="Text 8"/>
          <p:cNvSpPr txBox="1"/>
          <p:nvPr/>
        </p:nvSpPr>
        <p:spPr>
          <a:xfrm>
            <a:off x="1284732" y="5230368"/>
            <a:ext cx="498348"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KSA</a:t>
            </a:r>
            <a:endParaRPr lang="en-US" sz="1150" dirty="0"/>
          </a:p>
        </p:txBody>
      </p:sp>
      <p:sp>
        <p:nvSpPr>
          <p:cNvPr id="12" name="Shape 9"/>
          <p:cNvSpPr/>
          <p:nvPr/>
        </p:nvSpPr>
        <p:spPr>
          <a:xfrm>
            <a:off x="1911096" y="5230368"/>
            <a:ext cx="708660" cy="329184"/>
          </a:xfrm>
          <a:prstGeom prst="roundRect">
            <a:avLst>
              <a:gd name="adj" fmla="val 47222"/>
            </a:avLst>
          </a:prstGeom>
          <a:solidFill>
            <a:srgbClr val="16304C"/>
          </a:solidFill>
          <a:ln w="9525">
            <a:solidFill>
              <a:srgbClr val="2C4A6A"/>
            </a:solidFill>
            <a:prstDash val="solid"/>
          </a:ln>
        </p:spPr>
      </p:sp>
      <p:sp>
        <p:nvSpPr>
          <p:cNvPr id="13" name="Text 10"/>
          <p:cNvSpPr txBox="1"/>
          <p:nvPr/>
        </p:nvSpPr>
        <p:spPr>
          <a:xfrm>
            <a:off x="1911096" y="5230368"/>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Qatar</a:t>
            </a:r>
            <a:endParaRPr lang="en-US" sz="1150" dirty="0"/>
          </a:p>
        </p:txBody>
      </p:sp>
      <p:sp>
        <p:nvSpPr>
          <p:cNvPr id="14" name="Shape 11"/>
          <p:cNvSpPr/>
          <p:nvPr/>
        </p:nvSpPr>
        <p:spPr>
          <a:xfrm>
            <a:off x="2747772" y="5230368"/>
            <a:ext cx="813816" cy="329184"/>
          </a:xfrm>
          <a:prstGeom prst="roundRect">
            <a:avLst>
              <a:gd name="adj" fmla="val 47222"/>
            </a:avLst>
          </a:prstGeom>
          <a:solidFill>
            <a:srgbClr val="16304C"/>
          </a:solidFill>
          <a:ln w="9525">
            <a:solidFill>
              <a:srgbClr val="2C4A6A"/>
            </a:solidFill>
            <a:prstDash val="solid"/>
          </a:ln>
        </p:spPr>
      </p:sp>
      <p:sp>
        <p:nvSpPr>
          <p:cNvPr id="15" name="Text 12"/>
          <p:cNvSpPr txBox="1"/>
          <p:nvPr/>
        </p:nvSpPr>
        <p:spPr>
          <a:xfrm>
            <a:off x="2747772" y="5230368"/>
            <a:ext cx="813816"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Kuwait</a:t>
            </a:r>
            <a:endParaRPr lang="en-US" sz="1150" dirty="0"/>
          </a:p>
        </p:txBody>
      </p:sp>
      <p:sp>
        <p:nvSpPr>
          <p:cNvPr id="16" name="Shape 13"/>
          <p:cNvSpPr/>
          <p:nvPr/>
        </p:nvSpPr>
        <p:spPr>
          <a:xfrm>
            <a:off x="3689604" y="5230368"/>
            <a:ext cx="603504" cy="329184"/>
          </a:xfrm>
          <a:prstGeom prst="roundRect">
            <a:avLst>
              <a:gd name="adj" fmla="val 47222"/>
            </a:avLst>
          </a:prstGeom>
          <a:solidFill>
            <a:srgbClr val="16304C"/>
          </a:solidFill>
          <a:ln w="9525">
            <a:solidFill>
              <a:srgbClr val="2C4A6A"/>
            </a:solidFill>
            <a:prstDash val="solid"/>
          </a:ln>
        </p:spPr>
      </p:sp>
      <p:sp>
        <p:nvSpPr>
          <p:cNvPr id="17" name="Text 14"/>
          <p:cNvSpPr txBox="1"/>
          <p:nvPr/>
        </p:nvSpPr>
        <p:spPr>
          <a:xfrm>
            <a:off x="3689604" y="5230368"/>
            <a:ext cx="603504"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Oman</a:t>
            </a:r>
            <a:endParaRPr lang="en-US" sz="1150" dirty="0"/>
          </a:p>
        </p:txBody>
      </p:sp>
      <p:sp>
        <p:nvSpPr>
          <p:cNvPr id="18" name="Shape 15"/>
          <p:cNvSpPr/>
          <p:nvPr/>
        </p:nvSpPr>
        <p:spPr>
          <a:xfrm>
            <a:off x="4421124" y="5230368"/>
            <a:ext cx="918972" cy="329184"/>
          </a:xfrm>
          <a:prstGeom prst="roundRect">
            <a:avLst>
              <a:gd name="adj" fmla="val 47222"/>
            </a:avLst>
          </a:prstGeom>
          <a:solidFill>
            <a:srgbClr val="16304C"/>
          </a:solidFill>
          <a:ln w="9525">
            <a:solidFill>
              <a:srgbClr val="2C4A6A"/>
            </a:solidFill>
            <a:prstDash val="solid"/>
          </a:ln>
        </p:spPr>
      </p:sp>
      <p:sp>
        <p:nvSpPr>
          <p:cNvPr id="19" name="Text 16"/>
          <p:cNvSpPr txBox="1"/>
          <p:nvPr/>
        </p:nvSpPr>
        <p:spPr>
          <a:xfrm>
            <a:off x="4421124" y="5230368"/>
            <a:ext cx="918972"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Bahrain</a:t>
            </a:r>
            <a:endParaRPr lang="en-US" sz="1150" dirty="0"/>
          </a:p>
        </p:txBody>
      </p:sp>
      <p:sp>
        <p:nvSpPr>
          <p:cNvPr id="20" name="Shape 17"/>
          <p:cNvSpPr/>
          <p:nvPr/>
        </p:nvSpPr>
        <p:spPr>
          <a:xfrm>
            <a:off x="5468112" y="5230368"/>
            <a:ext cx="708660" cy="329184"/>
          </a:xfrm>
          <a:prstGeom prst="roundRect">
            <a:avLst>
              <a:gd name="adj" fmla="val 47222"/>
            </a:avLst>
          </a:prstGeom>
          <a:solidFill>
            <a:srgbClr val="16304C"/>
          </a:solidFill>
          <a:ln w="9525">
            <a:solidFill>
              <a:srgbClr val="2C4A6A"/>
            </a:solidFill>
            <a:prstDash val="solid"/>
          </a:ln>
        </p:spPr>
      </p:sp>
      <p:sp>
        <p:nvSpPr>
          <p:cNvPr id="21" name="Text 18"/>
          <p:cNvSpPr txBox="1"/>
          <p:nvPr/>
        </p:nvSpPr>
        <p:spPr>
          <a:xfrm>
            <a:off x="5468112" y="5230368"/>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Libya</a:t>
            </a:r>
            <a:endParaRPr lang="en-US" sz="1150" dirty="0"/>
          </a:p>
        </p:txBody>
      </p:sp>
      <p:sp>
        <p:nvSpPr>
          <p:cNvPr id="22" name="Text 19"/>
          <p:cNvSpPr txBox="1"/>
          <p:nvPr/>
        </p:nvSpPr>
        <p:spPr>
          <a:xfrm>
            <a:off x="658368" y="5760720"/>
            <a:ext cx="8229600" cy="274320"/>
          </a:xfrm>
          <a:prstGeom prst="rect">
            <a:avLst/>
          </a:prstGeom>
          <a:noFill/>
          <a:ln/>
        </p:spPr>
        <p:txBody>
          <a:bodyPr wrap="square" lIns="0" tIns="0" rIns="0" bIns="0" rtlCol="0" anchor="ctr"/>
          <a:lstStyle/>
          <a:p>
            <a:pPr indent="0" marL="0">
              <a:buNone/>
            </a:pPr>
            <a:r>
              <a:rPr lang="en-US" sz="1200" dirty="0">
                <a:solidFill>
                  <a:srgbClr val="7E99B4"/>
                </a:solidFill>
                <a:latin typeface="Calibri" pitchFamily="34" charset="0"/>
                <a:ea typeface="Calibri" pitchFamily="34" charset="-122"/>
                <a:cs typeface="Calibri" pitchFamily="34" charset="-120"/>
              </a:rPr>
              <a:t>Healthcare  ·  Industry-grade permits  ·  SAP SuccessFactors integrated</a:t>
            </a:r>
            <a:endParaRPr lang="en-US" sz="1200" dirty="0"/>
          </a:p>
        </p:txBody>
      </p:sp>
      <p:sp>
        <p:nvSpPr>
          <p:cNvPr id="23" name="Text 20"/>
          <p:cNvSpPr txBox="1"/>
          <p:nvPr/>
        </p:nvSpPr>
        <p:spPr>
          <a:xfrm>
            <a:off x="658368" y="6217920"/>
            <a:ext cx="8229600" cy="274320"/>
          </a:xfrm>
          <a:prstGeom prst="rect">
            <a:avLst/>
          </a:prstGeom>
          <a:noFill/>
          <a:ln/>
        </p:spPr>
        <p:txBody>
          <a:bodyPr wrap="square" lIns="0" tIns="0" rIns="0" bIns="0" rtlCol="0" anchor="ctr"/>
          <a:lstStyle/>
          <a:p>
            <a:pPr indent="0" marL="0">
              <a:buNone/>
            </a:pPr>
            <a:r>
              <a:rPr lang="en-US" sz="1050" i="1" dirty="0">
                <a:solidFill>
                  <a:srgbClr val="6C87A2"/>
                </a:solidFill>
                <a:latin typeface="Calibri" pitchFamily="34" charset="0"/>
                <a:ea typeface="Calibri" pitchFamily="34" charset="-122"/>
                <a:cs typeface="Calibri" pitchFamily="34" charset="-120"/>
              </a:rPr>
              <a:t>A sales and solution overview for SAP and enterprise customers across the GCC</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One permit. Six teams. No shared clock.</a:t>
            </a:r>
            <a:endParaRPr lang="en-US" sz="3000" dirty="0"/>
          </a:p>
        </p:txBody>
      </p:sp>
      <p:sp>
        <p:nvSpPr>
          <p:cNvPr id="4" name="Text 2"/>
          <p:cNvSpPr txBox="1"/>
          <p:nvPr/>
        </p:nvSpPr>
        <p:spPr>
          <a:xfrm>
            <a:off x="548640" y="1243584"/>
            <a:ext cx="10424160" cy="457200"/>
          </a:xfrm>
          <a:prstGeom prst="rect">
            <a:avLst/>
          </a:prstGeom>
          <a:noFill/>
          <a:ln/>
        </p:spPr>
        <p:txBody>
          <a:bodyPr wrap="square" lIns="0" tIns="0" rIns="0" bIns="0" rtlCol="0" anchor="ctr"/>
          <a:lstStyle/>
          <a:p>
            <a:pPr indent="0" marL="0">
              <a:lnSpc>
                <a:spcPts val="1900"/>
              </a:lnSpc>
              <a:buNone/>
            </a:pPr>
            <a:r>
              <a:rPr lang="en-US" sz="1350" dirty="0">
                <a:solidFill>
                  <a:srgbClr val="5A6C82"/>
                </a:solidFill>
                <a:latin typeface="Calibri" pitchFamily="34" charset="0"/>
                <a:ea typeface="Calibri" pitchFamily="34" charset="-122"/>
                <a:cs typeface="Calibri" pitchFamily="34" charset="-120"/>
              </a:rPr>
              <a:t>A single work permit crosses recruitment, onboarding, the PRO desk, the employee, HR and finance — and touches a government portal at least five times. Miss one hand-off and it stalls silently, usually until a fine arrives.</a:t>
            </a:r>
            <a:endParaRPr lang="en-US" sz="1350" dirty="0"/>
          </a:p>
        </p:txBody>
      </p:sp>
      <p:sp>
        <p:nvSpPr>
          <p:cNvPr id="5" name="Shape 3"/>
          <p:cNvSpPr/>
          <p:nvPr/>
        </p:nvSpPr>
        <p:spPr>
          <a:xfrm>
            <a:off x="548640" y="1874520"/>
            <a:ext cx="3502152" cy="1755648"/>
          </a:xfrm>
          <a:prstGeom prst="roundRect">
            <a:avLst>
              <a:gd name="adj" fmla="val 4167"/>
            </a:avLst>
          </a:prstGeom>
          <a:solidFill>
            <a:srgbClr val="F4F6F7"/>
          </a:solidFill>
          <a:ln w="9525">
            <a:solidFill>
              <a:srgbClr val="E3E7EA"/>
            </a:solidFill>
            <a:prstDash val="solid"/>
          </a:ln>
        </p:spPr>
      </p:sp>
      <p:sp>
        <p:nvSpPr>
          <p:cNvPr id="6" name="Shape 4"/>
          <p:cNvSpPr/>
          <p:nvPr/>
        </p:nvSpPr>
        <p:spPr>
          <a:xfrm>
            <a:off x="768096" y="2093976"/>
            <a:ext cx="384048" cy="384048"/>
          </a:xfrm>
          <a:prstGeom prst="ellipse">
            <a:avLst/>
          </a:prstGeom>
          <a:solidFill>
            <a:srgbClr val="20A098"/>
          </a:solidFill>
          <a:ln/>
        </p:spPr>
      </p:sp>
      <p:sp>
        <p:nvSpPr>
          <p:cNvPr id="7" name="Text 5"/>
          <p:cNvSpPr txBox="1"/>
          <p:nvPr/>
        </p:nvSpPr>
        <p:spPr>
          <a:xfrm>
            <a:off x="768096"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261872"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Tracking lives in a spreadsheet</a:t>
            </a:r>
            <a:endParaRPr lang="en-US" sz="1300" dirty="0"/>
          </a:p>
        </p:txBody>
      </p:sp>
      <p:sp>
        <p:nvSpPr>
          <p:cNvPr id="9" name="Text 7"/>
          <p:cNvSpPr txBox="1"/>
          <p:nvPr/>
        </p:nvSpPr>
        <p:spPr>
          <a:xfrm>
            <a:off x="768096"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Expiry dates sit in one person’s file. When they are on leave the company is blind — and overstay fines start at the border, not in the system.</a:t>
            </a:r>
            <a:endParaRPr lang="en-US" sz="1050" dirty="0"/>
          </a:p>
        </p:txBody>
      </p:sp>
      <p:sp>
        <p:nvSpPr>
          <p:cNvPr id="10" name="Shape 8"/>
          <p:cNvSpPr/>
          <p:nvPr/>
        </p:nvSpPr>
        <p:spPr>
          <a:xfrm>
            <a:off x="4334256" y="1874520"/>
            <a:ext cx="3502152" cy="1755648"/>
          </a:xfrm>
          <a:prstGeom prst="roundRect">
            <a:avLst>
              <a:gd name="adj" fmla="val 4167"/>
            </a:avLst>
          </a:prstGeom>
          <a:solidFill>
            <a:srgbClr val="F4F6F7"/>
          </a:solidFill>
          <a:ln w="9525">
            <a:solidFill>
              <a:srgbClr val="E3E7EA"/>
            </a:solidFill>
            <a:prstDash val="solid"/>
          </a:ln>
        </p:spPr>
      </p:sp>
      <p:sp>
        <p:nvSpPr>
          <p:cNvPr id="11" name="Shape 9"/>
          <p:cNvSpPr/>
          <p:nvPr/>
        </p:nvSpPr>
        <p:spPr>
          <a:xfrm>
            <a:off x="4553712" y="2093976"/>
            <a:ext cx="384048" cy="384048"/>
          </a:xfrm>
          <a:prstGeom prst="ellipse">
            <a:avLst/>
          </a:prstGeom>
          <a:solidFill>
            <a:srgbClr val="20A098"/>
          </a:solidFill>
          <a:ln/>
        </p:spPr>
      </p:sp>
      <p:sp>
        <p:nvSpPr>
          <p:cNvPr id="12" name="Text 10"/>
          <p:cNvSpPr txBox="1"/>
          <p:nvPr/>
        </p:nvSpPr>
        <p:spPr>
          <a:xfrm>
            <a:off x="4553712"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3" name="Text 11"/>
          <p:cNvSpPr txBox="1"/>
          <p:nvPr/>
        </p:nvSpPr>
        <p:spPr>
          <a:xfrm>
            <a:off x="5047488"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PRO has no digital desk</a:t>
            </a:r>
            <a:endParaRPr lang="en-US" sz="1300" dirty="0"/>
          </a:p>
        </p:txBody>
      </p:sp>
      <p:sp>
        <p:nvSpPr>
          <p:cNvPr id="14" name="Text 12"/>
          <p:cNvSpPr txBox="1"/>
          <p:nvPr/>
        </p:nvSpPr>
        <p:spPr>
          <a:xfrm>
            <a:off x="4553712"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Government relations officers run everything from WhatsApp, email and memory. No queue, no due date, no proof of who was asked what.</a:t>
            </a:r>
            <a:endParaRPr lang="en-US" sz="1050" dirty="0"/>
          </a:p>
        </p:txBody>
      </p:sp>
      <p:sp>
        <p:nvSpPr>
          <p:cNvPr id="15" name="Shape 13"/>
          <p:cNvSpPr/>
          <p:nvPr/>
        </p:nvSpPr>
        <p:spPr>
          <a:xfrm>
            <a:off x="8119872" y="1874520"/>
            <a:ext cx="3502152" cy="1755648"/>
          </a:xfrm>
          <a:prstGeom prst="roundRect">
            <a:avLst>
              <a:gd name="adj" fmla="val 4167"/>
            </a:avLst>
          </a:prstGeom>
          <a:solidFill>
            <a:srgbClr val="F4F6F7"/>
          </a:solidFill>
          <a:ln w="9525">
            <a:solidFill>
              <a:srgbClr val="E3E7EA"/>
            </a:solidFill>
            <a:prstDash val="solid"/>
          </a:ln>
        </p:spPr>
      </p:sp>
      <p:sp>
        <p:nvSpPr>
          <p:cNvPr id="16" name="Shape 14"/>
          <p:cNvSpPr/>
          <p:nvPr/>
        </p:nvSpPr>
        <p:spPr>
          <a:xfrm>
            <a:off x="8339328" y="2093976"/>
            <a:ext cx="384048" cy="384048"/>
          </a:xfrm>
          <a:prstGeom prst="ellipse">
            <a:avLst/>
          </a:prstGeom>
          <a:solidFill>
            <a:srgbClr val="20A098"/>
          </a:solidFill>
          <a:ln/>
        </p:spPr>
      </p:sp>
      <p:sp>
        <p:nvSpPr>
          <p:cNvPr id="17" name="Text 15"/>
          <p:cNvSpPr txBox="1"/>
          <p:nvPr/>
        </p:nvSpPr>
        <p:spPr>
          <a:xfrm>
            <a:off x="8339328"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8" name="Text 16"/>
          <p:cNvSpPr txBox="1"/>
          <p:nvPr/>
        </p:nvSpPr>
        <p:spPr>
          <a:xfrm>
            <a:off x="8833104"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money is untraceable</a:t>
            </a:r>
            <a:endParaRPr lang="en-US" sz="1300" dirty="0"/>
          </a:p>
        </p:txBody>
      </p:sp>
      <p:sp>
        <p:nvSpPr>
          <p:cNvPr id="19" name="Text 17"/>
          <p:cNvSpPr txBox="1"/>
          <p:nvPr/>
        </p:nvSpPr>
        <p:spPr>
          <a:xfrm>
            <a:off x="8339328"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Typing fees, medicals, insurance and ID charges paid on cards and petty cash. Receipts arrive late, or never. Duplicates surface at audit.</a:t>
            </a:r>
            <a:endParaRPr lang="en-US" sz="1050" dirty="0"/>
          </a:p>
        </p:txBody>
      </p:sp>
      <p:sp>
        <p:nvSpPr>
          <p:cNvPr id="20" name="Shape 18"/>
          <p:cNvSpPr/>
          <p:nvPr/>
        </p:nvSpPr>
        <p:spPr>
          <a:xfrm>
            <a:off x="548640" y="3886200"/>
            <a:ext cx="3502152" cy="1755648"/>
          </a:xfrm>
          <a:prstGeom prst="roundRect">
            <a:avLst>
              <a:gd name="adj" fmla="val 4167"/>
            </a:avLst>
          </a:prstGeom>
          <a:solidFill>
            <a:srgbClr val="F4F6F7"/>
          </a:solidFill>
          <a:ln w="9525">
            <a:solidFill>
              <a:srgbClr val="E3E7EA"/>
            </a:solidFill>
            <a:prstDash val="solid"/>
          </a:ln>
        </p:spPr>
      </p:sp>
      <p:sp>
        <p:nvSpPr>
          <p:cNvPr id="21" name="Shape 19"/>
          <p:cNvSpPr/>
          <p:nvPr/>
        </p:nvSpPr>
        <p:spPr>
          <a:xfrm>
            <a:off x="768096" y="4105656"/>
            <a:ext cx="384048" cy="384048"/>
          </a:xfrm>
          <a:prstGeom prst="ellipse">
            <a:avLst/>
          </a:prstGeom>
          <a:solidFill>
            <a:srgbClr val="20A098"/>
          </a:solidFill>
          <a:ln/>
        </p:spPr>
      </p:sp>
      <p:sp>
        <p:nvSpPr>
          <p:cNvPr id="22" name="Text 20"/>
          <p:cNvSpPr txBox="1"/>
          <p:nvPr/>
        </p:nvSpPr>
        <p:spPr>
          <a:xfrm>
            <a:off x="768096"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23" name="Text 21"/>
          <p:cNvSpPr txBox="1"/>
          <p:nvPr/>
        </p:nvSpPr>
        <p:spPr>
          <a:xfrm>
            <a:off x="1261872"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Recruitment and PRO are unsynced</a:t>
            </a:r>
            <a:endParaRPr lang="en-US" sz="1300" dirty="0"/>
          </a:p>
        </p:txBody>
      </p:sp>
      <p:sp>
        <p:nvSpPr>
          <p:cNvPr id="24" name="Text 22"/>
          <p:cNvSpPr txBox="1"/>
          <p:nvPr/>
        </p:nvSpPr>
        <p:spPr>
          <a:xfrm>
            <a:off x="768096"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Onboarding promises a joining date. The PRO has not been told the file exists. The candidate waits abroad for a permit nobody started.</a:t>
            </a:r>
            <a:endParaRPr lang="en-US" sz="1050" dirty="0"/>
          </a:p>
        </p:txBody>
      </p:sp>
      <p:sp>
        <p:nvSpPr>
          <p:cNvPr id="25" name="Shape 23"/>
          <p:cNvSpPr/>
          <p:nvPr/>
        </p:nvSpPr>
        <p:spPr>
          <a:xfrm>
            <a:off x="4334256" y="3886200"/>
            <a:ext cx="3502152" cy="1755648"/>
          </a:xfrm>
          <a:prstGeom prst="roundRect">
            <a:avLst>
              <a:gd name="adj" fmla="val 4167"/>
            </a:avLst>
          </a:prstGeom>
          <a:solidFill>
            <a:srgbClr val="F4F6F7"/>
          </a:solidFill>
          <a:ln w="9525">
            <a:solidFill>
              <a:srgbClr val="E3E7EA"/>
            </a:solidFill>
            <a:prstDash val="solid"/>
          </a:ln>
        </p:spPr>
      </p:sp>
      <p:sp>
        <p:nvSpPr>
          <p:cNvPr id="26" name="Shape 24"/>
          <p:cNvSpPr/>
          <p:nvPr/>
        </p:nvSpPr>
        <p:spPr>
          <a:xfrm>
            <a:off x="4553712" y="4105656"/>
            <a:ext cx="384048" cy="384048"/>
          </a:xfrm>
          <a:prstGeom prst="ellipse">
            <a:avLst/>
          </a:prstGeom>
          <a:solidFill>
            <a:srgbClr val="20A098"/>
          </a:solidFill>
          <a:ln/>
        </p:spPr>
      </p:sp>
      <p:sp>
        <p:nvSpPr>
          <p:cNvPr id="27" name="Text 25"/>
          <p:cNvSpPr txBox="1"/>
          <p:nvPr/>
        </p:nvSpPr>
        <p:spPr>
          <a:xfrm>
            <a:off x="4553712"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05</a:t>
            </a:r>
            <a:endParaRPr lang="en-US" sz="1200" dirty="0"/>
          </a:p>
        </p:txBody>
      </p:sp>
      <p:sp>
        <p:nvSpPr>
          <p:cNvPr id="28" name="Text 26"/>
          <p:cNvSpPr txBox="1"/>
          <p:nvPr/>
        </p:nvSpPr>
        <p:spPr>
          <a:xfrm>
            <a:off x="5047488"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Compliance is a memory test</a:t>
            </a:r>
            <a:endParaRPr lang="en-US" sz="1300" dirty="0"/>
          </a:p>
        </p:txBody>
      </p:sp>
      <p:sp>
        <p:nvSpPr>
          <p:cNvPr id="29" name="Text 27"/>
          <p:cNvSpPr txBox="1"/>
          <p:nvPr/>
        </p:nvSpPr>
        <p:spPr>
          <a:xfrm>
            <a:off x="4553712"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Quota, skill classification, profession matching, work-location alignment — rules a human must recall correctly, every time, under pressure.</a:t>
            </a:r>
            <a:endParaRPr lang="en-US" sz="1050" dirty="0"/>
          </a:p>
        </p:txBody>
      </p:sp>
      <p:sp>
        <p:nvSpPr>
          <p:cNvPr id="30" name="Shape 28"/>
          <p:cNvSpPr/>
          <p:nvPr/>
        </p:nvSpPr>
        <p:spPr>
          <a:xfrm>
            <a:off x="8119872" y="3886200"/>
            <a:ext cx="3502152" cy="1755648"/>
          </a:xfrm>
          <a:prstGeom prst="roundRect">
            <a:avLst>
              <a:gd name="adj" fmla="val 4167"/>
            </a:avLst>
          </a:prstGeom>
          <a:solidFill>
            <a:srgbClr val="F4F6F7"/>
          </a:solidFill>
          <a:ln w="9525">
            <a:solidFill>
              <a:srgbClr val="E3E7EA"/>
            </a:solidFill>
            <a:prstDash val="solid"/>
          </a:ln>
        </p:spPr>
      </p:sp>
      <p:sp>
        <p:nvSpPr>
          <p:cNvPr id="31" name="Shape 29"/>
          <p:cNvSpPr/>
          <p:nvPr/>
        </p:nvSpPr>
        <p:spPr>
          <a:xfrm>
            <a:off x="8339328" y="4105656"/>
            <a:ext cx="384048" cy="384048"/>
          </a:xfrm>
          <a:prstGeom prst="ellipse">
            <a:avLst/>
          </a:prstGeom>
          <a:solidFill>
            <a:srgbClr val="20A098"/>
          </a:solidFill>
          <a:ln/>
        </p:spPr>
      </p:sp>
      <p:sp>
        <p:nvSpPr>
          <p:cNvPr id="32" name="Text 30"/>
          <p:cNvSpPr txBox="1"/>
          <p:nvPr/>
        </p:nvSpPr>
        <p:spPr>
          <a:xfrm>
            <a:off x="8339328"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06</a:t>
            </a:r>
            <a:endParaRPr lang="en-US" sz="1200" dirty="0"/>
          </a:p>
        </p:txBody>
      </p:sp>
      <p:sp>
        <p:nvSpPr>
          <p:cNvPr id="33" name="Text 31"/>
          <p:cNvSpPr txBox="1"/>
          <p:nvPr/>
        </p:nvSpPr>
        <p:spPr>
          <a:xfrm>
            <a:off x="8833104"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Nobody can answer "where is it?"</a:t>
            </a:r>
            <a:endParaRPr lang="en-US" sz="1300" dirty="0"/>
          </a:p>
        </p:txBody>
      </p:sp>
      <p:sp>
        <p:nvSpPr>
          <p:cNvPr id="34" name="Text 32"/>
          <p:cNvSpPr txBox="1"/>
          <p:nvPr/>
        </p:nvSpPr>
        <p:spPr>
          <a:xfrm>
            <a:off x="8339328"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One employee query takes three calls and a day. Multiply that across thousands of permits and several operating countries.</a:t>
            </a:r>
            <a:endParaRPr lang="en-US" sz="1050" dirty="0"/>
          </a:p>
        </p:txBody>
      </p:sp>
      <p:sp>
        <p:nvSpPr>
          <p:cNvPr id="35" name="Shape 33"/>
          <p:cNvSpPr/>
          <p:nvPr/>
        </p:nvSpPr>
        <p:spPr>
          <a:xfrm>
            <a:off x="548640" y="5815584"/>
            <a:ext cx="10424160" cy="475488"/>
          </a:xfrm>
          <a:prstGeom prst="roundRect">
            <a:avLst>
              <a:gd name="adj" fmla="val 17308"/>
            </a:avLst>
          </a:prstGeom>
          <a:solidFill>
            <a:srgbClr val="E4F5F3"/>
          </a:solidFill>
          <a:ln w="9525">
            <a:solidFill>
              <a:srgbClr val="20A098"/>
            </a:solidFill>
            <a:prstDash val="solid"/>
          </a:ln>
        </p:spPr>
      </p:sp>
      <p:sp>
        <p:nvSpPr>
          <p:cNvPr id="36" name="Text 34"/>
          <p:cNvSpPr txBox="1"/>
          <p:nvPr/>
        </p:nvSpPr>
        <p:spPr>
          <a:xfrm>
            <a:off x="777240" y="5815584"/>
            <a:ext cx="9966960" cy="475488"/>
          </a:xfrm>
          <a:prstGeom prst="rect">
            <a:avLst/>
          </a:prstGeom>
          <a:noFill/>
          <a:ln/>
        </p:spPr>
        <p:txBody>
          <a:bodyPr wrap="square" lIns="0" tIns="0" rIns="0" bIns="0" rtlCol="0" anchor="ctr"/>
          <a:lstStyle/>
          <a:p>
            <a:pPr indent="0" marL="0">
              <a:buNone/>
            </a:pPr>
            <a:r>
              <a:rPr lang="en-US" sz="1150" b="1" dirty="0">
                <a:solidFill>
                  <a:srgbClr val="12756F"/>
                </a:solidFill>
                <a:latin typeface="Calibri" pitchFamily="34" charset="0"/>
                <a:ea typeface="Calibri" pitchFamily="34" charset="-122"/>
                <a:cs typeface="Calibri" pitchFamily="34" charset="-120"/>
              </a:rPr>
              <a:t>The cost of getting this wrong:  </a:t>
            </a:r>
            <a:pPr indent="0" marL="0">
              <a:buNone/>
            </a:pPr>
            <a:r>
              <a:rPr lang="en-US" sz="1150" dirty="0">
                <a:solidFill>
                  <a:srgbClr val="0C1E33"/>
                </a:solidFill>
                <a:latin typeface="Calibri" pitchFamily="34" charset="0"/>
                <a:ea typeface="Calibri" pitchFamily="34" charset="-122"/>
                <a:cs typeface="Calibri" pitchFamily="34" charset="-120"/>
              </a:rPr>
              <a:t>overstay and labour fines, blocked quotas, employees who cannot legally be rostered, and a compliance position no one can evidence to a regulator or an auditor.</a:t>
            </a:r>
            <a:endParaRPr lang="en-US" sz="1150" dirty="0"/>
          </a:p>
        </p:txBody>
      </p:sp>
      <p:sp>
        <p:nvSpPr>
          <p:cNvPr id="37" name="Text 3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38" name="Text 3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SOLUTION</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A tracked runway for every permit.</a:t>
            </a:r>
            <a:endParaRPr lang="en-US" sz="3000" dirty="0"/>
          </a:p>
        </p:txBody>
      </p:sp>
      <p:sp>
        <p:nvSpPr>
          <p:cNvPr id="4" name="Text 2"/>
          <p:cNvSpPr txBox="1"/>
          <p:nvPr/>
        </p:nvSpPr>
        <p:spPr>
          <a:xfrm>
            <a:off x="548640" y="1243584"/>
            <a:ext cx="10424160" cy="292608"/>
          </a:xfrm>
          <a:prstGeom prst="rect">
            <a:avLst/>
          </a:prstGeom>
          <a:noFill/>
          <a:ln/>
        </p:spPr>
        <p:txBody>
          <a:bodyPr wrap="square" lIns="0" tIns="0" rIns="0" bIns="0" rtlCol="0" anchor="ctr"/>
          <a:lstStyle/>
          <a:p>
            <a:pPr indent="0" marL="0">
              <a:buNone/>
            </a:pPr>
            <a:r>
              <a:rPr lang="en-US" sz="1350" dirty="0">
                <a:solidFill>
                  <a:srgbClr val="5A6C82"/>
                </a:solidFill>
                <a:latin typeface="Calibri" pitchFamily="34" charset="0"/>
                <a:ea typeface="Calibri" pitchFamily="34" charset="-122"/>
                <a:cs typeface="Calibri" pitchFamily="34" charset="-120"/>
              </a:rPr>
              <a:t>Three governed lifecycles, twenty-two milestones, one task inbox — running in production today.</a:t>
            </a:r>
            <a:endParaRPr lang="en-US" sz="1350" dirty="0"/>
          </a:p>
        </p:txBody>
      </p:sp>
      <p:sp>
        <p:nvSpPr>
          <p:cNvPr id="5" name="Shape 3"/>
          <p:cNvSpPr/>
          <p:nvPr/>
        </p:nvSpPr>
        <p:spPr>
          <a:xfrm>
            <a:off x="548640" y="1783080"/>
            <a:ext cx="5029200" cy="1060704"/>
          </a:xfrm>
          <a:prstGeom prst="roundRect">
            <a:avLst>
              <a:gd name="adj" fmla="val 6897"/>
            </a:avLst>
          </a:prstGeom>
          <a:solidFill>
            <a:srgbClr val="F4F6F7"/>
          </a:solidFill>
          <a:ln w="9525">
            <a:solidFill>
              <a:srgbClr val="E3E7EA"/>
            </a:solidFill>
            <a:prstDash val="solid"/>
          </a:ln>
        </p:spPr>
      </p:sp>
      <p:sp>
        <p:nvSpPr>
          <p:cNvPr id="6" name="Shape 4"/>
          <p:cNvSpPr/>
          <p:nvPr/>
        </p:nvSpPr>
        <p:spPr>
          <a:xfrm>
            <a:off x="548640" y="1783080"/>
            <a:ext cx="68580" cy="1060704"/>
          </a:xfrm>
          <a:prstGeom prst="roundRect">
            <a:avLst>
              <a:gd name="adj" fmla="val 40000"/>
            </a:avLst>
          </a:prstGeom>
          <a:solidFill>
            <a:srgbClr val="20A098"/>
          </a:solidFill>
          <a:ln/>
        </p:spPr>
      </p:sp>
      <p:sp>
        <p:nvSpPr>
          <p:cNvPr id="7" name="Text 5"/>
          <p:cNvSpPr txBox="1"/>
          <p:nvPr/>
        </p:nvSpPr>
        <p:spPr>
          <a:xfrm>
            <a:off x="841248" y="1901952"/>
            <a:ext cx="3017520" cy="274320"/>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New Work Permit</a:t>
            </a:r>
            <a:endParaRPr lang="en-US" sz="1500" dirty="0"/>
          </a:p>
        </p:txBody>
      </p:sp>
      <p:sp>
        <p:nvSpPr>
          <p:cNvPr id="8" name="Text 6"/>
          <p:cNvSpPr txBox="1"/>
          <p:nvPr/>
        </p:nvSpPr>
        <p:spPr>
          <a:xfrm>
            <a:off x="3886200" y="1929384"/>
            <a:ext cx="1572768" cy="237744"/>
          </a:xfrm>
          <a:prstGeom prst="rect">
            <a:avLst/>
          </a:prstGeom>
          <a:noFill/>
          <a:ln/>
        </p:spPr>
        <p:txBody>
          <a:bodyPr wrap="square" lIns="0" tIns="0" rIns="0" bIns="0" rtlCol="0" anchor="ctr"/>
          <a:lstStyle/>
          <a:p>
            <a:pPr algn="r" indent="0" marL="0">
              <a:buNone/>
            </a:pPr>
            <a:r>
              <a:rPr lang="en-US" sz="1050" b="1" dirty="0">
                <a:solidFill>
                  <a:srgbClr val="20A098"/>
                </a:solidFill>
                <a:latin typeface="Calibri" pitchFamily="34" charset="0"/>
                <a:ea typeface="Calibri" pitchFamily="34" charset="-122"/>
                <a:cs typeface="Calibri" pitchFamily="34" charset="-120"/>
              </a:rPr>
              <a:t>11 milestones</a:t>
            </a:r>
            <a:endParaRPr lang="en-US" sz="1050" dirty="0"/>
          </a:p>
        </p:txBody>
      </p:sp>
      <p:sp>
        <p:nvSpPr>
          <p:cNvPr id="9" name="Text 7"/>
          <p:cNvSpPr txBox="1"/>
          <p:nvPr/>
        </p:nvSpPr>
        <p:spPr>
          <a:xfrm>
            <a:off x="841248" y="2194560"/>
            <a:ext cx="4572000" cy="566928"/>
          </a:xfrm>
          <a:prstGeom prst="rect">
            <a:avLst/>
          </a:prstGeom>
          <a:noFill/>
          <a:ln/>
        </p:spPr>
        <p:txBody>
          <a:bodyPr wrap="square" lIns="0" tIns="0" rIns="0" bIns="0" rtlCol="0" anchor="ctr"/>
          <a:lstStyle/>
          <a:p>
            <a:pPr indent="0" marL="0">
              <a:lnSpc>
                <a:spcPts val="1550"/>
              </a:lnSpc>
              <a:buNone/>
            </a:pPr>
            <a:r>
              <a:rPr lang="en-US" sz="1100" dirty="0">
                <a:solidFill>
                  <a:srgbClr val="5A6C82"/>
                </a:solidFill>
                <a:latin typeface="Calibri" pitchFamily="34" charset="0"/>
                <a:ea typeface="Calibri" pitchFamily="34" charset="-122"/>
                <a:cs typeface="Calibri" pitchFamily="34" charset="-120"/>
              </a:rPr>
              <a:t>Candidate to legally employed — offer, labour card, entry permit or status change, medical, Emirates ID.</a:t>
            </a:r>
            <a:endParaRPr lang="en-US" sz="1100" dirty="0"/>
          </a:p>
        </p:txBody>
      </p:sp>
      <p:sp>
        <p:nvSpPr>
          <p:cNvPr id="10" name="Shape 8"/>
          <p:cNvSpPr/>
          <p:nvPr/>
        </p:nvSpPr>
        <p:spPr>
          <a:xfrm>
            <a:off x="548640" y="2971800"/>
            <a:ext cx="5029200" cy="1060704"/>
          </a:xfrm>
          <a:prstGeom prst="roundRect">
            <a:avLst>
              <a:gd name="adj" fmla="val 6897"/>
            </a:avLst>
          </a:prstGeom>
          <a:solidFill>
            <a:srgbClr val="F4F6F7"/>
          </a:solidFill>
          <a:ln w="9525">
            <a:solidFill>
              <a:srgbClr val="E3E7EA"/>
            </a:solidFill>
            <a:prstDash val="solid"/>
          </a:ln>
        </p:spPr>
      </p:sp>
      <p:sp>
        <p:nvSpPr>
          <p:cNvPr id="11" name="Shape 9"/>
          <p:cNvSpPr/>
          <p:nvPr/>
        </p:nvSpPr>
        <p:spPr>
          <a:xfrm>
            <a:off x="548640" y="2971800"/>
            <a:ext cx="68580" cy="1060704"/>
          </a:xfrm>
          <a:prstGeom prst="roundRect">
            <a:avLst>
              <a:gd name="adj" fmla="val 40000"/>
            </a:avLst>
          </a:prstGeom>
          <a:solidFill>
            <a:srgbClr val="12756F"/>
          </a:solidFill>
          <a:ln/>
        </p:spPr>
      </p:sp>
      <p:sp>
        <p:nvSpPr>
          <p:cNvPr id="12" name="Text 10"/>
          <p:cNvSpPr txBox="1"/>
          <p:nvPr/>
        </p:nvSpPr>
        <p:spPr>
          <a:xfrm>
            <a:off x="841248" y="3090672"/>
            <a:ext cx="3017520" cy="274320"/>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Renew Work Permit</a:t>
            </a:r>
            <a:endParaRPr lang="en-US" sz="1500" dirty="0"/>
          </a:p>
        </p:txBody>
      </p:sp>
      <p:sp>
        <p:nvSpPr>
          <p:cNvPr id="13" name="Text 11"/>
          <p:cNvSpPr txBox="1"/>
          <p:nvPr/>
        </p:nvSpPr>
        <p:spPr>
          <a:xfrm>
            <a:off x="3886200" y="3118104"/>
            <a:ext cx="1572768" cy="237744"/>
          </a:xfrm>
          <a:prstGeom prst="rect">
            <a:avLst/>
          </a:prstGeom>
          <a:noFill/>
          <a:ln/>
        </p:spPr>
        <p:txBody>
          <a:bodyPr wrap="square" lIns="0" tIns="0" rIns="0" bIns="0" rtlCol="0" anchor="ctr"/>
          <a:lstStyle/>
          <a:p>
            <a:pPr algn="r" indent="0" marL="0">
              <a:buNone/>
            </a:pPr>
            <a:r>
              <a:rPr lang="en-US" sz="1050" b="1" dirty="0">
                <a:solidFill>
                  <a:srgbClr val="12756F"/>
                </a:solidFill>
                <a:latin typeface="Calibri" pitchFamily="34" charset="0"/>
                <a:ea typeface="Calibri" pitchFamily="34" charset="-122"/>
                <a:cs typeface="Calibri" pitchFamily="34" charset="-120"/>
              </a:rPr>
              <a:t>7 milestones</a:t>
            </a:r>
            <a:endParaRPr lang="en-US" sz="1050" dirty="0"/>
          </a:p>
        </p:txBody>
      </p:sp>
      <p:sp>
        <p:nvSpPr>
          <p:cNvPr id="14" name="Text 12"/>
          <p:cNvSpPr txBox="1"/>
          <p:nvPr/>
        </p:nvSpPr>
        <p:spPr>
          <a:xfrm>
            <a:off x="841248" y="3383280"/>
            <a:ext cx="4572000" cy="566928"/>
          </a:xfrm>
          <a:prstGeom prst="rect">
            <a:avLst/>
          </a:prstGeom>
          <a:noFill/>
          <a:ln/>
        </p:spPr>
        <p:txBody>
          <a:bodyPr wrap="square" lIns="0" tIns="0" rIns="0" bIns="0" rtlCol="0" anchor="ctr"/>
          <a:lstStyle/>
          <a:p>
            <a:pPr indent="0" marL="0">
              <a:lnSpc>
                <a:spcPts val="1550"/>
              </a:lnSpc>
              <a:buNone/>
            </a:pPr>
            <a:r>
              <a:rPr lang="en-US" sz="1100" dirty="0">
                <a:solidFill>
                  <a:srgbClr val="5A6C82"/>
                </a:solidFill>
                <a:latin typeface="Calibri" pitchFamily="34" charset="0"/>
                <a:ea typeface="Calibri" pitchFamily="34" charset="-122"/>
                <a:cs typeface="Calibri" pitchFamily="34" charset="-120"/>
              </a:rPr>
              <a:t>Driven by expiry alerts six weeks ahead — medical, contract, stamping, ID renewal and collection.</a:t>
            </a:r>
            <a:endParaRPr lang="en-US" sz="1100" dirty="0"/>
          </a:p>
        </p:txBody>
      </p:sp>
      <p:sp>
        <p:nvSpPr>
          <p:cNvPr id="15" name="Shape 13"/>
          <p:cNvSpPr/>
          <p:nvPr/>
        </p:nvSpPr>
        <p:spPr>
          <a:xfrm>
            <a:off x="548640" y="4160520"/>
            <a:ext cx="5029200" cy="1060704"/>
          </a:xfrm>
          <a:prstGeom prst="roundRect">
            <a:avLst>
              <a:gd name="adj" fmla="val 6897"/>
            </a:avLst>
          </a:prstGeom>
          <a:solidFill>
            <a:srgbClr val="F4F6F7"/>
          </a:solidFill>
          <a:ln w="9525">
            <a:solidFill>
              <a:srgbClr val="E3E7EA"/>
            </a:solidFill>
            <a:prstDash val="solid"/>
          </a:ln>
        </p:spPr>
      </p:sp>
      <p:sp>
        <p:nvSpPr>
          <p:cNvPr id="16" name="Shape 14"/>
          <p:cNvSpPr/>
          <p:nvPr/>
        </p:nvSpPr>
        <p:spPr>
          <a:xfrm>
            <a:off x="548640" y="4160520"/>
            <a:ext cx="68580" cy="1060704"/>
          </a:xfrm>
          <a:prstGeom prst="roundRect">
            <a:avLst>
              <a:gd name="adj" fmla="val 40000"/>
            </a:avLst>
          </a:prstGeom>
          <a:solidFill>
            <a:srgbClr val="16304C"/>
          </a:solidFill>
          <a:ln/>
        </p:spPr>
      </p:sp>
      <p:sp>
        <p:nvSpPr>
          <p:cNvPr id="17" name="Text 15"/>
          <p:cNvSpPr txBox="1"/>
          <p:nvPr/>
        </p:nvSpPr>
        <p:spPr>
          <a:xfrm>
            <a:off x="841248" y="4279392"/>
            <a:ext cx="3017520" cy="274320"/>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Cancel Work Permit</a:t>
            </a:r>
            <a:endParaRPr lang="en-US" sz="1500" dirty="0"/>
          </a:p>
        </p:txBody>
      </p:sp>
      <p:sp>
        <p:nvSpPr>
          <p:cNvPr id="18" name="Text 16"/>
          <p:cNvSpPr txBox="1"/>
          <p:nvPr/>
        </p:nvSpPr>
        <p:spPr>
          <a:xfrm>
            <a:off x="3886200" y="4306824"/>
            <a:ext cx="1572768" cy="237744"/>
          </a:xfrm>
          <a:prstGeom prst="rect">
            <a:avLst/>
          </a:prstGeom>
          <a:noFill/>
          <a:ln/>
        </p:spPr>
        <p:txBody>
          <a:bodyPr wrap="square" lIns="0" tIns="0" rIns="0" bIns="0" rtlCol="0" anchor="ctr"/>
          <a:lstStyle/>
          <a:p>
            <a:pPr algn="r" indent="0" marL="0">
              <a:buNone/>
            </a:pPr>
            <a:r>
              <a:rPr lang="en-US" sz="1050" b="1" dirty="0">
                <a:solidFill>
                  <a:srgbClr val="16304C"/>
                </a:solidFill>
                <a:latin typeface="Calibri" pitchFamily="34" charset="0"/>
                <a:ea typeface="Calibri" pitchFamily="34" charset="-122"/>
                <a:cs typeface="Calibri" pitchFamily="34" charset="-120"/>
              </a:rPr>
              <a:t>4 milestones</a:t>
            </a:r>
            <a:endParaRPr lang="en-US" sz="1050" dirty="0"/>
          </a:p>
        </p:txBody>
      </p:sp>
      <p:sp>
        <p:nvSpPr>
          <p:cNvPr id="19" name="Text 17"/>
          <p:cNvSpPr txBox="1"/>
          <p:nvPr/>
        </p:nvSpPr>
        <p:spPr>
          <a:xfrm>
            <a:off x="841248" y="4572000"/>
            <a:ext cx="4572000" cy="566928"/>
          </a:xfrm>
          <a:prstGeom prst="rect">
            <a:avLst/>
          </a:prstGeom>
          <a:noFill/>
          <a:ln/>
        </p:spPr>
        <p:txBody>
          <a:bodyPr wrap="square" lIns="0" tIns="0" rIns="0" bIns="0" rtlCol="0" anchor="ctr"/>
          <a:lstStyle/>
          <a:p>
            <a:pPr indent="0" marL="0">
              <a:lnSpc>
                <a:spcPts val="1550"/>
              </a:lnSpc>
              <a:buNone/>
            </a:pPr>
            <a:r>
              <a:rPr lang="en-US" sz="1100" dirty="0">
                <a:solidFill>
                  <a:srgbClr val="5A6C82"/>
                </a:solidFill>
                <a:latin typeface="Calibri" pitchFamily="34" charset="0"/>
                <a:ea typeface="Calibri" pitchFamily="34" charset="-122"/>
                <a:cs typeface="Calibri" pitchFamily="34" charset="-120"/>
              </a:rPr>
              <a:t>Gated behind end-of-service settlement — cancellation forms, ministry submission, residence cancellation.</a:t>
            </a:r>
            <a:endParaRPr lang="en-US" sz="1100" dirty="0"/>
          </a:p>
        </p:txBody>
      </p:sp>
      <p:pic>
        <p:nvPicPr>
          <p:cNvPr id="20" name="Image 0" descr="./img/home.jpg">    </p:cNvPr>
          <p:cNvPicPr>
            <a:picLocks noChangeAspect="1"/>
          </p:cNvPicPr>
          <p:nvPr/>
        </p:nvPicPr>
        <p:blipFill>
          <a:blip r:embed="rId1"/>
          <a:stretch>
            <a:fillRect/>
          </a:stretch>
        </p:blipFill>
        <p:spPr>
          <a:xfrm>
            <a:off x="5870448" y="1783080"/>
            <a:ext cx="5742432" cy="914400"/>
          </a:xfrm>
          <a:prstGeom prst="rect">
            <a:avLst/>
          </a:prstGeom>
          <a:effectLst>
            <a:outerShdw sx="100000" sy="100000" kx="0" ky="0" algn="bl" rotWithShape="0" blurRad="177800" dist="38100" dir="5400000">
              <a:srgbClr val="000000">
                <a:alpha val="20000"/>
              </a:srgbClr>
            </a:outerShdw>
          </a:effectLst>
        </p:spPr>
      </p:pic>
      <p:sp>
        <p:nvSpPr>
          <p:cNvPr id="21" name="Text 18"/>
          <p:cNvSpPr txBox="1"/>
          <p:nvPr/>
        </p:nvSpPr>
        <p:spPr>
          <a:xfrm>
            <a:off x="5870448" y="4526280"/>
            <a:ext cx="5742432" cy="457200"/>
          </a:xfrm>
          <a:prstGeom prst="rect">
            <a:avLst/>
          </a:prstGeom>
          <a:noFill/>
          <a:ln/>
        </p:spPr>
        <p:txBody>
          <a:bodyPr wrap="square" lIns="0" tIns="0" rIns="0" bIns="0" rtlCol="0" anchor="ctr"/>
          <a:lstStyle/>
          <a:p>
            <a:pPr indent="0" marL="0">
              <a:lnSpc>
                <a:spcPts val="1400"/>
              </a:lnSpc>
              <a:buNone/>
            </a:pPr>
            <a:r>
              <a:rPr lang="en-US" sz="1000" i="1" dirty="0">
                <a:solidFill>
                  <a:srgbClr val="5A6C82"/>
                </a:solidFill>
                <a:latin typeface="Calibri" pitchFamily="34" charset="0"/>
                <a:ea typeface="Calibri" pitchFamily="34" charset="-122"/>
                <a:cs typeface="Calibri" pitchFamily="34" charset="-120"/>
              </a:rPr>
              <a:t>The home dashboard — running, completed and cancelled counts across all three lifecycles, over a live queue of initiated cases with priority, status and assigned agent.</a:t>
            </a:r>
            <a:endParaRPr lang="en-US" sz="1000" dirty="0"/>
          </a:p>
        </p:txBody>
      </p:sp>
      <p:sp>
        <p:nvSpPr>
          <p:cNvPr id="22" name="Shape 19"/>
          <p:cNvSpPr/>
          <p:nvPr/>
        </p:nvSpPr>
        <p:spPr>
          <a:xfrm>
            <a:off x="548640" y="5468112"/>
            <a:ext cx="2103120" cy="841248"/>
          </a:xfrm>
          <a:prstGeom prst="roundRect">
            <a:avLst>
              <a:gd name="adj" fmla="val 8696"/>
            </a:avLst>
          </a:prstGeom>
          <a:solidFill>
            <a:srgbClr val="FFFFFF"/>
          </a:solidFill>
          <a:ln w="9525">
            <a:solidFill>
              <a:srgbClr val="E3E7EA"/>
            </a:solidFill>
            <a:prstDash val="solid"/>
          </a:ln>
        </p:spPr>
      </p:sp>
      <p:sp>
        <p:nvSpPr>
          <p:cNvPr id="23" name="Text 20"/>
          <p:cNvSpPr txBox="1"/>
          <p:nvPr/>
        </p:nvSpPr>
        <p:spPr>
          <a:xfrm>
            <a:off x="713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WORKFLOW</a:t>
            </a:r>
            <a:endParaRPr lang="en-US" sz="950" dirty="0"/>
          </a:p>
        </p:txBody>
      </p:sp>
      <p:sp>
        <p:nvSpPr>
          <p:cNvPr id="24" name="Text 21"/>
          <p:cNvSpPr txBox="1"/>
          <p:nvPr/>
        </p:nvSpPr>
        <p:spPr>
          <a:xfrm>
            <a:off x="713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Configurable milestones per country and permit type</a:t>
            </a:r>
            <a:endParaRPr lang="en-US" sz="950" dirty="0"/>
          </a:p>
        </p:txBody>
      </p:sp>
      <p:sp>
        <p:nvSpPr>
          <p:cNvPr id="25" name="Shape 22"/>
          <p:cNvSpPr/>
          <p:nvPr/>
        </p:nvSpPr>
        <p:spPr>
          <a:xfrm>
            <a:off x="2834640" y="5468112"/>
            <a:ext cx="2103120" cy="841248"/>
          </a:xfrm>
          <a:prstGeom prst="roundRect">
            <a:avLst>
              <a:gd name="adj" fmla="val 8696"/>
            </a:avLst>
          </a:prstGeom>
          <a:solidFill>
            <a:srgbClr val="FFFFFF"/>
          </a:solidFill>
          <a:ln w="9525">
            <a:solidFill>
              <a:srgbClr val="E3E7EA"/>
            </a:solidFill>
            <a:prstDash val="solid"/>
          </a:ln>
        </p:spPr>
      </p:sp>
      <p:sp>
        <p:nvSpPr>
          <p:cNvPr id="26" name="Text 23"/>
          <p:cNvSpPr txBox="1"/>
          <p:nvPr/>
        </p:nvSpPr>
        <p:spPr>
          <a:xfrm>
            <a:off x="2999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TASKS</a:t>
            </a:r>
            <a:endParaRPr lang="en-US" sz="950" dirty="0"/>
          </a:p>
        </p:txBody>
      </p:sp>
      <p:sp>
        <p:nvSpPr>
          <p:cNvPr id="27" name="Text 24"/>
          <p:cNvSpPr txBox="1"/>
          <p:nvPr/>
        </p:nvSpPr>
        <p:spPr>
          <a:xfrm>
            <a:off x="2999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Owner, due date, reminders and escalation per step</a:t>
            </a:r>
            <a:endParaRPr lang="en-US" sz="950" dirty="0"/>
          </a:p>
        </p:txBody>
      </p:sp>
      <p:sp>
        <p:nvSpPr>
          <p:cNvPr id="28" name="Shape 25"/>
          <p:cNvSpPr/>
          <p:nvPr/>
        </p:nvSpPr>
        <p:spPr>
          <a:xfrm>
            <a:off x="5120640" y="5468112"/>
            <a:ext cx="2103120" cy="841248"/>
          </a:xfrm>
          <a:prstGeom prst="roundRect">
            <a:avLst>
              <a:gd name="adj" fmla="val 8696"/>
            </a:avLst>
          </a:prstGeom>
          <a:solidFill>
            <a:srgbClr val="FFFFFF"/>
          </a:solidFill>
          <a:ln w="9525">
            <a:solidFill>
              <a:srgbClr val="E3E7EA"/>
            </a:solidFill>
            <a:prstDash val="solid"/>
          </a:ln>
        </p:spPr>
      </p:sp>
      <p:sp>
        <p:nvSpPr>
          <p:cNvPr id="29" name="Text 26"/>
          <p:cNvSpPr txBox="1"/>
          <p:nvPr/>
        </p:nvSpPr>
        <p:spPr>
          <a:xfrm>
            <a:off x="5285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DOCUMENTS</a:t>
            </a:r>
            <a:endParaRPr lang="en-US" sz="950" dirty="0"/>
          </a:p>
        </p:txBody>
      </p:sp>
      <p:sp>
        <p:nvSpPr>
          <p:cNvPr id="30" name="Text 27"/>
          <p:cNvSpPr txBox="1"/>
          <p:nvPr/>
        </p:nvSpPr>
        <p:spPr>
          <a:xfrm>
            <a:off x="5285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Mandatory attachments before a step can close</a:t>
            </a:r>
            <a:endParaRPr lang="en-US" sz="950" dirty="0"/>
          </a:p>
        </p:txBody>
      </p:sp>
      <p:sp>
        <p:nvSpPr>
          <p:cNvPr id="31" name="Shape 28"/>
          <p:cNvSpPr/>
          <p:nvPr/>
        </p:nvSpPr>
        <p:spPr>
          <a:xfrm>
            <a:off x="7406640" y="5468112"/>
            <a:ext cx="2103120" cy="841248"/>
          </a:xfrm>
          <a:prstGeom prst="roundRect">
            <a:avLst>
              <a:gd name="adj" fmla="val 8696"/>
            </a:avLst>
          </a:prstGeom>
          <a:solidFill>
            <a:srgbClr val="FFFFFF"/>
          </a:solidFill>
          <a:ln w="9525">
            <a:solidFill>
              <a:srgbClr val="E3E7EA"/>
            </a:solidFill>
            <a:prstDash val="solid"/>
          </a:ln>
        </p:spPr>
      </p:sp>
      <p:sp>
        <p:nvSpPr>
          <p:cNvPr id="32" name="Text 29"/>
          <p:cNvSpPr txBox="1"/>
          <p:nvPr/>
        </p:nvSpPr>
        <p:spPr>
          <a:xfrm>
            <a:off x="7571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PAYMENTS</a:t>
            </a:r>
            <a:endParaRPr lang="en-US" sz="950" dirty="0"/>
          </a:p>
        </p:txBody>
      </p:sp>
      <p:sp>
        <p:nvSpPr>
          <p:cNvPr id="33" name="Text 30"/>
          <p:cNvSpPr txBox="1"/>
          <p:nvPr/>
        </p:nvSpPr>
        <p:spPr>
          <a:xfrm>
            <a:off x="7571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Amount, VAT, mode, reference, receipt and GL account</a:t>
            </a:r>
            <a:endParaRPr lang="en-US" sz="950" dirty="0"/>
          </a:p>
        </p:txBody>
      </p:sp>
      <p:sp>
        <p:nvSpPr>
          <p:cNvPr id="34" name="Shape 31"/>
          <p:cNvSpPr/>
          <p:nvPr/>
        </p:nvSpPr>
        <p:spPr>
          <a:xfrm>
            <a:off x="9692640" y="5468112"/>
            <a:ext cx="2103120" cy="841248"/>
          </a:xfrm>
          <a:prstGeom prst="roundRect">
            <a:avLst>
              <a:gd name="adj" fmla="val 8696"/>
            </a:avLst>
          </a:prstGeom>
          <a:solidFill>
            <a:srgbClr val="FFFFFF"/>
          </a:solidFill>
          <a:ln w="9525">
            <a:solidFill>
              <a:srgbClr val="E3E7EA"/>
            </a:solidFill>
            <a:prstDash val="solid"/>
          </a:ln>
        </p:spPr>
      </p:sp>
      <p:sp>
        <p:nvSpPr>
          <p:cNvPr id="35" name="Text 32"/>
          <p:cNvSpPr txBox="1"/>
          <p:nvPr/>
        </p:nvSpPr>
        <p:spPr>
          <a:xfrm>
            <a:off x="9857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REPORTING</a:t>
            </a:r>
            <a:endParaRPr lang="en-US" sz="950" dirty="0"/>
          </a:p>
        </p:txBody>
      </p:sp>
      <p:sp>
        <p:nvSpPr>
          <p:cNvPr id="36" name="Text 33"/>
          <p:cNvSpPr txBox="1"/>
          <p:nvPr/>
        </p:nvSpPr>
        <p:spPr>
          <a:xfrm>
            <a:off x="9857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Filterable, exportable reports per process and payment</a:t>
            </a:r>
            <a:endParaRPr lang="en-US" sz="950" dirty="0"/>
          </a:p>
        </p:txBody>
      </p:sp>
      <p:sp>
        <p:nvSpPr>
          <p:cNvPr id="37" name="Text 34"/>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38" name="Text 35"/>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PERSONA VIEW</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Everyone gets their own to-do list.</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Each role sees only what is theirs to do, with a due date against it — which is how the PRO desk, recruitment, onboarding and employee relations stay coordinated.</a:t>
            </a:r>
            <a:endParaRPr lang="en-US" sz="1300" dirty="0"/>
          </a:p>
        </p:txBody>
      </p:sp>
      <p:sp>
        <p:nvSpPr>
          <p:cNvPr id="5" name="Shape 3"/>
          <p:cNvSpPr/>
          <p:nvPr/>
        </p:nvSpPr>
        <p:spPr>
          <a:xfrm>
            <a:off x="548640" y="1828800"/>
            <a:ext cx="10424160" cy="548640"/>
          </a:xfrm>
          <a:prstGeom prst="roundRect">
            <a:avLst>
              <a:gd name="adj" fmla="val 10000"/>
            </a:avLst>
          </a:prstGeom>
          <a:solidFill>
            <a:srgbClr val="F4F6F7"/>
          </a:solidFill>
          <a:ln w="7620">
            <a:solidFill>
              <a:srgbClr val="E3E7EA"/>
            </a:solidFill>
            <a:prstDash val="solid"/>
          </a:ln>
        </p:spPr>
      </p:sp>
      <p:sp>
        <p:nvSpPr>
          <p:cNvPr id="6" name="Shape 4"/>
          <p:cNvSpPr/>
          <p:nvPr/>
        </p:nvSpPr>
        <p:spPr>
          <a:xfrm>
            <a:off x="694944" y="1929384"/>
            <a:ext cx="347472" cy="347472"/>
          </a:xfrm>
          <a:prstGeom prst="ellipse">
            <a:avLst/>
          </a:prstGeom>
          <a:solidFill>
            <a:srgbClr val="20A098"/>
          </a:solidFill>
          <a:ln/>
        </p:spPr>
      </p:sp>
      <p:sp>
        <p:nvSpPr>
          <p:cNvPr id="7" name="Text 5"/>
          <p:cNvSpPr txBox="1"/>
          <p:nvPr/>
        </p:nvSpPr>
        <p:spPr>
          <a:xfrm>
            <a:off x="694944" y="192938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GRO</a:t>
            </a:r>
            <a:endParaRPr lang="en-US" sz="1050" dirty="0"/>
          </a:p>
        </p:txBody>
      </p:sp>
      <p:sp>
        <p:nvSpPr>
          <p:cNvPr id="8" name="Text 6"/>
          <p:cNvSpPr txBox="1"/>
          <p:nvPr/>
        </p:nvSpPr>
        <p:spPr>
          <a:xfrm>
            <a:off x="1152144" y="188366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Government Relations</a:t>
            </a:r>
            <a:endParaRPr lang="en-US" sz="1100" dirty="0"/>
          </a:p>
        </p:txBody>
      </p:sp>
      <p:sp>
        <p:nvSpPr>
          <p:cNvPr id="9" name="Text 7"/>
          <p:cNvSpPr txBox="1"/>
          <p:nvPr/>
        </p:nvSpPr>
        <p:spPr>
          <a:xfrm>
            <a:off x="1152144" y="210312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PRO desk · GRO</a:t>
            </a:r>
            <a:endParaRPr lang="en-US" sz="900" dirty="0"/>
          </a:p>
        </p:txBody>
      </p:sp>
      <p:sp>
        <p:nvSpPr>
          <p:cNvPr id="10" name="Text 8"/>
          <p:cNvSpPr txBox="1"/>
          <p:nvPr/>
        </p:nvSpPr>
        <p:spPr>
          <a:xfrm>
            <a:off x="3246120" y="1883664"/>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Claims cases from the queue; files MOHRE / Qiwa applications; records every payment and receipt; books medicals and biometrics; tracks stamping to ID collection; maintains quota.</a:t>
            </a:r>
            <a:endParaRPr lang="en-US" sz="950" dirty="0"/>
          </a:p>
        </p:txBody>
      </p:sp>
      <p:sp>
        <p:nvSpPr>
          <p:cNvPr id="11" name="Text 9"/>
          <p:cNvSpPr txBox="1"/>
          <p:nvPr/>
        </p:nvSpPr>
        <p:spPr>
          <a:xfrm>
            <a:off x="8229600" y="1883664"/>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A queue with priorities, due dates and proof of what was done.</a:t>
            </a:r>
            <a:endParaRPr lang="en-US" sz="950" dirty="0"/>
          </a:p>
        </p:txBody>
      </p:sp>
      <p:sp>
        <p:nvSpPr>
          <p:cNvPr id="12" name="Shape 10"/>
          <p:cNvSpPr/>
          <p:nvPr/>
        </p:nvSpPr>
        <p:spPr>
          <a:xfrm>
            <a:off x="548640" y="2414016"/>
            <a:ext cx="10424160" cy="548640"/>
          </a:xfrm>
          <a:prstGeom prst="roundRect">
            <a:avLst>
              <a:gd name="adj" fmla="val 10000"/>
            </a:avLst>
          </a:prstGeom>
          <a:solidFill>
            <a:srgbClr val="FFFFFF"/>
          </a:solidFill>
          <a:ln w="7620">
            <a:solidFill>
              <a:srgbClr val="E3E7EA"/>
            </a:solidFill>
            <a:prstDash val="solid"/>
          </a:ln>
        </p:spPr>
      </p:sp>
      <p:sp>
        <p:nvSpPr>
          <p:cNvPr id="13" name="Shape 11"/>
          <p:cNvSpPr/>
          <p:nvPr/>
        </p:nvSpPr>
        <p:spPr>
          <a:xfrm>
            <a:off x="694944" y="2514600"/>
            <a:ext cx="347472" cy="347472"/>
          </a:xfrm>
          <a:prstGeom prst="ellipse">
            <a:avLst/>
          </a:prstGeom>
          <a:solidFill>
            <a:srgbClr val="12756F"/>
          </a:solidFill>
          <a:ln/>
        </p:spPr>
      </p:sp>
      <p:sp>
        <p:nvSpPr>
          <p:cNvPr id="14" name="Text 12"/>
          <p:cNvSpPr txBox="1"/>
          <p:nvPr/>
        </p:nvSpPr>
        <p:spPr>
          <a:xfrm>
            <a:off x="694944" y="251460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TA</a:t>
            </a:r>
            <a:endParaRPr lang="en-US" sz="1050" dirty="0"/>
          </a:p>
        </p:txBody>
      </p:sp>
      <p:sp>
        <p:nvSpPr>
          <p:cNvPr id="15" name="Text 13"/>
          <p:cNvSpPr txBox="1"/>
          <p:nvPr/>
        </p:nvSpPr>
        <p:spPr>
          <a:xfrm>
            <a:off x="1152144" y="2468880"/>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Recruiter</a:t>
            </a:r>
            <a:endParaRPr lang="en-US" sz="1100" dirty="0"/>
          </a:p>
        </p:txBody>
      </p:sp>
      <p:sp>
        <p:nvSpPr>
          <p:cNvPr id="16" name="Text 14"/>
          <p:cNvSpPr txBox="1"/>
          <p:nvPr/>
        </p:nvSpPr>
        <p:spPr>
          <a:xfrm>
            <a:off x="1152144" y="2688336"/>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Talent acquisition</a:t>
            </a:r>
            <a:endParaRPr lang="en-US" sz="900" dirty="0"/>
          </a:p>
        </p:txBody>
      </p:sp>
      <p:sp>
        <p:nvSpPr>
          <p:cNvPr id="17" name="Text 15"/>
          <p:cNvSpPr txBox="1"/>
          <p:nvPr/>
        </p:nvSpPr>
        <p:spPr>
          <a:xfrm>
            <a:off x="3246120" y="2468880"/>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Completes the candidate file and document checklist; releases accepted candidates into the permit process; aligns profession and work-location codes with the PRO.</a:t>
            </a:r>
            <a:endParaRPr lang="en-US" sz="950" dirty="0"/>
          </a:p>
        </p:txBody>
      </p:sp>
      <p:sp>
        <p:nvSpPr>
          <p:cNvPr id="18" name="Text 16"/>
          <p:cNvSpPr txBox="1"/>
          <p:nvPr/>
        </p:nvSpPr>
        <p:spPr>
          <a:xfrm>
            <a:off x="8229600" y="2468880"/>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Joining dates based on real progress, not optimism.</a:t>
            </a:r>
            <a:endParaRPr lang="en-US" sz="950" dirty="0"/>
          </a:p>
        </p:txBody>
      </p:sp>
      <p:sp>
        <p:nvSpPr>
          <p:cNvPr id="19" name="Shape 17"/>
          <p:cNvSpPr/>
          <p:nvPr/>
        </p:nvSpPr>
        <p:spPr>
          <a:xfrm>
            <a:off x="548640" y="2999232"/>
            <a:ext cx="10424160" cy="548640"/>
          </a:xfrm>
          <a:prstGeom prst="roundRect">
            <a:avLst>
              <a:gd name="adj" fmla="val 10000"/>
            </a:avLst>
          </a:prstGeom>
          <a:solidFill>
            <a:srgbClr val="F4F6F7"/>
          </a:solidFill>
          <a:ln w="7620">
            <a:solidFill>
              <a:srgbClr val="E3E7EA"/>
            </a:solidFill>
            <a:prstDash val="solid"/>
          </a:ln>
        </p:spPr>
      </p:sp>
      <p:sp>
        <p:nvSpPr>
          <p:cNvPr id="20" name="Shape 18"/>
          <p:cNvSpPr/>
          <p:nvPr/>
        </p:nvSpPr>
        <p:spPr>
          <a:xfrm>
            <a:off x="694944" y="3099816"/>
            <a:ext cx="347472" cy="347472"/>
          </a:xfrm>
          <a:prstGeom prst="ellipse">
            <a:avLst/>
          </a:prstGeom>
          <a:solidFill>
            <a:srgbClr val="20A098"/>
          </a:solidFill>
          <a:ln/>
        </p:spPr>
      </p:sp>
      <p:sp>
        <p:nvSpPr>
          <p:cNvPr id="21" name="Text 19"/>
          <p:cNvSpPr txBox="1"/>
          <p:nvPr/>
        </p:nvSpPr>
        <p:spPr>
          <a:xfrm>
            <a:off x="694944" y="3099816"/>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OB</a:t>
            </a:r>
            <a:endParaRPr lang="en-US" sz="1050" dirty="0"/>
          </a:p>
        </p:txBody>
      </p:sp>
      <p:sp>
        <p:nvSpPr>
          <p:cNvPr id="22" name="Text 20"/>
          <p:cNvSpPr txBox="1"/>
          <p:nvPr/>
        </p:nvSpPr>
        <p:spPr>
          <a:xfrm>
            <a:off x="1152144" y="3054096"/>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Onboarding Coordinator</a:t>
            </a:r>
            <a:endParaRPr lang="en-US" sz="1100" dirty="0"/>
          </a:p>
        </p:txBody>
      </p:sp>
      <p:sp>
        <p:nvSpPr>
          <p:cNvPr id="23" name="Text 21"/>
          <p:cNvSpPr txBox="1"/>
          <p:nvPr/>
        </p:nvSpPr>
        <p:spPr>
          <a:xfrm>
            <a:off x="1152144" y="3273552"/>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24" name="Text 22"/>
          <p:cNvSpPr txBox="1"/>
          <p:nvPr/>
        </p:nvSpPr>
        <p:spPr>
          <a:xfrm>
            <a:off x="3246120" y="3054096"/>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Initiates the permit; checks quota; chases signed offers, contracts and medical receipts; sends biometric appointments; handles national-hire pension steps.</a:t>
            </a:r>
            <a:endParaRPr lang="en-US" sz="950" dirty="0"/>
          </a:p>
        </p:txBody>
      </p:sp>
      <p:sp>
        <p:nvSpPr>
          <p:cNvPr id="25" name="Text 23"/>
          <p:cNvSpPr txBox="1"/>
          <p:nvPr/>
        </p:nvSpPr>
        <p:spPr>
          <a:xfrm>
            <a:off x="8229600" y="3054096"/>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No joiner arrives without the paperwork that makes them legal.</a:t>
            </a:r>
            <a:endParaRPr lang="en-US" sz="950" dirty="0"/>
          </a:p>
        </p:txBody>
      </p:sp>
      <p:sp>
        <p:nvSpPr>
          <p:cNvPr id="26" name="Shape 24"/>
          <p:cNvSpPr/>
          <p:nvPr/>
        </p:nvSpPr>
        <p:spPr>
          <a:xfrm>
            <a:off x="548640" y="3584448"/>
            <a:ext cx="10424160" cy="548640"/>
          </a:xfrm>
          <a:prstGeom prst="roundRect">
            <a:avLst>
              <a:gd name="adj" fmla="val 10000"/>
            </a:avLst>
          </a:prstGeom>
          <a:solidFill>
            <a:srgbClr val="FFFFFF"/>
          </a:solidFill>
          <a:ln w="7620">
            <a:solidFill>
              <a:srgbClr val="E3E7EA"/>
            </a:solidFill>
            <a:prstDash val="solid"/>
          </a:ln>
        </p:spPr>
      </p:sp>
      <p:sp>
        <p:nvSpPr>
          <p:cNvPr id="27" name="Shape 25"/>
          <p:cNvSpPr/>
          <p:nvPr/>
        </p:nvSpPr>
        <p:spPr>
          <a:xfrm>
            <a:off x="694944" y="3685032"/>
            <a:ext cx="347472" cy="347472"/>
          </a:xfrm>
          <a:prstGeom prst="ellipse">
            <a:avLst/>
          </a:prstGeom>
          <a:solidFill>
            <a:srgbClr val="12756F"/>
          </a:solidFill>
          <a:ln/>
        </p:spPr>
      </p:sp>
      <p:sp>
        <p:nvSpPr>
          <p:cNvPr id="28" name="Text 26"/>
          <p:cNvSpPr txBox="1"/>
          <p:nvPr/>
        </p:nvSpPr>
        <p:spPr>
          <a:xfrm>
            <a:off x="694944" y="3685032"/>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BP</a:t>
            </a:r>
            <a:endParaRPr lang="en-US" sz="1050" dirty="0"/>
          </a:p>
        </p:txBody>
      </p:sp>
      <p:sp>
        <p:nvSpPr>
          <p:cNvPr id="29" name="Text 27"/>
          <p:cNvSpPr txBox="1"/>
          <p:nvPr/>
        </p:nvSpPr>
        <p:spPr>
          <a:xfrm>
            <a:off x="1152144" y="3639312"/>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HR Business Partner</a:t>
            </a:r>
            <a:endParaRPr lang="en-US" sz="1100" dirty="0"/>
          </a:p>
        </p:txBody>
      </p:sp>
      <p:sp>
        <p:nvSpPr>
          <p:cNvPr id="30" name="Text 28"/>
          <p:cNvSpPr txBox="1"/>
          <p:nvPr/>
        </p:nvSpPr>
        <p:spPr>
          <a:xfrm>
            <a:off x="1152144" y="3858768"/>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31" name="Text 29"/>
          <p:cNvSpPr txBox="1"/>
          <p:nvPr/>
        </p:nvSpPr>
        <p:spPr>
          <a:xfrm>
            <a:off x="3246120" y="3639312"/>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Verifies renewal contracts; approves visa allocation for senior grades; initiates cancellation after end-of-service; reviews fines before payroll deduction.</a:t>
            </a:r>
            <a:endParaRPr lang="en-US" sz="950" dirty="0"/>
          </a:p>
        </p:txBody>
      </p:sp>
      <p:sp>
        <p:nvSpPr>
          <p:cNvPr id="32" name="Text 30"/>
          <p:cNvSpPr txBox="1"/>
          <p:nvPr/>
        </p:nvSpPr>
        <p:spPr>
          <a:xfrm>
            <a:off x="8229600" y="3639312"/>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Escalations arrive before the fine, not after it.</a:t>
            </a:r>
            <a:endParaRPr lang="en-US" sz="950" dirty="0"/>
          </a:p>
        </p:txBody>
      </p:sp>
      <p:sp>
        <p:nvSpPr>
          <p:cNvPr id="33" name="Shape 31"/>
          <p:cNvSpPr/>
          <p:nvPr/>
        </p:nvSpPr>
        <p:spPr>
          <a:xfrm>
            <a:off x="548640" y="4169664"/>
            <a:ext cx="10424160" cy="548640"/>
          </a:xfrm>
          <a:prstGeom prst="roundRect">
            <a:avLst>
              <a:gd name="adj" fmla="val 10000"/>
            </a:avLst>
          </a:prstGeom>
          <a:solidFill>
            <a:srgbClr val="F4F6F7"/>
          </a:solidFill>
          <a:ln w="7620">
            <a:solidFill>
              <a:srgbClr val="E3E7EA"/>
            </a:solidFill>
            <a:prstDash val="solid"/>
          </a:ln>
        </p:spPr>
      </p:sp>
      <p:sp>
        <p:nvSpPr>
          <p:cNvPr id="34" name="Shape 32"/>
          <p:cNvSpPr/>
          <p:nvPr/>
        </p:nvSpPr>
        <p:spPr>
          <a:xfrm>
            <a:off x="694944" y="4270248"/>
            <a:ext cx="347472" cy="347472"/>
          </a:xfrm>
          <a:prstGeom prst="ellipse">
            <a:avLst/>
          </a:prstGeom>
          <a:solidFill>
            <a:srgbClr val="20A098"/>
          </a:solidFill>
          <a:ln/>
        </p:spPr>
      </p:sp>
      <p:sp>
        <p:nvSpPr>
          <p:cNvPr id="35" name="Text 33"/>
          <p:cNvSpPr txBox="1"/>
          <p:nvPr/>
        </p:nvSpPr>
        <p:spPr>
          <a:xfrm>
            <a:off x="694944" y="427024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EM</a:t>
            </a:r>
            <a:endParaRPr lang="en-US" sz="1050" dirty="0"/>
          </a:p>
        </p:txBody>
      </p:sp>
      <p:sp>
        <p:nvSpPr>
          <p:cNvPr id="36" name="Text 34"/>
          <p:cNvSpPr txBox="1"/>
          <p:nvPr/>
        </p:nvSpPr>
        <p:spPr>
          <a:xfrm>
            <a:off x="1152144" y="4224528"/>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Employee / Candidate</a:t>
            </a:r>
            <a:endParaRPr lang="en-US" sz="1100" dirty="0"/>
          </a:p>
        </p:txBody>
      </p:sp>
      <p:sp>
        <p:nvSpPr>
          <p:cNvPr id="37" name="Text 35"/>
          <p:cNvSpPr txBox="1"/>
          <p:nvPr/>
        </p:nvSpPr>
        <p:spPr>
          <a:xfrm>
            <a:off x="1152144" y="4443984"/>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Self-service</a:t>
            </a:r>
            <a:endParaRPr lang="en-US" sz="900" dirty="0"/>
          </a:p>
        </p:txBody>
      </p:sp>
      <p:sp>
        <p:nvSpPr>
          <p:cNvPr id="38" name="Text 36"/>
          <p:cNvSpPr txBox="1"/>
          <p:nvPr/>
        </p:nvSpPr>
        <p:spPr>
          <a:xfrm>
            <a:off x="3246120" y="4224528"/>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Acknowledges and uploads signed contracts; confirms in-country or out-of-country status; confirms medical completion, insurance enrolment and ID receipt.</a:t>
            </a:r>
            <a:endParaRPr lang="en-US" sz="950" dirty="0"/>
          </a:p>
        </p:txBody>
      </p:sp>
      <p:sp>
        <p:nvSpPr>
          <p:cNvPr id="39" name="Text 37"/>
          <p:cNvSpPr txBox="1"/>
          <p:nvPr/>
        </p:nvSpPr>
        <p:spPr>
          <a:xfrm>
            <a:off x="8229600" y="4224528"/>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Knows exactly what is pending from them, and by when.</a:t>
            </a:r>
            <a:endParaRPr lang="en-US" sz="950" dirty="0"/>
          </a:p>
        </p:txBody>
      </p:sp>
      <p:sp>
        <p:nvSpPr>
          <p:cNvPr id="40" name="Shape 38"/>
          <p:cNvSpPr/>
          <p:nvPr/>
        </p:nvSpPr>
        <p:spPr>
          <a:xfrm>
            <a:off x="548640" y="4754880"/>
            <a:ext cx="10424160" cy="548640"/>
          </a:xfrm>
          <a:prstGeom prst="roundRect">
            <a:avLst>
              <a:gd name="adj" fmla="val 10000"/>
            </a:avLst>
          </a:prstGeom>
          <a:solidFill>
            <a:srgbClr val="FFFFFF"/>
          </a:solidFill>
          <a:ln w="7620">
            <a:solidFill>
              <a:srgbClr val="E3E7EA"/>
            </a:solidFill>
            <a:prstDash val="solid"/>
          </a:ln>
        </p:spPr>
      </p:sp>
      <p:sp>
        <p:nvSpPr>
          <p:cNvPr id="41" name="Shape 39"/>
          <p:cNvSpPr/>
          <p:nvPr/>
        </p:nvSpPr>
        <p:spPr>
          <a:xfrm>
            <a:off x="694944" y="4855464"/>
            <a:ext cx="347472" cy="347472"/>
          </a:xfrm>
          <a:prstGeom prst="ellipse">
            <a:avLst/>
          </a:prstGeom>
          <a:solidFill>
            <a:srgbClr val="12756F"/>
          </a:solidFill>
          <a:ln/>
        </p:spPr>
      </p:sp>
      <p:sp>
        <p:nvSpPr>
          <p:cNvPr id="42" name="Text 40"/>
          <p:cNvSpPr txBox="1"/>
          <p:nvPr/>
        </p:nvSpPr>
        <p:spPr>
          <a:xfrm>
            <a:off x="694944" y="485546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FI</a:t>
            </a:r>
            <a:endParaRPr lang="en-US" sz="1050" dirty="0"/>
          </a:p>
        </p:txBody>
      </p:sp>
      <p:sp>
        <p:nvSpPr>
          <p:cNvPr id="43" name="Text 41"/>
          <p:cNvSpPr txBox="1"/>
          <p:nvPr/>
        </p:nvSpPr>
        <p:spPr>
          <a:xfrm>
            <a:off x="1152144" y="480974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Finance Controller</a:t>
            </a:r>
            <a:endParaRPr lang="en-US" sz="1100" dirty="0"/>
          </a:p>
        </p:txBody>
      </p:sp>
      <p:sp>
        <p:nvSpPr>
          <p:cNvPr id="44" name="Text 42"/>
          <p:cNvSpPr txBox="1"/>
          <p:nvPr/>
        </p:nvSpPr>
        <p:spPr>
          <a:xfrm>
            <a:off x="1152144" y="502920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Payments &amp; GL</a:t>
            </a:r>
            <a:endParaRPr lang="en-US" sz="900" dirty="0"/>
          </a:p>
        </p:txBody>
      </p:sp>
      <p:sp>
        <p:nvSpPr>
          <p:cNvPr id="45" name="Text 43"/>
          <p:cNvSpPr txBox="1"/>
          <p:nvPr/>
        </p:nvSpPr>
        <p:spPr>
          <a:xfrm>
            <a:off x="3246120" y="4809744"/>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Reconciles government fees against receipts; posts permit costs to GL accounts; reviews card-holder spend for reimbursement; approves fine deductions.</a:t>
            </a:r>
            <a:endParaRPr lang="en-US" sz="950" dirty="0"/>
          </a:p>
        </p:txBody>
      </p:sp>
      <p:sp>
        <p:nvSpPr>
          <p:cNvPr id="46" name="Text 44"/>
          <p:cNvSpPr txBox="1"/>
          <p:nvPr/>
        </p:nvSpPr>
        <p:spPr>
          <a:xfrm>
            <a:off x="8229600" y="4809744"/>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One export instead of days of reconciliation.</a:t>
            </a:r>
            <a:endParaRPr lang="en-US" sz="950" dirty="0"/>
          </a:p>
        </p:txBody>
      </p:sp>
      <p:sp>
        <p:nvSpPr>
          <p:cNvPr id="47" name="Shape 45"/>
          <p:cNvSpPr/>
          <p:nvPr/>
        </p:nvSpPr>
        <p:spPr>
          <a:xfrm>
            <a:off x="548640" y="5340096"/>
            <a:ext cx="10424160" cy="548640"/>
          </a:xfrm>
          <a:prstGeom prst="roundRect">
            <a:avLst>
              <a:gd name="adj" fmla="val 10000"/>
            </a:avLst>
          </a:prstGeom>
          <a:solidFill>
            <a:srgbClr val="F4F6F7"/>
          </a:solidFill>
          <a:ln w="7620">
            <a:solidFill>
              <a:srgbClr val="E3E7EA"/>
            </a:solidFill>
            <a:prstDash val="solid"/>
          </a:ln>
        </p:spPr>
      </p:sp>
      <p:sp>
        <p:nvSpPr>
          <p:cNvPr id="48" name="Shape 46"/>
          <p:cNvSpPr/>
          <p:nvPr/>
        </p:nvSpPr>
        <p:spPr>
          <a:xfrm>
            <a:off x="694944" y="5440680"/>
            <a:ext cx="347472" cy="347472"/>
          </a:xfrm>
          <a:prstGeom prst="ellipse">
            <a:avLst/>
          </a:prstGeom>
          <a:solidFill>
            <a:srgbClr val="16304C"/>
          </a:solidFill>
          <a:ln/>
        </p:spPr>
      </p:sp>
      <p:sp>
        <p:nvSpPr>
          <p:cNvPr id="49" name="Text 47"/>
          <p:cNvSpPr txBox="1"/>
          <p:nvPr/>
        </p:nvSpPr>
        <p:spPr>
          <a:xfrm>
            <a:off x="694944" y="544068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HR</a:t>
            </a:r>
            <a:endParaRPr lang="en-US" sz="1050" dirty="0"/>
          </a:p>
        </p:txBody>
      </p:sp>
      <p:sp>
        <p:nvSpPr>
          <p:cNvPr id="50" name="Text 48"/>
          <p:cNvSpPr txBox="1"/>
          <p:nvPr/>
        </p:nvSpPr>
        <p:spPr>
          <a:xfrm>
            <a:off x="1152144" y="5394960"/>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Head of HR</a:t>
            </a:r>
            <a:endParaRPr lang="en-US" sz="1100" dirty="0"/>
          </a:p>
        </p:txBody>
      </p:sp>
      <p:sp>
        <p:nvSpPr>
          <p:cNvPr id="51" name="Text 49"/>
          <p:cNvSpPr txBox="1"/>
          <p:nvPr/>
        </p:nvSpPr>
        <p:spPr>
          <a:xfrm>
            <a:off x="1152144" y="5614416"/>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Governance &amp; risk</a:t>
            </a:r>
            <a:endParaRPr lang="en-US" sz="900" dirty="0"/>
          </a:p>
        </p:txBody>
      </p:sp>
      <p:sp>
        <p:nvSpPr>
          <p:cNvPr id="52" name="Text 50"/>
          <p:cNvSpPr txBox="1"/>
          <p:nvPr/>
        </p:nvSpPr>
        <p:spPr>
          <a:xfrm>
            <a:off x="3246120" y="5394960"/>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Monitors quota utilisation and Saudization or Emiratisation ratios; reviews compliance exposure by entity and country; signs off permit cost budgets.</a:t>
            </a:r>
            <a:endParaRPr lang="en-US" sz="950" dirty="0"/>
          </a:p>
        </p:txBody>
      </p:sp>
      <p:sp>
        <p:nvSpPr>
          <p:cNvPr id="53" name="Text 51"/>
          <p:cNvSpPr txBox="1"/>
          <p:nvPr/>
        </p:nvSpPr>
        <p:spPr>
          <a:xfrm>
            <a:off x="8229600" y="5394960"/>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Compliance risk as a dashboard, not a fire drill.</a:t>
            </a:r>
            <a:endParaRPr lang="en-US" sz="950" dirty="0"/>
          </a:p>
        </p:txBody>
      </p:sp>
      <p:sp>
        <p:nvSpPr>
          <p:cNvPr id="54" name="Text 52"/>
          <p:cNvSpPr txBox="1"/>
          <p:nvPr/>
        </p:nvSpPr>
        <p:spPr>
          <a:xfrm>
            <a:off x="1152144" y="1609344"/>
            <a:ext cx="192024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ROLE</a:t>
            </a:r>
            <a:endParaRPr lang="en-US" sz="850" dirty="0"/>
          </a:p>
        </p:txBody>
      </p:sp>
      <p:sp>
        <p:nvSpPr>
          <p:cNvPr id="55" name="Text 53"/>
          <p:cNvSpPr txBox="1"/>
          <p:nvPr/>
        </p:nvSpPr>
        <p:spPr>
          <a:xfrm>
            <a:off x="3246120" y="1609344"/>
            <a:ext cx="484632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DO IN THE SYSTEM</a:t>
            </a:r>
            <a:endParaRPr lang="en-US" sz="850" dirty="0"/>
          </a:p>
        </p:txBody>
      </p:sp>
      <p:sp>
        <p:nvSpPr>
          <p:cNvPr id="56" name="Text 54"/>
          <p:cNvSpPr txBox="1"/>
          <p:nvPr/>
        </p:nvSpPr>
        <p:spPr>
          <a:xfrm>
            <a:off x="8229600" y="1609344"/>
            <a:ext cx="2615184"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GET</a:t>
            </a:r>
            <a:endParaRPr lang="en-US" sz="850" dirty="0"/>
          </a:p>
        </p:txBody>
      </p:sp>
      <p:sp>
        <p:nvSpPr>
          <p:cNvPr id="57" name="Text 5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58" name="Text 5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TASK MANAGEMENT &amp; ACCOUNTABILITY</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A task with a name on it behaves differently.</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Every milestone becomes a real task with an assignee, a due date and an escalation path. Nothing sits in a grey zone where everybody assumes somebody else has it.</a:t>
            </a:r>
            <a:endParaRPr lang="en-US" sz="1300" dirty="0"/>
          </a:p>
        </p:txBody>
      </p:sp>
      <p:sp>
        <p:nvSpPr>
          <p:cNvPr id="5" name="Shape 3"/>
          <p:cNvSpPr/>
          <p:nvPr/>
        </p:nvSpPr>
        <p:spPr>
          <a:xfrm>
            <a:off x="548640" y="1773936"/>
            <a:ext cx="5532120" cy="969264"/>
          </a:xfrm>
          <a:prstGeom prst="roundRect">
            <a:avLst>
              <a:gd name="adj" fmla="val 7547"/>
            </a:avLst>
          </a:prstGeom>
          <a:solidFill>
            <a:srgbClr val="F4F6F7"/>
          </a:solidFill>
          <a:ln w="9525">
            <a:solidFill>
              <a:srgbClr val="E3E7EA"/>
            </a:solidFill>
            <a:prstDash val="solid"/>
          </a:ln>
        </p:spPr>
      </p:sp>
      <p:sp>
        <p:nvSpPr>
          <p:cNvPr id="6" name="Shape 4"/>
          <p:cNvSpPr/>
          <p:nvPr/>
        </p:nvSpPr>
        <p:spPr>
          <a:xfrm>
            <a:off x="749808" y="1975104"/>
            <a:ext cx="402336" cy="402336"/>
          </a:xfrm>
          <a:prstGeom prst="ellipse">
            <a:avLst/>
          </a:prstGeom>
          <a:solidFill>
            <a:srgbClr val="20A098"/>
          </a:solidFill>
          <a:ln/>
        </p:spPr>
      </p:sp>
      <p:sp>
        <p:nvSpPr>
          <p:cNvPr id="7" name="Text 5"/>
          <p:cNvSpPr txBox="1"/>
          <p:nvPr/>
        </p:nvSpPr>
        <p:spPr>
          <a:xfrm>
            <a:off x="749808" y="19751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298448" y="1911096"/>
            <a:ext cx="4572000" cy="256032"/>
          </a:xfrm>
          <a:prstGeom prst="rect">
            <a:avLst/>
          </a:prstGeom>
          <a:noFill/>
          <a:ln/>
        </p:spPr>
        <p:txBody>
          <a:bodyPr wrap="square" lIns="0" tIns="0" rIns="0" bIns="0" rtlCol="0" anchor="ctr"/>
          <a:lstStyle/>
          <a:p>
            <a:pPr indent="0" marL="0">
              <a:buNone/>
            </a:pPr>
            <a:r>
              <a:rPr lang="en-US" sz="1250" b="1" dirty="0">
                <a:solidFill>
                  <a:srgbClr val="20A098"/>
                </a:solidFill>
                <a:latin typeface="Arial" pitchFamily="34" charset="0"/>
                <a:ea typeface="Arial" pitchFamily="34" charset="-122"/>
                <a:cs typeface="Arial" pitchFamily="34" charset="-120"/>
              </a:rPr>
              <a:t>Assign  </a:t>
            </a:r>
            <a:pPr indent="0" marL="0">
              <a:buNone/>
            </a:pPr>
            <a:r>
              <a:rPr lang="en-US" sz="1200" b="1" dirty="0">
                <a:solidFill>
                  <a:srgbClr val="0C1E33"/>
                </a:solidFill>
                <a:latin typeface="Arial" pitchFamily="34" charset="0"/>
                <a:ea typeface="Arial" pitchFamily="34" charset="-122"/>
                <a:cs typeface="Arial" pitchFamily="34" charset="-120"/>
              </a:rPr>
              <a:t>· The task gets an owner</a:t>
            </a:r>
            <a:endParaRPr lang="en-US" sz="1250" dirty="0"/>
          </a:p>
        </p:txBody>
      </p:sp>
      <p:sp>
        <p:nvSpPr>
          <p:cNvPr id="9" name="Text 7"/>
          <p:cNvSpPr txBox="1"/>
          <p:nvPr/>
        </p:nvSpPr>
        <p:spPr>
          <a:xfrm>
            <a:off x="1298448" y="218541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Routed to a role, then claimed by a named officer with "Assign To Yourself" — or pushed by a supervisor with "Assign Agent". Priority and due date are stamped at that moment.</a:t>
            </a:r>
            <a:endParaRPr lang="en-US" sz="980" dirty="0"/>
          </a:p>
        </p:txBody>
      </p:sp>
      <p:sp>
        <p:nvSpPr>
          <p:cNvPr id="10" name="Shape 8"/>
          <p:cNvSpPr/>
          <p:nvPr/>
        </p:nvSpPr>
        <p:spPr>
          <a:xfrm>
            <a:off x="548640" y="2871216"/>
            <a:ext cx="5532120" cy="969264"/>
          </a:xfrm>
          <a:prstGeom prst="roundRect">
            <a:avLst>
              <a:gd name="adj" fmla="val 7547"/>
            </a:avLst>
          </a:prstGeom>
          <a:solidFill>
            <a:srgbClr val="FFFFFF"/>
          </a:solidFill>
          <a:ln w="9525">
            <a:solidFill>
              <a:srgbClr val="E3E7EA"/>
            </a:solidFill>
            <a:prstDash val="solid"/>
          </a:ln>
        </p:spPr>
      </p:sp>
      <p:sp>
        <p:nvSpPr>
          <p:cNvPr id="11" name="Shape 9"/>
          <p:cNvSpPr/>
          <p:nvPr/>
        </p:nvSpPr>
        <p:spPr>
          <a:xfrm>
            <a:off x="749808" y="3072384"/>
            <a:ext cx="402336" cy="402336"/>
          </a:xfrm>
          <a:prstGeom prst="ellipse">
            <a:avLst/>
          </a:prstGeom>
          <a:solidFill>
            <a:srgbClr val="B5730F"/>
          </a:solidFill>
          <a:ln/>
        </p:spPr>
      </p:sp>
      <p:sp>
        <p:nvSpPr>
          <p:cNvPr id="12" name="Text 10"/>
          <p:cNvSpPr txBox="1"/>
          <p:nvPr/>
        </p:nvSpPr>
        <p:spPr>
          <a:xfrm>
            <a:off x="749808" y="30723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298448" y="3008376"/>
            <a:ext cx="4572000" cy="256032"/>
          </a:xfrm>
          <a:prstGeom prst="rect">
            <a:avLst/>
          </a:prstGeom>
          <a:noFill/>
          <a:ln/>
        </p:spPr>
        <p:txBody>
          <a:bodyPr wrap="square" lIns="0" tIns="0" rIns="0" bIns="0" rtlCol="0" anchor="ctr"/>
          <a:lstStyle/>
          <a:p>
            <a:pPr indent="0" marL="0">
              <a:buNone/>
            </a:pPr>
            <a:r>
              <a:rPr lang="en-US" sz="1250" b="1" dirty="0">
                <a:solidFill>
                  <a:srgbClr val="B5730F"/>
                </a:solidFill>
                <a:latin typeface="Arial" pitchFamily="34" charset="0"/>
                <a:ea typeface="Arial" pitchFamily="34" charset="-122"/>
                <a:cs typeface="Arial" pitchFamily="34" charset="-120"/>
              </a:rPr>
              <a:t>Nudge  </a:t>
            </a:r>
            <a:pPr indent="0" marL="0">
              <a:buNone/>
            </a:pPr>
            <a:r>
              <a:rPr lang="en-US" sz="1200" b="1" dirty="0">
                <a:solidFill>
                  <a:srgbClr val="0C1E33"/>
                </a:solidFill>
                <a:latin typeface="Arial" pitchFamily="34" charset="0"/>
                <a:ea typeface="Arial" pitchFamily="34" charset="-122"/>
                <a:cs typeface="Arial" pitchFamily="34" charset="-120"/>
              </a:rPr>
              <a:t>· Reminder every 2 days</a:t>
            </a:r>
            <a:endParaRPr lang="en-US" sz="1250" dirty="0"/>
          </a:p>
        </p:txBody>
      </p:sp>
      <p:sp>
        <p:nvSpPr>
          <p:cNvPr id="14" name="Text 12"/>
          <p:cNvSpPr txBox="1"/>
          <p:nvPr/>
        </p:nvSpPr>
        <p:spPr>
          <a:xfrm>
            <a:off x="1298448" y="328269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Open tasks re-notify the assignee on a two-day cycle. Document expiries fire six weeks ahead, to the employee, the PRO and the HRBP together.</a:t>
            </a:r>
            <a:endParaRPr lang="en-US" sz="980" dirty="0"/>
          </a:p>
        </p:txBody>
      </p:sp>
      <p:sp>
        <p:nvSpPr>
          <p:cNvPr id="15" name="Shape 13"/>
          <p:cNvSpPr/>
          <p:nvPr/>
        </p:nvSpPr>
        <p:spPr>
          <a:xfrm>
            <a:off x="548640" y="3968496"/>
            <a:ext cx="5532120" cy="969264"/>
          </a:xfrm>
          <a:prstGeom prst="roundRect">
            <a:avLst>
              <a:gd name="adj" fmla="val 7547"/>
            </a:avLst>
          </a:prstGeom>
          <a:solidFill>
            <a:srgbClr val="F4F6F7"/>
          </a:solidFill>
          <a:ln w="9525">
            <a:solidFill>
              <a:srgbClr val="E3E7EA"/>
            </a:solidFill>
            <a:prstDash val="solid"/>
          </a:ln>
        </p:spPr>
      </p:sp>
      <p:sp>
        <p:nvSpPr>
          <p:cNvPr id="16" name="Shape 14"/>
          <p:cNvSpPr/>
          <p:nvPr/>
        </p:nvSpPr>
        <p:spPr>
          <a:xfrm>
            <a:off x="749808" y="4169664"/>
            <a:ext cx="402336" cy="402336"/>
          </a:xfrm>
          <a:prstGeom prst="ellipse">
            <a:avLst/>
          </a:prstGeom>
          <a:solidFill>
            <a:srgbClr val="B23A2F"/>
          </a:solidFill>
          <a:ln/>
        </p:spPr>
      </p:sp>
      <p:sp>
        <p:nvSpPr>
          <p:cNvPr id="17" name="Text 15"/>
          <p:cNvSpPr txBox="1"/>
          <p:nvPr/>
        </p:nvSpPr>
        <p:spPr>
          <a:xfrm>
            <a:off x="749808" y="416966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298448" y="4105656"/>
            <a:ext cx="4572000" cy="256032"/>
          </a:xfrm>
          <a:prstGeom prst="rect">
            <a:avLst/>
          </a:prstGeom>
          <a:noFill/>
          <a:ln/>
        </p:spPr>
        <p:txBody>
          <a:bodyPr wrap="square" lIns="0" tIns="0" rIns="0" bIns="0" rtlCol="0" anchor="ctr"/>
          <a:lstStyle/>
          <a:p>
            <a:pPr indent="0" marL="0">
              <a:buNone/>
            </a:pPr>
            <a:r>
              <a:rPr lang="en-US" sz="1250" b="1" dirty="0">
                <a:solidFill>
                  <a:srgbClr val="B23A2F"/>
                </a:solidFill>
                <a:latin typeface="Arial" pitchFamily="34" charset="0"/>
                <a:ea typeface="Arial" pitchFamily="34" charset="-122"/>
                <a:cs typeface="Arial" pitchFamily="34" charset="-120"/>
              </a:rPr>
              <a:t>Escalate  </a:t>
            </a:r>
            <a:pPr indent="0" marL="0">
              <a:buNone/>
            </a:pPr>
            <a:r>
              <a:rPr lang="en-US" sz="1200" b="1" dirty="0">
                <a:solidFill>
                  <a:srgbClr val="0C1E33"/>
                </a:solidFill>
                <a:latin typeface="Arial" pitchFamily="34" charset="0"/>
                <a:ea typeface="Arial" pitchFamily="34" charset="-122"/>
                <a:cs typeface="Arial" pitchFamily="34" charset="-120"/>
              </a:rPr>
              <a:t>· The manager is told</a:t>
            </a:r>
            <a:endParaRPr lang="en-US" sz="1250" dirty="0"/>
          </a:p>
        </p:txBody>
      </p:sp>
      <p:sp>
        <p:nvSpPr>
          <p:cNvPr id="19" name="Text 17"/>
          <p:cNvSpPr txBox="1"/>
          <p:nvPr/>
        </p:nvSpPr>
        <p:spPr>
          <a:xfrm>
            <a:off x="1298448" y="437997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At two weeks before expiry, or when a task passes its due date, the line escalates automatically to the HR Manager and the line manager.</a:t>
            </a:r>
            <a:endParaRPr lang="en-US" sz="980" dirty="0"/>
          </a:p>
        </p:txBody>
      </p:sp>
      <p:sp>
        <p:nvSpPr>
          <p:cNvPr id="20" name="Shape 18"/>
          <p:cNvSpPr/>
          <p:nvPr/>
        </p:nvSpPr>
        <p:spPr>
          <a:xfrm>
            <a:off x="548640" y="5065776"/>
            <a:ext cx="5532120" cy="969264"/>
          </a:xfrm>
          <a:prstGeom prst="roundRect">
            <a:avLst>
              <a:gd name="adj" fmla="val 7547"/>
            </a:avLst>
          </a:prstGeom>
          <a:solidFill>
            <a:srgbClr val="FFFFFF"/>
          </a:solidFill>
          <a:ln w="9525">
            <a:solidFill>
              <a:srgbClr val="E3E7EA"/>
            </a:solidFill>
            <a:prstDash val="solid"/>
          </a:ln>
        </p:spPr>
      </p:sp>
      <p:sp>
        <p:nvSpPr>
          <p:cNvPr id="21" name="Shape 19"/>
          <p:cNvSpPr/>
          <p:nvPr/>
        </p:nvSpPr>
        <p:spPr>
          <a:xfrm>
            <a:off x="749808" y="5266944"/>
            <a:ext cx="402336" cy="402336"/>
          </a:xfrm>
          <a:prstGeom prst="ellipse">
            <a:avLst/>
          </a:prstGeom>
          <a:solidFill>
            <a:srgbClr val="17795E"/>
          </a:solidFill>
          <a:ln/>
        </p:spPr>
      </p:sp>
      <p:sp>
        <p:nvSpPr>
          <p:cNvPr id="22" name="Text 20"/>
          <p:cNvSpPr txBox="1"/>
          <p:nvPr/>
        </p:nvSpPr>
        <p:spPr>
          <a:xfrm>
            <a:off x="749808" y="52669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1298448" y="5202936"/>
            <a:ext cx="4572000" cy="256032"/>
          </a:xfrm>
          <a:prstGeom prst="rect">
            <a:avLst/>
          </a:prstGeom>
          <a:noFill/>
          <a:ln/>
        </p:spPr>
        <p:txBody>
          <a:bodyPr wrap="square" lIns="0" tIns="0" rIns="0" bIns="0" rtlCol="0" anchor="ctr"/>
          <a:lstStyle/>
          <a:p>
            <a:pPr indent="0" marL="0">
              <a:buNone/>
            </a:pPr>
            <a:r>
              <a:rPr lang="en-US" sz="1250" b="1" dirty="0">
                <a:solidFill>
                  <a:srgbClr val="17795E"/>
                </a:solidFill>
                <a:latin typeface="Arial" pitchFamily="34" charset="0"/>
                <a:ea typeface="Arial" pitchFamily="34" charset="-122"/>
                <a:cs typeface="Arial" pitchFamily="34" charset="-120"/>
              </a:rPr>
              <a:t>Prove  </a:t>
            </a:r>
            <a:pPr indent="0" marL="0">
              <a:buNone/>
            </a:pPr>
            <a:r>
              <a:rPr lang="en-US" sz="1200" b="1" dirty="0">
                <a:solidFill>
                  <a:srgbClr val="0C1E33"/>
                </a:solidFill>
                <a:latin typeface="Arial" pitchFamily="34" charset="0"/>
                <a:ea typeface="Arial" pitchFamily="34" charset="-122"/>
                <a:cs typeface="Arial" pitchFamily="34" charset="-120"/>
              </a:rPr>
              <a:t>· The trail is permanent</a:t>
            </a:r>
            <a:endParaRPr lang="en-US" sz="1250" dirty="0"/>
          </a:p>
        </p:txBody>
      </p:sp>
      <p:sp>
        <p:nvSpPr>
          <p:cNvPr id="24" name="Text 22"/>
          <p:cNvSpPr txBox="1"/>
          <p:nvPr/>
        </p:nvSpPr>
        <p:spPr>
          <a:xfrm>
            <a:off x="1298448" y="547725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Who was assigned, when they were reminded, what they uploaded and when they submitted is written to the record. Audits become a report, not an investigation.</a:t>
            </a:r>
            <a:endParaRPr lang="en-US" sz="980" dirty="0"/>
          </a:p>
        </p:txBody>
      </p:sp>
      <p:pic>
        <p:nvPicPr>
          <p:cNvPr id="25" name="Image 0" descr="./img/inbox.jpg">    </p:cNvPr>
          <p:cNvPicPr>
            <a:picLocks noChangeAspect="1"/>
          </p:cNvPicPr>
          <p:nvPr/>
        </p:nvPicPr>
        <p:blipFill>
          <a:blip r:embed="rId1"/>
          <a:stretch>
            <a:fillRect/>
          </a:stretch>
        </p:blipFill>
        <p:spPr>
          <a:xfrm>
            <a:off x="6355080" y="1773936"/>
            <a:ext cx="5257800" cy="914400"/>
          </a:xfrm>
          <a:prstGeom prst="rect">
            <a:avLst/>
          </a:prstGeom>
          <a:effectLst>
            <a:outerShdw sx="100000" sy="100000" kx="0" ky="0" algn="bl" rotWithShape="0" blurRad="177800" dist="38100" dir="5400000">
              <a:srgbClr val="000000">
                <a:alpha val="20000"/>
              </a:srgbClr>
            </a:outerShdw>
          </a:effectLst>
        </p:spPr>
      </p:pic>
      <p:sp>
        <p:nvSpPr>
          <p:cNvPr id="26" name="Text 23"/>
          <p:cNvSpPr txBox="1"/>
          <p:nvPr/>
        </p:nvSpPr>
        <p:spPr>
          <a:xfrm>
            <a:off x="6355080" y="4443984"/>
            <a:ext cx="5257800" cy="512064"/>
          </a:xfrm>
          <a:prstGeom prst="rect">
            <a:avLst/>
          </a:prstGeom>
          <a:noFill/>
          <a:ln/>
        </p:spPr>
        <p:txBody>
          <a:bodyPr wrap="square" lIns="0" tIns="0" rIns="0" bIns="0" rtlCol="0" anchor="ctr"/>
          <a:lstStyle/>
          <a:p>
            <a:pPr indent="0" marL="0">
              <a:lnSpc>
                <a:spcPts val="1350"/>
              </a:lnSpc>
              <a:buNone/>
            </a:pPr>
            <a:r>
              <a:rPr lang="en-US" sz="980" i="1" dirty="0">
                <a:solidFill>
                  <a:srgbClr val="5A6C82"/>
                </a:solidFill>
                <a:latin typeface="Calibri" pitchFamily="34" charset="0"/>
                <a:ea typeface="Calibri" pitchFamily="34" charset="-122"/>
                <a:cs typeface="Calibri" pitchFamily="34" charset="-120"/>
              </a:rPr>
              <a:t>The officer’s inbox — pending tasks with type and due date on the left, the task itself on the right: assignee, due date, comment thread and the document that must come back before it can be submitted.</a:t>
            </a:r>
            <a:endParaRPr lang="en-US" sz="980" dirty="0"/>
          </a:p>
        </p:txBody>
      </p:sp>
      <p:sp>
        <p:nvSpPr>
          <p:cNvPr id="27" name="Shape 24"/>
          <p:cNvSpPr/>
          <p:nvPr/>
        </p:nvSpPr>
        <p:spPr>
          <a:xfrm>
            <a:off x="6355080" y="5084064"/>
            <a:ext cx="5257800" cy="512064"/>
          </a:xfrm>
          <a:prstGeom prst="roundRect">
            <a:avLst>
              <a:gd name="adj" fmla="val 10714"/>
            </a:avLst>
          </a:prstGeom>
          <a:solidFill>
            <a:srgbClr val="E4F5F3"/>
          </a:solidFill>
          <a:ln w="7620">
            <a:solidFill>
              <a:srgbClr val="BFE3DF"/>
            </a:solidFill>
            <a:prstDash val="solid"/>
          </a:ln>
        </p:spPr>
      </p:sp>
      <p:sp>
        <p:nvSpPr>
          <p:cNvPr id="28" name="Text 25"/>
          <p:cNvSpPr txBox="1"/>
          <p:nvPr/>
        </p:nvSpPr>
        <p:spPr>
          <a:xfrm>
            <a:off x="6519672" y="5084064"/>
            <a:ext cx="4937760" cy="512064"/>
          </a:xfrm>
          <a:prstGeom prst="rect">
            <a:avLst/>
          </a:prstGeom>
          <a:noFill/>
          <a:ln/>
        </p:spPr>
        <p:txBody>
          <a:bodyPr wrap="square" lIns="0" tIns="0" rIns="0" bIns="0" rtlCol="0" anchor="ctr"/>
          <a:lstStyle/>
          <a:p>
            <a:pPr indent="0" marL="0">
              <a:lnSpc>
                <a:spcPts val="1250"/>
              </a:lnSpc>
              <a:buNone/>
            </a:pPr>
            <a:r>
              <a:rPr lang="en-US" sz="930" b="1" dirty="0">
                <a:solidFill>
                  <a:srgbClr val="12756F"/>
                </a:solidFill>
                <a:latin typeface="Calibri" pitchFamily="34" charset="0"/>
                <a:ea typeface="Calibri" pitchFamily="34" charset="-122"/>
                <a:cs typeface="Calibri" pitchFamily="34" charset="-120"/>
              </a:rPr>
              <a:t>Delays surfaced at source  </a:t>
            </a:r>
            <a:pPr indent="0" marL="0">
              <a:lnSpc>
                <a:spcPts val="1250"/>
              </a:lnSpc>
              <a:buNone/>
            </a:pPr>
            <a:r>
              <a:rPr lang="en-US" sz="930" dirty="0">
                <a:solidFill>
                  <a:srgbClr val="0C1E33"/>
                </a:solidFill>
                <a:latin typeface="Calibri" pitchFamily="34" charset="0"/>
                <a:ea typeface="Calibri" pitchFamily="34" charset="-122"/>
                <a:cs typeface="Calibri" pitchFamily="34" charset="-120"/>
              </a:rPr>
              <a:t>The system shows where the wait actually is — the unsigned contract, the unbooked medical, the government step pending. The bottleneck has an address.</a:t>
            </a:r>
            <a:endParaRPr lang="en-US" sz="930" dirty="0"/>
          </a:p>
        </p:txBody>
      </p:sp>
      <p:sp>
        <p:nvSpPr>
          <p:cNvPr id="29" name="Shape 26"/>
          <p:cNvSpPr/>
          <p:nvPr/>
        </p:nvSpPr>
        <p:spPr>
          <a:xfrm>
            <a:off x="6355080" y="5687568"/>
            <a:ext cx="5257800" cy="512064"/>
          </a:xfrm>
          <a:prstGeom prst="roundRect">
            <a:avLst>
              <a:gd name="adj" fmla="val 10714"/>
            </a:avLst>
          </a:prstGeom>
          <a:solidFill>
            <a:srgbClr val="E4F5F3"/>
          </a:solidFill>
          <a:ln w="7620">
            <a:solidFill>
              <a:srgbClr val="BFE3DF"/>
            </a:solidFill>
            <a:prstDash val="solid"/>
          </a:ln>
        </p:spPr>
      </p:sp>
      <p:sp>
        <p:nvSpPr>
          <p:cNvPr id="30" name="Text 27"/>
          <p:cNvSpPr txBox="1"/>
          <p:nvPr/>
        </p:nvSpPr>
        <p:spPr>
          <a:xfrm>
            <a:off x="6519672" y="5687568"/>
            <a:ext cx="4937760" cy="512064"/>
          </a:xfrm>
          <a:prstGeom prst="rect">
            <a:avLst/>
          </a:prstGeom>
          <a:noFill/>
          <a:ln/>
        </p:spPr>
        <p:txBody>
          <a:bodyPr wrap="square" lIns="0" tIns="0" rIns="0" bIns="0" rtlCol="0" anchor="ctr"/>
          <a:lstStyle/>
          <a:p>
            <a:pPr indent="0" marL="0">
              <a:lnSpc>
                <a:spcPts val="1250"/>
              </a:lnSpc>
              <a:buNone/>
            </a:pPr>
            <a:r>
              <a:rPr lang="en-US" sz="930" b="1" dirty="0">
                <a:solidFill>
                  <a:srgbClr val="12756F"/>
                </a:solidFill>
                <a:latin typeface="Calibri" pitchFamily="34" charset="0"/>
                <a:ea typeface="Calibri" pitchFamily="34" charset="-122"/>
                <a:cs typeface="Calibri" pitchFamily="34" charset="-120"/>
              </a:rPr>
              <a:t>Workload made visible  </a:t>
            </a:r>
            <a:pPr indent="0" marL="0">
              <a:lnSpc>
                <a:spcPts val="1250"/>
              </a:lnSpc>
              <a:buNone/>
            </a:pPr>
            <a:r>
              <a:rPr lang="en-US" sz="930" dirty="0">
                <a:solidFill>
                  <a:srgbClr val="0C1E33"/>
                </a:solidFill>
                <a:latin typeface="Calibri" pitchFamily="34" charset="0"/>
                <a:ea typeface="Calibri" pitchFamily="34" charset="-122"/>
                <a:cs typeface="Calibri" pitchFamily="34" charset="-120"/>
              </a:rPr>
              <a:t>HR admins can see how many assignments each officer has completed, so work is distributed on evidence rather than on who complains loudest.</a:t>
            </a:r>
            <a:endParaRPr lang="en-US" sz="930" dirty="0"/>
          </a:p>
        </p:txBody>
      </p:sp>
      <p:sp>
        <p:nvSpPr>
          <p:cNvPr id="31" name="Text 2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32" name="Text 2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FINANCIAL CONTROL</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No payment without a receipt and a GL account.</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Government fees are the leakiest part of permit management. Making the payment part of the task means the money cannot move without leaving a record.</a:t>
            </a:r>
            <a:endParaRPr lang="en-US" sz="1300" dirty="0"/>
          </a:p>
        </p:txBody>
      </p:sp>
      <p:sp>
        <p:nvSpPr>
          <p:cNvPr id="5" name="Shape 3"/>
          <p:cNvSpPr/>
          <p:nvPr/>
        </p:nvSpPr>
        <p:spPr>
          <a:xfrm>
            <a:off x="548640" y="1773936"/>
            <a:ext cx="2103120" cy="1481328"/>
          </a:xfrm>
          <a:prstGeom prst="roundRect">
            <a:avLst>
              <a:gd name="adj" fmla="val 4938"/>
            </a:avLst>
          </a:prstGeom>
          <a:solidFill>
            <a:srgbClr val="F4F6F7"/>
          </a:solidFill>
          <a:ln w="9525">
            <a:solidFill>
              <a:srgbClr val="E3E7EA"/>
            </a:solidFill>
            <a:prstDash val="solid"/>
          </a:ln>
        </p:spPr>
      </p:sp>
      <p:sp>
        <p:nvSpPr>
          <p:cNvPr id="6" name="Shape 4"/>
          <p:cNvSpPr/>
          <p:nvPr/>
        </p:nvSpPr>
        <p:spPr>
          <a:xfrm>
            <a:off x="713232" y="1938528"/>
            <a:ext cx="347472" cy="347472"/>
          </a:xfrm>
          <a:prstGeom prst="ellipse">
            <a:avLst/>
          </a:prstGeom>
          <a:solidFill>
            <a:srgbClr val="20A098"/>
          </a:solidFill>
          <a:ln/>
        </p:spPr>
      </p:sp>
      <p:sp>
        <p:nvSpPr>
          <p:cNvPr id="7" name="Text 5"/>
          <p:cNvSpPr txBox="1"/>
          <p:nvPr/>
        </p:nvSpPr>
        <p:spPr>
          <a:xfrm>
            <a:off x="713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8" name="Text 6"/>
          <p:cNvSpPr txBox="1"/>
          <p:nvPr/>
        </p:nvSpPr>
        <p:spPr>
          <a:xfrm>
            <a:off x="713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Captured in the step</a:t>
            </a:r>
            <a:endParaRPr lang="en-US" sz="1100" dirty="0"/>
          </a:p>
        </p:txBody>
      </p:sp>
      <p:sp>
        <p:nvSpPr>
          <p:cNvPr id="9" name="Text 7"/>
          <p:cNvSpPr txBox="1"/>
          <p:nvPr/>
        </p:nvSpPr>
        <p:spPr>
          <a:xfrm>
            <a:off x="713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Amount, VAT, mode, date and reference are mandatory fields on the milestone form itself.</a:t>
            </a:r>
            <a:endParaRPr lang="en-US" sz="930" dirty="0"/>
          </a:p>
        </p:txBody>
      </p:sp>
      <p:sp>
        <p:nvSpPr>
          <p:cNvPr id="10" name="Shape 8"/>
          <p:cNvSpPr/>
          <p:nvPr/>
        </p:nvSpPr>
        <p:spPr>
          <a:xfrm>
            <a:off x="2834640" y="1773936"/>
            <a:ext cx="2103120" cy="1481328"/>
          </a:xfrm>
          <a:prstGeom prst="roundRect">
            <a:avLst>
              <a:gd name="adj" fmla="val 4938"/>
            </a:avLst>
          </a:prstGeom>
          <a:solidFill>
            <a:srgbClr val="F4F6F7"/>
          </a:solidFill>
          <a:ln w="9525">
            <a:solidFill>
              <a:srgbClr val="E3E7EA"/>
            </a:solidFill>
            <a:prstDash val="solid"/>
          </a:ln>
        </p:spPr>
      </p:sp>
      <p:sp>
        <p:nvSpPr>
          <p:cNvPr id="11" name="Shape 9"/>
          <p:cNvSpPr/>
          <p:nvPr/>
        </p:nvSpPr>
        <p:spPr>
          <a:xfrm>
            <a:off x="2999232" y="1938528"/>
            <a:ext cx="347472" cy="347472"/>
          </a:xfrm>
          <a:prstGeom prst="ellipse">
            <a:avLst/>
          </a:prstGeom>
          <a:solidFill>
            <a:srgbClr val="20A098"/>
          </a:solidFill>
          <a:ln/>
        </p:spPr>
      </p:sp>
      <p:sp>
        <p:nvSpPr>
          <p:cNvPr id="12" name="Text 10"/>
          <p:cNvSpPr txBox="1"/>
          <p:nvPr/>
        </p:nvSpPr>
        <p:spPr>
          <a:xfrm>
            <a:off x="2999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02</a:t>
            </a:r>
            <a:endParaRPr lang="en-US" sz="1050" dirty="0"/>
          </a:p>
        </p:txBody>
      </p:sp>
      <p:sp>
        <p:nvSpPr>
          <p:cNvPr id="13" name="Text 11"/>
          <p:cNvSpPr txBox="1"/>
          <p:nvPr/>
        </p:nvSpPr>
        <p:spPr>
          <a:xfrm>
            <a:off x="2999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Receipt attached</a:t>
            </a:r>
            <a:endParaRPr lang="en-US" sz="1100" dirty="0"/>
          </a:p>
        </p:txBody>
      </p:sp>
      <p:sp>
        <p:nvSpPr>
          <p:cNvPr id="14" name="Text 12"/>
          <p:cNvSpPr txBox="1"/>
          <p:nvPr/>
        </p:nvSpPr>
        <p:spPr>
          <a:xfrm>
            <a:off x="2999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The scanned receipt is a required attachment. No file, no submit — the milestone stays open.</a:t>
            </a:r>
            <a:endParaRPr lang="en-US" sz="930" dirty="0"/>
          </a:p>
        </p:txBody>
      </p:sp>
      <p:sp>
        <p:nvSpPr>
          <p:cNvPr id="15" name="Shape 13"/>
          <p:cNvSpPr/>
          <p:nvPr/>
        </p:nvSpPr>
        <p:spPr>
          <a:xfrm>
            <a:off x="5120640" y="1773936"/>
            <a:ext cx="2103120" cy="1481328"/>
          </a:xfrm>
          <a:prstGeom prst="roundRect">
            <a:avLst>
              <a:gd name="adj" fmla="val 4938"/>
            </a:avLst>
          </a:prstGeom>
          <a:solidFill>
            <a:srgbClr val="F4F6F7"/>
          </a:solidFill>
          <a:ln w="9525">
            <a:solidFill>
              <a:srgbClr val="E3E7EA"/>
            </a:solidFill>
            <a:prstDash val="solid"/>
          </a:ln>
        </p:spPr>
      </p:sp>
      <p:sp>
        <p:nvSpPr>
          <p:cNvPr id="16" name="Shape 14"/>
          <p:cNvSpPr/>
          <p:nvPr/>
        </p:nvSpPr>
        <p:spPr>
          <a:xfrm>
            <a:off x="5285232" y="1938528"/>
            <a:ext cx="347472" cy="347472"/>
          </a:xfrm>
          <a:prstGeom prst="ellipse">
            <a:avLst/>
          </a:prstGeom>
          <a:solidFill>
            <a:srgbClr val="20A098"/>
          </a:solidFill>
          <a:ln/>
        </p:spPr>
      </p:sp>
      <p:sp>
        <p:nvSpPr>
          <p:cNvPr id="17" name="Text 15"/>
          <p:cNvSpPr txBox="1"/>
          <p:nvPr/>
        </p:nvSpPr>
        <p:spPr>
          <a:xfrm>
            <a:off x="5285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18" name="Text 16"/>
          <p:cNvSpPr txBox="1"/>
          <p:nvPr/>
        </p:nvSpPr>
        <p:spPr>
          <a:xfrm>
            <a:off x="5285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Card holder recorded</a:t>
            </a:r>
            <a:endParaRPr lang="en-US" sz="1100" dirty="0"/>
          </a:p>
        </p:txBody>
      </p:sp>
      <p:sp>
        <p:nvSpPr>
          <p:cNvPr id="19" name="Text 17"/>
          <p:cNvSpPr txBox="1"/>
          <p:nvPr/>
        </p:nvSpPr>
        <p:spPr>
          <a:xfrm>
            <a:off x="5285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Who paid, on whose card, and whether the company or the employee bears the cost.</a:t>
            </a:r>
            <a:endParaRPr lang="en-US" sz="930" dirty="0"/>
          </a:p>
        </p:txBody>
      </p:sp>
      <p:sp>
        <p:nvSpPr>
          <p:cNvPr id="20" name="Shape 18"/>
          <p:cNvSpPr/>
          <p:nvPr/>
        </p:nvSpPr>
        <p:spPr>
          <a:xfrm>
            <a:off x="7406640" y="1773936"/>
            <a:ext cx="2103120" cy="1481328"/>
          </a:xfrm>
          <a:prstGeom prst="roundRect">
            <a:avLst>
              <a:gd name="adj" fmla="val 4938"/>
            </a:avLst>
          </a:prstGeom>
          <a:solidFill>
            <a:srgbClr val="F4F6F7"/>
          </a:solidFill>
          <a:ln w="9525">
            <a:solidFill>
              <a:srgbClr val="E3E7EA"/>
            </a:solidFill>
            <a:prstDash val="solid"/>
          </a:ln>
        </p:spPr>
      </p:sp>
      <p:sp>
        <p:nvSpPr>
          <p:cNvPr id="21" name="Shape 19"/>
          <p:cNvSpPr/>
          <p:nvPr/>
        </p:nvSpPr>
        <p:spPr>
          <a:xfrm>
            <a:off x="7571232" y="1938528"/>
            <a:ext cx="347472" cy="347472"/>
          </a:xfrm>
          <a:prstGeom prst="ellipse">
            <a:avLst/>
          </a:prstGeom>
          <a:solidFill>
            <a:srgbClr val="20A098"/>
          </a:solidFill>
          <a:ln/>
        </p:spPr>
      </p:sp>
      <p:sp>
        <p:nvSpPr>
          <p:cNvPr id="22" name="Text 20"/>
          <p:cNvSpPr txBox="1"/>
          <p:nvPr/>
        </p:nvSpPr>
        <p:spPr>
          <a:xfrm>
            <a:off x="7571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04</a:t>
            </a:r>
            <a:endParaRPr lang="en-US" sz="1050" dirty="0"/>
          </a:p>
        </p:txBody>
      </p:sp>
      <p:sp>
        <p:nvSpPr>
          <p:cNvPr id="23" name="Text 21"/>
          <p:cNvSpPr txBox="1"/>
          <p:nvPr/>
        </p:nvSpPr>
        <p:spPr>
          <a:xfrm>
            <a:off x="7571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Posted to finance</a:t>
            </a:r>
            <a:endParaRPr lang="en-US" sz="1100" dirty="0"/>
          </a:p>
        </p:txBody>
      </p:sp>
      <p:sp>
        <p:nvSpPr>
          <p:cNvPr id="24" name="Text 22"/>
          <p:cNvSpPr txBox="1"/>
          <p:nvPr/>
        </p:nvSpPr>
        <p:spPr>
          <a:xfrm>
            <a:off x="7571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Published to the correct GL account with a payment document number for journal posting.</a:t>
            </a:r>
            <a:endParaRPr lang="en-US" sz="930" dirty="0"/>
          </a:p>
        </p:txBody>
      </p:sp>
      <p:sp>
        <p:nvSpPr>
          <p:cNvPr id="25" name="Shape 23"/>
          <p:cNvSpPr/>
          <p:nvPr/>
        </p:nvSpPr>
        <p:spPr>
          <a:xfrm>
            <a:off x="9692640" y="1773936"/>
            <a:ext cx="2103120" cy="1481328"/>
          </a:xfrm>
          <a:prstGeom prst="roundRect">
            <a:avLst>
              <a:gd name="adj" fmla="val 4938"/>
            </a:avLst>
          </a:prstGeom>
          <a:solidFill>
            <a:srgbClr val="F4F6F7"/>
          </a:solidFill>
          <a:ln w="9525">
            <a:solidFill>
              <a:srgbClr val="E3E7EA"/>
            </a:solidFill>
            <a:prstDash val="solid"/>
          </a:ln>
        </p:spPr>
      </p:sp>
      <p:sp>
        <p:nvSpPr>
          <p:cNvPr id="26" name="Shape 24"/>
          <p:cNvSpPr/>
          <p:nvPr/>
        </p:nvSpPr>
        <p:spPr>
          <a:xfrm>
            <a:off x="9857232" y="1938528"/>
            <a:ext cx="347472" cy="347472"/>
          </a:xfrm>
          <a:prstGeom prst="ellipse">
            <a:avLst/>
          </a:prstGeom>
          <a:solidFill>
            <a:srgbClr val="20A098"/>
          </a:solidFill>
          <a:ln/>
        </p:spPr>
      </p:sp>
      <p:sp>
        <p:nvSpPr>
          <p:cNvPr id="27" name="Text 25"/>
          <p:cNvSpPr txBox="1"/>
          <p:nvPr/>
        </p:nvSpPr>
        <p:spPr>
          <a:xfrm>
            <a:off x="9857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05</a:t>
            </a:r>
            <a:endParaRPr lang="en-US" sz="1050" dirty="0"/>
          </a:p>
        </p:txBody>
      </p:sp>
      <p:sp>
        <p:nvSpPr>
          <p:cNvPr id="28" name="Text 26"/>
          <p:cNvSpPr txBox="1"/>
          <p:nvPr/>
        </p:nvSpPr>
        <p:spPr>
          <a:xfrm>
            <a:off x="9857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Reportable</a:t>
            </a:r>
            <a:endParaRPr lang="en-US" sz="1100" dirty="0"/>
          </a:p>
        </p:txBody>
      </p:sp>
      <p:sp>
        <p:nvSpPr>
          <p:cNvPr id="29" name="Text 27"/>
          <p:cNvSpPr txBox="1"/>
          <p:nvPr/>
        </p:nvSpPr>
        <p:spPr>
          <a:xfrm>
            <a:off x="9857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Filterable by process, company, employee, date, mode or card holder — then exported.</a:t>
            </a:r>
            <a:endParaRPr lang="en-US" sz="930" dirty="0"/>
          </a:p>
        </p:txBody>
      </p:sp>
      <p:sp>
        <p:nvSpPr>
          <p:cNvPr id="30" name="Shape 28"/>
          <p:cNvSpPr/>
          <p:nvPr/>
        </p:nvSpPr>
        <p:spPr>
          <a:xfrm>
            <a:off x="548640" y="3493008"/>
            <a:ext cx="5532120" cy="640080"/>
          </a:xfrm>
          <a:prstGeom prst="roundRect">
            <a:avLst>
              <a:gd name="adj" fmla="val 8571"/>
            </a:avLst>
          </a:prstGeom>
          <a:solidFill>
            <a:srgbClr val="FFFFFF"/>
          </a:solidFill>
          <a:ln w="9525">
            <a:solidFill>
              <a:srgbClr val="E3E7EA"/>
            </a:solidFill>
            <a:prstDash val="solid"/>
          </a:ln>
        </p:spPr>
      </p:sp>
      <p:sp>
        <p:nvSpPr>
          <p:cNvPr id="31" name="Shape 29"/>
          <p:cNvSpPr/>
          <p:nvPr/>
        </p:nvSpPr>
        <p:spPr>
          <a:xfrm>
            <a:off x="713232" y="3630168"/>
            <a:ext cx="365760" cy="365760"/>
          </a:xfrm>
          <a:prstGeom prst="ellipse">
            <a:avLst/>
          </a:prstGeom>
          <a:solidFill>
            <a:srgbClr val="17795E"/>
          </a:solidFill>
          <a:ln/>
        </p:spPr>
      </p:sp>
      <p:sp>
        <p:nvSpPr>
          <p:cNvPr id="32" name="Text 30"/>
          <p:cNvSpPr txBox="1"/>
          <p:nvPr/>
        </p:nvSpPr>
        <p:spPr>
          <a:xfrm>
            <a:off x="713232" y="36301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txBox="1"/>
          <p:nvPr/>
        </p:nvSpPr>
        <p:spPr>
          <a:xfrm>
            <a:off x="1207008" y="3557016"/>
            <a:ext cx="475488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No duplicate payments</a:t>
            </a:r>
            <a:endParaRPr lang="en-US" sz="1150" dirty="0"/>
          </a:p>
        </p:txBody>
      </p:sp>
      <p:sp>
        <p:nvSpPr>
          <p:cNvPr id="34" name="Text 32"/>
          <p:cNvSpPr txBox="1"/>
          <p:nvPr/>
        </p:nvSpPr>
        <p:spPr>
          <a:xfrm>
            <a:off x="1207008" y="3776472"/>
            <a:ext cx="4754880" cy="310896"/>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A reference is captured against a specific milestone of a specific case, so the same fee cannot be recorded twice against the same step.</a:t>
            </a:r>
            <a:endParaRPr lang="en-US" sz="900" dirty="0"/>
          </a:p>
        </p:txBody>
      </p:sp>
      <p:sp>
        <p:nvSpPr>
          <p:cNvPr id="35" name="Shape 33"/>
          <p:cNvSpPr/>
          <p:nvPr/>
        </p:nvSpPr>
        <p:spPr>
          <a:xfrm>
            <a:off x="548640" y="4224528"/>
            <a:ext cx="5532120" cy="640080"/>
          </a:xfrm>
          <a:prstGeom prst="roundRect">
            <a:avLst>
              <a:gd name="adj" fmla="val 8571"/>
            </a:avLst>
          </a:prstGeom>
          <a:solidFill>
            <a:srgbClr val="FFFFFF"/>
          </a:solidFill>
          <a:ln w="9525">
            <a:solidFill>
              <a:srgbClr val="E3E7EA"/>
            </a:solidFill>
            <a:prstDash val="solid"/>
          </a:ln>
        </p:spPr>
      </p:sp>
      <p:sp>
        <p:nvSpPr>
          <p:cNvPr id="36" name="Shape 34"/>
          <p:cNvSpPr/>
          <p:nvPr/>
        </p:nvSpPr>
        <p:spPr>
          <a:xfrm>
            <a:off x="713232" y="4361688"/>
            <a:ext cx="365760" cy="365760"/>
          </a:xfrm>
          <a:prstGeom prst="ellipse">
            <a:avLst/>
          </a:prstGeom>
          <a:solidFill>
            <a:srgbClr val="17795E"/>
          </a:solidFill>
          <a:ln/>
        </p:spPr>
      </p:sp>
      <p:sp>
        <p:nvSpPr>
          <p:cNvPr id="37" name="Text 35"/>
          <p:cNvSpPr txBox="1"/>
          <p:nvPr/>
        </p:nvSpPr>
        <p:spPr>
          <a:xfrm>
            <a:off x="713232" y="43616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8" name="Text 36"/>
          <p:cNvSpPr txBox="1"/>
          <p:nvPr/>
        </p:nvSpPr>
        <p:spPr>
          <a:xfrm>
            <a:off x="1207008" y="4288536"/>
            <a:ext cx="475488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No unaccounted spend</a:t>
            </a:r>
            <a:endParaRPr lang="en-US" sz="1150" dirty="0"/>
          </a:p>
        </p:txBody>
      </p:sp>
      <p:sp>
        <p:nvSpPr>
          <p:cNvPr id="39" name="Text 37"/>
          <p:cNvSpPr txBox="1"/>
          <p:nvPr/>
        </p:nvSpPr>
        <p:spPr>
          <a:xfrm>
            <a:off x="1207008" y="4507992"/>
            <a:ext cx="4754880" cy="310896"/>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Every payment leaves with a GL account and a document number. Finance reconciles from the report, not a shoebox of receipts.</a:t>
            </a:r>
            <a:endParaRPr lang="en-US" sz="900" dirty="0"/>
          </a:p>
        </p:txBody>
      </p:sp>
      <p:sp>
        <p:nvSpPr>
          <p:cNvPr id="40" name="Shape 38"/>
          <p:cNvSpPr/>
          <p:nvPr/>
        </p:nvSpPr>
        <p:spPr>
          <a:xfrm>
            <a:off x="548640" y="4956048"/>
            <a:ext cx="5532120" cy="640080"/>
          </a:xfrm>
          <a:prstGeom prst="roundRect">
            <a:avLst>
              <a:gd name="adj" fmla="val 8571"/>
            </a:avLst>
          </a:prstGeom>
          <a:solidFill>
            <a:srgbClr val="FFFFFF"/>
          </a:solidFill>
          <a:ln w="9525">
            <a:solidFill>
              <a:srgbClr val="E3E7EA"/>
            </a:solidFill>
            <a:prstDash val="solid"/>
          </a:ln>
        </p:spPr>
      </p:sp>
      <p:sp>
        <p:nvSpPr>
          <p:cNvPr id="41" name="Shape 39"/>
          <p:cNvSpPr/>
          <p:nvPr/>
        </p:nvSpPr>
        <p:spPr>
          <a:xfrm>
            <a:off x="713232" y="5093208"/>
            <a:ext cx="365760" cy="365760"/>
          </a:xfrm>
          <a:prstGeom prst="ellipse">
            <a:avLst/>
          </a:prstGeom>
          <a:solidFill>
            <a:srgbClr val="17795E"/>
          </a:solidFill>
          <a:ln/>
        </p:spPr>
      </p:sp>
      <p:sp>
        <p:nvSpPr>
          <p:cNvPr id="42" name="Text 40"/>
          <p:cNvSpPr txBox="1"/>
          <p:nvPr/>
        </p:nvSpPr>
        <p:spPr>
          <a:xfrm>
            <a:off x="713232" y="50932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3" name="Text 41"/>
          <p:cNvSpPr txBox="1"/>
          <p:nvPr/>
        </p:nvSpPr>
        <p:spPr>
          <a:xfrm>
            <a:off x="1207008" y="5020056"/>
            <a:ext cx="475488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Fines have a workflow too</a:t>
            </a:r>
            <a:endParaRPr lang="en-US" sz="1150" dirty="0"/>
          </a:p>
        </p:txBody>
      </p:sp>
      <p:sp>
        <p:nvSpPr>
          <p:cNvPr id="44" name="Text 42"/>
          <p:cNvSpPr txBox="1"/>
          <p:nvPr/>
        </p:nvSpPr>
        <p:spPr>
          <a:xfrm>
            <a:off x="1207008" y="5239512"/>
            <a:ext cx="4754880" cy="310896"/>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Overstay, traffic, labour and immigration fines are raised by the PRO, routed via the HRBP to payroll, and stored as a deduction.</a:t>
            </a:r>
            <a:endParaRPr lang="en-US" sz="900" dirty="0"/>
          </a:p>
        </p:txBody>
      </p:sp>
      <p:pic>
        <p:nvPicPr>
          <p:cNvPr id="45" name="Image 0" descr="./img/payment.jpg">    </p:cNvPr>
          <p:cNvPicPr>
            <a:picLocks noChangeAspect="1"/>
          </p:cNvPicPr>
          <p:nvPr/>
        </p:nvPicPr>
        <p:blipFill>
          <a:blip r:embed="rId1"/>
          <a:stretch>
            <a:fillRect/>
          </a:stretch>
        </p:blipFill>
        <p:spPr>
          <a:xfrm>
            <a:off x="6355080" y="3493008"/>
            <a:ext cx="5257800" cy="914400"/>
          </a:xfrm>
          <a:prstGeom prst="rect">
            <a:avLst/>
          </a:prstGeom>
          <a:effectLst>
            <a:outerShdw sx="100000" sy="100000" kx="0" ky="0" algn="bl" rotWithShape="0" blurRad="177800" dist="38100" dir="5400000">
              <a:srgbClr val="000000">
                <a:alpha val="20000"/>
              </a:srgbClr>
            </a:outerShdw>
          </a:effectLst>
        </p:spPr>
      </p:pic>
      <p:sp>
        <p:nvSpPr>
          <p:cNvPr id="46" name="Text 43"/>
          <p:cNvSpPr txBox="1"/>
          <p:nvPr/>
        </p:nvSpPr>
        <p:spPr>
          <a:xfrm>
            <a:off x="6355080" y="5961888"/>
            <a:ext cx="5257800" cy="384048"/>
          </a:xfrm>
          <a:prstGeom prst="rect">
            <a:avLst/>
          </a:prstGeom>
          <a:noFill/>
          <a:ln/>
        </p:spPr>
        <p:txBody>
          <a:bodyPr wrap="square" lIns="0" tIns="0" rIns="0" bIns="0" rtlCol="0" anchor="ctr"/>
          <a:lstStyle/>
          <a:p>
            <a:pPr indent="0" marL="0">
              <a:lnSpc>
                <a:spcPts val="1350"/>
              </a:lnSpc>
              <a:buNone/>
            </a:pPr>
            <a:r>
              <a:rPr lang="en-US" sz="980" i="1" dirty="0">
                <a:solidFill>
                  <a:srgbClr val="5A6C82"/>
                </a:solidFill>
                <a:latin typeface="Calibri" pitchFamily="34" charset="0"/>
                <a:ea typeface="Calibri" pitchFamily="34" charset="-122"/>
                <a:cs typeface="Calibri" pitchFamily="34" charset="-120"/>
              </a:rPr>
              <a:t>Every row is auditable: amount, VAT, payment reference, payment document number, GL account and status — with the original receipt one click away under Download.</a:t>
            </a:r>
            <a:endParaRPr lang="en-US" sz="980" dirty="0"/>
          </a:p>
        </p:txBody>
      </p:sp>
      <p:sp>
        <p:nvSpPr>
          <p:cNvPr id="47" name="Text 44"/>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48" name="Text 45"/>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9509760" y="-2377440"/>
            <a:ext cx="5852160" cy="5852160"/>
          </a:xfrm>
          <a:prstGeom prst="ellipse">
            <a:avLst/>
          </a:prstGeom>
          <a:solidFill>
            <a:srgbClr val="20A098">
              <a:alpha val="10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GCC COVERAGE</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One engine. Seven rulebooks.</a:t>
            </a:r>
            <a:endParaRPr lang="en-US" sz="3000" dirty="0"/>
          </a:p>
        </p:txBody>
      </p:sp>
      <p:sp>
        <p:nvSpPr>
          <p:cNvPr id="5" name="Text 3"/>
          <p:cNvSpPr txBox="1"/>
          <p:nvPr/>
        </p:nvSpPr>
        <p:spPr>
          <a:xfrm>
            <a:off x="548640" y="1243584"/>
            <a:ext cx="10424160" cy="329184"/>
          </a:xfrm>
          <a:prstGeom prst="rect">
            <a:avLst/>
          </a:prstGeom>
          <a:noFill/>
          <a:ln/>
        </p:spPr>
        <p:txBody>
          <a:bodyPr wrap="square" lIns="0" tIns="0" rIns="0" bIns="0" rtlCol="0" anchor="ctr"/>
          <a:lstStyle/>
          <a:p>
            <a:pPr indent="0" marL="0">
              <a:buNone/>
            </a:pPr>
            <a:r>
              <a:rPr lang="en-US" sz="1250" dirty="0">
                <a:solidFill>
                  <a:srgbClr val="A9C2DA"/>
                </a:solidFill>
                <a:latin typeface="Calibri" pitchFamily="34" charset="0"/>
                <a:ea typeface="Calibri" pitchFamily="34" charset="-122"/>
                <a:cs typeface="Calibri" pitchFamily="34" charset="-120"/>
              </a:rPr>
              <a:t>Labour law is national, so the process must be too. The workflow engine, task model, payment capture and reporting stay identical — what changes per country is the milestone set, the authorities, the document checklist and the alert thresholds.</a:t>
            </a:r>
            <a:endParaRPr lang="en-US" sz="1250" dirty="0"/>
          </a:p>
        </p:txBody>
      </p:sp>
      <p:sp>
        <p:nvSpPr>
          <p:cNvPr id="6" name="Shape 4"/>
          <p:cNvSpPr/>
          <p:nvPr/>
        </p:nvSpPr>
        <p:spPr>
          <a:xfrm>
            <a:off x="548640" y="1737360"/>
            <a:ext cx="10424160" cy="530352"/>
          </a:xfrm>
          <a:prstGeom prst="roundRect">
            <a:avLst>
              <a:gd name="adj" fmla="val 8621"/>
            </a:avLst>
          </a:prstGeom>
          <a:solidFill>
            <a:srgbClr val="123A4E"/>
          </a:solidFill>
          <a:ln w="9525">
            <a:solidFill>
              <a:srgbClr val="12756F"/>
            </a:solidFill>
            <a:prstDash val="solid"/>
          </a:ln>
        </p:spPr>
      </p:sp>
      <p:sp>
        <p:nvSpPr>
          <p:cNvPr id="7" name="Text 5"/>
          <p:cNvSpPr txBox="1"/>
          <p:nvPr/>
        </p:nvSpPr>
        <p:spPr>
          <a:xfrm>
            <a:off x="749808" y="1778508"/>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United Arab Emirates</a:t>
            </a:r>
            <a:endParaRPr lang="en-US" sz="1150" dirty="0"/>
          </a:p>
        </p:txBody>
      </p:sp>
      <p:sp>
        <p:nvSpPr>
          <p:cNvPr id="8" name="Shape 6"/>
          <p:cNvSpPr/>
          <p:nvPr/>
        </p:nvSpPr>
        <p:spPr>
          <a:xfrm>
            <a:off x="749808" y="2020824"/>
            <a:ext cx="566928" cy="173736"/>
          </a:xfrm>
          <a:prstGeom prst="roundRect">
            <a:avLst>
              <a:gd name="adj" fmla="val 52632"/>
            </a:avLst>
          </a:prstGeom>
          <a:solidFill>
            <a:srgbClr val="17795E"/>
          </a:solidFill>
          <a:ln/>
        </p:spPr>
      </p:sp>
      <p:sp>
        <p:nvSpPr>
          <p:cNvPr id="9" name="Text 7"/>
          <p:cNvSpPr txBox="1"/>
          <p:nvPr/>
        </p:nvSpPr>
        <p:spPr>
          <a:xfrm>
            <a:off x="749808" y="2020824"/>
            <a:ext cx="566928" cy="17373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LIVE</a:t>
            </a:r>
            <a:endParaRPr lang="en-US" sz="750" dirty="0"/>
          </a:p>
        </p:txBody>
      </p:sp>
      <p:sp>
        <p:nvSpPr>
          <p:cNvPr id="10" name="Text 8"/>
          <p:cNvSpPr txBox="1"/>
          <p:nvPr/>
        </p:nvSpPr>
        <p:spPr>
          <a:xfrm>
            <a:off x="3200400" y="1792224"/>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MOHRE  ·  ICP  ·  GDRFA  ·  Tasheel / Tawjeeh  ·  ILOE</a:t>
            </a:r>
            <a:endParaRPr lang="en-US" sz="900" dirty="0"/>
          </a:p>
        </p:txBody>
      </p:sp>
      <p:sp>
        <p:nvSpPr>
          <p:cNvPr id="11" name="Text 9"/>
          <p:cNvSpPr txBox="1"/>
          <p:nvPr/>
        </p:nvSpPr>
        <p:spPr>
          <a:xfrm>
            <a:off x="7132320" y="1792224"/>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New, renew, cancel, quota, temporary permit, Emiratisation, absconding, company documents</a:t>
            </a:r>
            <a:endParaRPr lang="en-US" sz="860" dirty="0"/>
          </a:p>
        </p:txBody>
      </p:sp>
      <p:sp>
        <p:nvSpPr>
          <p:cNvPr id="12" name="Shape 10"/>
          <p:cNvSpPr/>
          <p:nvPr/>
        </p:nvSpPr>
        <p:spPr>
          <a:xfrm>
            <a:off x="548640" y="2322576"/>
            <a:ext cx="10424160" cy="530352"/>
          </a:xfrm>
          <a:prstGeom prst="roundRect">
            <a:avLst>
              <a:gd name="adj" fmla="val 8621"/>
            </a:avLst>
          </a:prstGeom>
          <a:solidFill>
            <a:srgbClr val="16304C"/>
          </a:solidFill>
          <a:ln w="9525">
            <a:solidFill>
              <a:srgbClr val="27415C"/>
            </a:solidFill>
            <a:prstDash val="solid"/>
          </a:ln>
        </p:spPr>
      </p:sp>
      <p:sp>
        <p:nvSpPr>
          <p:cNvPr id="13" name="Text 11"/>
          <p:cNvSpPr txBox="1"/>
          <p:nvPr/>
        </p:nvSpPr>
        <p:spPr>
          <a:xfrm>
            <a:off x="749808" y="2363724"/>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Kingdom of Saudi Arabia</a:t>
            </a:r>
            <a:endParaRPr lang="en-US" sz="1150" dirty="0"/>
          </a:p>
        </p:txBody>
      </p:sp>
      <p:sp>
        <p:nvSpPr>
          <p:cNvPr id="14" name="Shape 12"/>
          <p:cNvSpPr/>
          <p:nvPr/>
        </p:nvSpPr>
        <p:spPr>
          <a:xfrm>
            <a:off x="749808" y="2606040"/>
            <a:ext cx="566928" cy="173736"/>
          </a:xfrm>
          <a:prstGeom prst="roundRect">
            <a:avLst>
              <a:gd name="adj" fmla="val 52632"/>
            </a:avLst>
          </a:prstGeom>
          <a:solidFill>
            <a:srgbClr val="C9A227"/>
          </a:solidFill>
          <a:ln/>
        </p:spPr>
      </p:sp>
      <p:sp>
        <p:nvSpPr>
          <p:cNvPr id="15" name="Text 13"/>
          <p:cNvSpPr txBox="1"/>
          <p:nvPr/>
        </p:nvSpPr>
        <p:spPr>
          <a:xfrm>
            <a:off x="749808" y="2606040"/>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16" name="Text 14"/>
          <p:cNvSpPr txBox="1"/>
          <p:nvPr/>
        </p:nvSpPr>
        <p:spPr>
          <a:xfrm>
            <a:off x="3200400" y="2377440"/>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Qiwa  ·  Muqeem  ·  Absher  ·  GOSI  ·  Mudad</a:t>
            </a:r>
            <a:endParaRPr lang="en-US" sz="900" dirty="0"/>
          </a:p>
        </p:txBody>
      </p:sp>
      <p:sp>
        <p:nvSpPr>
          <p:cNvPr id="17" name="Text 15"/>
          <p:cNvSpPr txBox="1"/>
          <p:nvPr/>
        </p:nvSpPr>
        <p:spPr>
          <a:xfrm>
            <a:off x="7132320" y="2377440"/>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Block visa &amp; quota, work permit, Iqama issue and renewal, exit / re-entry, final exit, profession change, transfer, Nitaqat</a:t>
            </a:r>
            <a:endParaRPr lang="en-US" sz="860" dirty="0"/>
          </a:p>
        </p:txBody>
      </p:sp>
      <p:sp>
        <p:nvSpPr>
          <p:cNvPr id="18" name="Shape 16"/>
          <p:cNvSpPr/>
          <p:nvPr/>
        </p:nvSpPr>
        <p:spPr>
          <a:xfrm>
            <a:off x="548640" y="2907792"/>
            <a:ext cx="10424160" cy="530352"/>
          </a:xfrm>
          <a:prstGeom prst="roundRect">
            <a:avLst>
              <a:gd name="adj" fmla="val 8621"/>
            </a:avLst>
          </a:prstGeom>
          <a:solidFill>
            <a:srgbClr val="16304C"/>
          </a:solidFill>
          <a:ln w="9525">
            <a:solidFill>
              <a:srgbClr val="27415C"/>
            </a:solidFill>
            <a:prstDash val="solid"/>
          </a:ln>
        </p:spPr>
      </p:sp>
      <p:sp>
        <p:nvSpPr>
          <p:cNvPr id="19" name="Text 17"/>
          <p:cNvSpPr txBox="1"/>
          <p:nvPr/>
        </p:nvSpPr>
        <p:spPr>
          <a:xfrm>
            <a:off x="749808" y="2948940"/>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Qatar</a:t>
            </a:r>
            <a:endParaRPr lang="en-US" sz="1150" dirty="0"/>
          </a:p>
        </p:txBody>
      </p:sp>
      <p:sp>
        <p:nvSpPr>
          <p:cNvPr id="20" name="Shape 18"/>
          <p:cNvSpPr/>
          <p:nvPr/>
        </p:nvSpPr>
        <p:spPr>
          <a:xfrm>
            <a:off x="749808" y="3191256"/>
            <a:ext cx="566928" cy="173736"/>
          </a:xfrm>
          <a:prstGeom prst="roundRect">
            <a:avLst>
              <a:gd name="adj" fmla="val 52632"/>
            </a:avLst>
          </a:prstGeom>
          <a:solidFill>
            <a:srgbClr val="C9A227"/>
          </a:solidFill>
          <a:ln/>
        </p:spPr>
      </p:sp>
      <p:sp>
        <p:nvSpPr>
          <p:cNvPr id="21" name="Text 19"/>
          <p:cNvSpPr txBox="1"/>
          <p:nvPr/>
        </p:nvSpPr>
        <p:spPr>
          <a:xfrm>
            <a:off x="749808" y="3191256"/>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22" name="Text 20"/>
          <p:cNvSpPr txBox="1"/>
          <p:nvPr/>
        </p:nvSpPr>
        <p:spPr>
          <a:xfrm>
            <a:off x="3200400" y="2962656"/>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ADLSA  ·  MOI  ·  Metrash2  ·  Qatar Visa Centre</a:t>
            </a:r>
            <a:endParaRPr lang="en-US" sz="900" dirty="0"/>
          </a:p>
        </p:txBody>
      </p:sp>
      <p:sp>
        <p:nvSpPr>
          <p:cNvPr id="23" name="Text 21"/>
          <p:cNvSpPr txBox="1"/>
          <p:nvPr/>
        </p:nvSpPr>
        <p:spPr>
          <a:xfrm>
            <a:off x="7132320" y="2962656"/>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Work visa quota, contract attestation, entry visa, medical and biometrics, RP and Qatar ID, renewal, exit</a:t>
            </a:r>
            <a:endParaRPr lang="en-US" sz="860" dirty="0"/>
          </a:p>
        </p:txBody>
      </p:sp>
      <p:sp>
        <p:nvSpPr>
          <p:cNvPr id="24" name="Shape 22"/>
          <p:cNvSpPr/>
          <p:nvPr/>
        </p:nvSpPr>
        <p:spPr>
          <a:xfrm>
            <a:off x="548640" y="3493008"/>
            <a:ext cx="10424160" cy="530352"/>
          </a:xfrm>
          <a:prstGeom prst="roundRect">
            <a:avLst>
              <a:gd name="adj" fmla="val 8621"/>
            </a:avLst>
          </a:prstGeom>
          <a:solidFill>
            <a:srgbClr val="16304C"/>
          </a:solidFill>
          <a:ln w="9525">
            <a:solidFill>
              <a:srgbClr val="27415C"/>
            </a:solidFill>
            <a:prstDash val="solid"/>
          </a:ln>
        </p:spPr>
      </p:sp>
      <p:sp>
        <p:nvSpPr>
          <p:cNvPr id="25" name="Text 23"/>
          <p:cNvSpPr txBox="1"/>
          <p:nvPr/>
        </p:nvSpPr>
        <p:spPr>
          <a:xfrm>
            <a:off x="749808" y="3534156"/>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Kuwait</a:t>
            </a:r>
            <a:endParaRPr lang="en-US" sz="1150" dirty="0"/>
          </a:p>
        </p:txBody>
      </p:sp>
      <p:sp>
        <p:nvSpPr>
          <p:cNvPr id="26" name="Shape 24"/>
          <p:cNvSpPr/>
          <p:nvPr/>
        </p:nvSpPr>
        <p:spPr>
          <a:xfrm>
            <a:off x="749808" y="3776472"/>
            <a:ext cx="566928" cy="173736"/>
          </a:xfrm>
          <a:prstGeom prst="roundRect">
            <a:avLst>
              <a:gd name="adj" fmla="val 52632"/>
            </a:avLst>
          </a:prstGeom>
          <a:solidFill>
            <a:srgbClr val="C9A227"/>
          </a:solidFill>
          <a:ln/>
        </p:spPr>
      </p:sp>
      <p:sp>
        <p:nvSpPr>
          <p:cNvPr id="27" name="Text 25"/>
          <p:cNvSpPr txBox="1"/>
          <p:nvPr/>
        </p:nvSpPr>
        <p:spPr>
          <a:xfrm>
            <a:off x="749808" y="3776472"/>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28" name="Text 26"/>
          <p:cNvSpPr txBox="1"/>
          <p:nvPr/>
        </p:nvSpPr>
        <p:spPr>
          <a:xfrm>
            <a:off x="3200400" y="3547872"/>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PAM (Ashal)  ·  MOI  ·  Sahel  ·  PACI</a:t>
            </a:r>
            <a:endParaRPr lang="en-US" sz="900" dirty="0"/>
          </a:p>
        </p:txBody>
      </p:sp>
      <p:sp>
        <p:nvSpPr>
          <p:cNvPr id="29" name="Text 27"/>
          <p:cNvSpPr txBox="1"/>
          <p:nvPr/>
        </p:nvSpPr>
        <p:spPr>
          <a:xfrm>
            <a:off x="7132320" y="3547872"/>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Article 18 work permit, entry visa, medical and fingerprint, residency stamping, Civil ID, renewal, cancellation</a:t>
            </a:r>
            <a:endParaRPr lang="en-US" sz="860" dirty="0"/>
          </a:p>
        </p:txBody>
      </p:sp>
      <p:sp>
        <p:nvSpPr>
          <p:cNvPr id="30" name="Shape 28"/>
          <p:cNvSpPr/>
          <p:nvPr/>
        </p:nvSpPr>
        <p:spPr>
          <a:xfrm>
            <a:off x="548640" y="4078224"/>
            <a:ext cx="10424160" cy="530352"/>
          </a:xfrm>
          <a:prstGeom prst="roundRect">
            <a:avLst>
              <a:gd name="adj" fmla="val 8621"/>
            </a:avLst>
          </a:prstGeom>
          <a:solidFill>
            <a:srgbClr val="16304C"/>
          </a:solidFill>
          <a:ln w="9525">
            <a:solidFill>
              <a:srgbClr val="27415C"/>
            </a:solidFill>
            <a:prstDash val="solid"/>
          </a:ln>
        </p:spPr>
      </p:sp>
      <p:sp>
        <p:nvSpPr>
          <p:cNvPr id="31" name="Text 29"/>
          <p:cNvSpPr txBox="1"/>
          <p:nvPr/>
        </p:nvSpPr>
        <p:spPr>
          <a:xfrm>
            <a:off x="749808" y="4119372"/>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Oman</a:t>
            </a:r>
            <a:endParaRPr lang="en-US" sz="1150" dirty="0"/>
          </a:p>
        </p:txBody>
      </p:sp>
      <p:sp>
        <p:nvSpPr>
          <p:cNvPr id="32" name="Shape 30"/>
          <p:cNvSpPr/>
          <p:nvPr/>
        </p:nvSpPr>
        <p:spPr>
          <a:xfrm>
            <a:off x="749808" y="4361688"/>
            <a:ext cx="566928" cy="173736"/>
          </a:xfrm>
          <a:prstGeom prst="roundRect">
            <a:avLst>
              <a:gd name="adj" fmla="val 52632"/>
            </a:avLst>
          </a:prstGeom>
          <a:solidFill>
            <a:srgbClr val="C9A227"/>
          </a:solidFill>
          <a:ln/>
        </p:spPr>
      </p:sp>
      <p:sp>
        <p:nvSpPr>
          <p:cNvPr id="33" name="Text 31"/>
          <p:cNvSpPr txBox="1"/>
          <p:nvPr/>
        </p:nvSpPr>
        <p:spPr>
          <a:xfrm>
            <a:off x="749808" y="4361688"/>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34" name="Text 32"/>
          <p:cNvSpPr txBox="1"/>
          <p:nvPr/>
        </p:nvSpPr>
        <p:spPr>
          <a:xfrm>
            <a:off x="3200400" y="4133088"/>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Ministry of Labour  ·  ROP  ·  Invest Easy</a:t>
            </a:r>
            <a:endParaRPr lang="en-US" sz="900" dirty="0"/>
          </a:p>
        </p:txBody>
      </p:sp>
      <p:sp>
        <p:nvSpPr>
          <p:cNvPr id="35" name="Text 33"/>
          <p:cNvSpPr txBox="1"/>
          <p:nvPr/>
        </p:nvSpPr>
        <p:spPr>
          <a:xfrm>
            <a:off x="7132320" y="4133088"/>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Labour clearance, employment visa, medical, resident card, renewal, Omanisation monitoring, exit</a:t>
            </a:r>
            <a:endParaRPr lang="en-US" sz="860" dirty="0"/>
          </a:p>
        </p:txBody>
      </p:sp>
      <p:sp>
        <p:nvSpPr>
          <p:cNvPr id="36" name="Shape 34"/>
          <p:cNvSpPr/>
          <p:nvPr/>
        </p:nvSpPr>
        <p:spPr>
          <a:xfrm>
            <a:off x="548640" y="4663440"/>
            <a:ext cx="10424160" cy="530352"/>
          </a:xfrm>
          <a:prstGeom prst="roundRect">
            <a:avLst>
              <a:gd name="adj" fmla="val 8621"/>
            </a:avLst>
          </a:prstGeom>
          <a:solidFill>
            <a:srgbClr val="16304C"/>
          </a:solidFill>
          <a:ln w="9525">
            <a:solidFill>
              <a:srgbClr val="27415C"/>
            </a:solidFill>
            <a:prstDash val="solid"/>
          </a:ln>
        </p:spPr>
      </p:sp>
      <p:sp>
        <p:nvSpPr>
          <p:cNvPr id="37" name="Text 35"/>
          <p:cNvSpPr txBox="1"/>
          <p:nvPr/>
        </p:nvSpPr>
        <p:spPr>
          <a:xfrm>
            <a:off x="749808" y="4704588"/>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Bahrain</a:t>
            </a:r>
            <a:endParaRPr lang="en-US" sz="1150" dirty="0"/>
          </a:p>
        </p:txBody>
      </p:sp>
      <p:sp>
        <p:nvSpPr>
          <p:cNvPr id="38" name="Shape 36"/>
          <p:cNvSpPr/>
          <p:nvPr/>
        </p:nvSpPr>
        <p:spPr>
          <a:xfrm>
            <a:off x="749808" y="4946904"/>
            <a:ext cx="566928" cy="173736"/>
          </a:xfrm>
          <a:prstGeom prst="roundRect">
            <a:avLst>
              <a:gd name="adj" fmla="val 52632"/>
            </a:avLst>
          </a:prstGeom>
          <a:solidFill>
            <a:srgbClr val="C9A227"/>
          </a:solidFill>
          <a:ln/>
        </p:spPr>
      </p:sp>
      <p:sp>
        <p:nvSpPr>
          <p:cNvPr id="39" name="Text 37"/>
          <p:cNvSpPr txBox="1"/>
          <p:nvPr/>
        </p:nvSpPr>
        <p:spPr>
          <a:xfrm>
            <a:off x="749808" y="4946904"/>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40" name="Text 38"/>
          <p:cNvSpPr txBox="1"/>
          <p:nvPr/>
        </p:nvSpPr>
        <p:spPr>
          <a:xfrm>
            <a:off x="3200400" y="4718304"/>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LMRA (EMS)  ·  NPRA  ·  SIO / CPR  ·  GOSI</a:t>
            </a:r>
            <a:endParaRPr lang="en-US" sz="900" dirty="0"/>
          </a:p>
        </p:txBody>
      </p:sp>
      <p:sp>
        <p:nvSpPr>
          <p:cNvPr id="41" name="Text 39"/>
          <p:cNvSpPr txBox="1"/>
          <p:nvPr/>
        </p:nvSpPr>
        <p:spPr>
          <a:xfrm>
            <a:off x="7132320" y="4718304"/>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Expatriate work permit, medical, residence permit, CPR card, renewal, flexi permit tracking, cancellation</a:t>
            </a:r>
            <a:endParaRPr lang="en-US" sz="860" dirty="0"/>
          </a:p>
        </p:txBody>
      </p:sp>
      <p:sp>
        <p:nvSpPr>
          <p:cNvPr id="42" name="Shape 40"/>
          <p:cNvSpPr/>
          <p:nvPr/>
        </p:nvSpPr>
        <p:spPr>
          <a:xfrm>
            <a:off x="548640" y="5248656"/>
            <a:ext cx="10424160" cy="530352"/>
          </a:xfrm>
          <a:prstGeom prst="roundRect">
            <a:avLst>
              <a:gd name="adj" fmla="val 8621"/>
            </a:avLst>
          </a:prstGeom>
          <a:solidFill>
            <a:srgbClr val="16304C"/>
          </a:solidFill>
          <a:ln w="9525">
            <a:solidFill>
              <a:srgbClr val="27415C"/>
            </a:solidFill>
            <a:prstDash val="solid"/>
          </a:ln>
        </p:spPr>
      </p:sp>
      <p:sp>
        <p:nvSpPr>
          <p:cNvPr id="43" name="Text 41"/>
          <p:cNvSpPr txBox="1"/>
          <p:nvPr/>
        </p:nvSpPr>
        <p:spPr>
          <a:xfrm>
            <a:off x="749808" y="5289804"/>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Libya</a:t>
            </a:r>
            <a:endParaRPr lang="en-US" sz="1150" dirty="0"/>
          </a:p>
        </p:txBody>
      </p:sp>
      <p:sp>
        <p:nvSpPr>
          <p:cNvPr id="44" name="Shape 42"/>
          <p:cNvSpPr/>
          <p:nvPr/>
        </p:nvSpPr>
        <p:spPr>
          <a:xfrm>
            <a:off x="749808" y="5532120"/>
            <a:ext cx="566928" cy="173736"/>
          </a:xfrm>
          <a:prstGeom prst="roundRect">
            <a:avLst>
              <a:gd name="adj" fmla="val 52632"/>
            </a:avLst>
          </a:prstGeom>
          <a:solidFill>
            <a:srgbClr val="C9A227"/>
          </a:solidFill>
          <a:ln/>
        </p:spPr>
      </p:sp>
      <p:sp>
        <p:nvSpPr>
          <p:cNvPr id="45" name="Text 43"/>
          <p:cNvSpPr txBox="1"/>
          <p:nvPr/>
        </p:nvSpPr>
        <p:spPr>
          <a:xfrm>
            <a:off x="749808" y="5532120"/>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46" name="Text 44"/>
          <p:cNvSpPr txBox="1"/>
          <p:nvPr/>
        </p:nvSpPr>
        <p:spPr>
          <a:xfrm>
            <a:off x="3200400" y="5303520"/>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Ministry of Labour  ·  Passport &amp; Nationality Authority</a:t>
            </a:r>
            <a:endParaRPr lang="en-US" sz="900" dirty="0"/>
          </a:p>
        </p:txBody>
      </p:sp>
      <p:sp>
        <p:nvSpPr>
          <p:cNvPr id="47" name="Text 45"/>
          <p:cNvSpPr txBox="1"/>
          <p:nvPr/>
        </p:nvSpPr>
        <p:spPr>
          <a:xfrm>
            <a:off x="7132320" y="5303520"/>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Work permit, entry visa, medical, residency, rotation tracking for expatriate crews, company operating permits</a:t>
            </a:r>
            <a:endParaRPr lang="en-US" sz="860" dirty="0"/>
          </a:p>
        </p:txBody>
      </p:sp>
      <p:sp>
        <p:nvSpPr>
          <p:cNvPr id="48" name="Text 46"/>
          <p:cNvSpPr txBox="1"/>
          <p:nvPr/>
        </p:nvSpPr>
        <p:spPr>
          <a:xfrm>
            <a:off x="749808" y="1517904"/>
            <a:ext cx="2194560" cy="173736"/>
          </a:xfrm>
          <a:prstGeom prst="rect">
            <a:avLst/>
          </a:prstGeom>
          <a:noFill/>
          <a:ln/>
        </p:spPr>
        <p:txBody>
          <a:bodyPr wrap="square" lIns="0" tIns="0" rIns="0" bIns="0" rtlCol="0" anchor="ctr"/>
          <a:lstStyle/>
          <a:p>
            <a:pPr indent="0" marL="0">
              <a:buNone/>
            </a:pPr>
            <a:r>
              <a:rPr lang="en-US" sz="800" b="1" spc="140" kern="0" dirty="0">
                <a:solidFill>
                  <a:srgbClr val="6C87A2"/>
                </a:solidFill>
                <a:latin typeface="Calibri" pitchFamily="34" charset="0"/>
                <a:ea typeface="Calibri" pitchFamily="34" charset="-122"/>
                <a:cs typeface="Calibri" pitchFamily="34" charset="-120"/>
              </a:rPr>
              <a:t>COUNTRY</a:t>
            </a:r>
            <a:endParaRPr lang="en-US" sz="800" dirty="0"/>
          </a:p>
        </p:txBody>
      </p:sp>
      <p:sp>
        <p:nvSpPr>
          <p:cNvPr id="49" name="Text 47"/>
          <p:cNvSpPr txBox="1"/>
          <p:nvPr/>
        </p:nvSpPr>
        <p:spPr>
          <a:xfrm>
            <a:off x="3200400" y="1517904"/>
            <a:ext cx="3749040" cy="173736"/>
          </a:xfrm>
          <a:prstGeom prst="rect">
            <a:avLst/>
          </a:prstGeom>
          <a:noFill/>
          <a:ln/>
        </p:spPr>
        <p:txBody>
          <a:bodyPr wrap="square" lIns="0" tIns="0" rIns="0" bIns="0" rtlCol="0" anchor="ctr"/>
          <a:lstStyle/>
          <a:p>
            <a:pPr indent="0" marL="0">
              <a:buNone/>
            </a:pPr>
            <a:r>
              <a:rPr lang="en-US" sz="800" b="1" spc="140" kern="0" dirty="0">
                <a:solidFill>
                  <a:srgbClr val="6C87A2"/>
                </a:solidFill>
                <a:latin typeface="Calibri" pitchFamily="34" charset="0"/>
                <a:ea typeface="Calibri" pitchFamily="34" charset="-122"/>
                <a:cs typeface="Calibri" pitchFamily="34" charset="-120"/>
              </a:rPr>
              <a:t>AUTHORITIES &amp; PORTALS</a:t>
            </a:r>
            <a:endParaRPr lang="en-US" sz="800" dirty="0"/>
          </a:p>
        </p:txBody>
      </p:sp>
      <p:sp>
        <p:nvSpPr>
          <p:cNvPr id="50" name="Text 48"/>
          <p:cNvSpPr txBox="1"/>
          <p:nvPr/>
        </p:nvSpPr>
        <p:spPr>
          <a:xfrm>
            <a:off x="7132320" y="1517904"/>
            <a:ext cx="3657600" cy="173736"/>
          </a:xfrm>
          <a:prstGeom prst="rect">
            <a:avLst/>
          </a:prstGeom>
          <a:noFill/>
          <a:ln/>
        </p:spPr>
        <p:txBody>
          <a:bodyPr wrap="square" lIns="0" tIns="0" rIns="0" bIns="0" rtlCol="0" anchor="ctr"/>
          <a:lstStyle/>
          <a:p>
            <a:pPr indent="0" marL="0">
              <a:buNone/>
            </a:pPr>
            <a:r>
              <a:rPr lang="en-US" sz="800" b="1" spc="140" kern="0" dirty="0">
                <a:solidFill>
                  <a:srgbClr val="6C87A2"/>
                </a:solidFill>
                <a:latin typeface="Calibri" pitchFamily="34" charset="0"/>
                <a:ea typeface="Calibri" pitchFamily="34" charset="-122"/>
                <a:cs typeface="Calibri" pitchFamily="34" charset="-120"/>
              </a:rPr>
              <a:t>PROCESSES IN THE PACK</a:t>
            </a:r>
            <a:endParaRPr lang="en-US" sz="800" dirty="0"/>
          </a:p>
        </p:txBody>
      </p:sp>
      <p:sp>
        <p:nvSpPr>
          <p:cNvPr id="51" name="Text 49"/>
          <p:cNvSpPr txBox="1"/>
          <p:nvPr/>
        </p:nvSpPr>
        <p:spPr>
          <a:xfrm>
            <a:off x="548640" y="5943600"/>
            <a:ext cx="10424160" cy="384048"/>
          </a:xfrm>
          <a:prstGeom prst="rect">
            <a:avLst/>
          </a:prstGeom>
          <a:noFill/>
          <a:ln/>
        </p:spPr>
        <p:txBody>
          <a:bodyPr wrap="square" lIns="0" tIns="0" rIns="0" bIns="0" rtlCol="0" anchor="ctr"/>
          <a:lstStyle/>
          <a:p>
            <a:pPr indent="0" marL="0">
              <a:lnSpc>
                <a:spcPts val="1300"/>
              </a:lnSpc>
              <a:buNone/>
            </a:pPr>
            <a:r>
              <a:rPr lang="en-US" sz="950" b="1" dirty="0">
                <a:solidFill>
                  <a:srgbClr val="17795E"/>
                </a:solidFill>
                <a:latin typeface="Calibri" pitchFamily="34" charset="0"/>
                <a:ea typeface="Calibri" pitchFamily="34" charset="-122"/>
                <a:cs typeface="Calibri" pitchFamily="34" charset="-120"/>
              </a:rPr>
              <a:t>LIVE</a:t>
            </a:r>
            <a:pPr indent="0" marL="0">
              <a:lnSpc>
                <a:spcPts val="1300"/>
              </a:lnSpc>
              <a:buNone/>
            </a:pPr>
            <a:r>
              <a:rPr lang="en-US" sz="950" dirty="0">
                <a:solidFill>
                  <a:srgbClr val="A9C2DA"/>
                </a:solidFill>
                <a:latin typeface="Calibri" pitchFamily="34" charset="0"/>
                <a:ea typeface="Calibri" pitchFamily="34" charset="-122"/>
                <a:cs typeface="Calibri" pitchFamily="34" charset="-120"/>
              </a:rPr>
              <a:t> = running in production today.   </a:t>
            </a:r>
            <a:pPr indent="0" marL="0">
              <a:lnSpc>
                <a:spcPts val="1300"/>
              </a:lnSpc>
              <a:buNone/>
            </a:pPr>
            <a:r>
              <a:rPr lang="en-US" sz="950" b="1" dirty="0">
                <a:solidFill>
                  <a:srgbClr val="C9A227"/>
                </a:solidFill>
                <a:latin typeface="Calibri" pitchFamily="34" charset="0"/>
                <a:ea typeface="Calibri" pitchFamily="34" charset="-122"/>
                <a:cs typeface="Calibri" pitchFamily="34" charset="-120"/>
              </a:rPr>
              <a:t>PACK</a:t>
            </a:r>
            <a:pPr indent="0" marL="0">
              <a:lnSpc>
                <a:spcPts val="1300"/>
              </a:lnSpc>
              <a:buNone/>
            </a:pPr>
            <a:r>
              <a:rPr lang="en-US" sz="950" dirty="0">
                <a:solidFill>
                  <a:srgbClr val="A9C2DA"/>
                </a:solidFill>
                <a:latin typeface="Calibri" pitchFamily="34" charset="0"/>
                <a:ea typeface="Calibri" pitchFamily="34" charset="-122"/>
                <a:cs typeface="Calibri" pitchFamily="34" charset="-120"/>
              </a:rPr>
              <a:t> = designed against that country’s statutory flow and configured from the same engine, with a localisation workshop confirming document names, fees and thresholds before go-live.</a:t>
            </a:r>
            <a:endParaRPr lang="en-US" sz="950" dirty="0"/>
          </a:p>
        </p:txBody>
      </p:sp>
      <p:sp>
        <p:nvSpPr>
          <p:cNvPr id="52" name="Text 50"/>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7E99B4"/>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53" name="Text 51"/>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HEALTHCARE &amp; INDUSTRY PERMITS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A nurse needs two permissions, not one.</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A clinician cannot legally practise until a health regulator has verified their credentials and issued a professional licence — on its own clock, with its own renewal cycle. The application runs that as a parallel lane on the same case.</a:t>
            </a:r>
            <a:endParaRPr lang="en-US" sz="1300" dirty="0"/>
          </a:p>
        </p:txBody>
      </p:sp>
      <p:sp>
        <p:nvSpPr>
          <p:cNvPr id="5" name="Shape 3"/>
          <p:cNvSpPr/>
          <p:nvPr/>
        </p:nvSpPr>
        <p:spPr>
          <a:xfrm>
            <a:off x="548640" y="1773936"/>
            <a:ext cx="5394960" cy="2487168"/>
          </a:xfrm>
          <a:prstGeom prst="roundRect">
            <a:avLst>
              <a:gd name="adj" fmla="val 2941"/>
            </a:avLst>
          </a:prstGeom>
          <a:solidFill>
            <a:srgbClr val="F4F6F7"/>
          </a:solidFill>
          <a:ln w="9525">
            <a:solidFill>
              <a:srgbClr val="E3E7EA"/>
            </a:solidFill>
            <a:prstDash val="solid"/>
          </a:ln>
        </p:spPr>
      </p:sp>
      <p:sp>
        <p:nvSpPr>
          <p:cNvPr id="6" name="Text 4"/>
          <p:cNvSpPr txBox="1"/>
          <p:nvPr/>
        </p:nvSpPr>
        <p:spPr>
          <a:xfrm>
            <a:off x="786384" y="1938528"/>
            <a:ext cx="4937760" cy="274320"/>
          </a:xfrm>
          <a:prstGeom prst="rect">
            <a:avLst/>
          </a:prstGeom>
          <a:noFill/>
          <a:ln/>
        </p:spPr>
        <p:txBody>
          <a:bodyPr wrap="square" lIns="0" tIns="0" rIns="0" bIns="0" rtlCol="0" anchor="ctr"/>
          <a:lstStyle/>
          <a:p>
            <a:pPr indent="0" marL="0">
              <a:buNone/>
            </a:pPr>
            <a:r>
              <a:rPr lang="en-US" sz="1400" b="1" dirty="0">
                <a:solidFill>
                  <a:srgbClr val="0C1E33"/>
                </a:solidFill>
                <a:latin typeface="Arial" pitchFamily="34" charset="0"/>
                <a:ea typeface="Arial" pitchFamily="34" charset="-122"/>
                <a:cs typeface="Arial" pitchFamily="34" charset="-120"/>
              </a:rPr>
              <a:t>The professional licensing lane</a:t>
            </a:r>
            <a:endParaRPr lang="en-US" sz="1400" dirty="0"/>
          </a:p>
        </p:txBody>
      </p:sp>
      <p:sp>
        <p:nvSpPr>
          <p:cNvPr id="7" name="Text 5"/>
          <p:cNvSpPr txBox="1"/>
          <p:nvPr/>
        </p:nvSpPr>
        <p:spPr>
          <a:xfrm>
            <a:off x="786384" y="2267712"/>
            <a:ext cx="4937760" cy="1847088"/>
          </a:xfrm>
          <a:prstGeom prst="rect">
            <a:avLst/>
          </a:prstGeom>
          <a:noFill/>
          <a:ln/>
        </p:spPr>
        <p:txBody>
          <a:bodyPr wrap="square" lIns="0" tIns="0" rIns="0" bIns="0" rtlCol="0" anchor="ctr"/>
          <a:lstStyle/>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Credential pack collected at recruitment</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Primary-source verification (DataFlow) tracked to result</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Professional classification or eligibility assessment</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Licensing exam booked, sat and certificate uploaded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Licence issued, activated against the employing facility</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Renewal driven by CME hours — 90-day alerts, 15-day escalations</a:t>
            </a:r>
            <a:endParaRPr lang="en-US" sz="1050" dirty="0"/>
          </a:p>
        </p:txBody>
      </p:sp>
      <p:sp>
        <p:nvSpPr>
          <p:cNvPr id="8" name="Shape 6"/>
          <p:cNvSpPr/>
          <p:nvPr/>
        </p:nvSpPr>
        <p:spPr>
          <a:xfrm>
            <a:off x="6144768" y="1773936"/>
            <a:ext cx="5486400" cy="2487168"/>
          </a:xfrm>
          <a:prstGeom prst="roundRect">
            <a:avLst>
              <a:gd name="adj" fmla="val 2941"/>
            </a:avLst>
          </a:prstGeom>
          <a:solidFill>
            <a:srgbClr val="FFFFFF"/>
          </a:solidFill>
          <a:ln w="9525">
            <a:solidFill>
              <a:srgbClr val="E3E7EA"/>
            </a:solidFill>
            <a:prstDash val="solid"/>
          </a:ln>
        </p:spPr>
      </p:sp>
      <p:sp>
        <p:nvSpPr>
          <p:cNvPr id="9" name="Text 7"/>
          <p:cNvSpPr txBox="1"/>
          <p:nvPr/>
        </p:nvSpPr>
        <p:spPr>
          <a:xfrm>
            <a:off x="6382512" y="1938528"/>
            <a:ext cx="5029200" cy="274320"/>
          </a:xfrm>
          <a:prstGeom prst="rect">
            <a:avLst/>
          </a:prstGeom>
          <a:noFill/>
          <a:ln/>
        </p:spPr>
        <p:txBody>
          <a:bodyPr wrap="square" lIns="0" tIns="0" rIns="0" bIns="0" rtlCol="0" anchor="ctr"/>
          <a:lstStyle/>
          <a:p>
            <a:pPr indent="0" marL="0">
              <a:buNone/>
            </a:pPr>
            <a:r>
              <a:rPr lang="en-US" sz="1400" b="1" dirty="0">
                <a:solidFill>
                  <a:srgbClr val="B23A2F"/>
                </a:solidFill>
                <a:latin typeface="Arial" pitchFamily="34" charset="0"/>
                <a:ea typeface="Arial" pitchFamily="34" charset="-122"/>
                <a:cs typeface="Arial" pitchFamily="34" charset="-120"/>
              </a:rPr>
              <a:t>Why it fails without a system</a:t>
            </a:r>
            <a:endParaRPr lang="en-US" sz="1400" dirty="0"/>
          </a:p>
        </p:txBody>
      </p:sp>
      <p:sp>
        <p:nvSpPr>
          <p:cNvPr id="10" name="Text 8"/>
          <p:cNvSpPr txBox="1"/>
          <p:nvPr/>
        </p:nvSpPr>
        <p:spPr>
          <a:xfrm>
            <a:off x="6382512" y="2267712"/>
            <a:ext cx="5029200" cy="1847088"/>
          </a:xfrm>
          <a:prstGeom prst="rect">
            <a:avLst/>
          </a:prstGeom>
          <a:noFill/>
          <a:ln/>
        </p:spPr>
        <p:txBody>
          <a:bodyPr wrap="square" lIns="0" tIns="0" rIns="0" bIns="0" rtlCol="0" anchor="ctr"/>
          <a:lstStyle/>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A clinician joins on a valid visa but cannot be rostered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Primary-source verification stalls with nobody watching the queue</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A trainee’s 45-day dataflow deadline passes unnoticed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CME hours logged only after the renewal window has closed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Licence and visa expiry drift apart — one lapses, the other is fine</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The facility licence expires, exposing every practitioner under it</a:t>
            </a:r>
            <a:endParaRPr lang="en-US" sz="1050" dirty="0"/>
          </a:p>
        </p:txBody>
      </p:sp>
      <p:sp>
        <p:nvSpPr>
          <p:cNvPr id="11" name="Text 9"/>
          <p:cNvSpPr txBox="1"/>
          <p:nvPr/>
        </p:nvSpPr>
        <p:spPr>
          <a:xfrm>
            <a:off x="548640" y="4462272"/>
            <a:ext cx="10424160" cy="256032"/>
          </a:xfrm>
          <a:prstGeom prst="rect">
            <a:avLst/>
          </a:prstGeom>
          <a:noFill/>
          <a:ln/>
        </p:spPr>
        <p:txBody>
          <a:bodyPr wrap="square" lIns="0" tIns="0" rIns="0" bIns="0" rtlCol="0" anchor="ctr"/>
          <a:lstStyle/>
          <a:p>
            <a:pPr indent="0" marL="0">
              <a:buNone/>
            </a:pPr>
            <a:r>
              <a:rPr lang="en-US" sz="1300" b="1" dirty="0">
                <a:solidFill>
                  <a:srgbClr val="0C1E33"/>
                </a:solidFill>
                <a:latin typeface="Arial" pitchFamily="34" charset="0"/>
                <a:ea typeface="Arial" pitchFamily="34" charset="-122"/>
                <a:cs typeface="Arial" pitchFamily="34" charset="-120"/>
              </a:rPr>
              <a:t>Health regulators covered by the country packs</a:t>
            </a:r>
            <a:endParaRPr lang="en-US" sz="1300" dirty="0"/>
          </a:p>
        </p:txBody>
      </p:sp>
      <p:sp>
        <p:nvSpPr>
          <p:cNvPr id="12" name="Shape 10"/>
          <p:cNvSpPr/>
          <p:nvPr/>
        </p:nvSpPr>
        <p:spPr>
          <a:xfrm>
            <a:off x="548640" y="4809744"/>
            <a:ext cx="2688336" cy="621792"/>
          </a:xfrm>
          <a:prstGeom prst="roundRect">
            <a:avLst>
              <a:gd name="adj" fmla="val 7353"/>
            </a:avLst>
          </a:prstGeom>
          <a:solidFill>
            <a:srgbClr val="F4F6F7"/>
          </a:solidFill>
          <a:ln w="7620">
            <a:solidFill>
              <a:srgbClr val="E3E7EA"/>
            </a:solidFill>
            <a:prstDash val="solid"/>
          </a:ln>
        </p:spPr>
      </p:sp>
      <p:sp>
        <p:nvSpPr>
          <p:cNvPr id="13" name="Text 11"/>
          <p:cNvSpPr txBox="1"/>
          <p:nvPr/>
        </p:nvSpPr>
        <p:spPr>
          <a:xfrm>
            <a:off x="694944"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Saudi Arabia</a:t>
            </a:r>
            <a:endParaRPr lang="en-US" sz="850" dirty="0"/>
          </a:p>
        </p:txBody>
      </p:sp>
      <p:sp>
        <p:nvSpPr>
          <p:cNvPr id="14" name="Text 12"/>
          <p:cNvSpPr txBox="1"/>
          <p:nvPr/>
        </p:nvSpPr>
        <p:spPr>
          <a:xfrm>
            <a:off x="694944"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SCFHS</a:t>
            </a:r>
            <a:endParaRPr lang="en-US" sz="1150" dirty="0"/>
          </a:p>
        </p:txBody>
      </p:sp>
      <p:sp>
        <p:nvSpPr>
          <p:cNvPr id="15" name="Text 13"/>
          <p:cNvSpPr txBox="1"/>
          <p:nvPr/>
        </p:nvSpPr>
        <p:spPr>
          <a:xfrm>
            <a:off x="694944"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Mumaris+ · DataFlow · Prometric</a:t>
            </a:r>
            <a:endParaRPr lang="en-US" sz="830" dirty="0"/>
          </a:p>
        </p:txBody>
      </p:sp>
      <p:sp>
        <p:nvSpPr>
          <p:cNvPr id="16" name="Shape 14"/>
          <p:cNvSpPr/>
          <p:nvPr/>
        </p:nvSpPr>
        <p:spPr>
          <a:xfrm>
            <a:off x="3407969" y="4809744"/>
            <a:ext cx="2688336" cy="621792"/>
          </a:xfrm>
          <a:prstGeom prst="roundRect">
            <a:avLst>
              <a:gd name="adj" fmla="val 7353"/>
            </a:avLst>
          </a:prstGeom>
          <a:solidFill>
            <a:srgbClr val="F4F6F7"/>
          </a:solidFill>
          <a:ln w="7620">
            <a:solidFill>
              <a:srgbClr val="E3E7EA"/>
            </a:solidFill>
            <a:prstDash val="solid"/>
          </a:ln>
        </p:spPr>
      </p:sp>
      <p:sp>
        <p:nvSpPr>
          <p:cNvPr id="17" name="Text 15"/>
          <p:cNvSpPr txBox="1"/>
          <p:nvPr/>
        </p:nvSpPr>
        <p:spPr>
          <a:xfrm>
            <a:off x="3554273"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UAE — Dubai</a:t>
            </a:r>
            <a:endParaRPr lang="en-US" sz="850" dirty="0"/>
          </a:p>
        </p:txBody>
      </p:sp>
      <p:sp>
        <p:nvSpPr>
          <p:cNvPr id="18" name="Text 16"/>
          <p:cNvSpPr txBox="1"/>
          <p:nvPr/>
        </p:nvSpPr>
        <p:spPr>
          <a:xfrm>
            <a:off x="3554273"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DHA</a:t>
            </a:r>
            <a:endParaRPr lang="en-US" sz="1150" dirty="0"/>
          </a:p>
        </p:txBody>
      </p:sp>
      <p:sp>
        <p:nvSpPr>
          <p:cNvPr id="19" name="Text 17"/>
          <p:cNvSpPr txBox="1"/>
          <p:nvPr/>
        </p:nvSpPr>
        <p:spPr>
          <a:xfrm>
            <a:off x="3554273"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Sheryan portal</a:t>
            </a:r>
            <a:endParaRPr lang="en-US" sz="830" dirty="0"/>
          </a:p>
        </p:txBody>
      </p:sp>
      <p:sp>
        <p:nvSpPr>
          <p:cNvPr id="20" name="Shape 18"/>
          <p:cNvSpPr/>
          <p:nvPr/>
        </p:nvSpPr>
        <p:spPr>
          <a:xfrm>
            <a:off x="6267298" y="4809744"/>
            <a:ext cx="2688336" cy="621792"/>
          </a:xfrm>
          <a:prstGeom prst="roundRect">
            <a:avLst>
              <a:gd name="adj" fmla="val 7353"/>
            </a:avLst>
          </a:prstGeom>
          <a:solidFill>
            <a:srgbClr val="F4F6F7"/>
          </a:solidFill>
          <a:ln w="7620">
            <a:solidFill>
              <a:srgbClr val="E3E7EA"/>
            </a:solidFill>
            <a:prstDash val="solid"/>
          </a:ln>
        </p:spPr>
      </p:sp>
      <p:sp>
        <p:nvSpPr>
          <p:cNvPr id="21" name="Text 19"/>
          <p:cNvSpPr txBox="1"/>
          <p:nvPr/>
        </p:nvSpPr>
        <p:spPr>
          <a:xfrm>
            <a:off x="6413602"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UAE — Abu Dhabi</a:t>
            </a:r>
            <a:endParaRPr lang="en-US" sz="850" dirty="0"/>
          </a:p>
        </p:txBody>
      </p:sp>
      <p:sp>
        <p:nvSpPr>
          <p:cNvPr id="22" name="Text 20"/>
          <p:cNvSpPr txBox="1"/>
          <p:nvPr/>
        </p:nvSpPr>
        <p:spPr>
          <a:xfrm>
            <a:off x="6413602"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DOH</a:t>
            </a:r>
            <a:endParaRPr lang="en-US" sz="1150" dirty="0"/>
          </a:p>
        </p:txBody>
      </p:sp>
      <p:sp>
        <p:nvSpPr>
          <p:cNvPr id="23" name="Text 21"/>
          <p:cNvSpPr txBox="1"/>
          <p:nvPr/>
        </p:nvSpPr>
        <p:spPr>
          <a:xfrm>
            <a:off x="6413602"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TAMM / DOH portal</a:t>
            </a:r>
            <a:endParaRPr lang="en-US" sz="830" dirty="0"/>
          </a:p>
        </p:txBody>
      </p:sp>
      <p:sp>
        <p:nvSpPr>
          <p:cNvPr id="24" name="Shape 22"/>
          <p:cNvSpPr/>
          <p:nvPr/>
        </p:nvSpPr>
        <p:spPr>
          <a:xfrm>
            <a:off x="9126626" y="4809744"/>
            <a:ext cx="2688336" cy="621792"/>
          </a:xfrm>
          <a:prstGeom prst="roundRect">
            <a:avLst>
              <a:gd name="adj" fmla="val 7353"/>
            </a:avLst>
          </a:prstGeom>
          <a:solidFill>
            <a:srgbClr val="F4F6F7"/>
          </a:solidFill>
          <a:ln w="7620">
            <a:solidFill>
              <a:srgbClr val="E3E7EA"/>
            </a:solidFill>
            <a:prstDash val="solid"/>
          </a:ln>
        </p:spPr>
      </p:sp>
      <p:sp>
        <p:nvSpPr>
          <p:cNvPr id="25" name="Text 23"/>
          <p:cNvSpPr txBox="1"/>
          <p:nvPr/>
        </p:nvSpPr>
        <p:spPr>
          <a:xfrm>
            <a:off x="9272930"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UAE — Northern</a:t>
            </a:r>
            <a:endParaRPr lang="en-US" sz="850" dirty="0"/>
          </a:p>
        </p:txBody>
      </p:sp>
      <p:sp>
        <p:nvSpPr>
          <p:cNvPr id="26" name="Text 24"/>
          <p:cNvSpPr txBox="1"/>
          <p:nvPr/>
        </p:nvSpPr>
        <p:spPr>
          <a:xfrm>
            <a:off x="9272930"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MOHAP</a:t>
            </a:r>
            <a:endParaRPr lang="en-US" sz="1150" dirty="0"/>
          </a:p>
        </p:txBody>
      </p:sp>
      <p:sp>
        <p:nvSpPr>
          <p:cNvPr id="27" name="Text 25"/>
          <p:cNvSpPr txBox="1"/>
          <p:nvPr/>
        </p:nvSpPr>
        <p:spPr>
          <a:xfrm>
            <a:off x="9272930"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MOHAP licensing</a:t>
            </a:r>
            <a:endParaRPr lang="en-US" sz="830" dirty="0"/>
          </a:p>
        </p:txBody>
      </p:sp>
      <p:sp>
        <p:nvSpPr>
          <p:cNvPr id="28" name="Shape 26"/>
          <p:cNvSpPr/>
          <p:nvPr/>
        </p:nvSpPr>
        <p:spPr>
          <a:xfrm>
            <a:off x="548640" y="5541264"/>
            <a:ext cx="2688336" cy="621792"/>
          </a:xfrm>
          <a:prstGeom prst="roundRect">
            <a:avLst>
              <a:gd name="adj" fmla="val 7353"/>
            </a:avLst>
          </a:prstGeom>
          <a:solidFill>
            <a:srgbClr val="FFFFFF"/>
          </a:solidFill>
          <a:ln w="7620">
            <a:solidFill>
              <a:srgbClr val="E3E7EA"/>
            </a:solidFill>
            <a:prstDash val="solid"/>
          </a:ln>
        </p:spPr>
      </p:sp>
      <p:sp>
        <p:nvSpPr>
          <p:cNvPr id="29" name="Text 27"/>
          <p:cNvSpPr txBox="1"/>
          <p:nvPr/>
        </p:nvSpPr>
        <p:spPr>
          <a:xfrm>
            <a:off x="694944"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Qatar</a:t>
            </a:r>
            <a:endParaRPr lang="en-US" sz="850" dirty="0"/>
          </a:p>
        </p:txBody>
      </p:sp>
      <p:sp>
        <p:nvSpPr>
          <p:cNvPr id="30" name="Text 28"/>
          <p:cNvSpPr txBox="1"/>
          <p:nvPr/>
        </p:nvSpPr>
        <p:spPr>
          <a:xfrm>
            <a:off x="694944"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DHP (MOPH)</a:t>
            </a:r>
            <a:endParaRPr lang="en-US" sz="1150" dirty="0"/>
          </a:p>
        </p:txBody>
      </p:sp>
      <p:sp>
        <p:nvSpPr>
          <p:cNvPr id="31" name="Text 29"/>
          <p:cNvSpPr txBox="1"/>
          <p:nvPr/>
        </p:nvSpPr>
        <p:spPr>
          <a:xfrm>
            <a:off x="694944"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DHP practitioner portal</a:t>
            </a:r>
            <a:endParaRPr lang="en-US" sz="830" dirty="0"/>
          </a:p>
        </p:txBody>
      </p:sp>
      <p:sp>
        <p:nvSpPr>
          <p:cNvPr id="32" name="Shape 30"/>
          <p:cNvSpPr/>
          <p:nvPr/>
        </p:nvSpPr>
        <p:spPr>
          <a:xfrm>
            <a:off x="3407969" y="5541264"/>
            <a:ext cx="2688336" cy="621792"/>
          </a:xfrm>
          <a:prstGeom prst="roundRect">
            <a:avLst>
              <a:gd name="adj" fmla="val 7353"/>
            </a:avLst>
          </a:prstGeom>
          <a:solidFill>
            <a:srgbClr val="FFFFFF"/>
          </a:solidFill>
          <a:ln w="7620">
            <a:solidFill>
              <a:srgbClr val="E3E7EA"/>
            </a:solidFill>
            <a:prstDash val="solid"/>
          </a:ln>
        </p:spPr>
      </p:sp>
      <p:sp>
        <p:nvSpPr>
          <p:cNvPr id="33" name="Text 31"/>
          <p:cNvSpPr txBox="1"/>
          <p:nvPr/>
        </p:nvSpPr>
        <p:spPr>
          <a:xfrm>
            <a:off x="3554273"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Bahrain</a:t>
            </a:r>
            <a:endParaRPr lang="en-US" sz="850" dirty="0"/>
          </a:p>
        </p:txBody>
      </p:sp>
      <p:sp>
        <p:nvSpPr>
          <p:cNvPr id="34" name="Text 32"/>
          <p:cNvSpPr txBox="1"/>
          <p:nvPr/>
        </p:nvSpPr>
        <p:spPr>
          <a:xfrm>
            <a:off x="3554273"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NHRA</a:t>
            </a:r>
            <a:endParaRPr lang="en-US" sz="1150" dirty="0"/>
          </a:p>
        </p:txBody>
      </p:sp>
      <p:sp>
        <p:nvSpPr>
          <p:cNvPr id="35" name="Text 33"/>
          <p:cNvSpPr txBox="1"/>
          <p:nvPr/>
        </p:nvSpPr>
        <p:spPr>
          <a:xfrm>
            <a:off x="3554273"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NHRA licensing</a:t>
            </a:r>
            <a:endParaRPr lang="en-US" sz="830" dirty="0"/>
          </a:p>
        </p:txBody>
      </p:sp>
      <p:sp>
        <p:nvSpPr>
          <p:cNvPr id="36" name="Shape 34"/>
          <p:cNvSpPr/>
          <p:nvPr/>
        </p:nvSpPr>
        <p:spPr>
          <a:xfrm>
            <a:off x="6267298" y="5541264"/>
            <a:ext cx="2688336" cy="621792"/>
          </a:xfrm>
          <a:prstGeom prst="roundRect">
            <a:avLst>
              <a:gd name="adj" fmla="val 7353"/>
            </a:avLst>
          </a:prstGeom>
          <a:solidFill>
            <a:srgbClr val="FFFFFF"/>
          </a:solidFill>
          <a:ln w="7620">
            <a:solidFill>
              <a:srgbClr val="E3E7EA"/>
            </a:solidFill>
            <a:prstDash val="solid"/>
          </a:ln>
        </p:spPr>
      </p:sp>
      <p:sp>
        <p:nvSpPr>
          <p:cNvPr id="37" name="Text 35"/>
          <p:cNvSpPr txBox="1"/>
          <p:nvPr/>
        </p:nvSpPr>
        <p:spPr>
          <a:xfrm>
            <a:off x="6413602"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Oman</a:t>
            </a:r>
            <a:endParaRPr lang="en-US" sz="850" dirty="0"/>
          </a:p>
        </p:txBody>
      </p:sp>
      <p:sp>
        <p:nvSpPr>
          <p:cNvPr id="38" name="Text 36"/>
          <p:cNvSpPr txBox="1"/>
          <p:nvPr/>
        </p:nvSpPr>
        <p:spPr>
          <a:xfrm>
            <a:off x="6413602"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OMSB / MOH</a:t>
            </a:r>
            <a:endParaRPr lang="en-US" sz="1150" dirty="0"/>
          </a:p>
        </p:txBody>
      </p:sp>
      <p:sp>
        <p:nvSpPr>
          <p:cNvPr id="39" name="Text 37"/>
          <p:cNvSpPr txBox="1"/>
          <p:nvPr/>
        </p:nvSpPr>
        <p:spPr>
          <a:xfrm>
            <a:off x="6413602"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MOH · Prometric</a:t>
            </a:r>
            <a:endParaRPr lang="en-US" sz="830" dirty="0"/>
          </a:p>
        </p:txBody>
      </p:sp>
      <p:sp>
        <p:nvSpPr>
          <p:cNvPr id="40" name="Shape 38"/>
          <p:cNvSpPr/>
          <p:nvPr/>
        </p:nvSpPr>
        <p:spPr>
          <a:xfrm>
            <a:off x="9126626" y="5541264"/>
            <a:ext cx="2688336" cy="621792"/>
          </a:xfrm>
          <a:prstGeom prst="roundRect">
            <a:avLst>
              <a:gd name="adj" fmla="val 7353"/>
            </a:avLst>
          </a:prstGeom>
          <a:solidFill>
            <a:srgbClr val="FFFFFF"/>
          </a:solidFill>
          <a:ln w="7620">
            <a:solidFill>
              <a:srgbClr val="E3E7EA"/>
            </a:solidFill>
            <a:prstDash val="solid"/>
          </a:ln>
        </p:spPr>
      </p:sp>
      <p:sp>
        <p:nvSpPr>
          <p:cNvPr id="41" name="Text 39"/>
          <p:cNvSpPr txBox="1"/>
          <p:nvPr/>
        </p:nvSpPr>
        <p:spPr>
          <a:xfrm>
            <a:off x="9272930"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Kuwait</a:t>
            </a:r>
            <a:endParaRPr lang="en-US" sz="850" dirty="0"/>
          </a:p>
        </p:txBody>
      </p:sp>
      <p:sp>
        <p:nvSpPr>
          <p:cNvPr id="42" name="Text 40"/>
          <p:cNvSpPr txBox="1"/>
          <p:nvPr/>
        </p:nvSpPr>
        <p:spPr>
          <a:xfrm>
            <a:off x="9272930"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MOH</a:t>
            </a:r>
            <a:endParaRPr lang="en-US" sz="1150" dirty="0"/>
          </a:p>
        </p:txBody>
      </p:sp>
      <p:sp>
        <p:nvSpPr>
          <p:cNvPr id="43" name="Text 41"/>
          <p:cNvSpPr txBox="1"/>
          <p:nvPr/>
        </p:nvSpPr>
        <p:spPr>
          <a:xfrm>
            <a:off x="9272930"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MOH · Kuwait Prometric</a:t>
            </a:r>
            <a:endParaRPr lang="en-US" sz="830" dirty="0"/>
          </a:p>
        </p:txBody>
      </p:sp>
      <p:sp>
        <p:nvSpPr>
          <p:cNvPr id="44" name="Text 42"/>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45" name="Text 43"/>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ARCHITECTURE &amp; INTEGRATION</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Between the government portal and SuccessFactors.</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The application sits exactly where the gap is: it takes candidates from Recruiting, drives the government-facing work, writes permit data back into Employee Central, and posts the money to finance.</a:t>
            </a:r>
            <a:endParaRPr lang="en-US" sz="1300" dirty="0"/>
          </a:p>
        </p:txBody>
      </p:sp>
      <p:sp>
        <p:nvSpPr>
          <p:cNvPr id="5" name="Shape 3"/>
          <p:cNvSpPr/>
          <p:nvPr/>
        </p:nvSpPr>
        <p:spPr>
          <a:xfrm>
            <a:off x="548640" y="1792224"/>
            <a:ext cx="6903720" cy="859536"/>
          </a:xfrm>
          <a:prstGeom prst="roundRect">
            <a:avLst>
              <a:gd name="adj" fmla="val 7447"/>
            </a:avLst>
          </a:prstGeom>
          <a:solidFill>
            <a:srgbClr val="F4F6F7"/>
          </a:solidFill>
          <a:ln w="11430">
            <a:solidFill>
              <a:srgbClr val="E3E7EA"/>
            </a:solidFill>
            <a:prstDash val="solid"/>
          </a:ln>
        </p:spPr>
      </p:sp>
      <p:sp>
        <p:nvSpPr>
          <p:cNvPr id="6" name="Text 4"/>
          <p:cNvSpPr txBox="1"/>
          <p:nvPr/>
        </p:nvSpPr>
        <p:spPr>
          <a:xfrm>
            <a:off x="749808" y="1883664"/>
            <a:ext cx="4572000"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SAP SuccessFactors</a:t>
            </a:r>
            <a:endParaRPr lang="en-US" sz="1250" dirty="0"/>
          </a:p>
        </p:txBody>
      </p:sp>
      <p:sp>
        <p:nvSpPr>
          <p:cNvPr id="7" name="Text 5"/>
          <p:cNvSpPr txBox="1"/>
          <p:nvPr/>
        </p:nvSpPr>
        <p:spPr>
          <a:xfrm>
            <a:off x="749808" y="2103120"/>
            <a:ext cx="6309360" cy="182880"/>
          </a:xfrm>
          <a:prstGeom prst="rect">
            <a:avLst/>
          </a:prstGeom>
          <a:noFill/>
          <a:ln/>
        </p:spPr>
        <p:txBody>
          <a:bodyPr wrap="square" lIns="0" tIns="0" rIns="0" bIns="0" rtlCol="0" anchor="ctr"/>
          <a:lstStyle/>
          <a:p>
            <a:pPr indent="0" marL="0">
              <a:buNone/>
            </a:pPr>
            <a:r>
              <a:rPr lang="en-US" sz="880" i="1" dirty="0">
                <a:solidFill>
                  <a:srgbClr val="5A6C82"/>
                </a:solidFill>
                <a:latin typeface="Calibri" pitchFamily="34" charset="0"/>
                <a:ea typeface="Calibri" pitchFamily="34" charset="-122"/>
                <a:cs typeface="Calibri" pitchFamily="34" charset="-120"/>
              </a:rPr>
              <a:t>Candidates, employee master, separations and expiry dates flow in</a:t>
            </a:r>
            <a:endParaRPr lang="en-US" sz="880" dirty="0"/>
          </a:p>
        </p:txBody>
      </p:sp>
      <p:sp>
        <p:nvSpPr>
          <p:cNvPr id="8" name="Shape 6"/>
          <p:cNvSpPr/>
          <p:nvPr/>
        </p:nvSpPr>
        <p:spPr>
          <a:xfrm>
            <a:off x="749808" y="2322576"/>
            <a:ext cx="1175918" cy="237744"/>
          </a:xfrm>
          <a:prstGeom prst="roundRect">
            <a:avLst>
              <a:gd name="adj" fmla="val 46154"/>
            </a:avLst>
          </a:prstGeom>
          <a:solidFill>
            <a:srgbClr val="FFFFFF"/>
          </a:solidFill>
          <a:ln w="7620">
            <a:solidFill>
              <a:srgbClr val="E3E7EA"/>
            </a:solidFill>
            <a:prstDash val="solid"/>
          </a:ln>
        </p:spPr>
      </p:sp>
      <p:sp>
        <p:nvSpPr>
          <p:cNvPr id="9" name="Text 7"/>
          <p:cNvSpPr txBox="1"/>
          <p:nvPr/>
        </p:nvSpPr>
        <p:spPr>
          <a:xfrm>
            <a:off x="749808" y="2322576"/>
            <a:ext cx="1175918"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SF Recruiting</a:t>
            </a:r>
            <a:endParaRPr lang="en-US" sz="860" dirty="0"/>
          </a:p>
        </p:txBody>
      </p:sp>
      <p:sp>
        <p:nvSpPr>
          <p:cNvPr id="10" name="Shape 8"/>
          <p:cNvSpPr/>
          <p:nvPr/>
        </p:nvSpPr>
        <p:spPr>
          <a:xfrm>
            <a:off x="2017166" y="2322576"/>
            <a:ext cx="1475842" cy="237744"/>
          </a:xfrm>
          <a:prstGeom prst="roundRect">
            <a:avLst>
              <a:gd name="adj" fmla="val 46154"/>
            </a:avLst>
          </a:prstGeom>
          <a:solidFill>
            <a:srgbClr val="FFFFFF"/>
          </a:solidFill>
          <a:ln w="7620">
            <a:solidFill>
              <a:srgbClr val="E3E7EA"/>
            </a:solidFill>
            <a:prstDash val="solid"/>
          </a:ln>
        </p:spPr>
      </p:sp>
      <p:sp>
        <p:nvSpPr>
          <p:cNvPr id="11" name="Text 9"/>
          <p:cNvSpPr txBox="1"/>
          <p:nvPr/>
        </p:nvSpPr>
        <p:spPr>
          <a:xfrm>
            <a:off x="2017166" y="2322576"/>
            <a:ext cx="1475842"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SF Onboarding 2.0</a:t>
            </a:r>
            <a:endParaRPr lang="en-US" sz="860" dirty="0"/>
          </a:p>
        </p:txBody>
      </p:sp>
      <p:sp>
        <p:nvSpPr>
          <p:cNvPr id="12" name="Shape 10"/>
          <p:cNvSpPr/>
          <p:nvPr/>
        </p:nvSpPr>
        <p:spPr>
          <a:xfrm>
            <a:off x="3584448" y="2322576"/>
            <a:ext cx="1400861" cy="237744"/>
          </a:xfrm>
          <a:prstGeom prst="roundRect">
            <a:avLst>
              <a:gd name="adj" fmla="val 46154"/>
            </a:avLst>
          </a:prstGeom>
          <a:solidFill>
            <a:srgbClr val="FFFFFF"/>
          </a:solidFill>
          <a:ln w="7620">
            <a:solidFill>
              <a:srgbClr val="E3E7EA"/>
            </a:solidFill>
            <a:prstDash val="solid"/>
          </a:ln>
        </p:spPr>
      </p:sp>
      <p:sp>
        <p:nvSpPr>
          <p:cNvPr id="13" name="Text 11"/>
          <p:cNvSpPr txBox="1"/>
          <p:nvPr/>
        </p:nvSpPr>
        <p:spPr>
          <a:xfrm>
            <a:off x="3584448" y="2322576"/>
            <a:ext cx="1400861"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Employee Central</a:t>
            </a:r>
            <a:endParaRPr lang="en-US" sz="860" dirty="0"/>
          </a:p>
        </p:txBody>
      </p:sp>
      <p:sp>
        <p:nvSpPr>
          <p:cNvPr id="14" name="Shape 12"/>
          <p:cNvSpPr/>
          <p:nvPr/>
        </p:nvSpPr>
        <p:spPr>
          <a:xfrm>
            <a:off x="5076749" y="2322576"/>
            <a:ext cx="1100938" cy="237744"/>
          </a:xfrm>
          <a:prstGeom prst="roundRect">
            <a:avLst>
              <a:gd name="adj" fmla="val 46154"/>
            </a:avLst>
          </a:prstGeom>
          <a:solidFill>
            <a:srgbClr val="FFFFFF"/>
          </a:solidFill>
          <a:ln w="7620">
            <a:solidFill>
              <a:srgbClr val="E3E7EA"/>
            </a:solidFill>
            <a:prstDash val="solid"/>
          </a:ln>
        </p:spPr>
      </p:sp>
      <p:sp>
        <p:nvSpPr>
          <p:cNvPr id="15" name="Text 13"/>
          <p:cNvSpPr txBox="1"/>
          <p:nvPr/>
        </p:nvSpPr>
        <p:spPr>
          <a:xfrm>
            <a:off x="5076749" y="2322576"/>
            <a:ext cx="1100938"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SF Work Zone</a:t>
            </a:r>
            <a:endParaRPr lang="en-US" sz="860" dirty="0"/>
          </a:p>
        </p:txBody>
      </p:sp>
      <p:sp>
        <p:nvSpPr>
          <p:cNvPr id="16" name="Shape 14"/>
          <p:cNvSpPr/>
          <p:nvPr/>
        </p:nvSpPr>
        <p:spPr>
          <a:xfrm rot="5400000">
            <a:off x="3703320" y="2683764"/>
            <a:ext cx="566928" cy="201168"/>
          </a:xfrm>
          <a:prstGeom prst="chevron">
            <a:avLst/>
          </a:prstGeom>
          <a:solidFill>
            <a:srgbClr val="C3CDD4"/>
          </a:solidFill>
          <a:ln/>
        </p:spPr>
      </p:sp>
      <p:sp>
        <p:nvSpPr>
          <p:cNvPr id="17" name="Shape 15"/>
          <p:cNvSpPr/>
          <p:nvPr/>
        </p:nvSpPr>
        <p:spPr>
          <a:xfrm>
            <a:off x="548640" y="2926080"/>
            <a:ext cx="6903720" cy="1042416"/>
          </a:xfrm>
          <a:prstGeom prst="roundRect">
            <a:avLst>
              <a:gd name="adj" fmla="val 6140"/>
            </a:avLst>
          </a:prstGeom>
          <a:solidFill>
            <a:srgbClr val="20A098"/>
          </a:solidFill>
          <a:ln w="11430">
            <a:solidFill>
              <a:srgbClr val="12756F"/>
            </a:solidFill>
            <a:prstDash val="solid"/>
          </a:ln>
        </p:spPr>
      </p:sp>
      <p:sp>
        <p:nvSpPr>
          <p:cNvPr id="18" name="Text 16"/>
          <p:cNvSpPr txBox="1"/>
          <p:nvPr/>
        </p:nvSpPr>
        <p:spPr>
          <a:xfrm>
            <a:off x="749808" y="3017520"/>
            <a:ext cx="4572000"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Visa &amp; Permits on SAP BTP</a:t>
            </a:r>
            <a:endParaRPr lang="en-US" sz="1250" dirty="0"/>
          </a:p>
        </p:txBody>
      </p:sp>
      <p:sp>
        <p:nvSpPr>
          <p:cNvPr id="19" name="Text 17"/>
          <p:cNvSpPr txBox="1"/>
          <p:nvPr/>
        </p:nvSpPr>
        <p:spPr>
          <a:xfrm>
            <a:off x="749808" y="3236976"/>
            <a:ext cx="6309360" cy="182880"/>
          </a:xfrm>
          <a:prstGeom prst="rect">
            <a:avLst/>
          </a:prstGeom>
          <a:noFill/>
          <a:ln/>
        </p:spPr>
        <p:txBody>
          <a:bodyPr wrap="square" lIns="0" tIns="0" rIns="0" bIns="0" rtlCol="0" anchor="ctr"/>
          <a:lstStyle/>
          <a:p>
            <a:pPr indent="0" marL="0">
              <a:buNone/>
            </a:pPr>
            <a:r>
              <a:rPr lang="en-US" sz="880" i="1" dirty="0">
                <a:solidFill>
                  <a:srgbClr val="CFEFEB"/>
                </a:solidFill>
                <a:latin typeface="Calibri" pitchFamily="34" charset="0"/>
                <a:ea typeface="Calibri" pitchFamily="34" charset="-122"/>
                <a:cs typeface="Calibri" pitchFamily="34" charset="-120"/>
              </a:rPr>
              <a:t>The governed layer — where the work is actually managed</a:t>
            </a:r>
            <a:endParaRPr lang="en-US" sz="880" dirty="0"/>
          </a:p>
        </p:txBody>
      </p:sp>
      <p:sp>
        <p:nvSpPr>
          <p:cNvPr id="20" name="Shape 18"/>
          <p:cNvSpPr/>
          <p:nvPr/>
        </p:nvSpPr>
        <p:spPr>
          <a:xfrm>
            <a:off x="749808" y="3456432"/>
            <a:ext cx="1775765" cy="237744"/>
          </a:xfrm>
          <a:prstGeom prst="roundRect">
            <a:avLst>
              <a:gd name="adj" fmla="val 46154"/>
            </a:avLst>
          </a:prstGeom>
          <a:solidFill>
            <a:srgbClr val="12756F"/>
          </a:solidFill>
          <a:ln w="7620">
            <a:solidFill>
              <a:srgbClr val="0E5F5A"/>
            </a:solidFill>
            <a:prstDash val="solid"/>
          </a:ln>
        </p:spPr>
      </p:sp>
      <p:sp>
        <p:nvSpPr>
          <p:cNvPr id="21" name="Text 19"/>
          <p:cNvSpPr txBox="1"/>
          <p:nvPr/>
        </p:nvSpPr>
        <p:spPr>
          <a:xfrm>
            <a:off x="749808" y="3456432"/>
            <a:ext cx="1775765"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Workflow &amp; milestones</a:t>
            </a:r>
            <a:endParaRPr lang="en-US" sz="860" dirty="0"/>
          </a:p>
        </p:txBody>
      </p:sp>
      <p:sp>
        <p:nvSpPr>
          <p:cNvPr id="22" name="Shape 20"/>
          <p:cNvSpPr/>
          <p:nvPr/>
        </p:nvSpPr>
        <p:spPr>
          <a:xfrm>
            <a:off x="2617013" y="3456432"/>
            <a:ext cx="1925726" cy="237744"/>
          </a:xfrm>
          <a:prstGeom prst="roundRect">
            <a:avLst>
              <a:gd name="adj" fmla="val 46154"/>
            </a:avLst>
          </a:prstGeom>
          <a:solidFill>
            <a:srgbClr val="12756F"/>
          </a:solidFill>
          <a:ln w="7620">
            <a:solidFill>
              <a:srgbClr val="0E5F5A"/>
            </a:solidFill>
            <a:prstDash val="solid"/>
          </a:ln>
        </p:spPr>
      </p:sp>
      <p:sp>
        <p:nvSpPr>
          <p:cNvPr id="23" name="Text 21"/>
          <p:cNvSpPr txBox="1"/>
          <p:nvPr/>
        </p:nvSpPr>
        <p:spPr>
          <a:xfrm>
            <a:off x="2617013" y="3456432"/>
            <a:ext cx="1925726"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Task inbox &amp; escalation</a:t>
            </a:r>
            <a:endParaRPr lang="en-US" sz="860" dirty="0"/>
          </a:p>
        </p:txBody>
      </p:sp>
      <p:sp>
        <p:nvSpPr>
          <p:cNvPr id="24" name="Shape 22"/>
          <p:cNvSpPr/>
          <p:nvPr/>
        </p:nvSpPr>
        <p:spPr>
          <a:xfrm>
            <a:off x="4634179" y="3456432"/>
            <a:ext cx="875995" cy="237744"/>
          </a:xfrm>
          <a:prstGeom prst="roundRect">
            <a:avLst>
              <a:gd name="adj" fmla="val 46154"/>
            </a:avLst>
          </a:prstGeom>
          <a:solidFill>
            <a:srgbClr val="12756F"/>
          </a:solidFill>
          <a:ln w="7620">
            <a:solidFill>
              <a:srgbClr val="0E5F5A"/>
            </a:solidFill>
            <a:prstDash val="solid"/>
          </a:ln>
        </p:spPr>
      </p:sp>
      <p:sp>
        <p:nvSpPr>
          <p:cNvPr id="25" name="Text 23"/>
          <p:cNvSpPr txBox="1"/>
          <p:nvPr/>
        </p:nvSpPr>
        <p:spPr>
          <a:xfrm>
            <a:off x="4634179" y="3456432"/>
            <a:ext cx="875995"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Documents</a:t>
            </a:r>
            <a:endParaRPr lang="en-US" sz="860" dirty="0"/>
          </a:p>
        </p:txBody>
      </p:sp>
      <p:sp>
        <p:nvSpPr>
          <p:cNvPr id="26" name="Shape 24"/>
          <p:cNvSpPr/>
          <p:nvPr/>
        </p:nvSpPr>
        <p:spPr>
          <a:xfrm>
            <a:off x="5601614" y="3456432"/>
            <a:ext cx="801014" cy="237744"/>
          </a:xfrm>
          <a:prstGeom prst="roundRect">
            <a:avLst>
              <a:gd name="adj" fmla="val 46154"/>
            </a:avLst>
          </a:prstGeom>
          <a:solidFill>
            <a:srgbClr val="12756F"/>
          </a:solidFill>
          <a:ln w="7620">
            <a:solidFill>
              <a:srgbClr val="0E5F5A"/>
            </a:solidFill>
            <a:prstDash val="solid"/>
          </a:ln>
        </p:spPr>
      </p:sp>
      <p:sp>
        <p:nvSpPr>
          <p:cNvPr id="27" name="Text 25"/>
          <p:cNvSpPr txBox="1"/>
          <p:nvPr/>
        </p:nvSpPr>
        <p:spPr>
          <a:xfrm>
            <a:off x="5601614" y="3456432"/>
            <a:ext cx="801014"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Payments</a:t>
            </a:r>
            <a:endParaRPr lang="en-US" sz="860" dirty="0"/>
          </a:p>
        </p:txBody>
      </p:sp>
      <p:sp>
        <p:nvSpPr>
          <p:cNvPr id="28" name="Shape 26"/>
          <p:cNvSpPr/>
          <p:nvPr/>
        </p:nvSpPr>
        <p:spPr>
          <a:xfrm>
            <a:off x="749808" y="3730752"/>
            <a:ext cx="1250899" cy="237744"/>
          </a:xfrm>
          <a:prstGeom prst="roundRect">
            <a:avLst>
              <a:gd name="adj" fmla="val 46154"/>
            </a:avLst>
          </a:prstGeom>
          <a:solidFill>
            <a:srgbClr val="12756F"/>
          </a:solidFill>
          <a:ln w="7620">
            <a:solidFill>
              <a:srgbClr val="0E5F5A"/>
            </a:solidFill>
            <a:prstDash val="solid"/>
          </a:ln>
        </p:spPr>
      </p:sp>
      <p:sp>
        <p:nvSpPr>
          <p:cNvPr id="29" name="Text 27"/>
          <p:cNvSpPr txBox="1"/>
          <p:nvPr/>
        </p:nvSpPr>
        <p:spPr>
          <a:xfrm>
            <a:off x="749808" y="3730752"/>
            <a:ext cx="1250899"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Quota register</a:t>
            </a:r>
            <a:endParaRPr lang="en-US" sz="860" dirty="0"/>
          </a:p>
        </p:txBody>
      </p:sp>
      <p:sp>
        <p:nvSpPr>
          <p:cNvPr id="30" name="Shape 28"/>
          <p:cNvSpPr/>
          <p:nvPr/>
        </p:nvSpPr>
        <p:spPr>
          <a:xfrm>
            <a:off x="2092147" y="3730752"/>
            <a:ext cx="875995" cy="237744"/>
          </a:xfrm>
          <a:prstGeom prst="roundRect">
            <a:avLst>
              <a:gd name="adj" fmla="val 46154"/>
            </a:avLst>
          </a:prstGeom>
          <a:solidFill>
            <a:srgbClr val="12756F"/>
          </a:solidFill>
          <a:ln w="7620">
            <a:solidFill>
              <a:srgbClr val="0E5F5A"/>
            </a:solidFill>
            <a:prstDash val="solid"/>
          </a:ln>
        </p:spPr>
      </p:sp>
      <p:sp>
        <p:nvSpPr>
          <p:cNvPr id="31" name="Text 29"/>
          <p:cNvSpPr txBox="1"/>
          <p:nvPr/>
        </p:nvSpPr>
        <p:spPr>
          <a:xfrm>
            <a:off x="2092147" y="3730752"/>
            <a:ext cx="875995"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Reporting</a:t>
            </a:r>
            <a:endParaRPr lang="en-US" sz="860" dirty="0"/>
          </a:p>
        </p:txBody>
      </p:sp>
      <p:sp>
        <p:nvSpPr>
          <p:cNvPr id="32" name="Shape 30"/>
          <p:cNvSpPr/>
          <p:nvPr/>
        </p:nvSpPr>
        <p:spPr>
          <a:xfrm rot="5400000">
            <a:off x="3703320" y="4000500"/>
            <a:ext cx="566928" cy="201168"/>
          </a:xfrm>
          <a:prstGeom prst="chevron">
            <a:avLst/>
          </a:prstGeom>
          <a:solidFill>
            <a:srgbClr val="C3CDD4"/>
          </a:solidFill>
          <a:ln/>
        </p:spPr>
      </p:sp>
      <p:sp>
        <p:nvSpPr>
          <p:cNvPr id="33" name="Shape 31"/>
          <p:cNvSpPr/>
          <p:nvPr/>
        </p:nvSpPr>
        <p:spPr>
          <a:xfrm>
            <a:off x="548640" y="4242816"/>
            <a:ext cx="6903720" cy="859536"/>
          </a:xfrm>
          <a:prstGeom prst="roundRect">
            <a:avLst>
              <a:gd name="adj" fmla="val 7447"/>
            </a:avLst>
          </a:prstGeom>
          <a:solidFill>
            <a:srgbClr val="F4F6F7"/>
          </a:solidFill>
          <a:ln w="11430">
            <a:solidFill>
              <a:srgbClr val="E3E7EA"/>
            </a:solidFill>
            <a:prstDash val="solid"/>
          </a:ln>
        </p:spPr>
      </p:sp>
      <p:sp>
        <p:nvSpPr>
          <p:cNvPr id="34" name="Text 32"/>
          <p:cNvSpPr txBox="1"/>
          <p:nvPr/>
        </p:nvSpPr>
        <p:spPr>
          <a:xfrm>
            <a:off x="749808" y="4334256"/>
            <a:ext cx="4572000"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SAP S/4HANA Finance</a:t>
            </a:r>
            <a:endParaRPr lang="en-US" sz="1250" dirty="0"/>
          </a:p>
        </p:txBody>
      </p:sp>
      <p:sp>
        <p:nvSpPr>
          <p:cNvPr id="35" name="Text 33"/>
          <p:cNvSpPr txBox="1"/>
          <p:nvPr/>
        </p:nvSpPr>
        <p:spPr>
          <a:xfrm>
            <a:off x="749808" y="4553712"/>
            <a:ext cx="6309360" cy="182880"/>
          </a:xfrm>
          <a:prstGeom prst="rect">
            <a:avLst/>
          </a:prstGeom>
          <a:noFill/>
          <a:ln/>
        </p:spPr>
        <p:txBody>
          <a:bodyPr wrap="square" lIns="0" tIns="0" rIns="0" bIns="0" rtlCol="0" anchor="ctr"/>
          <a:lstStyle/>
          <a:p>
            <a:pPr indent="0" marL="0">
              <a:buNone/>
            </a:pPr>
            <a:r>
              <a:rPr lang="en-US" sz="880" i="1" dirty="0">
                <a:solidFill>
                  <a:srgbClr val="5A6C82"/>
                </a:solidFill>
                <a:latin typeface="Calibri" pitchFamily="34" charset="0"/>
                <a:ea typeface="Calibri" pitchFamily="34" charset="-122"/>
                <a:cs typeface="Calibri" pitchFamily="34" charset="-120"/>
              </a:rPr>
              <a:t>Permit costs and approved fine deductions post outward</a:t>
            </a:r>
            <a:endParaRPr lang="en-US" sz="880" dirty="0"/>
          </a:p>
        </p:txBody>
      </p:sp>
      <p:sp>
        <p:nvSpPr>
          <p:cNvPr id="36" name="Shape 34"/>
          <p:cNvSpPr/>
          <p:nvPr/>
        </p:nvSpPr>
        <p:spPr>
          <a:xfrm>
            <a:off x="749808" y="4773168"/>
            <a:ext cx="1250899" cy="237744"/>
          </a:xfrm>
          <a:prstGeom prst="roundRect">
            <a:avLst>
              <a:gd name="adj" fmla="val 46154"/>
            </a:avLst>
          </a:prstGeom>
          <a:solidFill>
            <a:srgbClr val="FFFFFF"/>
          </a:solidFill>
          <a:ln w="7620">
            <a:solidFill>
              <a:srgbClr val="E3E7EA"/>
            </a:solidFill>
            <a:prstDash val="solid"/>
          </a:ln>
        </p:spPr>
      </p:sp>
      <p:sp>
        <p:nvSpPr>
          <p:cNvPr id="37" name="Text 35"/>
          <p:cNvSpPr txBox="1"/>
          <p:nvPr/>
        </p:nvSpPr>
        <p:spPr>
          <a:xfrm>
            <a:off x="749808" y="4773168"/>
            <a:ext cx="1250899"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Payments to GL</a:t>
            </a:r>
            <a:endParaRPr lang="en-US" sz="860" dirty="0"/>
          </a:p>
        </p:txBody>
      </p:sp>
      <p:sp>
        <p:nvSpPr>
          <p:cNvPr id="38" name="Shape 36"/>
          <p:cNvSpPr/>
          <p:nvPr/>
        </p:nvSpPr>
        <p:spPr>
          <a:xfrm>
            <a:off x="2092147" y="4773168"/>
            <a:ext cx="1325880" cy="237744"/>
          </a:xfrm>
          <a:prstGeom prst="roundRect">
            <a:avLst>
              <a:gd name="adj" fmla="val 46154"/>
            </a:avLst>
          </a:prstGeom>
          <a:solidFill>
            <a:srgbClr val="FFFFFF"/>
          </a:solidFill>
          <a:ln w="7620">
            <a:solidFill>
              <a:srgbClr val="E3E7EA"/>
            </a:solidFill>
            <a:prstDash val="solid"/>
          </a:ln>
        </p:spPr>
      </p:sp>
      <p:sp>
        <p:nvSpPr>
          <p:cNvPr id="39" name="Text 37"/>
          <p:cNvSpPr txBox="1"/>
          <p:nvPr/>
        </p:nvSpPr>
        <p:spPr>
          <a:xfrm>
            <a:off x="2092147" y="4773168"/>
            <a:ext cx="1325880"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Journal posting</a:t>
            </a:r>
            <a:endParaRPr lang="en-US" sz="860" dirty="0"/>
          </a:p>
        </p:txBody>
      </p:sp>
      <p:sp>
        <p:nvSpPr>
          <p:cNvPr id="40" name="Shape 38"/>
          <p:cNvSpPr/>
          <p:nvPr/>
        </p:nvSpPr>
        <p:spPr>
          <a:xfrm>
            <a:off x="3509467" y="4773168"/>
            <a:ext cx="1550822" cy="237744"/>
          </a:xfrm>
          <a:prstGeom prst="roundRect">
            <a:avLst>
              <a:gd name="adj" fmla="val 46154"/>
            </a:avLst>
          </a:prstGeom>
          <a:solidFill>
            <a:srgbClr val="FFFFFF"/>
          </a:solidFill>
          <a:ln w="7620">
            <a:solidFill>
              <a:srgbClr val="E3E7EA"/>
            </a:solidFill>
            <a:prstDash val="solid"/>
          </a:ln>
        </p:spPr>
      </p:sp>
      <p:sp>
        <p:nvSpPr>
          <p:cNvPr id="41" name="Text 39"/>
          <p:cNvSpPr txBox="1"/>
          <p:nvPr/>
        </p:nvSpPr>
        <p:spPr>
          <a:xfrm>
            <a:off x="3509467" y="4773168"/>
            <a:ext cx="1550822"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Payroll deductions</a:t>
            </a:r>
            <a:endParaRPr lang="en-US" sz="860" dirty="0"/>
          </a:p>
        </p:txBody>
      </p:sp>
      <p:sp>
        <p:nvSpPr>
          <p:cNvPr id="42" name="Shape 40"/>
          <p:cNvSpPr/>
          <p:nvPr/>
        </p:nvSpPr>
        <p:spPr>
          <a:xfrm>
            <a:off x="7699248" y="1792224"/>
            <a:ext cx="3913632" cy="1115568"/>
          </a:xfrm>
          <a:prstGeom prst="roundRect">
            <a:avLst>
              <a:gd name="adj" fmla="val 5738"/>
            </a:avLst>
          </a:prstGeom>
          <a:solidFill>
            <a:srgbClr val="0C1E33"/>
          </a:solidFill>
          <a:ln w="12700">
            <a:solidFill>
              <a:srgbClr val="16304C"/>
            </a:solidFill>
            <a:prstDash val="solid"/>
          </a:ln>
        </p:spPr>
      </p:sp>
      <p:sp>
        <p:nvSpPr>
          <p:cNvPr id="43" name="Text 41"/>
          <p:cNvSpPr txBox="1"/>
          <p:nvPr/>
        </p:nvSpPr>
        <p:spPr>
          <a:xfrm>
            <a:off x="7900416" y="1920240"/>
            <a:ext cx="3566160"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Government portals</a:t>
            </a:r>
            <a:endParaRPr lang="en-US" sz="1250" dirty="0"/>
          </a:p>
        </p:txBody>
      </p:sp>
      <p:sp>
        <p:nvSpPr>
          <p:cNvPr id="44" name="Text 42"/>
          <p:cNvSpPr txBox="1"/>
          <p:nvPr/>
        </p:nvSpPr>
        <p:spPr>
          <a:xfrm>
            <a:off x="7900416" y="2176272"/>
            <a:ext cx="3511296" cy="658368"/>
          </a:xfrm>
          <a:prstGeom prst="rect">
            <a:avLst/>
          </a:prstGeom>
          <a:noFill/>
          <a:ln/>
        </p:spPr>
        <p:txBody>
          <a:bodyPr wrap="square" lIns="0" tIns="0" rIns="0" bIns="0" rtlCol="0" anchor="ctr"/>
          <a:lstStyle/>
          <a:p>
            <a:pPr indent="0" marL="0">
              <a:lnSpc>
                <a:spcPts val="1200"/>
              </a:lnSpc>
              <a:buNone/>
            </a:pPr>
            <a:r>
              <a:rPr lang="en-US" sz="880" dirty="0">
                <a:solidFill>
                  <a:srgbClr val="7FD4CC"/>
                </a:solidFill>
                <a:latin typeface="Calibri" pitchFamily="34" charset="0"/>
                <a:ea typeface="Calibri" pitchFamily="34" charset="-122"/>
                <a:cs typeface="Calibri" pitchFamily="34" charset="-120"/>
              </a:rPr>
              <a:t>Qiwa · Muqeem · Absher · MOHRE · ICP · GDRFA · LMRA · PAM · ADLSA · SCFHS · DHA · DOH</a:t>
            </a:r>
            <a:endParaRPr lang="en-US" sz="880" dirty="0"/>
          </a:p>
        </p:txBody>
      </p:sp>
      <p:sp>
        <p:nvSpPr>
          <p:cNvPr id="45" name="Shape 43"/>
          <p:cNvSpPr/>
          <p:nvPr/>
        </p:nvSpPr>
        <p:spPr>
          <a:xfrm>
            <a:off x="7699248" y="3054096"/>
            <a:ext cx="3913632" cy="3035808"/>
          </a:xfrm>
          <a:prstGeom prst="roundRect">
            <a:avLst>
              <a:gd name="adj" fmla="val 2108"/>
            </a:avLst>
          </a:prstGeom>
          <a:solidFill>
            <a:srgbClr val="FCF6E4"/>
          </a:solidFill>
          <a:ln w="12700">
            <a:solidFill>
              <a:srgbClr val="C9A227"/>
            </a:solidFill>
            <a:prstDash val="solid"/>
          </a:ln>
        </p:spPr>
      </p:sp>
      <p:sp>
        <p:nvSpPr>
          <p:cNvPr id="46" name="Text 44"/>
          <p:cNvSpPr txBox="1"/>
          <p:nvPr/>
        </p:nvSpPr>
        <p:spPr>
          <a:xfrm>
            <a:off x="7900416" y="3182112"/>
            <a:ext cx="3566160" cy="219456"/>
          </a:xfrm>
          <a:prstGeom prst="rect">
            <a:avLst/>
          </a:prstGeom>
          <a:noFill/>
          <a:ln/>
        </p:spPr>
        <p:txBody>
          <a:bodyPr wrap="square" lIns="0" tIns="0" rIns="0" bIns="0" rtlCol="0" anchor="ctr"/>
          <a:lstStyle/>
          <a:p>
            <a:pPr indent="0" marL="0">
              <a:buNone/>
            </a:pPr>
            <a:r>
              <a:rPr lang="en-US" sz="1200" b="1" dirty="0">
                <a:solidFill>
                  <a:srgbClr val="7A6410"/>
                </a:solidFill>
                <a:latin typeface="Arial" pitchFamily="34" charset="0"/>
                <a:ea typeface="Arial" pitchFamily="34" charset="-122"/>
                <a:cs typeface="Arial" pitchFamily="34" charset="-120"/>
              </a:rPr>
              <a:t>API integration — read this carefully</a:t>
            </a:r>
            <a:endParaRPr lang="en-US" sz="1200" dirty="0"/>
          </a:p>
        </p:txBody>
      </p:sp>
      <p:sp>
        <p:nvSpPr>
          <p:cNvPr id="47" name="Text 45"/>
          <p:cNvSpPr txBox="1"/>
          <p:nvPr/>
        </p:nvSpPr>
        <p:spPr>
          <a:xfrm>
            <a:off x="7900416" y="3456432"/>
            <a:ext cx="3511296" cy="2523744"/>
          </a:xfrm>
          <a:prstGeom prst="rect">
            <a:avLst/>
          </a:prstGeom>
          <a:noFill/>
          <a:ln/>
        </p:spPr>
        <p:txBody>
          <a:bodyPr wrap="square" lIns="0" tIns="0" rIns="0" bIns="0" rtlCol="0" anchor="ctr"/>
          <a:lstStyle/>
          <a:p>
            <a:pPr indent="0" marL="0">
              <a:lnSpc>
                <a:spcPts val="1140"/>
              </a:lnSpc>
              <a:buNone/>
            </a:pPr>
            <a:r>
              <a:rPr lang="en-US" sz="840" b="1" dirty="0">
                <a:solidFill>
                  <a:srgbClr val="0C1E33"/>
                </a:solidFill>
                <a:latin typeface="Calibri" pitchFamily="34" charset="0"/>
                <a:ea typeface="Calibri" pitchFamily="34" charset="-122"/>
                <a:cs typeface="Calibri" pitchFamily="34" charset="-120"/>
              </a:rPr>
              <a:t>The application is API-ready by design. </a:t>
            </a:r>
            <a:pPr indent="0" marL="0">
              <a:lnSpc>
                <a:spcPts val="1140"/>
              </a:lnSpc>
              <a:buNone/>
            </a:pPr>
            <a:r>
              <a:rPr lang="en-US" sz="840" dirty="0">
                <a:solidFill>
                  <a:srgbClr val="5A6C82"/>
                </a:solidFill>
                <a:latin typeface="Calibri" pitchFamily="34" charset="0"/>
                <a:ea typeface="Calibri" pitchFamily="34" charset="-122"/>
                <a:cs typeface="Calibri" pitchFamily="34" charset="-120"/>
              </a:rPr>
              <a:t>Every government-facing milestone is an abstracted service call, so a portal integration drops into an existing slot rather than requiring the workflow to be rebuilt.
</a:t>
            </a:r>
            <a:pPr indent="0" marL="0">
              <a:lnSpc>
                <a:spcPts val="1140"/>
              </a:lnSpc>
              <a:buNone/>
            </a:pPr>
            <a:r>
              <a:rPr lang="en-US" sz="840" b="1" dirty="0">
                <a:solidFill>
                  <a:srgbClr val="0C1E33"/>
                </a:solidFill>
                <a:latin typeface="Calibri" pitchFamily="34" charset="0"/>
                <a:ea typeface="Calibri" pitchFamily="34" charset="-122"/>
                <a:cs typeface="Calibri" pitchFamily="34" charset="-120"/>
              </a:rPr>
              <a:t>What the customer must obtain. </a:t>
            </a:r>
            <a:pPr indent="0" marL="0">
              <a:lnSpc>
                <a:spcPts val="1140"/>
              </a:lnSpc>
              <a:buNone/>
            </a:pPr>
            <a:r>
              <a:rPr lang="en-US" sz="840" dirty="0">
                <a:solidFill>
                  <a:srgbClr val="5A6C82"/>
                </a:solidFill>
                <a:latin typeface="Calibri" pitchFamily="34" charset="0"/>
                <a:ea typeface="Calibri" pitchFamily="34" charset="-122"/>
                <a:cs typeface="Calibri" pitchFamily="34" charset="-120"/>
              </a:rPr>
              <a:t>GCC governments do not publish open APIs, and access is granted to the employer — not to the software vendor. The customer approaches each authority directly (Qiwa and Muqeem in KSA, MOHRE and ICP in the UAE, LMRA in Bahrain) for API credentials, a specification and a sandbox under their own establishment registration. We build the connector from those.
</a:t>
            </a:r>
            <a:pPr indent="0" marL="0">
              <a:lnSpc>
                <a:spcPts val="1140"/>
              </a:lnSpc>
              <a:buNone/>
            </a:pPr>
            <a:r>
              <a:rPr lang="en-US" sz="840" b="1" dirty="0">
                <a:solidFill>
                  <a:srgbClr val="0C1E33"/>
                </a:solidFill>
                <a:latin typeface="Calibri" pitchFamily="34" charset="0"/>
                <a:ea typeface="Calibri" pitchFamily="34" charset="-122"/>
                <a:cs typeface="Calibri" pitchFamily="34" charset="-120"/>
              </a:rPr>
              <a:t>Until then </a:t>
            </a:r>
            <a:pPr indent="0" marL="0">
              <a:lnSpc>
                <a:spcPts val="1140"/>
              </a:lnSpc>
              <a:buNone/>
            </a:pPr>
            <a:r>
              <a:rPr lang="en-US" sz="840" dirty="0">
                <a:solidFill>
                  <a:srgbClr val="5A6C82"/>
                </a:solidFill>
                <a:latin typeface="Calibri" pitchFamily="34" charset="0"/>
                <a:ea typeface="Calibri" pitchFamily="34" charset="-122"/>
                <a:cs typeface="Calibri" pitchFamily="34" charset="-120"/>
              </a:rPr>
              <a:t>— and this is how the system runs in production today — the government step stays a tracked manual PRO activity, with reference number, receipt and status captured in the milestone.</a:t>
            </a:r>
            <a:endParaRPr lang="en-US" sz="840" dirty="0"/>
          </a:p>
        </p:txBody>
      </p:sp>
      <p:sp>
        <p:nvSpPr>
          <p:cNvPr id="48" name="Text 46"/>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49" name="Text 47"/>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2194560" y="3840480"/>
            <a:ext cx="6035040" cy="6035040"/>
          </a:xfrm>
          <a:prstGeom prst="ellipse">
            <a:avLst/>
          </a:prstGeom>
          <a:solidFill>
            <a:srgbClr val="20A098">
              <a:alpha val="9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WHAT IT RUNS ON</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SAP BTP services required.</a:t>
            </a:r>
            <a:endParaRPr lang="en-US" sz="3000" dirty="0"/>
          </a:p>
        </p:txBody>
      </p:sp>
      <p:sp>
        <p:nvSpPr>
          <p:cNvPr id="5" name="Text 3"/>
          <p:cNvSpPr txBox="1"/>
          <p:nvPr/>
        </p:nvSpPr>
        <p:spPr>
          <a:xfrm>
            <a:off x="548640" y="1481328"/>
            <a:ext cx="5120640" cy="219456"/>
          </a:xfrm>
          <a:prstGeom prst="rect">
            <a:avLst/>
          </a:prstGeom>
          <a:noFill/>
          <a:ln/>
        </p:spPr>
        <p:txBody>
          <a:bodyPr wrap="square" lIns="0" tIns="0" rIns="0" bIns="0" rtlCol="0" anchor="ctr"/>
          <a:lstStyle/>
          <a:p>
            <a:pPr indent="0" marL="0">
              <a:buNone/>
            </a:pPr>
            <a:r>
              <a:rPr lang="en-US" sz="900" b="1" spc="150" kern="0" dirty="0">
                <a:solidFill>
                  <a:srgbClr val="20A098"/>
                </a:solidFill>
                <a:latin typeface="Calibri" pitchFamily="34" charset="0"/>
                <a:ea typeface="Calibri" pitchFamily="34" charset="-122"/>
                <a:cs typeface="Calibri" pitchFamily="34" charset="-120"/>
              </a:rPr>
              <a:t>CORE — REQUIRED FOR ANY DEPLOYMENT</a:t>
            </a:r>
            <a:endParaRPr lang="en-US" sz="900" dirty="0"/>
          </a:p>
        </p:txBody>
      </p:sp>
      <p:sp>
        <p:nvSpPr>
          <p:cNvPr id="6" name="Shape 4"/>
          <p:cNvSpPr/>
          <p:nvPr/>
        </p:nvSpPr>
        <p:spPr>
          <a:xfrm>
            <a:off x="548640" y="1773936"/>
            <a:ext cx="5138928" cy="448056"/>
          </a:xfrm>
          <a:prstGeom prst="roundRect">
            <a:avLst>
              <a:gd name="adj" fmla="val 10204"/>
            </a:avLst>
          </a:prstGeom>
          <a:solidFill>
            <a:srgbClr val="16304C"/>
          </a:solidFill>
          <a:ln w="7620">
            <a:solidFill>
              <a:srgbClr val="27415C"/>
            </a:solidFill>
            <a:prstDash val="solid"/>
          </a:ln>
        </p:spPr>
      </p:sp>
      <p:sp>
        <p:nvSpPr>
          <p:cNvPr id="7" name="Shape 5"/>
          <p:cNvSpPr/>
          <p:nvPr/>
        </p:nvSpPr>
        <p:spPr>
          <a:xfrm>
            <a:off x="676656" y="1911096"/>
            <a:ext cx="173736" cy="173736"/>
          </a:xfrm>
          <a:prstGeom prst="roundRect">
            <a:avLst>
              <a:gd name="adj" fmla="val 21053"/>
            </a:avLst>
          </a:prstGeom>
          <a:solidFill>
            <a:srgbClr val="20A098"/>
          </a:solidFill>
          <a:ln/>
        </p:spPr>
      </p:sp>
      <p:sp>
        <p:nvSpPr>
          <p:cNvPr id="8" name="Text 6"/>
          <p:cNvSpPr txBox="1"/>
          <p:nvPr/>
        </p:nvSpPr>
        <p:spPr>
          <a:xfrm>
            <a:off x="95097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Cloud Foundry Runtime</a:t>
            </a:r>
            <a:endParaRPr lang="en-US" sz="1000" dirty="0"/>
          </a:p>
        </p:txBody>
      </p:sp>
      <p:sp>
        <p:nvSpPr>
          <p:cNvPr id="9" name="Text 7"/>
          <p:cNvSpPr txBox="1"/>
          <p:nvPr/>
        </p:nvSpPr>
        <p:spPr>
          <a:xfrm>
            <a:off x="95097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Hosts the application, workflow engine and APIs</a:t>
            </a:r>
            <a:endParaRPr lang="en-US" sz="840" dirty="0"/>
          </a:p>
        </p:txBody>
      </p:sp>
      <p:sp>
        <p:nvSpPr>
          <p:cNvPr id="10" name="Shape 8"/>
          <p:cNvSpPr/>
          <p:nvPr/>
        </p:nvSpPr>
        <p:spPr>
          <a:xfrm>
            <a:off x="548640" y="2272284"/>
            <a:ext cx="5138928" cy="448056"/>
          </a:xfrm>
          <a:prstGeom prst="roundRect">
            <a:avLst>
              <a:gd name="adj" fmla="val 10204"/>
            </a:avLst>
          </a:prstGeom>
          <a:solidFill>
            <a:srgbClr val="16304C"/>
          </a:solidFill>
          <a:ln w="7620">
            <a:solidFill>
              <a:srgbClr val="27415C"/>
            </a:solidFill>
            <a:prstDash val="solid"/>
          </a:ln>
        </p:spPr>
      </p:sp>
      <p:sp>
        <p:nvSpPr>
          <p:cNvPr id="11" name="Shape 9"/>
          <p:cNvSpPr/>
          <p:nvPr/>
        </p:nvSpPr>
        <p:spPr>
          <a:xfrm>
            <a:off x="676656" y="2409444"/>
            <a:ext cx="173736" cy="173736"/>
          </a:xfrm>
          <a:prstGeom prst="roundRect">
            <a:avLst>
              <a:gd name="adj" fmla="val 21053"/>
            </a:avLst>
          </a:prstGeom>
          <a:solidFill>
            <a:srgbClr val="20A098"/>
          </a:solidFill>
          <a:ln/>
        </p:spPr>
      </p:sp>
      <p:sp>
        <p:nvSpPr>
          <p:cNvPr id="12" name="Text 10"/>
          <p:cNvSpPr txBox="1"/>
          <p:nvPr/>
        </p:nvSpPr>
        <p:spPr>
          <a:xfrm>
            <a:off x="95097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HANA Cloud</a:t>
            </a:r>
            <a:endParaRPr lang="en-US" sz="1000" dirty="0"/>
          </a:p>
        </p:txBody>
      </p:sp>
      <p:sp>
        <p:nvSpPr>
          <p:cNvPr id="13" name="Text 11"/>
          <p:cNvSpPr txBox="1"/>
          <p:nvPr/>
        </p:nvSpPr>
        <p:spPr>
          <a:xfrm>
            <a:off x="95097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Permit records, quotas, payments, audit trail</a:t>
            </a:r>
            <a:endParaRPr lang="en-US" sz="840" dirty="0"/>
          </a:p>
        </p:txBody>
      </p:sp>
      <p:sp>
        <p:nvSpPr>
          <p:cNvPr id="14" name="Shape 12"/>
          <p:cNvSpPr/>
          <p:nvPr/>
        </p:nvSpPr>
        <p:spPr>
          <a:xfrm>
            <a:off x="548640" y="2770632"/>
            <a:ext cx="5138928" cy="448056"/>
          </a:xfrm>
          <a:prstGeom prst="roundRect">
            <a:avLst>
              <a:gd name="adj" fmla="val 10204"/>
            </a:avLst>
          </a:prstGeom>
          <a:solidFill>
            <a:srgbClr val="16304C"/>
          </a:solidFill>
          <a:ln w="7620">
            <a:solidFill>
              <a:srgbClr val="27415C"/>
            </a:solidFill>
            <a:prstDash val="solid"/>
          </a:ln>
        </p:spPr>
      </p:sp>
      <p:sp>
        <p:nvSpPr>
          <p:cNvPr id="15" name="Shape 13"/>
          <p:cNvSpPr/>
          <p:nvPr/>
        </p:nvSpPr>
        <p:spPr>
          <a:xfrm>
            <a:off x="676656" y="2907792"/>
            <a:ext cx="173736" cy="173736"/>
          </a:xfrm>
          <a:prstGeom prst="roundRect">
            <a:avLst>
              <a:gd name="adj" fmla="val 21053"/>
            </a:avLst>
          </a:prstGeom>
          <a:solidFill>
            <a:srgbClr val="20A098"/>
          </a:solidFill>
          <a:ln/>
        </p:spPr>
      </p:sp>
      <p:sp>
        <p:nvSpPr>
          <p:cNvPr id="16" name="Text 14"/>
          <p:cNvSpPr txBox="1"/>
          <p:nvPr/>
        </p:nvSpPr>
        <p:spPr>
          <a:xfrm>
            <a:off x="95097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Work Zone</a:t>
            </a:r>
            <a:endParaRPr lang="en-US" sz="1000" dirty="0"/>
          </a:p>
        </p:txBody>
      </p:sp>
      <p:sp>
        <p:nvSpPr>
          <p:cNvPr id="17" name="Text 15"/>
          <p:cNvSpPr txBox="1"/>
          <p:nvPr/>
        </p:nvSpPr>
        <p:spPr>
          <a:xfrm>
            <a:off x="95097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Role-based portal and launchpad per persona</a:t>
            </a:r>
            <a:endParaRPr lang="en-US" sz="840" dirty="0"/>
          </a:p>
        </p:txBody>
      </p:sp>
      <p:sp>
        <p:nvSpPr>
          <p:cNvPr id="18" name="Shape 16"/>
          <p:cNvSpPr/>
          <p:nvPr/>
        </p:nvSpPr>
        <p:spPr>
          <a:xfrm>
            <a:off x="548640" y="3268980"/>
            <a:ext cx="5138928" cy="448056"/>
          </a:xfrm>
          <a:prstGeom prst="roundRect">
            <a:avLst>
              <a:gd name="adj" fmla="val 10204"/>
            </a:avLst>
          </a:prstGeom>
          <a:solidFill>
            <a:srgbClr val="16304C"/>
          </a:solidFill>
          <a:ln w="7620">
            <a:solidFill>
              <a:srgbClr val="27415C"/>
            </a:solidFill>
            <a:prstDash val="solid"/>
          </a:ln>
        </p:spPr>
      </p:sp>
      <p:sp>
        <p:nvSpPr>
          <p:cNvPr id="19" name="Shape 17"/>
          <p:cNvSpPr/>
          <p:nvPr/>
        </p:nvSpPr>
        <p:spPr>
          <a:xfrm>
            <a:off x="676656" y="3406140"/>
            <a:ext cx="173736" cy="173736"/>
          </a:xfrm>
          <a:prstGeom prst="roundRect">
            <a:avLst>
              <a:gd name="adj" fmla="val 21053"/>
            </a:avLst>
          </a:prstGeom>
          <a:solidFill>
            <a:srgbClr val="20A098"/>
          </a:solidFill>
          <a:ln/>
        </p:spPr>
      </p:sp>
      <p:sp>
        <p:nvSpPr>
          <p:cNvPr id="20" name="Text 18"/>
          <p:cNvSpPr txBox="1"/>
          <p:nvPr/>
        </p:nvSpPr>
        <p:spPr>
          <a:xfrm>
            <a:off x="95097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Process Automation</a:t>
            </a:r>
            <a:endParaRPr lang="en-US" sz="1000" dirty="0"/>
          </a:p>
        </p:txBody>
      </p:sp>
      <p:sp>
        <p:nvSpPr>
          <p:cNvPr id="21" name="Text 19"/>
          <p:cNvSpPr txBox="1"/>
          <p:nvPr/>
        </p:nvSpPr>
        <p:spPr>
          <a:xfrm>
            <a:off x="95097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Milestones, routing, due dates, escalation</a:t>
            </a:r>
            <a:endParaRPr lang="en-US" sz="840" dirty="0"/>
          </a:p>
        </p:txBody>
      </p:sp>
      <p:sp>
        <p:nvSpPr>
          <p:cNvPr id="22" name="Shape 20"/>
          <p:cNvSpPr/>
          <p:nvPr/>
        </p:nvSpPr>
        <p:spPr>
          <a:xfrm>
            <a:off x="548640" y="3767328"/>
            <a:ext cx="5138928" cy="448056"/>
          </a:xfrm>
          <a:prstGeom prst="roundRect">
            <a:avLst>
              <a:gd name="adj" fmla="val 10204"/>
            </a:avLst>
          </a:prstGeom>
          <a:solidFill>
            <a:srgbClr val="16304C"/>
          </a:solidFill>
          <a:ln w="7620">
            <a:solidFill>
              <a:srgbClr val="27415C"/>
            </a:solidFill>
            <a:prstDash val="solid"/>
          </a:ln>
        </p:spPr>
      </p:sp>
      <p:sp>
        <p:nvSpPr>
          <p:cNvPr id="23" name="Shape 21"/>
          <p:cNvSpPr/>
          <p:nvPr/>
        </p:nvSpPr>
        <p:spPr>
          <a:xfrm>
            <a:off x="676656" y="3904488"/>
            <a:ext cx="173736" cy="173736"/>
          </a:xfrm>
          <a:prstGeom prst="roundRect">
            <a:avLst>
              <a:gd name="adj" fmla="val 21053"/>
            </a:avLst>
          </a:prstGeom>
          <a:solidFill>
            <a:srgbClr val="20A098"/>
          </a:solidFill>
          <a:ln/>
        </p:spPr>
      </p:sp>
      <p:sp>
        <p:nvSpPr>
          <p:cNvPr id="24" name="Text 22"/>
          <p:cNvSpPr txBox="1"/>
          <p:nvPr/>
        </p:nvSpPr>
        <p:spPr>
          <a:xfrm>
            <a:off x="95097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Identity Authentication</a:t>
            </a:r>
            <a:endParaRPr lang="en-US" sz="1000" dirty="0"/>
          </a:p>
        </p:txBody>
      </p:sp>
      <p:sp>
        <p:nvSpPr>
          <p:cNvPr id="25" name="Text 23"/>
          <p:cNvSpPr txBox="1"/>
          <p:nvPr/>
        </p:nvSpPr>
        <p:spPr>
          <a:xfrm>
            <a:off x="95097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Single sign-on and directory federation</a:t>
            </a:r>
            <a:endParaRPr lang="en-US" sz="840" dirty="0"/>
          </a:p>
        </p:txBody>
      </p:sp>
      <p:sp>
        <p:nvSpPr>
          <p:cNvPr id="26" name="Shape 24"/>
          <p:cNvSpPr/>
          <p:nvPr/>
        </p:nvSpPr>
        <p:spPr>
          <a:xfrm>
            <a:off x="548640" y="4265676"/>
            <a:ext cx="5138928" cy="448056"/>
          </a:xfrm>
          <a:prstGeom prst="roundRect">
            <a:avLst>
              <a:gd name="adj" fmla="val 10204"/>
            </a:avLst>
          </a:prstGeom>
          <a:solidFill>
            <a:srgbClr val="16304C"/>
          </a:solidFill>
          <a:ln w="7620">
            <a:solidFill>
              <a:srgbClr val="27415C"/>
            </a:solidFill>
            <a:prstDash val="solid"/>
          </a:ln>
        </p:spPr>
      </p:sp>
      <p:sp>
        <p:nvSpPr>
          <p:cNvPr id="27" name="Shape 25"/>
          <p:cNvSpPr/>
          <p:nvPr/>
        </p:nvSpPr>
        <p:spPr>
          <a:xfrm>
            <a:off x="676656" y="4402836"/>
            <a:ext cx="173736" cy="173736"/>
          </a:xfrm>
          <a:prstGeom prst="roundRect">
            <a:avLst>
              <a:gd name="adj" fmla="val 21053"/>
            </a:avLst>
          </a:prstGeom>
          <a:solidFill>
            <a:srgbClr val="20A098"/>
          </a:solidFill>
          <a:ln/>
        </p:spPr>
      </p:sp>
      <p:sp>
        <p:nvSpPr>
          <p:cNvPr id="28" name="Text 26"/>
          <p:cNvSpPr txBox="1"/>
          <p:nvPr/>
        </p:nvSpPr>
        <p:spPr>
          <a:xfrm>
            <a:off x="95097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Destination &amp; Connectivity</a:t>
            </a:r>
            <a:endParaRPr lang="en-US" sz="1000" dirty="0"/>
          </a:p>
        </p:txBody>
      </p:sp>
      <p:sp>
        <p:nvSpPr>
          <p:cNvPr id="29" name="Text 27"/>
          <p:cNvSpPr txBox="1"/>
          <p:nvPr/>
        </p:nvSpPr>
        <p:spPr>
          <a:xfrm>
            <a:off x="95097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Secure outbound to SF, S/4HANA and future APIs</a:t>
            </a:r>
            <a:endParaRPr lang="en-US" sz="840" dirty="0"/>
          </a:p>
        </p:txBody>
      </p:sp>
      <p:sp>
        <p:nvSpPr>
          <p:cNvPr id="30" name="Text 28"/>
          <p:cNvSpPr txBox="1"/>
          <p:nvPr/>
        </p:nvSpPr>
        <p:spPr>
          <a:xfrm>
            <a:off x="5852160" y="1481328"/>
            <a:ext cx="5120640" cy="219456"/>
          </a:xfrm>
          <a:prstGeom prst="rect">
            <a:avLst/>
          </a:prstGeom>
          <a:noFill/>
          <a:ln/>
        </p:spPr>
        <p:txBody>
          <a:bodyPr wrap="square" lIns="0" tIns="0" rIns="0" bIns="0" rtlCol="0" anchor="ctr"/>
          <a:lstStyle/>
          <a:p>
            <a:pPr indent="0" marL="0">
              <a:buNone/>
            </a:pPr>
            <a:r>
              <a:rPr lang="en-US" sz="900" b="1" spc="150" kern="0" dirty="0">
                <a:solidFill>
                  <a:srgbClr val="C9A227"/>
                </a:solidFill>
                <a:latin typeface="Calibri" pitchFamily="34" charset="0"/>
                <a:ea typeface="Calibri" pitchFamily="34" charset="-122"/>
                <a:cs typeface="Calibri" pitchFamily="34" charset="-120"/>
              </a:rPr>
              <a:t>INTEGRATION &amp; SCALE — AS REQUIRED</a:t>
            </a:r>
            <a:endParaRPr lang="en-US" sz="900" dirty="0"/>
          </a:p>
        </p:txBody>
      </p:sp>
      <p:sp>
        <p:nvSpPr>
          <p:cNvPr id="31" name="Shape 29"/>
          <p:cNvSpPr/>
          <p:nvPr/>
        </p:nvSpPr>
        <p:spPr>
          <a:xfrm>
            <a:off x="5852160" y="1773936"/>
            <a:ext cx="5138928" cy="448056"/>
          </a:xfrm>
          <a:prstGeom prst="roundRect">
            <a:avLst>
              <a:gd name="adj" fmla="val 10204"/>
            </a:avLst>
          </a:prstGeom>
          <a:solidFill>
            <a:srgbClr val="16304C"/>
          </a:solidFill>
          <a:ln w="7620">
            <a:solidFill>
              <a:srgbClr val="27415C"/>
            </a:solidFill>
            <a:prstDash val="solid"/>
          </a:ln>
        </p:spPr>
      </p:sp>
      <p:sp>
        <p:nvSpPr>
          <p:cNvPr id="32" name="Shape 30"/>
          <p:cNvSpPr/>
          <p:nvPr/>
        </p:nvSpPr>
        <p:spPr>
          <a:xfrm>
            <a:off x="5980176" y="1911096"/>
            <a:ext cx="173736" cy="173736"/>
          </a:xfrm>
          <a:prstGeom prst="roundRect">
            <a:avLst>
              <a:gd name="adj" fmla="val 21053"/>
            </a:avLst>
          </a:prstGeom>
          <a:solidFill>
            <a:srgbClr val="C9A227"/>
          </a:solidFill>
          <a:ln/>
        </p:spPr>
      </p:sp>
      <p:sp>
        <p:nvSpPr>
          <p:cNvPr id="33" name="Text 31"/>
          <p:cNvSpPr txBox="1"/>
          <p:nvPr/>
        </p:nvSpPr>
        <p:spPr>
          <a:xfrm>
            <a:off x="625449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Integration Suite (CPI)</a:t>
            </a:r>
            <a:endParaRPr lang="en-US" sz="1000" dirty="0"/>
          </a:p>
        </p:txBody>
      </p:sp>
      <p:sp>
        <p:nvSpPr>
          <p:cNvPr id="34" name="Text 32"/>
          <p:cNvSpPr txBox="1"/>
          <p:nvPr/>
        </p:nvSpPr>
        <p:spPr>
          <a:xfrm>
            <a:off x="625449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Integration flows to SF and S/4HANA Finance</a:t>
            </a:r>
            <a:endParaRPr lang="en-US" sz="840" dirty="0"/>
          </a:p>
        </p:txBody>
      </p:sp>
      <p:sp>
        <p:nvSpPr>
          <p:cNvPr id="35" name="Shape 33"/>
          <p:cNvSpPr/>
          <p:nvPr/>
        </p:nvSpPr>
        <p:spPr>
          <a:xfrm>
            <a:off x="5852160" y="2272284"/>
            <a:ext cx="5138928" cy="448056"/>
          </a:xfrm>
          <a:prstGeom prst="roundRect">
            <a:avLst>
              <a:gd name="adj" fmla="val 10204"/>
            </a:avLst>
          </a:prstGeom>
          <a:solidFill>
            <a:srgbClr val="16304C"/>
          </a:solidFill>
          <a:ln w="7620">
            <a:solidFill>
              <a:srgbClr val="27415C"/>
            </a:solidFill>
            <a:prstDash val="solid"/>
          </a:ln>
        </p:spPr>
      </p:sp>
      <p:sp>
        <p:nvSpPr>
          <p:cNvPr id="36" name="Shape 34"/>
          <p:cNvSpPr/>
          <p:nvPr/>
        </p:nvSpPr>
        <p:spPr>
          <a:xfrm>
            <a:off x="5980176" y="2409444"/>
            <a:ext cx="173736" cy="173736"/>
          </a:xfrm>
          <a:prstGeom prst="roundRect">
            <a:avLst>
              <a:gd name="adj" fmla="val 21053"/>
            </a:avLst>
          </a:prstGeom>
          <a:solidFill>
            <a:srgbClr val="C9A227"/>
          </a:solidFill>
          <a:ln/>
        </p:spPr>
      </p:sp>
      <p:sp>
        <p:nvSpPr>
          <p:cNvPr id="37" name="Text 35"/>
          <p:cNvSpPr txBox="1"/>
          <p:nvPr/>
        </p:nvSpPr>
        <p:spPr>
          <a:xfrm>
            <a:off x="625449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Document Management Service</a:t>
            </a:r>
            <a:endParaRPr lang="en-US" sz="1000" dirty="0"/>
          </a:p>
        </p:txBody>
      </p:sp>
      <p:sp>
        <p:nvSpPr>
          <p:cNvPr id="38" name="Text 36"/>
          <p:cNvSpPr txBox="1"/>
          <p:nvPr/>
        </p:nvSpPr>
        <p:spPr>
          <a:xfrm>
            <a:off x="625449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Passports, contracts, receipts, certificates</a:t>
            </a:r>
            <a:endParaRPr lang="en-US" sz="840" dirty="0"/>
          </a:p>
        </p:txBody>
      </p:sp>
      <p:sp>
        <p:nvSpPr>
          <p:cNvPr id="39" name="Shape 37"/>
          <p:cNvSpPr/>
          <p:nvPr/>
        </p:nvSpPr>
        <p:spPr>
          <a:xfrm>
            <a:off x="5852160" y="2770632"/>
            <a:ext cx="5138928" cy="448056"/>
          </a:xfrm>
          <a:prstGeom prst="roundRect">
            <a:avLst>
              <a:gd name="adj" fmla="val 10204"/>
            </a:avLst>
          </a:prstGeom>
          <a:solidFill>
            <a:srgbClr val="16304C"/>
          </a:solidFill>
          <a:ln w="7620">
            <a:solidFill>
              <a:srgbClr val="27415C"/>
            </a:solidFill>
            <a:prstDash val="solid"/>
          </a:ln>
        </p:spPr>
      </p:sp>
      <p:sp>
        <p:nvSpPr>
          <p:cNvPr id="40" name="Shape 38"/>
          <p:cNvSpPr/>
          <p:nvPr/>
        </p:nvSpPr>
        <p:spPr>
          <a:xfrm>
            <a:off x="5980176" y="2907792"/>
            <a:ext cx="173736" cy="173736"/>
          </a:xfrm>
          <a:prstGeom prst="roundRect">
            <a:avLst>
              <a:gd name="adj" fmla="val 21053"/>
            </a:avLst>
          </a:prstGeom>
          <a:solidFill>
            <a:srgbClr val="C9A227"/>
          </a:solidFill>
          <a:ln/>
        </p:spPr>
      </p:sp>
      <p:sp>
        <p:nvSpPr>
          <p:cNvPr id="41" name="Text 39"/>
          <p:cNvSpPr txBox="1"/>
          <p:nvPr/>
        </p:nvSpPr>
        <p:spPr>
          <a:xfrm>
            <a:off x="625449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Alert Notification / Email</a:t>
            </a:r>
            <a:endParaRPr lang="en-US" sz="1000" dirty="0"/>
          </a:p>
        </p:txBody>
      </p:sp>
      <p:sp>
        <p:nvSpPr>
          <p:cNvPr id="42" name="Text 40"/>
          <p:cNvSpPr txBox="1"/>
          <p:nvPr/>
        </p:nvSpPr>
        <p:spPr>
          <a:xfrm>
            <a:off x="625449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Expiry alerts, reminders and escalation mails</a:t>
            </a:r>
            <a:endParaRPr lang="en-US" sz="840" dirty="0"/>
          </a:p>
        </p:txBody>
      </p:sp>
      <p:sp>
        <p:nvSpPr>
          <p:cNvPr id="43" name="Shape 41"/>
          <p:cNvSpPr/>
          <p:nvPr/>
        </p:nvSpPr>
        <p:spPr>
          <a:xfrm>
            <a:off x="5852160" y="3268980"/>
            <a:ext cx="5138928" cy="448056"/>
          </a:xfrm>
          <a:prstGeom prst="roundRect">
            <a:avLst>
              <a:gd name="adj" fmla="val 10204"/>
            </a:avLst>
          </a:prstGeom>
          <a:solidFill>
            <a:srgbClr val="16304C"/>
          </a:solidFill>
          <a:ln w="7620">
            <a:solidFill>
              <a:srgbClr val="27415C"/>
            </a:solidFill>
            <a:prstDash val="solid"/>
          </a:ln>
        </p:spPr>
      </p:sp>
      <p:sp>
        <p:nvSpPr>
          <p:cNvPr id="44" name="Shape 42"/>
          <p:cNvSpPr/>
          <p:nvPr/>
        </p:nvSpPr>
        <p:spPr>
          <a:xfrm>
            <a:off x="5980176" y="3406140"/>
            <a:ext cx="173736" cy="173736"/>
          </a:xfrm>
          <a:prstGeom prst="roundRect">
            <a:avLst>
              <a:gd name="adj" fmla="val 21053"/>
            </a:avLst>
          </a:prstGeom>
          <a:solidFill>
            <a:srgbClr val="C9A227"/>
          </a:solidFill>
          <a:ln/>
        </p:spPr>
      </p:sp>
      <p:sp>
        <p:nvSpPr>
          <p:cNvPr id="45" name="Text 43"/>
          <p:cNvSpPr txBox="1"/>
          <p:nvPr/>
        </p:nvSpPr>
        <p:spPr>
          <a:xfrm>
            <a:off x="625449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Job Scheduling Service</a:t>
            </a:r>
            <a:endParaRPr lang="en-US" sz="1000" dirty="0"/>
          </a:p>
        </p:txBody>
      </p:sp>
      <p:sp>
        <p:nvSpPr>
          <p:cNvPr id="46" name="Text 44"/>
          <p:cNvSpPr txBox="1"/>
          <p:nvPr/>
        </p:nvSpPr>
        <p:spPr>
          <a:xfrm>
            <a:off x="625449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Nightly expiry scans and scheduled reports</a:t>
            </a:r>
            <a:endParaRPr lang="en-US" sz="840" dirty="0"/>
          </a:p>
        </p:txBody>
      </p:sp>
      <p:sp>
        <p:nvSpPr>
          <p:cNvPr id="47" name="Shape 45"/>
          <p:cNvSpPr/>
          <p:nvPr/>
        </p:nvSpPr>
        <p:spPr>
          <a:xfrm>
            <a:off x="5852160" y="3767328"/>
            <a:ext cx="5138928" cy="448056"/>
          </a:xfrm>
          <a:prstGeom prst="roundRect">
            <a:avLst>
              <a:gd name="adj" fmla="val 10204"/>
            </a:avLst>
          </a:prstGeom>
          <a:solidFill>
            <a:srgbClr val="16304C"/>
          </a:solidFill>
          <a:ln w="7620">
            <a:solidFill>
              <a:srgbClr val="27415C"/>
            </a:solidFill>
            <a:prstDash val="solid"/>
          </a:ln>
        </p:spPr>
      </p:sp>
      <p:sp>
        <p:nvSpPr>
          <p:cNvPr id="48" name="Shape 46"/>
          <p:cNvSpPr/>
          <p:nvPr/>
        </p:nvSpPr>
        <p:spPr>
          <a:xfrm>
            <a:off x="5980176" y="3904488"/>
            <a:ext cx="173736" cy="173736"/>
          </a:xfrm>
          <a:prstGeom prst="roundRect">
            <a:avLst>
              <a:gd name="adj" fmla="val 21053"/>
            </a:avLst>
          </a:prstGeom>
          <a:solidFill>
            <a:srgbClr val="C9A227"/>
          </a:solidFill>
          <a:ln/>
        </p:spPr>
      </p:sp>
      <p:sp>
        <p:nvSpPr>
          <p:cNvPr id="49" name="Text 47"/>
          <p:cNvSpPr txBox="1"/>
          <p:nvPr/>
        </p:nvSpPr>
        <p:spPr>
          <a:xfrm>
            <a:off x="625449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Analytics Cloud</a:t>
            </a:r>
            <a:endParaRPr lang="en-US" sz="1000" dirty="0"/>
          </a:p>
        </p:txBody>
      </p:sp>
      <p:sp>
        <p:nvSpPr>
          <p:cNvPr id="50" name="Text 48"/>
          <p:cNvSpPr txBox="1"/>
          <p:nvPr/>
        </p:nvSpPr>
        <p:spPr>
          <a:xfrm>
            <a:off x="625449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Executive dashboards and cross-country analytics</a:t>
            </a:r>
            <a:endParaRPr lang="en-US" sz="840" dirty="0"/>
          </a:p>
        </p:txBody>
      </p:sp>
      <p:sp>
        <p:nvSpPr>
          <p:cNvPr id="51" name="Shape 49"/>
          <p:cNvSpPr/>
          <p:nvPr/>
        </p:nvSpPr>
        <p:spPr>
          <a:xfrm>
            <a:off x="5852160" y="4265676"/>
            <a:ext cx="5138928" cy="448056"/>
          </a:xfrm>
          <a:prstGeom prst="roundRect">
            <a:avLst>
              <a:gd name="adj" fmla="val 10204"/>
            </a:avLst>
          </a:prstGeom>
          <a:solidFill>
            <a:srgbClr val="16304C"/>
          </a:solidFill>
          <a:ln w="7620">
            <a:solidFill>
              <a:srgbClr val="27415C"/>
            </a:solidFill>
            <a:prstDash val="solid"/>
          </a:ln>
        </p:spPr>
      </p:sp>
      <p:sp>
        <p:nvSpPr>
          <p:cNvPr id="52" name="Shape 50"/>
          <p:cNvSpPr/>
          <p:nvPr/>
        </p:nvSpPr>
        <p:spPr>
          <a:xfrm>
            <a:off x="5980176" y="4402836"/>
            <a:ext cx="173736" cy="173736"/>
          </a:xfrm>
          <a:prstGeom prst="roundRect">
            <a:avLst>
              <a:gd name="adj" fmla="val 21053"/>
            </a:avLst>
          </a:prstGeom>
          <a:solidFill>
            <a:srgbClr val="C9A227"/>
          </a:solidFill>
          <a:ln/>
        </p:spPr>
      </p:sp>
      <p:sp>
        <p:nvSpPr>
          <p:cNvPr id="53" name="Text 51"/>
          <p:cNvSpPr txBox="1"/>
          <p:nvPr/>
        </p:nvSpPr>
        <p:spPr>
          <a:xfrm>
            <a:off x="625449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Business Application Studio</a:t>
            </a:r>
            <a:endParaRPr lang="en-US" sz="1000" dirty="0"/>
          </a:p>
        </p:txBody>
      </p:sp>
      <p:sp>
        <p:nvSpPr>
          <p:cNvPr id="54" name="Text 52"/>
          <p:cNvSpPr txBox="1"/>
          <p:nvPr/>
        </p:nvSpPr>
        <p:spPr>
          <a:xfrm>
            <a:off x="625449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Localisation and change-request development</a:t>
            </a:r>
            <a:endParaRPr lang="en-US" sz="840" dirty="0"/>
          </a:p>
        </p:txBody>
      </p:sp>
      <p:sp>
        <p:nvSpPr>
          <p:cNvPr id="55" name="Shape 53"/>
          <p:cNvSpPr/>
          <p:nvPr/>
        </p:nvSpPr>
        <p:spPr>
          <a:xfrm>
            <a:off x="548640" y="4846320"/>
            <a:ext cx="10442448" cy="804672"/>
          </a:xfrm>
          <a:prstGeom prst="roundRect">
            <a:avLst>
              <a:gd name="adj" fmla="val 7955"/>
            </a:avLst>
          </a:prstGeom>
          <a:solidFill>
            <a:srgbClr val="123A4E"/>
          </a:solidFill>
          <a:ln w="12700">
            <a:solidFill>
              <a:srgbClr val="12756F"/>
            </a:solidFill>
            <a:prstDash val="solid"/>
          </a:ln>
        </p:spPr>
      </p:sp>
      <p:sp>
        <p:nvSpPr>
          <p:cNvPr id="56" name="Text 54"/>
          <p:cNvSpPr txBox="1"/>
          <p:nvPr/>
        </p:nvSpPr>
        <p:spPr>
          <a:xfrm>
            <a:off x="749808"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Two licensing routes</a:t>
            </a:r>
            <a:endParaRPr lang="en-US" sz="1050" dirty="0"/>
          </a:p>
        </p:txBody>
      </p:sp>
      <p:sp>
        <p:nvSpPr>
          <p:cNvPr id="57" name="Text 55"/>
          <p:cNvSpPr txBox="1"/>
          <p:nvPr/>
        </p:nvSpPr>
        <p:spPr>
          <a:xfrm>
            <a:off x="749808"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You subscribe and operate the runtime and portal — or INK IT manages the subscription and operations entirely, removing separate developer licences.</a:t>
            </a:r>
            <a:endParaRPr lang="en-US" sz="840" dirty="0"/>
          </a:p>
        </p:txBody>
      </p:sp>
      <p:sp>
        <p:nvSpPr>
          <p:cNvPr id="58" name="Text 56"/>
          <p:cNvSpPr txBox="1"/>
          <p:nvPr/>
        </p:nvSpPr>
        <p:spPr>
          <a:xfrm>
            <a:off x="4187952"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Works without SuccessFactors</a:t>
            </a:r>
            <a:endParaRPr lang="en-US" sz="1050" dirty="0"/>
          </a:p>
        </p:txBody>
      </p:sp>
      <p:sp>
        <p:nvSpPr>
          <p:cNvPr id="59" name="Text 57"/>
          <p:cNvSpPr txBox="1"/>
          <p:nvPr/>
        </p:nvSpPr>
        <p:spPr>
          <a:xfrm>
            <a:off x="4187952"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System-agnostic within BTP. If SF is not live yet, the non-integrated deployment still delivers full governance from day one.</a:t>
            </a:r>
            <a:endParaRPr lang="en-US" sz="840" dirty="0"/>
          </a:p>
        </p:txBody>
      </p:sp>
      <p:sp>
        <p:nvSpPr>
          <p:cNvPr id="60" name="Text 58"/>
          <p:cNvSpPr txBox="1"/>
          <p:nvPr/>
        </p:nvSpPr>
        <p:spPr>
          <a:xfrm>
            <a:off x="7626096"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Deployable in weeks</a:t>
            </a:r>
            <a:endParaRPr lang="en-US" sz="1050" dirty="0"/>
          </a:p>
        </p:txBody>
      </p:sp>
      <p:sp>
        <p:nvSpPr>
          <p:cNvPr id="61" name="Text 59"/>
          <p:cNvSpPr txBox="1"/>
          <p:nvPr/>
        </p:nvSpPr>
        <p:spPr>
          <a:xfrm>
            <a:off x="7626096"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Pre-built and configurable rather than custom-developed — environment and configuration, then integration, then localisation.</a:t>
            </a:r>
            <a:endParaRPr lang="en-US" sz="840" dirty="0"/>
          </a:p>
        </p:txBody>
      </p:sp>
      <p:sp>
        <p:nvSpPr>
          <p:cNvPr id="62" name="Text 60"/>
          <p:cNvSpPr txBox="1"/>
          <p:nvPr/>
        </p:nvSpPr>
        <p:spPr>
          <a:xfrm>
            <a:off x="548640" y="5779008"/>
            <a:ext cx="5852160" cy="329184"/>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Ready for the GCC, today.</a:t>
            </a:r>
            <a:endParaRPr lang="en-US" sz="2000" dirty="0"/>
          </a:p>
        </p:txBody>
      </p:sp>
      <p:sp>
        <p:nvSpPr>
          <p:cNvPr id="63" name="Text 61"/>
          <p:cNvSpPr txBox="1"/>
          <p:nvPr/>
        </p:nvSpPr>
        <p:spPr>
          <a:xfrm>
            <a:off x="548640" y="6126480"/>
            <a:ext cx="7863840" cy="274320"/>
          </a:xfrm>
          <a:prstGeom prst="rect">
            <a:avLst/>
          </a:prstGeom>
          <a:noFill/>
          <a:ln/>
        </p:spPr>
        <p:txBody>
          <a:bodyPr wrap="square" lIns="0" tIns="0" rIns="0" bIns="0" rtlCol="0" anchor="ctr"/>
          <a:lstStyle/>
          <a:p>
            <a:pPr indent="0" marL="0">
              <a:buNone/>
            </a:pPr>
            <a:r>
              <a:rPr lang="en-US" sz="1000" dirty="0">
                <a:solidFill>
                  <a:srgbClr val="A9C2DA"/>
                </a:solidFill>
                <a:latin typeface="Calibri" pitchFamily="34" charset="0"/>
                <a:ea typeface="Calibri" pitchFamily="34" charset="-122"/>
                <a:cs typeface="Calibri" pitchFamily="34" charset="-120"/>
              </a:rPr>
              <a:t>Live in the UAE  ·  Country packs for KSA, Qatar, Kuwait, Oman, Bahrain and Libya  ·  Work permits, healthcare licences and any industry-grade permit</a:t>
            </a:r>
            <a:endParaRPr lang="en-US" sz="1000" dirty="0"/>
          </a:p>
        </p:txBody>
      </p:sp>
      <p:pic>
        <p:nvPicPr>
          <p:cNvPr id="64" name="Image 0" descr="./img/logo-white.png">    </p:cNvPr>
          <p:cNvPicPr>
            <a:picLocks noChangeAspect="1"/>
          </p:cNvPicPr>
          <p:nvPr/>
        </p:nvPicPr>
        <p:blipFill>
          <a:blip r:embed="rId1"/>
          <a:stretch>
            <a:fillRect/>
          </a:stretch>
        </p:blipFill>
        <p:spPr>
          <a:xfrm>
            <a:off x="9464040" y="5797296"/>
            <a:ext cx="1828800" cy="448056"/>
          </a:xfrm>
          <a:prstGeom prst="rect">
            <a:avLst/>
          </a:prstGeom>
        </p:spPr>
      </p:pic>
      <p:sp>
        <p:nvSpPr>
          <p:cNvPr id="65" name="Text 62"/>
          <p:cNvSpPr txBox="1"/>
          <p:nvPr/>
        </p:nvSpPr>
        <p:spPr>
          <a:xfrm>
            <a:off x="8778240" y="6327648"/>
            <a:ext cx="2514600" cy="201168"/>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info@inkitsolutions.com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INK IT Business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Visa &amp; Permits Management on SAP BTP</dc:title>
  <dc:subject>PptxGenJS Presentation</dc:subject>
  <dc:creator>INK IT Business Solutions</dc:creator>
  <cp:lastModifiedBy>INK IT Business Solutions</cp:lastModifiedBy>
  <cp:revision>1</cp:revision>
  <dcterms:created xsi:type="dcterms:W3CDTF">2026-09-15T20:58:50Z</dcterms:created>
  <dcterms:modified xsi:type="dcterms:W3CDTF">2026-09-15T20:58:50Z</dcterms:modified>
</cp:coreProperties>
</file>