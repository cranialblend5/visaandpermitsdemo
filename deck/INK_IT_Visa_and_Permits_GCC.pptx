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Opening frame. The pitch: a pre-built SAP BTP application covering the work permit, renewal and cancellation lifecycles, with configured country packs across the GCC and Libya. Emphasise three words: owned, visible, reconciled.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 audience recognise themselves here. Ask which of the six they have. Almost every GCC enterprise has at least four.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Anchor on the screenshot — this is the built application, not a mock-up. The five capability tiles are what makes it a governance tool rather than a tracker.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that wins the room — people see their own job. Pause on the GRO row: that is the persona whose working life changes most.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differentiating slide. Other tools track visas; this one manages the people doing the work. Stress the escalation ladder — it is what converts a tracker into accountability.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CFO slide. The line that lands: a payment cannot exist in this system without a receipt and a GL code, so duplicates are prevented at entry rather than discovered at audit.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GCC-ready slide. The message is breadth from one engine: each pack is configuration, not a rebuild, which is why deployment is weeks rather than quarters. For KSA note the three-authority split: Qiwa for labour, Muqeem for the Iqama, Absher as the employee-facing mirror.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healthcare prospects this is the slide that proves domain depth. Note that the same model handles facility permits — pharmacy and clinic licences, trade licences, civil defence — and any industry-grade permit that expires.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Handle the API question head-on before the customer raises it. The value is not automating the click on the government site — it is knowing the click happened, who made it, when, what it cost and what came 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provisioning and commercials. The core six are non-negotiable; the rest scale with ambition. Two licensing routes matters — INK IT-managed operation is materially cheaper and is often the deciding factor.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C1E33"/>
        </a:solidFill>
      </p:bgPr>
    </p:bg>
    <p:spTree>
      <p:nvGrpSpPr>
        <p:cNvPr id="1" name=""/>
        <p:cNvGrpSpPr/>
        <p:nvPr/>
      </p:nvGrpSpPr>
      <p:grpSpPr>
        <a:xfrm>
          <a:off x="0" y="0"/>
          <a:ext cx="0" cy="0"/>
          <a:chOff x="0" y="0"/>
          <a:chExt cx="0" cy="0"/>
        </a:xfrm>
      </p:grpSpPr>
      <p:sp>
        <p:nvSpPr>
          <p:cNvPr id="2" name="Shape 0"/>
          <p:cNvSpPr/>
          <p:nvPr/>
        </p:nvSpPr>
        <p:spPr>
          <a:xfrm>
            <a:off x="8686800" y="-2011680"/>
            <a:ext cx="6949440" cy="6949440"/>
          </a:xfrm>
          <a:prstGeom prst="ellipse">
            <a:avLst/>
          </a:prstGeom>
          <a:solidFill>
            <a:srgbClr val="20A098">
              <a:alpha val="12000"/>
            </a:srgbClr>
          </a:solidFill>
          <a:ln/>
        </p:spPr>
      </p:sp>
      <p:sp>
        <p:nvSpPr>
          <p:cNvPr id="3" name="Shape 1"/>
          <p:cNvSpPr/>
          <p:nvPr/>
        </p:nvSpPr>
        <p:spPr>
          <a:xfrm>
            <a:off x="10058400" y="3108960"/>
            <a:ext cx="4754880" cy="4754880"/>
          </a:xfrm>
          <a:prstGeom prst="ellipse">
            <a:avLst/>
          </a:prstGeom>
          <a:solidFill>
            <a:srgbClr val="C9A227">
              <a:alpha val="8000"/>
            </a:srgbClr>
          </a:solidFill>
          <a:ln/>
        </p:spPr>
      </p:sp>
      <p:pic>
        <p:nvPicPr>
          <p:cNvPr id="4" name="Image 0" descr="./img/logo-white.png">    </p:cNvPr>
          <p:cNvPicPr>
            <a:picLocks noChangeAspect="1"/>
          </p:cNvPicPr>
          <p:nvPr/>
        </p:nvPicPr>
        <p:blipFill>
          <a:blip r:embed="rId1"/>
          <a:stretch>
            <a:fillRect/>
          </a:stretch>
        </p:blipFill>
        <p:spPr>
          <a:xfrm>
            <a:off x="658368" y="566928"/>
            <a:ext cx="2240280" cy="548640"/>
          </a:xfrm>
          <a:prstGeom prst="rect">
            <a:avLst/>
          </a:prstGeom>
        </p:spPr>
      </p:pic>
      <p:sp>
        <p:nvSpPr>
          <p:cNvPr id="5" name="Text 2"/>
          <p:cNvSpPr txBox="1"/>
          <p:nvPr/>
        </p:nvSpPr>
        <p:spPr>
          <a:xfrm>
            <a:off x="658368" y="1783080"/>
            <a:ext cx="7863840" cy="1737360"/>
          </a:xfrm>
          <a:prstGeom prst="rect">
            <a:avLst/>
          </a:prstGeom>
          <a:noFill/>
          <a:ln/>
        </p:spPr>
        <p:txBody>
          <a:bodyPr wrap="square" lIns="0" tIns="0" rIns="0" bIns="0" rtlCol="0" anchor="ctr"/>
          <a:lstStyle/>
          <a:p>
            <a:pPr indent="0" marL="0">
              <a:lnSpc>
                <a:spcPts val="5200"/>
              </a:lnSpc>
              <a:buNone/>
            </a:pPr>
            <a:r>
              <a:rPr lang="en-US" sz="4800" b="1" dirty="0">
                <a:solidFill>
                  <a:srgbClr val="FFFFFF"/>
                </a:solidFill>
                <a:latin typeface="Arial" pitchFamily="34" charset="0"/>
                <a:ea typeface="Arial" pitchFamily="34" charset="-122"/>
                <a:cs typeface="Arial" pitchFamily="34" charset="-120"/>
              </a:rPr>
              <a:t>Visa &amp; Permits</a:t>
            </a:r>
            <a:endParaRPr lang="en-US" sz="4800" dirty="0"/>
          </a:p>
          <a:p>
            <a:pPr indent="0" marL="0">
              <a:lnSpc>
                <a:spcPts val="5200"/>
              </a:lnSpc>
              <a:buNone/>
            </a:pPr>
            <a:r>
              <a:rPr lang="en-US" sz="4800" b="1" dirty="0">
                <a:solidFill>
                  <a:srgbClr val="FFFFFF"/>
                </a:solidFill>
                <a:latin typeface="Arial" pitchFamily="34" charset="0"/>
                <a:ea typeface="Arial" pitchFamily="34" charset="-122"/>
                <a:cs typeface="Arial" pitchFamily="34" charset="-120"/>
              </a:rPr>
              <a:t>Management</a:t>
            </a:r>
            <a:endParaRPr lang="en-US" sz="4800" dirty="0"/>
          </a:p>
        </p:txBody>
      </p:sp>
      <p:sp>
        <p:nvSpPr>
          <p:cNvPr id="6" name="Text 3"/>
          <p:cNvSpPr txBox="1"/>
          <p:nvPr/>
        </p:nvSpPr>
        <p:spPr>
          <a:xfrm>
            <a:off x="658368" y="3584448"/>
            <a:ext cx="7863840" cy="329184"/>
          </a:xfrm>
          <a:prstGeom prst="rect">
            <a:avLst/>
          </a:prstGeom>
          <a:noFill/>
          <a:ln/>
        </p:spPr>
        <p:txBody>
          <a:bodyPr wrap="square" lIns="0" tIns="0" rIns="0" bIns="0" rtlCol="0" anchor="ctr"/>
          <a:lstStyle/>
          <a:p>
            <a:pPr indent="0" marL="0">
              <a:buNone/>
            </a:pPr>
            <a:r>
              <a:rPr lang="en-US" sz="1900" b="1" dirty="0">
                <a:solidFill>
                  <a:srgbClr val="20A098"/>
                </a:solidFill>
                <a:latin typeface="Calibri" pitchFamily="34" charset="0"/>
                <a:ea typeface="Calibri" pitchFamily="34" charset="-122"/>
                <a:cs typeface="Calibri" pitchFamily="34" charset="-120"/>
              </a:rPr>
              <a:t>Built on SAP BTP  ·  Ready for the GCC</a:t>
            </a:r>
            <a:endParaRPr lang="en-US" sz="1900" dirty="0"/>
          </a:p>
        </p:txBody>
      </p:sp>
      <p:sp>
        <p:nvSpPr>
          <p:cNvPr id="7" name="Text 4"/>
          <p:cNvSpPr txBox="1"/>
          <p:nvPr/>
        </p:nvSpPr>
        <p:spPr>
          <a:xfrm>
            <a:off x="658368" y="4041648"/>
            <a:ext cx="7589520" cy="914400"/>
          </a:xfrm>
          <a:prstGeom prst="rect">
            <a:avLst/>
          </a:prstGeom>
          <a:noFill/>
          <a:ln/>
        </p:spPr>
        <p:txBody>
          <a:bodyPr wrap="square" lIns="0" tIns="0" rIns="0" bIns="0" rtlCol="0" anchor="ctr"/>
          <a:lstStyle/>
          <a:p>
            <a:pPr indent="0" marL="0">
              <a:lnSpc>
                <a:spcPts val="2200"/>
              </a:lnSpc>
              <a:buNone/>
            </a:pPr>
            <a:r>
              <a:rPr lang="en-US" sz="1450" dirty="0">
                <a:solidFill>
                  <a:srgbClr val="A9C2DA"/>
                </a:solidFill>
                <a:latin typeface="Calibri" pitchFamily="34" charset="0"/>
                <a:ea typeface="Calibri" pitchFamily="34" charset="-122"/>
                <a:cs typeface="Calibri" pitchFamily="34" charset="-120"/>
              </a:rPr>
              <a:t>We govern work permits, residency and professional licences end to end. Every task has an owner, every deadline shows up early, and every government payment has a receipt and a GL code against it.</a:t>
            </a:r>
            <a:endParaRPr lang="en-US" sz="1450" dirty="0"/>
          </a:p>
        </p:txBody>
      </p:sp>
      <p:sp>
        <p:nvSpPr>
          <p:cNvPr id="8" name="Shape 5"/>
          <p:cNvSpPr/>
          <p:nvPr/>
        </p:nvSpPr>
        <p:spPr>
          <a:xfrm>
            <a:off x="658368" y="5230368"/>
            <a:ext cx="498348" cy="329184"/>
          </a:xfrm>
          <a:prstGeom prst="roundRect">
            <a:avLst>
              <a:gd name="adj" fmla="val 47222"/>
            </a:avLst>
          </a:prstGeom>
          <a:solidFill>
            <a:srgbClr val="16304C"/>
          </a:solidFill>
          <a:ln w="9525">
            <a:solidFill>
              <a:srgbClr val="2C4A6A"/>
            </a:solidFill>
            <a:prstDash val="solid"/>
          </a:ln>
        </p:spPr>
      </p:sp>
      <p:sp>
        <p:nvSpPr>
          <p:cNvPr id="9" name="Text 6"/>
          <p:cNvSpPr txBox="1"/>
          <p:nvPr/>
        </p:nvSpPr>
        <p:spPr>
          <a:xfrm>
            <a:off x="658368" y="5230368"/>
            <a:ext cx="498348" cy="329184"/>
          </a:xfrm>
          <a:prstGeom prst="rect">
            <a:avLst/>
          </a:prstGeom>
          <a:noFill/>
          <a:ln/>
        </p:spPr>
        <p:txBody>
          <a:bodyPr wrap="square" lIns="0" tIns="0" rIns="0" bIns="0" rtlCol="0" anchor="ctr"/>
          <a:lstStyle/>
          <a:p>
            <a:pPr algn="ctr" indent="0" marL="0">
              <a:buNone/>
            </a:pPr>
            <a:r>
              <a:rPr lang="en-US" sz="1150" b="1" dirty="0">
                <a:solidFill>
                  <a:srgbClr val="BFD6EC"/>
                </a:solidFill>
                <a:latin typeface="Calibri" pitchFamily="34" charset="0"/>
                <a:ea typeface="Calibri" pitchFamily="34" charset="-122"/>
                <a:cs typeface="Calibri" pitchFamily="34" charset="-120"/>
              </a:rPr>
              <a:t>UAE</a:t>
            </a:r>
            <a:endParaRPr lang="en-US" sz="1150" dirty="0"/>
          </a:p>
        </p:txBody>
      </p:sp>
      <p:sp>
        <p:nvSpPr>
          <p:cNvPr id="10" name="Shape 7"/>
          <p:cNvSpPr/>
          <p:nvPr/>
        </p:nvSpPr>
        <p:spPr>
          <a:xfrm>
            <a:off x="1284732" y="5230368"/>
            <a:ext cx="498348" cy="329184"/>
          </a:xfrm>
          <a:prstGeom prst="roundRect">
            <a:avLst>
              <a:gd name="adj" fmla="val 47222"/>
            </a:avLst>
          </a:prstGeom>
          <a:solidFill>
            <a:srgbClr val="16304C"/>
          </a:solidFill>
          <a:ln w="9525">
            <a:solidFill>
              <a:srgbClr val="2C4A6A"/>
            </a:solidFill>
            <a:prstDash val="solid"/>
          </a:ln>
        </p:spPr>
      </p:sp>
      <p:sp>
        <p:nvSpPr>
          <p:cNvPr id="11" name="Text 8"/>
          <p:cNvSpPr txBox="1"/>
          <p:nvPr/>
        </p:nvSpPr>
        <p:spPr>
          <a:xfrm>
            <a:off x="1284732" y="5230368"/>
            <a:ext cx="498348" cy="329184"/>
          </a:xfrm>
          <a:prstGeom prst="rect">
            <a:avLst/>
          </a:prstGeom>
          <a:noFill/>
          <a:ln/>
        </p:spPr>
        <p:txBody>
          <a:bodyPr wrap="square" lIns="0" tIns="0" rIns="0" bIns="0" rtlCol="0" anchor="ctr"/>
          <a:lstStyle/>
          <a:p>
            <a:pPr algn="ctr" indent="0" marL="0">
              <a:buNone/>
            </a:pPr>
            <a:r>
              <a:rPr lang="en-US" sz="1150" b="1" dirty="0">
                <a:solidFill>
                  <a:srgbClr val="BFD6EC"/>
                </a:solidFill>
                <a:latin typeface="Calibri" pitchFamily="34" charset="0"/>
                <a:ea typeface="Calibri" pitchFamily="34" charset="-122"/>
                <a:cs typeface="Calibri" pitchFamily="34" charset="-120"/>
              </a:rPr>
              <a:t>KSA</a:t>
            </a:r>
            <a:endParaRPr lang="en-US" sz="1150" dirty="0"/>
          </a:p>
        </p:txBody>
      </p:sp>
      <p:sp>
        <p:nvSpPr>
          <p:cNvPr id="12" name="Shape 9"/>
          <p:cNvSpPr/>
          <p:nvPr/>
        </p:nvSpPr>
        <p:spPr>
          <a:xfrm>
            <a:off x="1911096" y="5230368"/>
            <a:ext cx="708660" cy="329184"/>
          </a:xfrm>
          <a:prstGeom prst="roundRect">
            <a:avLst>
              <a:gd name="adj" fmla="val 47222"/>
            </a:avLst>
          </a:prstGeom>
          <a:solidFill>
            <a:srgbClr val="16304C"/>
          </a:solidFill>
          <a:ln w="9525">
            <a:solidFill>
              <a:srgbClr val="2C4A6A"/>
            </a:solidFill>
            <a:prstDash val="solid"/>
          </a:ln>
        </p:spPr>
      </p:sp>
      <p:sp>
        <p:nvSpPr>
          <p:cNvPr id="13" name="Text 10"/>
          <p:cNvSpPr txBox="1"/>
          <p:nvPr/>
        </p:nvSpPr>
        <p:spPr>
          <a:xfrm>
            <a:off x="1911096" y="5230368"/>
            <a:ext cx="708660" cy="329184"/>
          </a:xfrm>
          <a:prstGeom prst="rect">
            <a:avLst/>
          </a:prstGeom>
          <a:noFill/>
          <a:ln/>
        </p:spPr>
        <p:txBody>
          <a:bodyPr wrap="square" lIns="0" tIns="0" rIns="0" bIns="0" rtlCol="0" anchor="ctr"/>
          <a:lstStyle/>
          <a:p>
            <a:pPr algn="ctr" indent="0" marL="0">
              <a:buNone/>
            </a:pPr>
            <a:r>
              <a:rPr lang="en-US" sz="1150" b="1" dirty="0">
                <a:solidFill>
                  <a:srgbClr val="BFD6EC"/>
                </a:solidFill>
                <a:latin typeface="Calibri" pitchFamily="34" charset="0"/>
                <a:ea typeface="Calibri" pitchFamily="34" charset="-122"/>
                <a:cs typeface="Calibri" pitchFamily="34" charset="-120"/>
              </a:rPr>
              <a:t>Qatar</a:t>
            </a:r>
            <a:endParaRPr lang="en-US" sz="1150" dirty="0"/>
          </a:p>
        </p:txBody>
      </p:sp>
      <p:sp>
        <p:nvSpPr>
          <p:cNvPr id="14" name="Shape 11"/>
          <p:cNvSpPr/>
          <p:nvPr/>
        </p:nvSpPr>
        <p:spPr>
          <a:xfrm>
            <a:off x="2747772" y="5230368"/>
            <a:ext cx="813816" cy="329184"/>
          </a:xfrm>
          <a:prstGeom prst="roundRect">
            <a:avLst>
              <a:gd name="adj" fmla="val 47222"/>
            </a:avLst>
          </a:prstGeom>
          <a:solidFill>
            <a:srgbClr val="16304C"/>
          </a:solidFill>
          <a:ln w="9525">
            <a:solidFill>
              <a:srgbClr val="2C4A6A"/>
            </a:solidFill>
            <a:prstDash val="solid"/>
          </a:ln>
        </p:spPr>
      </p:sp>
      <p:sp>
        <p:nvSpPr>
          <p:cNvPr id="15" name="Text 12"/>
          <p:cNvSpPr txBox="1"/>
          <p:nvPr/>
        </p:nvSpPr>
        <p:spPr>
          <a:xfrm>
            <a:off x="2747772" y="5230368"/>
            <a:ext cx="813816" cy="329184"/>
          </a:xfrm>
          <a:prstGeom prst="rect">
            <a:avLst/>
          </a:prstGeom>
          <a:noFill/>
          <a:ln/>
        </p:spPr>
        <p:txBody>
          <a:bodyPr wrap="square" lIns="0" tIns="0" rIns="0" bIns="0" rtlCol="0" anchor="ctr"/>
          <a:lstStyle/>
          <a:p>
            <a:pPr algn="ctr" indent="0" marL="0">
              <a:buNone/>
            </a:pPr>
            <a:r>
              <a:rPr lang="en-US" sz="1150" b="1" dirty="0">
                <a:solidFill>
                  <a:srgbClr val="BFD6EC"/>
                </a:solidFill>
                <a:latin typeface="Calibri" pitchFamily="34" charset="0"/>
                <a:ea typeface="Calibri" pitchFamily="34" charset="-122"/>
                <a:cs typeface="Calibri" pitchFamily="34" charset="-120"/>
              </a:rPr>
              <a:t>Kuwait</a:t>
            </a:r>
            <a:endParaRPr lang="en-US" sz="1150" dirty="0"/>
          </a:p>
        </p:txBody>
      </p:sp>
      <p:sp>
        <p:nvSpPr>
          <p:cNvPr id="16" name="Shape 13"/>
          <p:cNvSpPr/>
          <p:nvPr/>
        </p:nvSpPr>
        <p:spPr>
          <a:xfrm>
            <a:off x="3689604" y="5230368"/>
            <a:ext cx="603504" cy="329184"/>
          </a:xfrm>
          <a:prstGeom prst="roundRect">
            <a:avLst>
              <a:gd name="adj" fmla="val 47222"/>
            </a:avLst>
          </a:prstGeom>
          <a:solidFill>
            <a:srgbClr val="16304C"/>
          </a:solidFill>
          <a:ln w="9525">
            <a:solidFill>
              <a:srgbClr val="2C4A6A"/>
            </a:solidFill>
            <a:prstDash val="solid"/>
          </a:ln>
        </p:spPr>
      </p:sp>
      <p:sp>
        <p:nvSpPr>
          <p:cNvPr id="17" name="Text 14"/>
          <p:cNvSpPr txBox="1"/>
          <p:nvPr/>
        </p:nvSpPr>
        <p:spPr>
          <a:xfrm>
            <a:off x="3689604" y="5230368"/>
            <a:ext cx="603504" cy="329184"/>
          </a:xfrm>
          <a:prstGeom prst="rect">
            <a:avLst/>
          </a:prstGeom>
          <a:noFill/>
          <a:ln/>
        </p:spPr>
        <p:txBody>
          <a:bodyPr wrap="square" lIns="0" tIns="0" rIns="0" bIns="0" rtlCol="0" anchor="ctr"/>
          <a:lstStyle/>
          <a:p>
            <a:pPr algn="ctr" indent="0" marL="0">
              <a:buNone/>
            </a:pPr>
            <a:r>
              <a:rPr lang="en-US" sz="1150" b="1" dirty="0">
                <a:solidFill>
                  <a:srgbClr val="BFD6EC"/>
                </a:solidFill>
                <a:latin typeface="Calibri" pitchFamily="34" charset="0"/>
                <a:ea typeface="Calibri" pitchFamily="34" charset="-122"/>
                <a:cs typeface="Calibri" pitchFamily="34" charset="-120"/>
              </a:rPr>
              <a:t>Oman</a:t>
            </a:r>
            <a:endParaRPr lang="en-US" sz="1150" dirty="0"/>
          </a:p>
        </p:txBody>
      </p:sp>
      <p:sp>
        <p:nvSpPr>
          <p:cNvPr id="18" name="Shape 15"/>
          <p:cNvSpPr/>
          <p:nvPr/>
        </p:nvSpPr>
        <p:spPr>
          <a:xfrm>
            <a:off x="4421124" y="5230368"/>
            <a:ext cx="918972" cy="329184"/>
          </a:xfrm>
          <a:prstGeom prst="roundRect">
            <a:avLst>
              <a:gd name="adj" fmla="val 47222"/>
            </a:avLst>
          </a:prstGeom>
          <a:solidFill>
            <a:srgbClr val="16304C"/>
          </a:solidFill>
          <a:ln w="9525">
            <a:solidFill>
              <a:srgbClr val="2C4A6A"/>
            </a:solidFill>
            <a:prstDash val="solid"/>
          </a:ln>
        </p:spPr>
      </p:sp>
      <p:sp>
        <p:nvSpPr>
          <p:cNvPr id="19" name="Text 16"/>
          <p:cNvSpPr txBox="1"/>
          <p:nvPr/>
        </p:nvSpPr>
        <p:spPr>
          <a:xfrm>
            <a:off x="4421124" y="5230368"/>
            <a:ext cx="918972" cy="329184"/>
          </a:xfrm>
          <a:prstGeom prst="rect">
            <a:avLst/>
          </a:prstGeom>
          <a:noFill/>
          <a:ln/>
        </p:spPr>
        <p:txBody>
          <a:bodyPr wrap="square" lIns="0" tIns="0" rIns="0" bIns="0" rtlCol="0" anchor="ctr"/>
          <a:lstStyle/>
          <a:p>
            <a:pPr algn="ctr" indent="0" marL="0">
              <a:buNone/>
            </a:pPr>
            <a:r>
              <a:rPr lang="en-US" sz="1150" b="1" dirty="0">
                <a:solidFill>
                  <a:srgbClr val="BFD6EC"/>
                </a:solidFill>
                <a:latin typeface="Calibri" pitchFamily="34" charset="0"/>
                <a:ea typeface="Calibri" pitchFamily="34" charset="-122"/>
                <a:cs typeface="Calibri" pitchFamily="34" charset="-120"/>
              </a:rPr>
              <a:t>Bahrain</a:t>
            </a:r>
            <a:endParaRPr lang="en-US" sz="1150" dirty="0"/>
          </a:p>
        </p:txBody>
      </p:sp>
      <p:sp>
        <p:nvSpPr>
          <p:cNvPr id="20" name="Shape 17"/>
          <p:cNvSpPr/>
          <p:nvPr/>
        </p:nvSpPr>
        <p:spPr>
          <a:xfrm>
            <a:off x="5468112" y="5230368"/>
            <a:ext cx="708660" cy="329184"/>
          </a:xfrm>
          <a:prstGeom prst="roundRect">
            <a:avLst>
              <a:gd name="adj" fmla="val 47222"/>
            </a:avLst>
          </a:prstGeom>
          <a:solidFill>
            <a:srgbClr val="16304C"/>
          </a:solidFill>
          <a:ln w="9525">
            <a:solidFill>
              <a:srgbClr val="2C4A6A"/>
            </a:solidFill>
            <a:prstDash val="solid"/>
          </a:ln>
        </p:spPr>
      </p:sp>
      <p:sp>
        <p:nvSpPr>
          <p:cNvPr id="21" name="Text 18"/>
          <p:cNvSpPr txBox="1"/>
          <p:nvPr/>
        </p:nvSpPr>
        <p:spPr>
          <a:xfrm>
            <a:off x="5468112" y="5230368"/>
            <a:ext cx="708660" cy="329184"/>
          </a:xfrm>
          <a:prstGeom prst="rect">
            <a:avLst/>
          </a:prstGeom>
          <a:noFill/>
          <a:ln/>
        </p:spPr>
        <p:txBody>
          <a:bodyPr wrap="square" lIns="0" tIns="0" rIns="0" bIns="0" rtlCol="0" anchor="ctr"/>
          <a:lstStyle/>
          <a:p>
            <a:pPr algn="ctr" indent="0" marL="0">
              <a:buNone/>
            </a:pPr>
            <a:r>
              <a:rPr lang="en-US" sz="1150" b="1" dirty="0">
                <a:solidFill>
                  <a:srgbClr val="BFD6EC"/>
                </a:solidFill>
                <a:latin typeface="Calibri" pitchFamily="34" charset="0"/>
                <a:ea typeface="Calibri" pitchFamily="34" charset="-122"/>
                <a:cs typeface="Calibri" pitchFamily="34" charset="-120"/>
              </a:rPr>
              <a:t>Libya</a:t>
            </a:r>
            <a:endParaRPr lang="en-US" sz="1150" dirty="0"/>
          </a:p>
        </p:txBody>
      </p:sp>
      <p:sp>
        <p:nvSpPr>
          <p:cNvPr id="22" name="Text 19"/>
          <p:cNvSpPr txBox="1"/>
          <p:nvPr/>
        </p:nvSpPr>
        <p:spPr>
          <a:xfrm>
            <a:off x="658368" y="5760720"/>
            <a:ext cx="8229600" cy="274320"/>
          </a:xfrm>
          <a:prstGeom prst="rect">
            <a:avLst/>
          </a:prstGeom>
          <a:noFill/>
          <a:ln/>
        </p:spPr>
        <p:txBody>
          <a:bodyPr wrap="square" lIns="0" tIns="0" rIns="0" bIns="0" rtlCol="0" anchor="ctr"/>
          <a:lstStyle/>
          <a:p>
            <a:pPr indent="0" marL="0">
              <a:buNone/>
            </a:pPr>
            <a:r>
              <a:rPr lang="en-US" sz="1200" dirty="0">
                <a:solidFill>
                  <a:srgbClr val="7E99B4"/>
                </a:solidFill>
                <a:latin typeface="Calibri" pitchFamily="34" charset="0"/>
                <a:ea typeface="Calibri" pitchFamily="34" charset="-122"/>
                <a:cs typeface="Calibri" pitchFamily="34" charset="-120"/>
              </a:rPr>
              <a:t>Healthcare  ·  Industry-grade permits  ·  SAP SuccessFactors integrated</a:t>
            </a:r>
            <a:endParaRPr lang="en-US" sz="1200" dirty="0"/>
          </a:p>
        </p:txBody>
      </p:sp>
      <p:sp>
        <p:nvSpPr>
          <p:cNvPr id="23" name="Text 20"/>
          <p:cNvSpPr txBox="1"/>
          <p:nvPr/>
        </p:nvSpPr>
        <p:spPr>
          <a:xfrm>
            <a:off x="658368" y="6217920"/>
            <a:ext cx="8229600" cy="274320"/>
          </a:xfrm>
          <a:prstGeom prst="rect">
            <a:avLst/>
          </a:prstGeom>
          <a:noFill/>
          <a:ln/>
        </p:spPr>
        <p:txBody>
          <a:bodyPr wrap="square" lIns="0" tIns="0" rIns="0" bIns="0" rtlCol="0" anchor="ctr"/>
          <a:lstStyle/>
          <a:p>
            <a:pPr indent="0" marL="0">
              <a:buNone/>
            </a:pPr>
            <a:r>
              <a:rPr lang="en-US" sz="1050" i="1" dirty="0">
                <a:solidFill>
                  <a:srgbClr val="6C87A2"/>
                </a:solidFill>
                <a:latin typeface="Calibri" pitchFamily="34" charset="0"/>
                <a:ea typeface="Calibri" pitchFamily="34" charset="-122"/>
                <a:cs typeface="Calibri" pitchFamily="34" charset="-120"/>
              </a:rPr>
              <a:t>An overview for SAP and enterprise customers across the GCC</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02336"/>
            <a:ext cx="11064240" cy="237744"/>
          </a:xfrm>
          <a:prstGeom prst="rect">
            <a:avLst/>
          </a:prstGeom>
          <a:noFill/>
          <a:ln/>
        </p:spPr>
        <p:txBody>
          <a:bodyPr wrap="square" lIns="0" tIns="0" rIns="0" bIns="0" rtlCol="0" anchor="ctr"/>
          <a:lstStyle/>
          <a:p>
            <a:pPr indent="0" marL="0">
              <a:buNone/>
            </a:pPr>
            <a:r>
              <a:rPr lang="en-US" sz="1100" b="1" spc="220" kern="0" dirty="0">
                <a:solidFill>
                  <a:srgbClr val="20A098"/>
                </a:solidFill>
                <a:latin typeface="Calibri" pitchFamily="34" charset="0"/>
                <a:ea typeface="Calibri" pitchFamily="34" charset="-122"/>
                <a:cs typeface="Calibri" pitchFamily="34" charset="-120"/>
              </a:rPr>
              <a:t>THE PROBLEM</a:t>
            </a:r>
            <a:endParaRPr lang="en-US" sz="1100" dirty="0"/>
          </a:p>
        </p:txBody>
      </p:sp>
      <p:sp>
        <p:nvSpPr>
          <p:cNvPr id="3" name="Text 1"/>
          <p:cNvSpPr txBox="1"/>
          <p:nvPr/>
        </p:nvSpPr>
        <p:spPr>
          <a:xfrm>
            <a:off x="548640" y="658368"/>
            <a:ext cx="11064240" cy="566928"/>
          </a:xfrm>
          <a:prstGeom prst="rect">
            <a:avLst/>
          </a:prstGeom>
          <a:noFill/>
          <a:ln/>
        </p:spPr>
        <p:txBody>
          <a:bodyPr wrap="square" lIns="0" tIns="0" rIns="0" bIns="0" rtlCol="0" anchor="ctr"/>
          <a:lstStyle/>
          <a:p>
            <a:pPr indent="0" marL="0">
              <a:buNone/>
            </a:pPr>
            <a:r>
              <a:rPr lang="en-US" sz="3000" b="1" dirty="0">
                <a:solidFill>
                  <a:srgbClr val="0C1E33"/>
                </a:solidFill>
                <a:latin typeface="Arial" pitchFamily="34" charset="0"/>
                <a:ea typeface="Arial" pitchFamily="34" charset="-122"/>
                <a:cs typeface="Arial" pitchFamily="34" charset="-120"/>
              </a:rPr>
              <a:t>One permit, six teams, no shared clock.</a:t>
            </a:r>
            <a:endParaRPr lang="en-US" sz="3000" dirty="0"/>
          </a:p>
        </p:txBody>
      </p:sp>
      <p:sp>
        <p:nvSpPr>
          <p:cNvPr id="4" name="Text 2"/>
          <p:cNvSpPr txBox="1"/>
          <p:nvPr/>
        </p:nvSpPr>
        <p:spPr>
          <a:xfrm>
            <a:off x="548640" y="1243584"/>
            <a:ext cx="10424160" cy="457200"/>
          </a:xfrm>
          <a:prstGeom prst="rect">
            <a:avLst/>
          </a:prstGeom>
          <a:noFill/>
          <a:ln/>
        </p:spPr>
        <p:txBody>
          <a:bodyPr wrap="square" lIns="0" tIns="0" rIns="0" bIns="0" rtlCol="0" anchor="ctr"/>
          <a:lstStyle/>
          <a:p>
            <a:pPr indent="0" marL="0">
              <a:lnSpc>
                <a:spcPts val="1900"/>
              </a:lnSpc>
              <a:buNone/>
            </a:pPr>
            <a:r>
              <a:rPr lang="en-US" sz="1350" dirty="0">
                <a:solidFill>
                  <a:srgbClr val="5A6C82"/>
                </a:solidFill>
                <a:latin typeface="Calibri" pitchFamily="34" charset="0"/>
                <a:ea typeface="Calibri" pitchFamily="34" charset="-122"/>
                <a:cs typeface="Calibri" pitchFamily="34" charset="-120"/>
              </a:rPr>
              <a:t>One work permit crosses recruitment, onboarding, the PRO desk, the employee, HR and finance, and touches a government portal at least five times. Miss a single hand-off and it just stops. Usually nobody notices until a fine turns up.</a:t>
            </a:r>
            <a:endParaRPr lang="en-US" sz="1350" dirty="0"/>
          </a:p>
        </p:txBody>
      </p:sp>
      <p:sp>
        <p:nvSpPr>
          <p:cNvPr id="5" name="Shape 3"/>
          <p:cNvSpPr/>
          <p:nvPr/>
        </p:nvSpPr>
        <p:spPr>
          <a:xfrm>
            <a:off x="548640" y="1874520"/>
            <a:ext cx="3502152" cy="1755648"/>
          </a:xfrm>
          <a:prstGeom prst="roundRect">
            <a:avLst>
              <a:gd name="adj" fmla="val 4167"/>
            </a:avLst>
          </a:prstGeom>
          <a:solidFill>
            <a:srgbClr val="F4F6F7"/>
          </a:solidFill>
          <a:ln w="9525">
            <a:solidFill>
              <a:srgbClr val="E3E7EA"/>
            </a:solidFill>
            <a:prstDash val="solid"/>
          </a:ln>
        </p:spPr>
      </p:sp>
      <p:sp>
        <p:nvSpPr>
          <p:cNvPr id="6" name="Shape 4"/>
          <p:cNvSpPr/>
          <p:nvPr/>
        </p:nvSpPr>
        <p:spPr>
          <a:xfrm>
            <a:off x="768096" y="2093976"/>
            <a:ext cx="384048" cy="384048"/>
          </a:xfrm>
          <a:prstGeom prst="ellipse">
            <a:avLst/>
          </a:prstGeom>
          <a:solidFill>
            <a:srgbClr val="20A098"/>
          </a:solidFill>
          <a:ln/>
        </p:spPr>
      </p:sp>
      <p:sp>
        <p:nvSpPr>
          <p:cNvPr id="7" name="Text 5"/>
          <p:cNvSpPr txBox="1"/>
          <p:nvPr/>
        </p:nvSpPr>
        <p:spPr>
          <a:xfrm>
            <a:off x="768096" y="2093976"/>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01</a:t>
            </a:r>
            <a:endParaRPr lang="en-US" sz="1200" dirty="0"/>
          </a:p>
        </p:txBody>
      </p:sp>
      <p:sp>
        <p:nvSpPr>
          <p:cNvPr id="8" name="Text 6"/>
          <p:cNvSpPr txBox="1"/>
          <p:nvPr/>
        </p:nvSpPr>
        <p:spPr>
          <a:xfrm>
            <a:off x="1261872" y="2112264"/>
            <a:ext cx="2569464" cy="384048"/>
          </a:xfrm>
          <a:prstGeom prst="rect">
            <a:avLst/>
          </a:prstGeom>
          <a:noFill/>
          <a:ln/>
        </p:spPr>
        <p:txBody>
          <a:bodyPr wrap="square" lIns="0" tIns="0" rIns="0" bIns="0" rtlCol="0" anchor="t"/>
          <a:lstStyle/>
          <a:p>
            <a:pPr indent="0" marL="0">
              <a:buNone/>
            </a:pPr>
            <a:r>
              <a:rPr lang="en-US" sz="1300" b="1" dirty="0">
                <a:solidFill>
                  <a:srgbClr val="0C1E33"/>
                </a:solidFill>
                <a:latin typeface="Arial" pitchFamily="34" charset="0"/>
                <a:ea typeface="Arial" pitchFamily="34" charset="-122"/>
                <a:cs typeface="Arial" pitchFamily="34" charset="-120"/>
              </a:rPr>
              <a:t>Tracking lives in a spreadsheet</a:t>
            </a:r>
            <a:endParaRPr lang="en-US" sz="1300" dirty="0"/>
          </a:p>
        </p:txBody>
      </p:sp>
      <p:sp>
        <p:nvSpPr>
          <p:cNvPr id="9" name="Text 7"/>
          <p:cNvSpPr txBox="1"/>
          <p:nvPr/>
        </p:nvSpPr>
        <p:spPr>
          <a:xfrm>
            <a:off x="768096" y="2624328"/>
            <a:ext cx="3063240" cy="877824"/>
          </a:xfrm>
          <a:prstGeom prst="rect">
            <a:avLst/>
          </a:prstGeom>
          <a:noFill/>
          <a:ln/>
        </p:spPr>
        <p:txBody>
          <a:bodyPr wrap="square" lIns="0" tIns="0" rIns="0" bIns="0" rtlCol="0" anchor="ctr"/>
          <a:lstStyle/>
          <a:p>
            <a:pPr indent="0" marL="0">
              <a:lnSpc>
                <a:spcPts val="1500"/>
              </a:lnSpc>
              <a:buNone/>
            </a:pPr>
            <a:r>
              <a:rPr lang="en-US" sz="1050" dirty="0">
                <a:solidFill>
                  <a:srgbClr val="5A6C82"/>
                </a:solidFill>
                <a:latin typeface="Calibri" pitchFamily="34" charset="0"/>
                <a:ea typeface="Calibri" pitchFamily="34" charset="-122"/>
                <a:cs typeface="Calibri" pitchFamily="34" charset="-120"/>
              </a:rPr>
              <a:t>Expiry dates sit in one person’s file. When they go on leave, the company is blind. And overstay fines start at the border, not in your system.</a:t>
            </a:r>
            <a:endParaRPr lang="en-US" sz="1050" dirty="0"/>
          </a:p>
        </p:txBody>
      </p:sp>
      <p:sp>
        <p:nvSpPr>
          <p:cNvPr id="10" name="Shape 8"/>
          <p:cNvSpPr/>
          <p:nvPr/>
        </p:nvSpPr>
        <p:spPr>
          <a:xfrm>
            <a:off x="4334256" y="1874520"/>
            <a:ext cx="3502152" cy="1755648"/>
          </a:xfrm>
          <a:prstGeom prst="roundRect">
            <a:avLst>
              <a:gd name="adj" fmla="val 4167"/>
            </a:avLst>
          </a:prstGeom>
          <a:solidFill>
            <a:srgbClr val="F4F6F7"/>
          </a:solidFill>
          <a:ln w="9525">
            <a:solidFill>
              <a:srgbClr val="E3E7EA"/>
            </a:solidFill>
            <a:prstDash val="solid"/>
          </a:ln>
        </p:spPr>
      </p:sp>
      <p:sp>
        <p:nvSpPr>
          <p:cNvPr id="11" name="Shape 9"/>
          <p:cNvSpPr/>
          <p:nvPr/>
        </p:nvSpPr>
        <p:spPr>
          <a:xfrm>
            <a:off x="4553712" y="2093976"/>
            <a:ext cx="384048" cy="384048"/>
          </a:xfrm>
          <a:prstGeom prst="ellipse">
            <a:avLst/>
          </a:prstGeom>
          <a:solidFill>
            <a:srgbClr val="20A098"/>
          </a:solidFill>
          <a:ln/>
        </p:spPr>
      </p:sp>
      <p:sp>
        <p:nvSpPr>
          <p:cNvPr id="12" name="Text 10"/>
          <p:cNvSpPr txBox="1"/>
          <p:nvPr/>
        </p:nvSpPr>
        <p:spPr>
          <a:xfrm>
            <a:off x="4553712" y="2093976"/>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02</a:t>
            </a:r>
            <a:endParaRPr lang="en-US" sz="1200" dirty="0"/>
          </a:p>
        </p:txBody>
      </p:sp>
      <p:sp>
        <p:nvSpPr>
          <p:cNvPr id="13" name="Text 11"/>
          <p:cNvSpPr txBox="1"/>
          <p:nvPr/>
        </p:nvSpPr>
        <p:spPr>
          <a:xfrm>
            <a:off x="5047488" y="2112264"/>
            <a:ext cx="2569464" cy="384048"/>
          </a:xfrm>
          <a:prstGeom prst="rect">
            <a:avLst/>
          </a:prstGeom>
          <a:noFill/>
          <a:ln/>
        </p:spPr>
        <p:txBody>
          <a:bodyPr wrap="square" lIns="0" tIns="0" rIns="0" bIns="0" rtlCol="0" anchor="t"/>
          <a:lstStyle/>
          <a:p>
            <a:pPr indent="0" marL="0">
              <a:buNone/>
            </a:pPr>
            <a:r>
              <a:rPr lang="en-US" sz="1300" b="1" dirty="0">
                <a:solidFill>
                  <a:srgbClr val="0C1E33"/>
                </a:solidFill>
                <a:latin typeface="Arial" pitchFamily="34" charset="0"/>
                <a:ea typeface="Arial" pitchFamily="34" charset="-122"/>
                <a:cs typeface="Arial" pitchFamily="34" charset="-120"/>
              </a:rPr>
              <a:t>The PRO has no digital desk</a:t>
            </a:r>
            <a:endParaRPr lang="en-US" sz="1300" dirty="0"/>
          </a:p>
        </p:txBody>
      </p:sp>
      <p:sp>
        <p:nvSpPr>
          <p:cNvPr id="14" name="Text 12"/>
          <p:cNvSpPr txBox="1"/>
          <p:nvPr/>
        </p:nvSpPr>
        <p:spPr>
          <a:xfrm>
            <a:off x="4553712" y="2624328"/>
            <a:ext cx="3063240" cy="877824"/>
          </a:xfrm>
          <a:prstGeom prst="rect">
            <a:avLst/>
          </a:prstGeom>
          <a:noFill/>
          <a:ln/>
        </p:spPr>
        <p:txBody>
          <a:bodyPr wrap="square" lIns="0" tIns="0" rIns="0" bIns="0" rtlCol="0" anchor="ctr"/>
          <a:lstStyle/>
          <a:p>
            <a:pPr indent="0" marL="0">
              <a:lnSpc>
                <a:spcPts val="1500"/>
              </a:lnSpc>
              <a:buNone/>
            </a:pPr>
            <a:r>
              <a:rPr lang="en-US" sz="1050" dirty="0">
                <a:solidFill>
                  <a:srgbClr val="5A6C82"/>
                </a:solidFill>
                <a:latin typeface="Calibri" pitchFamily="34" charset="0"/>
                <a:ea typeface="Calibri" pitchFamily="34" charset="-122"/>
                <a:cs typeface="Calibri" pitchFamily="34" charset="-120"/>
              </a:rPr>
              <a:t>Your GROs run all of it from WhatsApp, email and memory. No queue, no due dates, no proof of who was asked what, or when.</a:t>
            </a:r>
            <a:endParaRPr lang="en-US" sz="1050" dirty="0"/>
          </a:p>
        </p:txBody>
      </p:sp>
      <p:sp>
        <p:nvSpPr>
          <p:cNvPr id="15" name="Shape 13"/>
          <p:cNvSpPr/>
          <p:nvPr/>
        </p:nvSpPr>
        <p:spPr>
          <a:xfrm>
            <a:off x="8119872" y="1874520"/>
            <a:ext cx="3502152" cy="1755648"/>
          </a:xfrm>
          <a:prstGeom prst="roundRect">
            <a:avLst>
              <a:gd name="adj" fmla="val 4167"/>
            </a:avLst>
          </a:prstGeom>
          <a:solidFill>
            <a:srgbClr val="F4F6F7"/>
          </a:solidFill>
          <a:ln w="9525">
            <a:solidFill>
              <a:srgbClr val="E3E7EA"/>
            </a:solidFill>
            <a:prstDash val="solid"/>
          </a:ln>
        </p:spPr>
      </p:sp>
      <p:sp>
        <p:nvSpPr>
          <p:cNvPr id="16" name="Shape 14"/>
          <p:cNvSpPr/>
          <p:nvPr/>
        </p:nvSpPr>
        <p:spPr>
          <a:xfrm>
            <a:off x="8339328" y="2093976"/>
            <a:ext cx="384048" cy="384048"/>
          </a:xfrm>
          <a:prstGeom prst="ellipse">
            <a:avLst/>
          </a:prstGeom>
          <a:solidFill>
            <a:srgbClr val="20A098"/>
          </a:solidFill>
          <a:ln/>
        </p:spPr>
      </p:sp>
      <p:sp>
        <p:nvSpPr>
          <p:cNvPr id="17" name="Text 15"/>
          <p:cNvSpPr txBox="1"/>
          <p:nvPr/>
        </p:nvSpPr>
        <p:spPr>
          <a:xfrm>
            <a:off x="8339328" y="2093976"/>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03</a:t>
            </a:r>
            <a:endParaRPr lang="en-US" sz="1200" dirty="0"/>
          </a:p>
        </p:txBody>
      </p:sp>
      <p:sp>
        <p:nvSpPr>
          <p:cNvPr id="18" name="Text 16"/>
          <p:cNvSpPr txBox="1"/>
          <p:nvPr/>
        </p:nvSpPr>
        <p:spPr>
          <a:xfrm>
            <a:off x="8833104" y="2112264"/>
            <a:ext cx="2569464" cy="384048"/>
          </a:xfrm>
          <a:prstGeom prst="rect">
            <a:avLst/>
          </a:prstGeom>
          <a:noFill/>
          <a:ln/>
        </p:spPr>
        <p:txBody>
          <a:bodyPr wrap="square" lIns="0" tIns="0" rIns="0" bIns="0" rtlCol="0" anchor="t"/>
          <a:lstStyle/>
          <a:p>
            <a:pPr indent="0" marL="0">
              <a:buNone/>
            </a:pPr>
            <a:r>
              <a:rPr lang="en-US" sz="1300" b="1" dirty="0">
                <a:solidFill>
                  <a:srgbClr val="0C1E33"/>
                </a:solidFill>
                <a:latin typeface="Arial" pitchFamily="34" charset="0"/>
                <a:ea typeface="Arial" pitchFamily="34" charset="-122"/>
                <a:cs typeface="Arial" pitchFamily="34" charset="-120"/>
              </a:rPr>
              <a:t>The money is untraceable</a:t>
            </a:r>
            <a:endParaRPr lang="en-US" sz="1300" dirty="0"/>
          </a:p>
        </p:txBody>
      </p:sp>
      <p:sp>
        <p:nvSpPr>
          <p:cNvPr id="19" name="Text 17"/>
          <p:cNvSpPr txBox="1"/>
          <p:nvPr/>
        </p:nvSpPr>
        <p:spPr>
          <a:xfrm>
            <a:off x="8339328" y="2624328"/>
            <a:ext cx="3063240" cy="877824"/>
          </a:xfrm>
          <a:prstGeom prst="rect">
            <a:avLst/>
          </a:prstGeom>
          <a:noFill/>
          <a:ln/>
        </p:spPr>
        <p:txBody>
          <a:bodyPr wrap="square" lIns="0" tIns="0" rIns="0" bIns="0" rtlCol="0" anchor="ctr"/>
          <a:lstStyle/>
          <a:p>
            <a:pPr indent="0" marL="0">
              <a:lnSpc>
                <a:spcPts val="1500"/>
              </a:lnSpc>
              <a:buNone/>
            </a:pPr>
            <a:r>
              <a:rPr lang="en-US" sz="1050" dirty="0">
                <a:solidFill>
                  <a:srgbClr val="5A6C82"/>
                </a:solidFill>
                <a:latin typeface="Calibri" pitchFamily="34" charset="0"/>
                <a:ea typeface="Calibri" pitchFamily="34" charset="-122"/>
                <a:cs typeface="Calibri" pitchFamily="34" charset="-120"/>
              </a:rPr>
              <a:t>Typing fees, medicals, insurance and ID charges go on cards and petty cash. Receipts turn up late, or never. You find the duplicates at audit.</a:t>
            </a:r>
            <a:endParaRPr lang="en-US" sz="1050" dirty="0"/>
          </a:p>
        </p:txBody>
      </p:sp>
      <p:sp>
        <p:nvSpPr>
          <p:cNvPr id="20" name="Shape 18"/>
          <p:cNvSpPr/>
          <p:nvPr/>
        </p:nvSpPr>
        <p:spPr>
          <a:xfrm>
            <a:off x="548640" y="3886200"/>
            <a:ext cx="3502152" cy="1755648"/>
          </a:xfrm>
          <a:prstGeom prst="roundRect">
            <a:avLst>
              <a:gd name="adj" fmla="val 4167"/>
            </a:avLst>
          </a:prstGeom>
          <a:solidFill>
            <a:srgbClr val="F4F6F7"/>
          </a:solidFill>
          <a:ln w="9525">
            <a:solidFill>
              <a:srgbClr val="E3E7EA"/>
            </a:solidFill>
            <a:prstDash val="solid"/>
          </a:ln>
        </p:spPr>
      </p:sp>
      <p:sp>
        <p:nvSpPr>
          <p:cNvPr id="21" name="Shape 19"/>
          <p:cNvSpPr/>
          <p:nvPr/>
        </p:nvSpPr>
        <p:spPr>
          <a:xfrm>
            <a:off x="768096" y="4105656"/>
            <a:ext cx="384048" cy="384048"/>
          </a:xfrm>
          <a:prstGeom prst="ellipse">
            <a:avLst/>
          </a:prstGeom>
          <a:solidFill>
            <a:srgbClr val="20A098"/>
          </a:solidFill>
          <a:ln/>
        </p:spPr>
      </p:sp>
      <p:sp>
        <p:nvSpPr>
          <p:cNvPr id="22" name="Text 20"/>
          <p:cNvSpPr txBox="1"/>
          <p:nvPr/>
        </p:nvSpPr>
        <p:spPr>
          <a:xfrm>
            <a:off x="768096" y="4105656"/>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04</a:t>
            </a:r>
            <a:endParaRPr lang="en-US" sz="1200" dirty="0"/>
          </a:p>
        </p:txBody>
      </p:sp>
      <p:sp>
        <p:nvSpPr>
          <p:cNvPr id="23" name="Text 21"/>
          <p:cNvSpPr txBox="1"/>
          <p:nvPr/>
        </p:nvSpPr>
        <p:spPr>
          <a:xfrm>
            <a:off x="1261872" y="4123944"/>
            <a:ext cx="2569464" cy="384048"/>
          </a:xfrm>
          <a:prstGeom prst="rect">
            <a:avLst/>
          </a:prstGeom>
          <a:noFill/>
          <a:ln/>
        </p:spPr>
        <p:txBody>
          <a:bodyPr wrap="square" lIns="0" tIns="0" rIns="0" bIns="0" rtlCol="0" anchor="t"/>
          <a:lstStyle/>
          <a:p>
            <a:pPr indent="0" marL="0">
              <a:buNone/>
            </a:pPr>
            <a:r>
              <a:rPr lang="en-US" sz="1300" b="1" dirty="0">
                <a:solidFill>
                  <a:srgbClr val="0C1E33"/>
                </a:solidFill>
                <a:latin typeface="Arial" pitchFamily="34" charset="0"/>
                <a:ea typeface="Arial" pitchFamily="34" charset="-122"/>
                <a:cs typeface="Arial" pitchFamily="34" charset="-120"/>
              </a:rPr>
              <a:t>Recruitment and PRO are unsynced</a:t>
            </a:r>
            <a:endParaRPr lang="en-US" sz="1300" dirty="0"/>
          </a:p>
        </p:txBody>
      </p:sp>
      <p:sp>
        <p:nvSpPr>
          <p:cNvPr id="24" name="Text 22"/>
          <p:cNvSpPr txBox="1"/>
          <p:nvPr/>
        </p:nvSpPr>
        <p:spPr>
          <a:xfrm>
            <a:off x="768096" y="4636008"/>
            <a:ext cx="3063240" cy="877824"/>
          </a:xfrm>
          <a:prstGeom prst="rect">
            <a:avLst/>
          </a:prstGeom>
          <a:noFill/>
          <a:ln/>
        </p:spPr>
        <p:txBody>
          <a:bodyPr wrap="square" lIns="0" tIns="0" rIns="0" bIns="0" rtlCol="0" anchor="ctr"/>
          <a:lstStyle/>
          <a:p>
            <a:pPr indent="0" marL="0">
              <a:lnSpc>
                <a:spcPts val="1500"/>
              </a:lnSpc>
              <a:buNone/>
            </a:pPr>
            <a:r>
              <a:rPr lang="en-US" sz="1050" dirty="0">
                <a:solidFill>
                  <a:srgbClr val="5A6C82"/>
                </a:solidFill>
                <a:latin typeface="Calibri" pitchFamily="34" charset="0"/>
                <a:ea typeface="Calibri" pitchFamily="34" charset="-122"/>
                <a:cs typeface="Calibri" pitchFamily="34" charset="-120"/>
              </a:rPr>
              <a:t>Onboarding promises a joining date. Nobody told the PRO the file exists. The candidate waits abroad for a permit that was never started.</a:t>
            </a:r>
            <a:endParaRPr lang="en-US" sz="1050" dirty="0"/>
          </a:p>
        </p:txBody>
      </p:sp>
      <p:sp>
        <p:nvSpPr>
          <p:cNvPr id="25" name="Shape 23"/>
          <p:cNvSpPr/>
          <p:nvPr/>
        </p:nvSpPr>
        <p:spPr>
          <a:xfrm>
            <a:off x="4334256" y="3886200"/>
            <a:ext cx="3502152" cy="1755648"/>
          </a:xfrm>
          <a:prstGeom prst="roundRect">
            <a:avLst>
              <a:gd name="adj" fmla="val 4167"/>
            </a:avLst>
          </a:prstGeom>
          <a:solidFill>
            <a:srgbClr val="F4F6F7"/>
          </a:solidFill>
          <a:ln w="9525">
            <a:solidFill>
              <a:srgbClr val="E3E7EA"/>
            </a:solidFill>
            <a:prstDash val="solid"/>
          </a:ln>
        </p:spPr>
      </p:sp>
      <p:sp>
        <p:nvSpPr>
          <p:cNvPr id="26" name="Shape 24"/>
          <p:cNvSpPr/>
          <p:nvPr/>
        </p:nvSpPr>
        <p:spPr>
          <a:xfrm>
            <a:off x="4553712" y="4105656"/>
            <a:ext cx="384048" cy="384048"/>
          </a:xfrm>
          <a:prstGeom prst="ellipse">
            <a:avLst/>
          </a:prstGeom>
          <a:solidFill>
            <a:srgbClr val="20A098"/>
          </a:solidFill>
          <a:ln/>
        </p:spPr>
      </p:sp>
      <p:sp>
        <p:nvSpPr>
          <p:cNvPr id="27" name="Text 25"/>
          <p:cNvSpPr txBox="1"/>
          <p:nvPr/>
        </p:nvSpPr>
        <p:spPr>
          <a:xfrm>
            <a:off x="4553712" y="4105656"/>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05</a:t>
            </a:r>
            <a:endParaRPr lang="en-US" sz="1200" dirty="0"/>
          </a:p>
        </p:txBody>
      </p:sp>
      <p:sp>
        <p:nvSpPr>
          <p:cNvPr id="28" name="Text 26"/>
          <p:cNvSpPr txBox="1"/>
          <p:nvPr/>
        </p:nvSpPr>
        <p:spPr>
          <a:xfrm>
            <a:off x="5047488" y="4123944"/>
            <a:ext cx="2569464" cy="384048"/>
          </a:xfrm>
          <a:prstGeom prst="rect">
            <a:avLst/>
          </a:prstGeom>
          <a:noFill/>
          <a:ln/>
        </p:spPr>
        <p:txBody>
          <a:bodyPr wrap="square" lIns="0" tIns="0" rIns="0" bIns="0" rtlCol="0" anchor="t"/>
          <a:lstStyle/>
          <a:p>
            <a:pPr indent="0" marL="0">
              <a:buNone/>
            </a:pPr>
            <a:r>
              <a:rPr lang="en-US" sz="1300" b="1" dirty="0">
                <a:solidFill>
                  <a:srgbClr val="0C1E33"/>
                </a:solidFill>
                <a:latin typeface="Arial" pitchFamily="34" charset="0"/>
                <a:ea typeface="Arial" pitchFamily="34" charset="-122"/>
                <a:cs typeface="Arial" pitchFamily="34" charset="-120"/>
              </a:rPr>
              <a:t>Compliance is a memory test</a:t>
            </a:r>
            <a:endParaRPr lang="en-US" sz="1300" dirty="0"/>
          </a:p>
        </p:txBody>
      </p:sp>
      <p:sp>
        <p:nvSpPr>
          <p:cNvPr id="29" name="Text 27"/>
          <p:cNvSpPr txBox="1"/>
          <p:nvPr/>
        </p:nvSpPr>
        <p:spPr>
          <a:xfrm>
            <a:off x="4553712" y="4636008"/>
            <a:ext cx="3063240" cy="877824"/>
          </a:xfrm>
          <a:prstGeom prst="rect">
            <a:avLst/>
          </a:prstGeom>
          <a:noFill/>
          <a:ln/>
        </p:spPr>
        <p:txBody>
          <a:bodyPr wrap="square" lIns="0" tIns="0" rIns="0" bIns="0" rtlCol="0" anchor="ctr"/>
          <a:lstStyle/>
          <a:p>
            <a:pPr indent="0" marL="0">
              <a:lnSpc>
                <a:spcPts val="1500"/>
              </a:lnSpc>
              <a:buNone/>
            </a:pPr>
            <a:r>
              <a:rPr lang="en-US" sz="1050" dirty="0">
                <a:solidFill>
                  <a:srgbClr val="5A6C82"/>
                </a:solidFill>
                <a:latin typeface="Calibri" pitchFamily="34" charset="0"/>
                <a:ea typeface="Calibri" pitchFamily="34" charset="-122"/>
                <a:cs typeface="Calibri" pitchFamily="34" charset="-120"/>
              </a:rPr>
              <a:t>Quota, skill classification, profession matching, work location. Every one is a rule somebody has to remember correctly, every time, in a hurry.</a:t>
            </a:r>
            <a:endParaRPr lang="en-US" sz="1050" dirty="0"/>
          </a:p>
        </p:txBody>
      </p:sp>
      <p:sp>
        <p:nvSpPr>
          <p:cNvPr id="30" name="Shape 28"/>
          <p:cNvSpPr/>
          <p:nvPr/>
        </p:nvSpPr>
        <p:spPr>
          <a:xfrm>
            <a:off x="8119872" y="3886200"/>
            <a:ext cx="3502152" cy="1755648"/>
          </a:xfrm>
          <a:prstGeom prst="roundRect">
            <a:avLst>
              <a:gd name="adj" fmla="val 4167"/>
            </a:avLst>
          </a:prstGeom>
          <a:solidFill>
            <a:srgbClr val="F4F6F7"/>
          </a:solidFill>
          <a:ln w="9525">
            <a:solidFill>
              <a:srgbClr val="E3E7EA"/>
            </a:solidFill>
            <a:prstDash val="solid"/>
          </a:ln>
        </p:spPr>
      </p:sp>
      <p:sp>
        <p:nvSpPr>
          <p:cNvPr id="31" name="Shape 29"/>
          <p:cNvSpPr/>
          <p:nvPr/>
        </p:nvSpPr>
        <p:spPr>
          <a:xfrm>
            <a:off x="8339328" y="4105656"/>
            <a:ext cx="384048" cy="384048"/>
          </a:xfrm>
          <a:prstGeom prst="ellipse">
            <a:avLst/>
          </a:prstGeom>
          <a:solidFill>
            <a:srgbClr val="20A098"/>
          </a:solidFill>
          <a:ln/>
        </p:spPr>
      </p:sp>
      <p:sp>
        <p:nvSpPr>
          <p:cNvPr id="32" name="Text 30"/>
          <p:cNvSpPr txBox="1"/>
          <p:nvPr/>
        </p:nvSpPr>
        <p:spPr>
          <a:xfrm>
            <a:off x="8339328" y="4105656"/>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06</a:t>
            </a:r>
            <a:endParaRPr lang="en-US" sz="1200" dirty="0"/>
          </a:p>
        </p:txBody>
      </p:sp>
      <p:sp>
        <p:nvSpPr>
          <p:cNvPr id="33" name="Text 31"/>
          <p:cNvSpPr txBox="1"/>
          <p:nvPr/>
        </p:nvSpPr>
        <p:spPr>
          <a:xfrm>
            <a:off x="8833104" y="4123944"/>
            <a:ext cx="2569464" cy="384048"/>
          </a:xfrm>
          <a:prstGeom prst="rect">
            <a:avLst/>
          </a:prstGeom>
          <a:noFill/>
          <a:ln/>
        </p:spPr>
        <p:txBody>
          <a:bodyPr wrap="square" lIns="0" tIns="0" rIns="0" bIns="0" rtlCol="0" anchor="t"/>
          <a:lstStyle/>
          <a:p>
            <a:pPr indent="0" marL="0">
              <a:buNone/>
            </a:pPr>
            <a:r>
              <a:rPr lang="en-US" sz="1300" b="1" dirty="0">
                <a:solidFill>
                  <a:srgbClr val="0C1E33"/>
                </a:solidFill>
                <a:latin typeface="Arial" pitchFamily="34" charset="0"/>
                <a:ea typeface="Arial" pitchFamily="34" charset="-122"/>
                <a:cs typeface="Arial" pitchFamily="34" charset="-120"/>
              </a:rPr>
              <a:t>Nobody can answer "where is it?"</a:t>
            </a:r>
            <a:endParaRPr lang="en-US" sz="1300" dirty="0"/>
          </a:p>
        </p:txBody>
      </p:sp>
      <p:sp>
        <p:nvSpPr>
          <p:cNvPr id="34" name="Text 32"/>
          <p:cNvSpPr txBox="1"/>
          <p:nvPr/>
        </p:nvSpPr>
        <p:spPr>
          <a:xfrm>
            <a:off x="8339328" y="4636008"/>
            <a:ext cx="3063240" cy="877824"/>
          </a:xfrm>
          <a:prstGeom prst="rect">
            <a:avLst/>
          </a:prstGeom>
          <a:noFill/>
          <a:ln/>
        </p:spPr>
        <p:txBody>
          <a:bodyPr wrap="square" lIns="0" tIns="0" rIns="0" bIns="0" rtlCol="0" anchor="ctr"/>
          <a:lstStyle/>
          <a:p>
            <a:pPr indent="0" marL="0">
              <a:lnSpc>
                <a:spcPts val="1500"/>
              </a:lnSpc>
              <a:buNone/>
            </a:pPr>
            <a:r>
              <a:rPr lang="en-US" sz="1050" dirty="0">
                <a:solidFill>
                  <a:srgbClr val="5A6C82"/>
                </a:solidFill>
                <a:latin typeface="Calibri" pitchFamily="34" charset="0"/>
                <a:ea typeface="Calibri" pitchFamily="34" charset="-122"/>
                <a:cs typeface="Calibri" pitchFamily="34" charset="-120"/>
              </a:rPr>
              <a:t>One employee query takes three calls and a day. Now multiply that across thousands of permits and several countries.</a:t>
            </a:r>
            <a:endParaRPr lang="en-US" sz="1050" dirty="0"/>
          </a:p>
        </p:txBody>
      </p:sp>
      <p:sp>
        <p:nvSpPr>
          <p:cNvPr id="35" name="Shape 33"/>
          <p:cNvSpPr/>
          <p:nvPr/>
        </p:nvSpPr>
        <p:spPr>
          <a:xfrm>
            <a:off x="548640" y="5815584"/>
            <a:ext cx="10424160" cy="475488"/>
          </a:xfrm>
          <a:prstGeom prst="roundRect">
            <a:avLst>
              <a:gd name="adj" fmla="val 17308"/>
            </a:avLst>
          </a:prstGeom>
          <a:solidFill>
            <a:srgbClr val="E4F5F3"/>
          </a:solidFill>
          <a:ln w="9525">
            <a:solidFill>
              <a:srgbClr val="20A098"/>
            </a:solidFill>
            <a:prstDash val="solid"/>
          </a:ln>
        </p:spPr>
      </p:sp>
      <p:sp>
        <p:nvSpPr>
          <p:cNvPr id="36" name="Text 34"/>
          <p:cNvSpPr txBox="1"/>
          <p:nvPr/>
        </p:nvSpPr>
        <p:spPr>
          <a:xfrm>
            <a:off x="777240" y="5815584"/>
            <a:ext cx="9966960" cy="475488"/>
          </a:xfrm>
          <a:prstGeom prst="rect">
            <a:avLst/>
          </a:prstGeom>
          <a:noFill/>
          <a:ln/>
        </p:spPr>
        <p:txBody>
          <a:bodyPr wrap="square" lIns="0" tIns="0" rIns="0" bIns="0" rtlCol="0" anchor="ctr"/>
          <a:lstStyle/>
          <a:p>
            <a:pPr indent="0" marL="0">
              <a:buNone/>
            </a:pPr>
            <a:r>
              <a:rPr lang="en-US" sz="1150" b="1" dirty="0">
                <a:solidFill>
                  <a:srgbClr val="12756F"/>
                </a:solidFill>
                <a:latin typeface="Calibri" pitchFamily="34" charset="0"/>
                <a:ea typeface="Calibri" pitchFamily="34" charset="-122"/>
                <a:cs typeface="Calibri" pitchFamily="34" charset="-120"/>
              </a:rPr>
              <a:t>What it costs you:  </a:t>
            </a:r>
            <a:pPr indent="0" marL="0">
              <a:buNone/>
            </a:pPr>
            <a:r>
              <a:rPr lang="en-US" sz="1150" dirty="0">
                <a:solidFill>
                  <a:srgbClr val="0C1E33"/>
                </a:solidFill>
                <a:latin typeface="Calibri" pitchFamily="34" charset="0"/>
                <a:ea typeface="Calibri" pitchFamily="34" charset="-122"/>
                <a:cs typeface="Calibri" pitchFamily="34" charset="-120"/>
              </a:rPr>
              <a:t>overstay and labour fines, blocked quotas, employees you cannot legally roster, and a compliance position nobody can actually prove to a regulator or an auditor.</a:t>
            </a:r>
            <a:endParaRPr lang="en-US" sz="1150" dirty="0"/>
          </a:p>
        </p:txBody>
      </p:sp>
      <p:sp>
        <p:nvSpPr>
          <p:cNvPr id="37" name="Text 35"/>
          <p:cNvSpPr txBox="1"/>
          <p:nvPr/>
        </p:nvSpPr>
        <p:spPr>
          <a:xfrm>
            <a:off x="548640" y="6419088"/>
            <a:ext cx="8595360" cy="237744"/>
          </a:xfrm>
          <a:prstGeom prst="rect">
            <a:avLst/>
          </a:prstGeom>
          <a:noFill/>
          <a:ln/>
        </p:spPr>
        <p:txBody>
          <a:bodyPr wrap="square" lIns="0" tIns="0" rIns="0" bIns="0" rtlCol="0" anchor="ctr"/>
          <a:lstStyle/>
          <a:p>
            <a:pPr indent="0" marL="0">
              <a:buNone/>
            </a:pPr>
            <a:r>
              <a:rPr lang="en-US" sz="900" dirty="0">
                <a:solidFill>
                  <a:srgbClr val="96A3AE"/>
                </a:solidFill>
                <a:latin typeface="Calibri" pitchFamily="34" charset="0"/>
                <a:ea typeface="Calibri" pitchFamily="34" charset="-122"/>
                <a:cs typeface="Calibri" pitchFamily="34" charset="-120"/>
              </a:rPr>
              <a:t>INK IT Business Solutions  ·  Visa &amp; Permits Management on SAP BTP</a:t>
            </a:r>
            <a:endParaRPr lang="en-US" sz="900" dirty="0"/>
          </a:p>
        </p:txBody>
      </p:sp>
      <p:sp>
        <p:nvSpPr>
          <p:cNvPr id="38" name="Text 36"/>
          <p:cNvSpPr txBox="1"/>
          <p:nvPr/>
        </p:nvSpPr>
        <p:spPr>
          <a:xfrm>
            <a:off x="11155680" y="6419088"/>
            <a:ext cx="457200" cy="237744"/>
          </a:xfrm>
          <a:prstGeom prst="rect">
            <a:avLst/>
          </a:prstGeom>
          <a:noFill/>
          <a:ln/>
        </p:spPr>
        <p:txBody>
          <a:bodyPr wrap="square" lIns="0" tIns="0" rIns="0" bIns="0" rtlCol="0" anchor="ctr"/>
          <a:lstStyle/>
          <a:p>
            <a:pPr algn="r" indent="0" marL="0">
              <a:buNone/>
            </a:pPr>
            <a:r>
              <a:rPr lang="en-US" sz="900" dirty="0">
                <a:solidFill>
                  <a:srgbClr val="96A3AE"/>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02336"/>
            <a:ext cx="11064240" cy="237744"/>
          </a:xfrm>
          <a:prstGeom prst="rect">
            <a:avLst/>
          </a:prstGeom>
          <a:noFill/>
          <a:ln/>
        </p:spPr>
        <p:txBody>
          <a:bodyPr wrap="square" lIns="0" tIns="0" rIns="0" bIns="0" rtlCol="0" anchor="ctr"/>
          <a:lstStyle/>
          <a:p>
            <a:pPr indent="0" marL="0">
              <a:buNone/>
            </a:pPr>
            <a:r>
              <a:rPr lang="en-US" sz="1100" b="1" spc="220" kern="0" dirty="0">
                <a:solidFill>
                  <a:srgbClr val="20A098"/>
                </a:solidFill>
                <a:latin typeface="Calibri" pitchFamily="34" charset="0"/>
                <a:ea typeface="Calibri" pitchFamily="34" charset="-122"/>
                <a:cs typeface="Calibri" pitchFamily="34" charset="-120"/>
              </a:rPr>
              <a:t>THE SOLUTION</a:t>
            </a:r>
            <a:endParaRPr lang="en-US" sz="1100" dirty="0"/>
          </a:p>
        </p:txBody>
      </p:sp>
      <p:sp>
        <p:nvSpPr>
          <p:cNvPr id="3" name="Text 1"/>
          <p:cNvSpPr txBox="1"/>
          <p:nvPr/>
        </p:nvSpPr>
        <p:spPr>
          <a:xfrm>
            <a:off x="548640" y="658368"/>
            <a:ext cx="11064240" cy="566928"/>
          </a:xfrm>
          <a:prstGeom prst="rect">
            <a:avLst/>
          </a:prstGeom>
          <a:noFill/>
          <a:ln/>
        </p:spPr>
        <p:txBody>
          <a:bodyPr wrap="square" lIns="0" tIns="0" rIns="0" bIns="0" rtlCol="0" anchor="ctr"/>
          <a:lstStyle/>
          <a:p>
            <a:pPr indent="0" marL="0">
              <a:buNone/>
            </a:pPr>
            <a:r>
              <a:rPr lang="en-US" sz="3000" b="1" dirty="0">
                <a:solidFill>
                  <a:srgbClr val="0C1E33"/>
                </a:solidFill>
                <a:latin typeface="Arial" pitchFamily="34" charset="0"/>
                <a:ea typeface="Arial" pitchFamily="34" charset="-122"/>
                <a:cs typeface="Arial" pitchFamily="34" charset="-120"/>
              </a:rPr>
              <a:t>Every permit on one track.</a:t>
            </a:r>
            <a:endParaRPr lang="en-US" sz="3000" dirty="0"/>
          </a:p>
        </p:txBody>
      </p:sp>
      <p:sp>
        <p:nvSpPr>
          <p:cNvPr id="4" name="Text 2"/>
          <p:cNvSpPr txBox="1"/>
          <p:nvPr/>
        </p:nvSpPr>
        <p:spPr>
          <a:xfrm>
            <a:off x="548640" y="1243584"/>
            <a:ext cx="10424160" cy="292608"/>
          </a:xfrm>
          <a:prstGeom prst="rect">
            <a:avLst/>
          </a:prstGeom>
          <a:noFill/>
          <a:ln/>
        </p:spPr>
        <p:txBody>
          <a:bodyPr wrap="square" lIns="0" tIns="0" rIns="0" bIns="0" rtlCol="0" anchor="ctr"/>
          <a:lstStyle/>
          <a:p>
            <a:pPr indent="0" marL="0">
              <a:buNone/>
            </a:pPr>
            <a:r>
              <a:rPr lang="en-US" sz="1350" dirty="0">
                <a:solidFill>
                  <a:srgbClr val="5A6C82"/>
                </a:solidFill>
                <a:latin typeface="Calibri" pitchFamily="34" charset="0"/>
                <a:ea typeface="Calibri" pitchFamily="34" charset="-122"/>
                <a:cs typeface="Calibri" pitchFamily="34" charset="-120"/>
              </a:rPr>
              <a:t>Three governed lifecycles, twenty-two milestones, one task inbox.</a:t>
            </a:r>
            <a:endParaRPr lang="en-US" sz="1350" dirty="0"/>
          </a:p>
        </p:txBody>
      </p:sp>
      <p:sp>
        <p:nvSpPr>
          <p:cNvPr id="5" name="Shape 3"/>
          <p:cNvSpPr/>
          <p:nvPr/>
        </p:nvSpPr>
        <p:spPr>
          <a:xfrm>
            <a:off x="548640" y="1783080"/>
            <a:ext cx="5029200" cy="1060704"/>
          </a:xfrm>
          <a:prstGeom prst="roundRect">
            <a:avLst>
              <a:gd name="adj" fmla="val 6897"/>
            </a:avLst>
          </a:prstGeom>
          <a:solidFill>
            <a:srgbClr val="F4F6F7"/>
          </a:solidFill>
          <a:ln w="9525">
            <a:solidFill>
              <a:srgbClr val="E3E7EA"/>
            </a:solidFill>
            <a:prstDash val="solid"/>
          </a:ln>
        </p:spPr>
      </p:sp>
      <p:sp>
        <p:nvSpPr>
          <p:cNvPr id="6" name="Shape 4"/>
          <p:cNvSpPr/>
          <p:nvPr/>
        </p:nvSpPr>
        <p:spPr>
          <a:xfrm>
            <a:off x="548640" y="1783080"/>
            <a:ext cx="68580" cy="1060704"/>
          </a:xfrm>
          <a:prstGeom prst="roundRect">
            <a:avLst>
              <a:gd name="adj" fmla="val 40000"/>
            </a:avLst>
          </a:prstGeom>
          <a:solidFill>
            <a:srgbClr val="20A098"/>
          </a:solidFill>
          <a:ln/>
        </p:spPr>
      </p:sp>
      <p:sp>
        <p:nvSpPr>
          <p:cNvPr id="7" name="Text 5"/>
          <p:cNvSpPr txBox="1"/>
          <p:nvPr/>
        </p:nvSpPr>
        <p:spPr>
          <a:xfrm>
            <a:off x="841248" y="1901952"/>
            <a:ext cx="3017520" cy="274320"/>
          </a:xfrm>
          <a:prstGeom prst="rect">
            <a:avLst/>
          </a:prstGeom>
          <a:noFill/>
          <a:ln/>
        </p:spPr>
        <p:txBody>
          <a:bodyPr wrap="square" lIns="0" tIns="0" rIns="0" bIns="0" rtlCol="0" anchor="ctr"/>
          <a:lstStyle/>
          <a:p>
            <a:pPr indent="0" marL="0">
              <a:buNone/>
            </a:pPr>
            <a:r>
              <a:rPr lang="en-US" sz="1500" b="1" dirty="0">
                <a:solidFill>
                  <a:srgbClr val="0C1E33"/>
                </a:solidFill>
                <a:latin typeface="Arial" pitchFamily="34" charset="0"/>
                <a:ea typeface="Arial" pitchFamily="34" charset="-122"/>
                <a:cs typeface="Arial" pitchFamily="34" charset="-120"/>
              </a:rPr>
              <a:t>New Work Permit</a:t>
            </a:r>
            <a:endParaRPr lang="en-US" sz="1500" dirty="0"/>
          </a:p>
        </p:txBody>
      </p:sp>
      <p:sp>
        <p:nvSpPr>
          <p:cNvPr id="8" name="Text 6"/>
          <p:cNvSpPr txBox="1"/>
          <p:nvPr/>
        </p:nvSpPr>
        <p:spPr>
          <a:xfrm>
            <a:off x="3886200" y="1929384"/>
            <a:ext cx="1572768" cy="237744"/>
          </a:xfrm>
          <a:prstGeom prst="rect">
            <a:avLst/>
          </a:prstGeom>
          <a:noFill/>
          <a:ln/>
        </p:spPr>
        <p:txBody>
          <a:bodyPr wrap="square" lIns="0" tIns="0" rIns="0" bIns="0" rtlCol="0" anchor="ctr"/>
          <a:lstStyle/>
          <a:p>
            <a:pPr algn="r" indent="0" marL="0">
              <a:buNone/>
            </a:pPr>
            <a:r>
              <a:rPr lang="en-US" sz="1050" b="1" dirty="0">
                <a:solidFill>
                  <a:srgbClr val="20A098"/>
                </a:solidFill>
                <a:latin typeface="Calibri" pitchFamily="34" charset="0"/>
                <a:ea typeface="Calibri" pitchFamily="34" charset="-122"/>
                <a:cs typeface="Calibri" pitchFamily="34" charset="-120"/>
              </a:rPr>
              <a:t>11 milestones</a:t>
            </a:r>
            <a:endParaRPr lang="en-US" sz="1050" dirty="0"/>
          </a:p>
        </p:txBody>
      </p:sp>
      <p:sp>
        <p:nvSpPr>
          <p:cNvPr id="9" name="Text 7"/>
          <p:cNvSpPr txBox="1"/>
          <p:nvPr/>
        </p:nvSpPr>
        <p:spPr>
          <a:xfrm>
            <a:off x="841248" y="2194560"/>
            <a:ext cx="4572000" cy="566928"/>
          </a:xfrm>
          <a:prstGeom prst="rect">
            <a:avLst/>
          </a:prstGeom>
          <a:noFill/>
          <a:ln/>
        </p:spPr>
        <p:txBody>
          <a:bodyPr wrap="square" lIns="0" tIns="0" rIns="0" bIns="0" rtlCol="0" anchor="ctr"/>
          <a:lstStyle/>
          <a:p>
            <a:pPr indent="0" marL="0">
              <a:lnSpc>
                <a:spcPts val="1550"/>
              </a:lnSpc>
              <a:buNone/>
            </a:pPr>
            <a:r>
              <a:rPr lang="en-US" sz="1100" dirty="0">
                <a:solidFill>
                  <a:srgbClr val="5A6C82"/>
                </a:solidFill>
                <a:latin typeface="Calibri" pitchFamily="34" charset="0"/>
                <a:ea typeface="Calibri" pitchFamily="34" charset="-122"/>
                <a:cs typeface="Calibri" pitchFamily="34" charset="-120"/>
              </a:rPr>
              <a:t>From candidate to legally employed: offer, labour card, entry permit or status change, medical, Emirates ID.</a:t>
            </a:r>
            <a:endParaRPr lang="en-US" sz="1100" dirty="0"/>
          </a:p>
        </p:txBody>
      </p:sp>
      <p:sp>
        <p:nvSpPr>
          <p:cNvPr id="10" name="Shape 8"/>
          <p:cNvSpPr/>
          <p:nvPr/>
        </p:nvSpPr>
        <p:spPr>
          <a:xfrm>
            <a:off x="548640" y="2971800"/>
            <a:ext cx="5029200" cy="1060704"/>
          </a:xfrm>
          <a:prstGeom prst="roundRect">
            <a:avLst>
              <a:gd name="adj" fmla="val 6897"/>
            </a:avLst>
          </a:prstGeom>
          <a:solidFill>
            <a:srgbClr val="F4F6F7"/>
          </a:solidFill>
          <a:ln w="9525">
            <a:solidFill>
              <a:srgbClr val="E3E7EA"/>
            </a:solidFill>
            <a:prstDash val="solid"/>
          </a:ln>
        </p:spPr>
      </p:sp>
      <p:sp>
        <p:nvSpPr>
          <p:cNvPr id="11" name="Shape 9"/>
          <p:cNvSpPr/>
          <p:nvPr/>
        </p:nvSpPr>
        <p:spPr>
          <a:xfrm>
            <a:off x="548640" y="2971800"/>
            <a:ext cx="68580" cy="1060704"/>
          </a:xfrm>
          <a:prstGeom prst="roundRect">
            <a:avLst>
              <a:gd name="adj" fmla="val 40000"/>
            </a:avLst>
          </a:prstGeom>
          <a:solidFill>
            <a:srgbClr val="12756F"/>
          </a:solidFill>
          <a:ln/>
        </p:spPr>
      </p:sp>
      <p:sp>
        <p:nvSpPr>
          <p:cNvPr id="12" name="Text 10"/>
          <p:cNvSpPr txBox="1"/>
          <p:nvPr/>
        </p:nvSpPr>
        <p:spPr>
          <a:xfrm>
            <a:off x="841248" y="3090672"/>
            <a:ext cx="3017520" cy="274320"/>
          </a:xfrm>
          <a:prstGeom prst="rect">
            <a:avLst/>
          </a:prstGeom>
          <a:noFill/>
          <a:ln/>
        </p:spPr>
        <p:txBody>
          <a:bodyPr wrap="square" lIns="0" tIns="0" rIns="0" bIns="0" rtlCol="0" anchor="ctr"/>
          <a:lstStyle/>
          <a:p>
            <a:pPr indent="0" marL="0">
              <a:buNone/>
            </a:pPr>
            <a:r>
              <a:rPr lang="en-US" sz="1500" b="1" dirty="0">
                <a:solidFill>
                  <a:srgbClr val="0C1E33"/>
                </a:solidFill>
                <a:latin typeface="Arial" pitchFamily="34" charset="0"/>
                <a:ea typeface="Arial" pitchFamily="34" charset="-122"/>
                <a:cs typeface="Arial" pitchFamily="34" charset="-120"/>
              </a:rPr>
              <a:t>Renew Work Permit</a:t>
            </a:r>
            <a:endParaRPr lang="en-US" sz="1500" dirty="0"/>
          </a:p>
        </p:txBody>
      </p:sp>
      <p:sp>
        <p:nvSpPr>
          <p:cNvPr id="13" name="Text 11"/>
          <p:cNvSpPr txBox="1"/>
          <p:nvPr/>
        </p:nvSpPr>
        <p:spPr>
          <a:xfrm>
            <a:off x="3886200" y="3118104"/>
            <a:ext cx="1572768" cy="237744"/>
          </a:xfrm>
          <a:prstGeom prst="rect">
            <a:avLst/>
          </a:prstGeom>
          <a:noFill/>
          <a:ln/>
        </p:spPr>
        <p:txBody>
          <a:bodyPr wrap="square" lIns="0" tIns="0" rIns="0" bIns="0" rtlCol="0" anchor="ctr"/>
          <a:lstStyle/>
          <a:p>
            <a:pPr algn="r" indent="0" marL="0">
              <a:buNone/>
            </a:pPr>
            <a:r>
              <a:rPr lang="en-US" sz="1050" b="1" dirty="0">
                <a:solidFill>
                  <a:srgbClr val="12756F"/>
                </a:solidFill>
                <a:latin typeface="Calibri" pitchFamily="34" charset="0"/>
                <a:ea typeface="Calibri" pitchFamily="34" charset="-122"/>
                <a:cs typeface="Calibri" pitchFamily="34" charset="-120"/>
              </a:rPr>
              <a:t>7 milestones</a:t>
            </a:r>
            <a:endParaRPr lang="en-US" sz="1050" dirty="0"/>
          </a:p>
        </p:txBody>
      </p:sp>
      <p:sp>
        <p:nvSpPr>
          <p:cNvPr id="14" name="Text 12"/>
          <p:cNvSpPr txBox="1"/>
          <p:nvPr/>
        </p:nvSpPr>
        <p:spPr>
          <a:xfrm>
            <a:off x="841248" y="3383280"/>
            <a:ext cx="4572000" cy="566928"/>
          </a:xfrm>
          <a:prstGeom prst="rect">
            <a:avLst/>
          </a:prstGeom>
          <a:noFill/>
          <a:ln/>
        </p:spPr>
        <p:txBody>
          <a:bodyPr wrap="square" lIns="0" tIns="0" rIns="0" bIns="0" rtlCol="0" anchor="ctr"/>
          <a:lstStyle/>
          <a:p>
            <a:pPr indent="0" marL="0">
              <a:lnSpc>
                <a:spcPts val="1550"/>
              </a:lnSpc>
              <a:buNone/>
            </a:pPr>
            <a:r>
              <a:rPr lang="en-US" sz="1100" dirty="0">
                <a:solidFill>
                  <a:srgbClr val="5A6C82"/>
                </a:solidFill>
                <a:latin typeface="Calibri" pitchFamily="34" charset="0"/>
                <a:ea typeface="Calibri" pitchFamily="34" charset="-122"/>
                <a:cs typeface="Calibri" pitchFamily="34" charset="-120"/>
              </a:rPr>
              <a:t>Starts from an expiry alert six weeks out: medical, contract, stamping, ID renewal and collection.</a:t>
            </a:r>
            <a:endParaRPr lang="en-US" sz="1100" dirty="0"/>
          </a:p>
        </p:txBody>
      </p:sp>
      <p:sp>
        <p:nvSpPr>
          <p:cNvPr id="15" name="Shape 13"/>
          <p:cNvSpPr/>
          <p:nvPr/>
        </p:nvSpPr>
        <p:spPr>
          <a:xfrm>
            <a:off x="548640" y="4160520"/>
            <a:ext cx="5029200" cy="1060704"/>
          </a:xfrm>
          <a:prstGeom prst="roundRect">
            <a:avLst>
              <a:gd name="adj" fmla="val 6897"/>
            </a:avLst>
          </a:prstGeom>
          <a:solidFill>
            <a:srgbClr val="F4F6F7"/>
          </a:solidFill>
          <a:ln w="9525">
            <a:solidFill>
              <a:srgbClr val="E3E7EA"/>
            </a:solidFill>
            <a:prstDash val="solid"/>
          </a:ln>
        </p:spPr>
      </p:sp>
      <p:sp>
        <p:nvSpPr>
          <p:cNvPr id="16" name="Shape 14"/>
          <p:cNvSpPr/>
          <p:nvPr/>
        </p:nvSpPr>
        <p:spPr>
          <a:xfrm>
            <a:off x="548640" y="4160520"/>
            <a:ext cx="68580" cy="1060704"/>
          </a:xfrm>
          <a:prstGeom prst="roundRect">
            <a:avLst>
              <a:gd name="adj" fmla="val 40000"/>
            </a:avLst>
          </a:prstGeom>
          <a:solidFill>
            <a:srgbClr val="16304C"/>
          </a:solidFill>
          <a:ln/>
        </p:spPr>
      </p:sp>
      <p:sp>
        <p:nvSpPr>
          <p:cNvPr id="17" name="Text 15"/>
          <p:cNvSpPr txBox="1"/>
          <p:nvPr/>
        </p:nvSpPr>
        <p:spPr>
          <a:xfrm>
            <a:off x="841248" y="4279392"/>
            <a:ext cx="3017520" cy="274320"/>
          </a:xfrm>
          <a:prstGeom prst="rect">
            <a:avLst/>
          </a:prstGeom>
          <a:noFill/>
          <a:ln/>
        </p:spPr>
        <p:txBody>
          <a:bodyPr wrap="square" lIns="0" tIns="0" rIns="0" bIns="0" rtlCol="0" anchor="ctr"/>
          <a:lstStyle/>
          <a:p>
            <a:pPr indent="0" marL="0">
              <a:buNone/>
            </a:pPr>
            <a:r>
              <a:rPr lang="en-US" sz="1500" b="1" dirty="0">
                <a:solidFill>
                  <a:srgbClr val="0C1E33"/>
                </a:solidFill>
                <a:latin typeface="Arial" pitchFamily="34" charset="0"/>
                <a:ea typeface="Arial" pitchFamily="34" charset="-122"/>
                <a:cs typeface="Arial" pitchFamily="34" charset="-120"/>
              </a:rPr>
              <a:t>Cancel Work Permit</a:t>
            </a:r>
            <a:endParaRPr lang="en-US" sz="1500" dirty="0"/>
          </a:p>
        </p:txBody>
      </p:sp>
      <p:sp>
        <p:nvSpPr>
          <p:cNvPr id="18" name="Text 16"/>
          <p:cNvSpPr txBox="1"/>
          <p:nvPr/>
        </p:nvSpPr>
        <p:spPr>
          <a:xfrm>
            <a:off x="3886200" y="4306824"/>
            <a:ext cx="1572768" cy="237744"/>
          </a:xfrm>
          <a:prstGeom prst="rect">
            <a:avLst/>
          </a:prstGeom>
          <a:noFill/>
          <a:ln/>
        </p:spPr>
        <p:txBody>
          <a:bodyPr wrap="square" lIns="0" tIns="0" rIns="0" bIns="0" rtlCol="0" anchor="ctr"/>
          <a:lstStyle/>
          <a:p>
            <a:pPr algn="r" indent="0" marL="0">
              <a:buNone/>
            </a:pPr>
            <a:r>
              <a:rPr lang="en-US" sz="1050" b="1" dirty="0">
                <a:solidFill>
                  <a:srgbClr val="16304C"/>
                </a:solidFill>
                <a:latin typeface="Calibri" pitchFamily="34" charset="0"/>
                <a:ea typeface="Calibri" pitchFamily="34" charset="-122"/>
                <a:cs typeface="Calibri" pitchFamily="34" charset="-120"/>
              </a:rPr>
              <a:t>4 milestones</a:t>
            </a:r>
            <a:endParaRPr lang="en-US" sz="1050" dirty="0"/>
          </a:p>
        </p:txBody>
      </p:sp>
      <p:sp>
        <p:nvSpPr>
          <p:cNvPr id="19" name="Text 17"/>
          <p:cNvSpPr txBox="1"/>
          <p:nvPr/>
        </p:nvSpPr>
        <p:spPr>
          <a:xfrm>
            <a:off x="841248" y="4572000"/>
            <a:ext cx="4572000" cy="566928"/>
          </a:xfrm>
          <a:prstGeom prst="rect">
            <a:avLst/>
          </a:prstGeom>
          <a:noFill/>
          <a:ln/>
        </p:spPr>
        <p:txBody>
          <a:bodyPr wrap="square" lIns="0" tIns="0" rIns="0" bIns="0" rtlCol="0" anchor="ctr"/>
          <a:lstStyle/>
          <a:p>
            <a:pPr indent="0" marL="0">
              <a:lnSpc>
                <a:spcPts val="1550"/>
              </a:lnSpc>
              <a:buNone/>
            </a:pPr>
            <a:r>
              <a:rPr lang="en-US" sz="1100" dirty="0">
                <a:solidFill>
                  <a:srgbClr val="5A6C82"/>
                </a:solidFill>
                <a:latin typeface="Calibri" pitchFamily="34" charset="0"/>
                <a:ea typeface="Calibri" pitchFamily="34" charset="-122"/>
                <a:cs typeface="Calibri" pitchFamily="34" charset="-120"/>
              </a:rPr>
              <a:t>Held until end-of-service is settled: cancellation forms, ministry submission, residence cancellation.</a:t>
            </a:r>
            <a:endParaRPr lang="en-US" sz="1100" dirty="0"/>
          </a:p>
        </p:txBody>
      </p:sp>
      <p:pic>
        <p:nvPicPr>
          <p:cNvPr id="20" name="Image 0" descr="./img/home.jpg">    </p:cNvPr>
          <p:cNvPicPr>
            <a:picLocks noChangeAspect="1"/>
          </p:cNvPicPr>
          <p:nvPr/>
        </p:nvPicPr>
        <p:blipFill>
          <a:blip r:embed="rId1"/>
          <a:stretch>
            <a:fillRect/>
          </a:stretch>
        </p:blipFill>
        <p:spPr>
          <a:xfrm>
            <a:off x="5870448" y="1783080"/>
            <a:ext cx="5742432" cy="914400"/>
          </a:xfrm>
          <a:prstGeom prst="rect">
            <a:avLst/>
          </a:prstGeom>
          <a:effectLst>
            <a:outerShdw sx="100000" sy="100000" kx="0" ky="0" algn="bl" rotWithShape="0" blurRad="177800" dist="38100" dir="5400000">
              <a:srgbClr val="000000">
                <a:alpha val="20000"/>
              </a:srgbClr>
            </a:outerShdw>
          </a:effectLst>
        </p:spPr>
      </p:pic>
      <p:sp>
        <p:nvSpPr>
          <p:cNvPr id="21" name="Text 18"/>
          <p:cNvSpPr txBox="1"/>
          <p:nvPr/>
        </p:nvSpPr>
        <p:spPr>
          <a:xfrm>
            <a:off x="5870448" y="4526280"/>
            <a:ext cx="5742432" cy="457200"/>
          </a:xfrm>
          <a:prstGeom prst="rect">
            <a:avLst/>
          </a:prstGeom>
          <a:noFill/>
          <a:ln/>
        </p:spPr>
        <p:txBody>
          <a:bodyPr wrap="square" lIns="0" tIns="0" rIns="0" bIns="0" rtlCol="0" anchor="ctr"/>
          <a:lstStyle/>
          <a:p>
            <a:pPr indent="0" marL="0">
              <a:lnSpc>
                <a:spcPts val="1400"/>
              </a:lnSpc>
              <a:buNone/>
            </a:pPr>
            <a:r>
              <a:rPr lang="en-US" sz="1000" i="1" dirty="0">
                <a:solidFill>
                  <a:srgbClr val="5A6C82"/>
                </a:solidFill>
                <a:latin typeface="Calibri" pitchFamily="34" charset="0"/>
                <a:ea typeface="Calibri" pitchFamily="34" charset="-122"/>
                <a:cs typeface="Calibri" pitchFamily="34" charset="-120"/>
              </a:rPr>
              <a:t>The home dashboard — running, completed and cancelled counts across all three lifecycles, over a queue of initiated cases with priority, status and assigned agent.</a:t>
            </a:r>
            <a:endParaRPr lang="en-US" sz="1000" dirty="0"/>
          </a:p>
        </p:txBody>
      </p:sp>
      <p:sp>
        <p:nvSpPr>
          <p:cNvPr id="22" name="Shape 19"/>
          <p:cNvSpPr/>
          <p:nvPr/>
        </p:nvSpPr>
        <p:spPr>
          <a:xfrm>
            <a:off x="548640" y="5468112"/>
            <a:ext cx="2103120" cy="841248"/>
          </a:xfrm>
          <a:prstGeom prst="roundRect">
            <a:avLst>
              <a:gd name="adj" fmla="val 8696"/>
            </a:avLst>
          </a:prstGeom>
          <a:solidFill>
            <a:srgbClr val="FFFFFF"/>
          </a:solidFill>
          <a:ln w="9525">
            <a:solidFill>
              <a:srgbClr val="E3E7EA"/>
            </a:solidFill>
            <a:prstDash val="solid"/>
          </a:ln>
        </p:spPr>
      </p:sp>
      <p:sp>
        <p:nvSpPr>
          <p:cNvPr id="23" name="Text 20"/>
          <p:cNvSpPr txBox="1"/>
          <p:nvPr/>
        </p:nvSpPr>
        <p:spPr>
          <a:xfrm>
            <a:off x="713232" y="5577840"/>
            <a:ext cx="1773936" cy="201168"/>
          </a:xfrm>
          <a:prstGeom prst="rect">
            <a:avLst/>
          </a:prstGeom>
          <a:noFill/>
          <a:ln/>
        </p:spPr>
        <p:txBody>
          <a:bodyPr wrap="square" lIns="0" tIns="0" rIns="0" bIns="0" rtlCol="0" anchor="ctr"/>
          <a:lstStyle/>
          <a:p>
            <a:pPr indent="0" marL="0">
              <a:buNone/>
            </a:pPr>
            <a:r>
              <a:rPr lang="en-US" sz="950" b="1" spc="140" kern="0" dirty="0">
                <a:solidFill>
                  <a:srgbClr val="20A098"/>
                </a:solidFill>
                <a:latin typeface="Calibri" pitchFamily="34" charset="0"/>
                <a:ea typeface="Calibri" pitchFamily="34" charset="-122"/>
                <a:cs typeface="Calibri" pitchFamily="34" charset="-120"/>
              </a:rPr>
              <a:t>WORKFLOW</a:t>
            </a:r>
            <a:endParaRPr lang="en-US" sz="950" dirty="0"/>
          </a:p>
        </p:txBody>
      </p:sp>
      <p:sp>
        <p:nvSpPr>
          <p:cNvPr id="24" name="Text 21"/>
          <p:cNvSpPr txBox="1"/>
          <p:nvPr/>
        </p:nvSpPr>
        <p:spPr>
          <a:xfrm>
            <a:off x="713232" y="5779008"/>
            <a:ext cx="1773936" cy="475488"/>
          </a:xfrm>
          <a:prstGeom prst="rect">
            <a:avLst/>
          </a:prstGeom>
          <a:noFill/>
          <a:ln/>
        </p:spPr>
        <p:txBody>
          <a:bodyPr wrap="square" lIns="0" tIns="0" rIns="0" bIns="0" rtlCol="0" anchor="ctr"/>
          <a:lstStyle/>
          <a:p>
            <a:pPr indent="0" marL="0">
              <a:lnSpc>
                <a:spcPts val="1300"/>
              </a:lnSpc>
              <a:buNone/>
            </a:pPr>
            <a:r>
              <a:rPr lang="en-US" sz="950" dirty="0">
                <a:solidFill>
                  <a:srgbClr val="5A6C82"/>
                </a:solidFill>
                <a:latin typeface="Calibri" pitchFamily="34" charset="0"/>
                <a:ea typeface="Calibri" pitchFamily="34" charset="-122"/>
                <a:cs typeface="Calibri" pitchFamily="34" charset="-120"/>
              </a:rPr>
              <a:t>Configurable milestones per country and permit type</a:t>
            </a:r>
            <a:endParaRPr lang="en-US" sz="950" dirty="0"/>
          </a:p>
        </p:txBody>
      </p:sp>
      <p:sp>
        <p:nvSpPr>
          <p:cNvPr id="25" name="Shape 22"/>
          <p:cNvSpPr/>
          <p:nvPr/>
        </p:nvSpPr>
        <p:spPr>
          <a:xfrm>
            <a:off x="2834640" y="5468112"/>
            <a:ext cx="2103120" cy="841248"/>
          </a:xfrm>
          <a:prstGeom prst="roundRect">
            <a:avLst>
              <a:gd name="adj" fmla="val 8696"/>
            </a:avLst>
          </a:prstGeom>
          <a:solidFill>
            <a:srgbClr val="FFFFFF"/>
          </a:solidFill>
          <a:ln w="9525">
            <a:solidFill>
              <a:srgbClr val="E3E7EA"/>
            </a:solidFill>
            <a:prstDash val="solid"/>
          </a:ln>
        </p:spPr>
      </p:sp>
      <p:sp>
        <p:nvSpPr>
          <p:cNvPr id="26" name="Text 23"/>
          <p:cNvSpPr txBox="1"/>
          <p:nvPr/>
        </p:nvSpPr>
        <p:spPr>
          <a:xfrm>
            <a:off x="2999232" y="5577840"/>
            <a:ext cx="1773936" cy="201168"/>
          </a:xfrm>
          <a:prstGeom prst="rect">
            <a:avLst/>
          </a:prstGeom>
          <a:noFill/>
          <a:ln/>
        </p:spPr>
        <p:txBody>
          <a:bodyPr wrap="square" lIns="0" tIns="0" rIns="0" bIns="0" rtlCol="0" anchor="ctr"/>
          <a:lstStyle/>
          <a:p>
            <a:pPr indent="0" marL="0">
              <a:buNone/>
            </a:pPr>
            <a:r>
              <a:rPr lang="en-US" sz="950" b="1" spc="140" kern="0" dirty="0">
                <a:solidFill>
                  <a:srgbClr val="20A098"/>
                </a:solidFill>
                <a:latin typeface="Calibri" pitchFamily="34" charset="0"/>
                <a:ea typeface="Calibri" pitchFamily="34" charset="-122"/>
                <a:cs typeface="Calibri" pitchFamily="34" charset="-120"/>
              </a:rPr>
              <a:t>TASKS</a:t>
            </a:r>
            <a:endParaRPr lang="en-US" sz="950" dirty="0"/>
          </a:p>
        </p:txBody>
      </p:sp>
      <p:sp>
        <p:nvSpPr>
          <p:cNvPr id="27" name="Text 24"/>
          <p:cNvSpPr txBox="1"/>
          <p:nvPr/>
        </p:nvSpPr>
        <p:spPr>
          <a:xfrm>
            <a:off x="2999232" y="5779008"/>
            <a:ext cx="1773936" cy="475488"/>
          </a:xfrm>
          <a:prstGeom prst="rect">
            <a:avLst/>
          </a:prstGeom>
          <a:noFill/>
          <a:ln/>
        </p:spPr>
        <p:txBody>
          <a:bodyPr wrap="square" lIns="0" tIns="0" rIns="0" bIns="0" rtlCol="0" anchor="ctr"/>
          <a:lstStyle/>
          <a:p>
            <a:pPr indent="0" marL="0">
              <a:lnSpc>
                <a:spcPts val="1300"/>
              </a:lnSpc>
              <a:buNone/>
            </a:pPr>
            <a:r>
              <a:rPr lang="en-US" sz="950" dirty="0">
                <a:solidFill>
                  <a:srgbClr val="5A6C82"/>
                </a:solidFill>
                <a:latin typeface="Calibri" pitchFamily="34" charset="0"/>
                <a:ea typeface="Calibri" pitchFamily="34" charset="-122"/>
                <a:cs typeface="Calibri" pitchFamily="34" charset="-120"/>
              </a:rPr>
              <a:t>Owner, due date, reminders and escalation per step</a:t>
            </a:r>
            <a:endParaRPr lang="en-US" sz="950" dirty="0"/>
          </a:p>
        </p:txBody>
      </p:sp>
      <p:sp>
        <p:nvSpPr>
          <p:cNvPr id="28" name="Shape 25"/>
          <p:cNvSpPr/>
          <p:nvPr/>
        </p:nvSpPr>
        <p:spPr>
          <a:xfrm>
            <a:off x="5120640" y="5468112"/>
            <a:ext cx="2103120" cy="841248"/>
          </a:xfrm>
          <a:prstGeom prst="roundRect">
            <a:avLst>
              <a:gd name="adj" fmla="val 8696"/>
            </a:avLst>
          </a:prstGeom>
          <a:solidFill>
            <a:srgbClr val="FFFFFF"/>
          </a:solidFill>
          <a:ln w="9525">
            <a:solidFill>
              <a:srgbClr val="E3E7EA"/>
            </a:solidFill>
            <a:prstDash val="solid"/>
          </a:ln>
        </p:spPr>
      </p:sp>
      <p:sp>
        <p:nvSpPr>
          <p:cNvPr id="29" name="Text 26"/>
          <p:cNvSpPr txBox="1"/>
          <p:nvPr/>
        </p:nvSpPr>
        <p:spPr>
          <a:xfrm>
            <a:off x="5285232" y="5577840"/>
            <a:ext cx="1773936" cy="201168"/>
          </a:xfrm>
          <a:prstGeom prst="rect">
            <a:avLst/>
          </a:prstGeom>
          <a:noFill/>
          <a:ln/>
        </p:spPr>
        <p:txBody>
          <a:bodyPr wrap="square" lIns="0" tIns="0" rIns="0" bIns="0" rtlCol="0" anchor="ctr"/>
          <a:lstStyle/>
          <a:p>
            <a:pPr indent="0" marL="0">
              <a:buNone/>
            </a:pPr>
            <a:r>
              <a:rPr lang="en-US" sz="950" b="1" spc="140" kern="0" dirty="0">
                <a:solidFill>
                  <a:srgbClr val="20A098"/>
                </a:solidFill>
                <a:latin typeface="Calibri" pitchFamily="34" charset="0"/>
                <a:ea typeface="Calibri" pitchFamily="34" charset="-122"/>
                <a:cs typeface="Calibri" pitchFamily="34" charset="-120"/>
              </a:rPr>
              <a:t>DOCUMENTS</a:t>
            </a:r>
            <a:endParaRPr lang="en-US" sz="950" dirty="0"/>
          </a:p>
        </p:txBody>
      </p:sp>
      <p:sp>
        <p:nvSpPr>
          <p:cNvPr id="30" name="Text 27"/>
          <p:cNvSpPr txBox="1"/>
          <p:nvPr/>
        </p:nvSpPr>
        <p:spPr>
          <a:xfrm>
            <a:off x="5285232" y="5779008"/>
            <a:ext cx="1773936" cy="475488"/>
          </a:xfrm>
          <a:prstGeom prst="rect">
            <a:avLst/>
          </a:prstGeom>
          <a:noFill/>
          <a:ln/>
        </p:spPr>
        <p:txBody>
          <a:bodyPr wrap="square" lIns="0" tIns="0" rIns="0" bIns="0" rtlCol="0" anchor="ctr"/>
          <a:lstStyle/>
          <a:p>
            <a:pPr indent="0" marL="0">
              <a:lnSpc>
                <a:spcPts val="1300"/>
              </a:lnSpc>
              <a:buNone/>
            </a:pPr>
            <a:r>
              <a:rPr lang="en-US" sz="950" dirty="0">
                <a:solidFill>
                  <a:srgbClr val="5A6C82"/>
                </a:solidFill>
                <a:latin typeface="Calibri" pitchFamily="34" charset="0"/>
                <a:ea typeface="Calibri" pitchFamily="34" charset="-122"/>
                <a:cs typeface="Calibri" pitchFamily="34" charset="-120"/>
              </a:rPr>
              <a:t>Mandatory attachments before a step can close</a:t>
            </a:r>
            <a:endParaRPr lang="en-US" sz="950" dirty="0"/>
          </a:p>
        </p:txBody>
      </p:sp>
      <p:sp>
        <p:nvSpPr>
          <p:cNvPr id="31" name="Shape 28"/>
          <p:cNvSpPr/>
          <p:nvPr/>
        </p:nvSpPr>
        <p:spPr>
          <a:xfrm>
            <a:off x="7406640" y="5468112"/>
            <a:ext cx="2103120" cy="841248"/>
          </a:xfrm>
          <a:prstGeom prst="roundRect">
            <a:avLst>
              <a:gd name="adj" fmla="val 8696"/>
            </a:avLst>
          </a:prstGeom>
          <a:solidFill>
            <a:srgbClr val="FFFFFF"/>
          </a:solidFill>
          <a:ln w="9525">
            <a:solidFill>
              <a:srgbClr val="E3E7EA"/>
            </a:solidFill>
            <a:prstDash val="solid"/>
          </a:ln>
        </p:spPr>
      </p:sp>
      <p:sp>
        <p:nvSpPr>
          <p:cNvPr id="32" name="Text 29"/>
          <p:cNvSpPr txBox="1"/>
          <p:nvPr/>
        </p:nvSpPr>
        <p:spPr>
          <a:xfrm>
            <a:off x="7571232" y="5577840"/>
            <a:ext cx="1773936" cy="201168"/>
          </a:xfrm>
          <a:prstGeom prst="rect">
            <a:avLst/>
          </a:prstGeom>
          <a:noFill/>
          <a:ln/>
        </p:spPr>
        <p:txBody>
          <a:bodyPr wrap="square" lIns="0" tIns="0" rIns="0" bIns="0" rtlCol="0" anchor="ctr"/>
          <a:lstStyle/>
          <a:p>
            <a:pPr indent="0" marL="0">
              <a:buNone/>
            </a:pPr>
            <a:r>
              <a:rPr lang="en-US" sz="950" b="1" spc="140" kern="0" dirty="0">
                <a:solidFill>
                  <a:srgbClr val="20A098"/>
                </a:solidFill>
                <a:latin typeface="Calibri" pitchFamily="34" charset="0"/>
                <a:ea typeface="Calibri" pitchFamily="34" charset="-122"/>
                <a:cs typeface="Calibri" pitchFamily="34" charset="-120"/>
              </a:rPr>
              <a:t>PAYMENTS</a:t>
            </a:r>
            <a:endParaRPr lang="en-US" sz="950" dirty="0"/>
          </a:p>
        </p:txBody>
      </p:sp>
      <p:sp>
        <p:nvSpPr>
          <p:cNvPr id="33" name="Text 30"/>
          <p:cNvSpPr txBox="1"/>
          <p:nvPr/>
        </p:nvSpPr>
        <p:spPr>
          <a:xfrm>
            <a:off x="7571232" y="5779008"/>
            <a:ext cx="1773936" cy="475488"/>
          </a:xfrm>
          <a:prstGeom prst="rect">
            <a:avLst/>
          </a:prstGeom>
          <a:noFill/>
          <a:ln/>
        </p:spPr>
        <p:txBody>
          <a:bodyPr wrap="square" lIns="0" tIns="0" rIns="0" bIns="0" rtlCol="0" anchor="ctr"/>
          <a:lstStyle/>
          <a:p>
            <a:pPr indent="0" marL="0">
              <a:lnSpc>
                <a:spcPts val="1300"/>
              </a:lnSpc>
              <a:buNone/>
            </a:pPr>
            <a:r>
              <a:rPr lang="en-US" sz="950" dirty="0">
                <a:solidFill>
                  <a:srgbClr val="5A6C82"/>
                </a:solidFill>
                <a:latin typeface="Calibri" pitchFamily="34" charset="0"/>
                <a:ea typeface="Calibri" pitchFamily="34" charset="-122"/>
                <a:cs typeface="Calibri" pitchFamily="34" charset="-120"/>
              </a:rPr>
              <a:t>Amount, VAT, mode, reference, receipt and GL account</a:t>
            </a:r>
            <a:endParaRPr lang="en-US" sz="950" dirty="0"/>
          </a:p>
        </p:txBody>
      </p:sp>
      <p:sp>
        <p:nvSpPr>
          <p:cNvPr id="34" name="Shape 31"/>
          <p:cNvSpPr/>
          <p:nvPr/>
        </p:nvSpPr>
        <p:spPr>
          <a:xfrm>
            <a:off x="9692640" y="5468112"/>
            <a:ext cx="2103120" cy="841248"/>
          </a:xfrm>
          <a:prstGeom prst="roundRect">
            <a:avLst>
              <a:gd name="adj" fmla="val 8696"/>
            </a:avLst>
          </a:prstGeom>
          <a:solidFill>
            <a:srgbClr val="FFFFFF"/>
          </a:solidFill>
          <a:ln w="9525">
            <a:solidFill>
              <a:srgbClr val="E3E7EA"/>
            </a:solidFill>
            <a:prstDash val="solid"/>
          </a:ln>
        </p:spPr>
      </p:sp>
      <p:sp>
        <p:nvSpPr>
          <p:cNvPr id="35" name="Text 32"/>
          <p:cNvSpPr txBox="1"/>
          <p:nvPr/>
        </p:nvSpPr>
        <p:spPr>
          <a:xfrm>
            <a:off x="9857232" y="5577840"/>
            <a:ext cx="1773936" cy="201168"/>
          </a:xfrm>
          <a:prstGeom prst="rect">
            <a:avLst/>
          </a:prstGeom>
          <a:noFill/>
          <a:ln/>
        </p:spPr>
        <p:txBody>
          <a:bodyPr wrap="square" lIns="0" tIns="0" rIns="0" bIns="0" rtlCol="0" anchor="ctr"/>
          <a:lstStyle/>
          <a:p>
            <a:pPr indent="0" marL="0">
              <a:buNone/>
            </a:pPr>
            <a:r>
              <a:rPr lang="en-US" sz="950" b="1" spc="140" kern="0" dirty="0">
                <a:solidFill>
                  <a:srgbClr val="20A098"/>
                </a:solidFill>
                <a:latin typeface="Calibri" pitchFamily="34" charset="0"/>
                <a:ea typeface="Calibri" pitchFamily="34" charset="-122"/>
                <a:cs typeface="Calibri" pitchFamily="34" charset="-120"/>
              </a:rPr>
              <a:t>REPORTING</a:t>
            </a:r>
            <a:endParaRPr lang="en-US" sz="950" dirty="0"/>
          </a:p>
        </p:txBody>
      </p:sp>
      <p:sp>
        <p:nvSpPr>
          <p:cNvPr id="36" name="Text 33"/>
          <p:cNvSpPr txBox="1"/>
          <p:nvPr/>
        </p:nvSpPr>
        <p:spPr>
          <a:xfrm>
            <a:off x="9857232" y="5779008"/>
            <a:ext cx="1773936" cy="475488"/>
          </a:xfrm>
          <a:prstGeom prst="rect">
            <a:avLst/>
          </a:prstGeom>
          <a:noFill/>
          <a:ln/>
        </p:spPr>
        <p:txBody>
          <a:bodyPr wrap="square" lIns="0" tIns="0" rIns="0" bIns="0" rtlCol="0" anchor="ctr"/>
          <a:lstStyle/>
          <a:p>
            <a:pPr indent="0" marL="0">
              <a:lnSpc>
                <a:spcPts val="1300"/>
              </a:lnSpc>
              <a:buNone/>
            </a:pPr>
            <a:r>
              <a:rPr lang="en-US" sz="950" dirty="0">
                <a:solidFill>
                  <a:srgbClr val="5A6C82"/>
                </a:solidFill>
                <a:latin typeface="Calibri" pitchFamily="34" charset="0"/>
                <a:ea typeface="Calibri" pitchFamily="34" charset="-122"/>
                <a:cs typeface="Calibri" pitchFamily="34" charset="-120"/>
              </a:rPr>
              <a:t>Filterable, exportable reports per process and payment</a:t>
            </a:r>
            <a:endParaRPr lang="en-US" sz="950" dirty="0"/>
          </a:p>
        </p:txBody>
      </p:sp>
      <p:sp>
        <p:nvSpPr>
          <p:cNvPr id="37" name="Text 34"/>
          <p:cNvSpPr txBox="1"/>
          <p:nvPr/>
        </p:nvSpPr>
        <p:spPr>
          <a:xfrm>
            <a:off x="548640" y="6419088"/>
            <a:ext cx="8595360" cy="237744"/>
          </a:xfrm>
          <a:prstGeom prst="rect">
            <a:avLst/>
          </a:prstGeom>
          <a:noFill/>
          <a:ln/>
        </p:spPr>
        <p:txBody>
          <a:bodyPr wrap="square" lIns="0" tIns="0" rIns="0" bIns="0" rtlCol="0" anchor="ctr"/>
          <a:lstStyle/>
          <a:p>
            <a:pPr indent="0" marL="0">
              <a:buNone/>
            </a:pPr>
            <a:r>
              <a:rPr lang="en-US" sz="900" dirty="0">
                <a:solidFill>
                  <a:srgbClr val="96A3AE"/>
                </a:solidFill>
                <a:latin typeface="Calibri" pitchFamily="34" charset="0"/>
                <a:ea typeface="Calibri" pitchFamily="34" charset="-122"/>
                <a:cs typeface="Calibri" pitchFamily="34" charset="-120"/>
              </a:rPr>
              <a:t>INK IT Business Solutions  ·  Visa &amp; Permits Management on SAP BTP</a:t>
            </a:r>
            <a:endParaRPr lang="en-US" sz="900" dirty="0"/>
          </a:p>
        </p:txBody>
      </p:sp>
      <p:sp>
        <p:nvSpPr>
          <p:cNvPr id="38" name="Text 35"/>
          <p:cNvSpPr txBox="1"/>
          <p:nvPr/>
        </p:nvSpPr>
        <p:spPr>
          <a:xfrm>
            <a:off x="11155680" y="6419088"/>
            <a:ext cx="457200" cy="237744"/>
          </a:xfrm>
          <a:prstGeom prst="rect">
            <a:avLst/>
          </a:prstGeom>
          <a:noFill/>
          <a:ln/>
        </p:spPr>
        <p:txBody>
          <a:bodyPr wrap="square" lIns="0" tIns="0" rIns="0" bIns="0" rtlCol="0" anchor="ctr"/>
          <a:lstStyle/>
          <a:p>
            <a:pPr algn="r" indent="0" marL="0">
              <a:buNone/>
            </a:pPr>
            <a:r>
              <a:rPr lang="en-US" sz="900" dirty="0">
                <a:solidFill>
                  <a:srgbClr val="96A3AE"/>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02336"/>
            <a:ext cx="11064240" cy="237744"/>
          </a:xfrm>
          <a:prstGeom prst="rect">
            <a:avLst/>
          </a:prstGeom>
          <a:noFill/>
          <a:ln/>
        </p:spPr>
        <p:txBody>
          <a:bodyPr wrap="square" lIns="0" tIns="0" rIns="0" bIns="0" rtlCol="0" anchor="ctr"/>
          <a:lstStyle/>
          <a:p>
            <a:pPr indent="0" marL="0">
              <a:buNone/>
            </a:pPr>
            <a:r>
              <a:rPr lang="en-US" sz="1100" b="1" spc="220" kern="0" dirty="0">
                <a:solidFill>
                  <a:srgbClr val="20A098"/>
                </a:solidFill>
                <a:latin typeface="Calibri" pitchFamily="34" charset="0"/>
                <a:ea typeface="Calibri" pitchFamily="34" charset="-122"/>
                <a:cs typeface="Calibri" pitchFamily="34" charset="-120"/>
              </a:rPr>
              <a:t>PERSONA VIEW</a:t>
            </a:r>
            <a:endParaRPr lang="en-US" sz="1100" dirty="0"/>
          </a:p>
        </p:txBody>
      </p:sp>
      <p:sp>
        <p:nvSpPr>
          <p:cNvPr id="3" name="Text 1"/>
          <p:cNvSpPr txBox="1"/>
          <p:nvPr/>
        </p:nvSpPr>
        <p:spPr>
          <a:xfrm>
            <a:off x="548640" y="658368"/>
            <a:ext cx="11064240" cy="566928"/>
          </a:xfrm>
          <a:prstGeom prst="rect">
            <a:avLst/>
          </a:prstGeom>
          <a:noFill/>
          <a:ln/>
        </p:spPr>
        <p:txBody>
          <a:bodyPr wrap="square" lIns="0" tIns="0" rIns="0" bIns="0" rtlCol="0" anchor="ctr"/>
          <a:lstStyle/>
          <a:p>
            <a:pPr indent="0" marL="0">
              <a:buNone/>
            </a:pPr>
            <a:r>
              <a:rPr lang="en-US" sz="3000" b="1" dirty="0">
                <a:solidFill>
                  <a:srgbClr val="0C1E33"/>
                </a:solidFill>
                <a:latin typeface="Arial" pitchFamily="34" charset="0"/>
                <a:ea typeface="Arial" pitchFamily="34" charset="-122"/>
                <a:cs typeface="Arial" pitchFamily="34" charset="-120"/>
              </a:rPr>
              <a:t>Everyone gets their own to-do list.</a:t>
            </a:r>
            <a:endParaRPr lang="en-US" sz="3000" dirty="0"/>
          </a:p>
        </p:txBody>
      </p:sp>
      <p:sp>
        <p:nvSpPr>
          <p:cNvPr id="4" name="Text 2"/>
          <p:cNvSpPr txBox="1"/>
          <p:nvPr/>
        </p:nvSpPr>
        <p:spPr>
          <a:xfrm>
            <a:off x="548640" y="1243584"/>
            <a:ext cx="10424160" cy="420624"/>
          </a:xfrm>
          <a:prstGeom prst="rect">
            <a:avLst/>
          </a:prstGeom>
          <a:noFill/>
          <a:ln/>
        </p:spPr>
        <p:txBody>
          <a:bodyPr wrap="square" lIns="0" tIns="0" rIns="0" bIns="0" rtlCol="0" anchor="ctr"/>
          <a:lstStyle/>
          <a:p>
            <a:pPr indent="0" marL="0">
              <a:buNone/>
            </a:pPr>
            <a:r>
              <a:rPr lang="en-US" sz="1300" dirty="0">
                <a:solidFill>
                  <a:srgbClr val="5A6C82"/>
                </a:solidFill>
                <a:latin typeface="Calibri" pitchFamily="34" charset="0"/>
                <a:ea typeface="Calibri" pitchFamily="34" charset="-122"/>
                <a:cs typeface="Calibri" pitchFamily="34" charset="-120"/>
              </a:rPr>
              <a:t>Each role only sees what is actually theirs, with a due date on it. That is how the PRO desk, recruitment, onboarding and employee relations stay in step.</a:t>
            </a:r>
            <a:endParaRPr lang="en-US" sz="1300" dirty="0"/>
          </a:p>
        </p:txBody>
      </p:sp>
      <p:sp>
        <p:nvSpPr>
          <p:cNvPr id="5" name="Shape 3"/>
          <p:cNvSpPr/>
          <p:nvPr/>
        </p:nvSpPr>
        <p:spPr>
          <a:xfrm>
            <a:off x="548640" y="1828800"/>
            <a:ext cx="10424160" cy="548640"/>
          </a:xfrm>
          <a:prstGeom prst="roundRect">
            <a:avLst>
              <a:gd name="adj" fmla="val 10000"/>
            </a:avLst>
          </a:prstGeom>
          <a:solidFill>
            <a:srgbClr val="F4F6F7"/>
          </a:solidFill>
          <a:ln w="7620">
            <a:solidFill>
              <a:srgbClr val="E3E7EA"/>
            </a:solidFill>
            <a:prstDash val="solid"/>
          </a:ln>
        </p:spPr>
      </p:sp>
      <p:sp>
        <p:nvSpPr>
          <p:cNvPr id="6" name="Shape 4"/>
          <p:cNvSpPr/>
          <p:nvPr/>
        </p:nvSpPr>
        <p:spPr>
          <a:xfrm>
            <a:off x="694944" y="1929384"/>
            <a:ext cx="347472" cy="347472"/>
          </a:xfrm>
          <a:prstGeom prst="ellipse">
            <a:avLst/>
          </a:prstGeom>
          <a:solidFill>
            <a:srgbClr val="20A098"/>
          </a:solidFill>
          <a:ln/>
        </p:spPr>
      </p:sp>
      <p:sp>
        <p:nvSpPr>
          <p:cNvPr id="7" name="Text 5"/>
          <p:cNvSpPr txBox="1"/>
          <p:nvPr/>
        </p:nvSpPr>
        <p:spPr>
          <a:xfrm>
            <a:off x="694944" y="1929384"/>
            <a:ext cx="347472" cy="347472"/>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GRO</a:t>
            </a:r>
            <a:endParaRPr lang="en-US" sz="1050" dirty="0"/>
          </a:p>
        </p:txBody>
      </p:sp>
      <p:sp>
        <p:nvSpPr>
          <p:cNvPr id="8" name="Text 6"/>
          <p:cNvSpPr txBox="1"/>
          <p:nvPr/>
        </p:nvSpPr>
        <p:spPr>
          <a:xfrm>
            <a:off x="1152144" y="1883664"/>
            <a:ext cx="1965960" cy="219456"/>
          </a:xfrm>
          <a:prstGeom prst="rect">
            <a:avLst/>
          </a:prstGeom>
          <a:noFill/>
          <a:ln/>
        </p:spPr>
        <p:txBody>
          <a:bodyPr wrap="square" lIns="0" tIns="0" rIns="0" bIns="0" rtlCol="0" anchor="ctr"/>
          <a:lstStyle/>
          <a:p>
            <a:pPr indent="0" marL="0">
              <a:buNone/>
            </a:pPr>
            <a:r>
              <a:rPr lang="en-US" sz="1100" b="1" dirty="0">
                <a:solidFill>
                  <a:srgbClr val="0C1E33"/>
                </a:solidFill>
                <a:latin typeface="Arial" pitchFamily="34" charset="0"/>
                <a:ea typeface="Arial" pitchFamily="34" charset="-122"/>
                <a:cs typeface="Arial" pitchFamily="34" charset="-120"/>
              </a:rPr>
              <a:t>Government Relations</a:t>
            </a:r>
            <a:endParaRPr lang="en-US" sz="1100" dirty="0"/>
          </a:p>
        </p:txBody>
      </p:sp>
      <p:sp>
        <p:nvSpPr>
          <p:cNvPr id="9" name="Text 7"/>
          <p:cNvSpPr txBox="1"/>
          <p:nvPr/>
        </p:nvSpPr>
        <p:spPr>
          <a:xfrm>
            <a:off x="1152144" y="2103120"/>
            <a:ext cx="1965960" cy="182880"/>
          </a:xfrm>
          <a:prstGeom prst="rect">
            <a:avLst/>
          </a:prstGeom>
          <a:noFill/>
          <a:ln/>
        </p:spPr>
        <p:txBody>
          <a:bodyPr wrap="square" lIns="0" tIns="0" rIns="0" bIns="0" rtlCol="0" anchor="ctr"/>
          <a:lstStyle/>
          <a:p>
            <a:pPr indent="0" marL="0">
              <a:buNone/>
            </a:pPr>
            <a:r>
              <a:rPr lang="en-US" sz="900" dirty="0">
                <a:solidFill>
                  <a:srgbClr val="12756F"/>
                </a:solidFill>
                <a:latin typeface="Calibri" pitchFamily="34" charset="0"/>
                <a:ea typeface="Calibri" pitchFamily="34" charset="-122"/>
                <a:cs typeface="Calibri" pitchFamily="34" charset="-120"/>
              </a:rPr>
              <a:t>PRO desk · GRO</a:t>
            </a:r>
            <a:endParaRPr lang="en-US" sz="900" dirty="0"/>
          </a:p>
        </p:txBody>
      </p:sp>
      <p:sp>
        <p:nvSpPr>
          <p:cNvPr id="10" name="Text 8"/>
          <p:cNvSpPr txBox="1"/>
          <p:nvPr/>
        </p:nvSpPr>
        <p:spPr>
          <a:xfrm>
            <a:off x="3246120" y="1883664"/>
            <a:ext cx="4846320" cy="438912"/>
          </a:xfrm>
          <a:prstGeom prst="rect">
            <a:avLst/>
          </a:prstGeom>
          <a:noFill/>
          <a:ln/>
        </p:spPr>
        <p:txBody>
          <a:bodyPr wrap="square" lIns="0" tIns="0" rIns="0" bIns="0" rtlCol="0" anchor="ctr"/>
          <a:lstStyle/>
          <a:p>
            <a:pPr indent="0" marL="0">
              <a:lnSpc>
                <a:spcPts val="1250"/>
              </a:lnSpc>
              <a:buNone/>
            </a:pPr>
            <a:r>
              <a:rPr lang="en-US" sz="950" dirty="0">
                <a:solidFill>
                  <a:srgbClr val="5A6C82"/>
                </a:solidFill>
                <a:latin typeface="Calibri" pitchFamily="34" charset="0"/>
                <a:ea typeface="Calibri" pitchFamily="34" charset="-122"/>
                <a:cs typeface="Calibri" pitchFamily="34" charset="-120"/>
              </a:rPr>
              <a:t>Claims cases from the queue; files MOHRE / Qiwa applications; records every payment and receipt; books medicals and biometrics; tracks stamping to ID collection; maintains quota.</a:t>
            </a:r>
            <a:endParaRPr lang="en-US" sz="950" dirty="0"/>
          </a:p>
        </p:txBody>
      </p:sp>
      <p:sp>
        <p:nvSpPr>
          <p:cNvPr id="11" name="Text 9"/>
          <p:cNvSpPr txBox="1"/>
          <p:nvPr/>
        </p:nvSpPr>
        <p:spPr>
          <a:xfrm>
            <a:off x="8229600" y="1883664"/>
            <a:ext cx="2615184" cy="438912"/>
          </a:xfrm>
          <a:prstGeom prst="rect">
            <a:avLst/>
          </a:prstGeom>
          <a:noFill/>
          <a:ln/>
        </p:spPr>
        <p:txBody>
          <a:bodyPr wrap="square" lIns="0" tIns="0" rIns="0" bIns="0" rtlCol="0" anchor="ctr"/>
          <a:lstStyle/>
          <a:p>
            <a:pPr indent="0" marL="0">
              <a:lnSpc>
                <a:spcPts val="1250"/>
              </a:lnSpc>
              <a:buNone/>
            </a:pPr>
            <a:r>
              <a:rPr lang="en-US" sz="950" b="1" i="1" dirty="0">
                <a:solidFill>
                  <a:srgbClr val="17795E"/>
                </a:solidFill>
                <a:latin typeface="Calibri" pitchFamily="34" charset="0"/>
                <a:ea typeface="Calibri" pitchFamily="34" charset="-122"/>
                <a:cs typeface="Calibri" pitchFamily="34" charset="-120"/>
              </a:rPr>
              <a:t>A queue with priorities, due dates and proof of what was done.</a:t>
            </a:r>
            <a:endParaRPr lang="en-US" sz="950" dirty="0"/>
          </a:p>
        </p:txBody>
      </p:sp>
      <p:sp>
        <p:nvSpPr>
          <p:cNvPr id="12" name="Shape 10"/>
          <p:cNvSpPr/>
          <p:nvPr/>
        </p:nvSpPr>
        <p:spPr>
          <a:xfrm>
            <a:off x="548640" y="2414016"/>
            <a:ext cx="10424160" cy="548640"/>
          </a:xfrm>
          <a:prstGeom prst="roundRect">
            <a:avLst>
              <a:gd name="adj" fmla="val 10000"/>
            </a:avLst>
          </a:prstGeom>
          <a:solidFill>
            <a:srgbClr val="FFFFFF"/>
          </a:solidFill>
          <a:ln w="7620">
            <a:solidFill>
              <a:srgbClr val="E3E7EA"/>
            </a:solidFill>
            <a:prstDash val="solid"/>
          </a:ln>
        </p:spPr>
      </p:sp>
      <p:sp>
        <p:nvSpPr>
          <p:cNvPr id="13" name="Shape 11"/>
          <p:cNvSpPr/>
          <p:nvPr/>
        </p:nvSpPr>
        <p:spPr>
          <a:xfrm>
            <a:off x="694944" y="2514600"/>
            <a:ext cx="347472" cy="347472"/>
          </a:xfrm>
          <a:prstGeom prst="ellipse">
            <a:avLst/>
          </a:prstGeom>
          <a:solidFill>
            <a:srgbClr val="12756F"/>
          </a:solidFill>
          <a:ln/>
        </p:spPr>
      </p:sp>
      <p:sp>
        <p:nvSpPr>
          <p:cNvPr id="14" name="Text 12"/>
          <p:cNvSpPr txBox="1"/>
          <p:nvPr/>
        </p:nvSpPr>
        <p:spPr>
          <a:xfrm>
            <a:off x="694944" y="2514600"/>
            <a:ext cx="347472" cy="347472"/>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TA</a:t>
            </a:r>
            <a:endParaRPr lang="en-US" sz="1050" dirty="0"/>
          </a:p>
        </p:txBody>
      </p:sp>
      <p:sp>
        <p:nvSpPr>
          <p:cNvPr id="15" name="Text 13"/>
          <p:cNvSpPr txBox="1"/>
          <p:nvPr/>
        </p:nvSpPr>
        <p:spPr>
          <a:xfrm>
            <a:off x="1152144" y="2468880"/>
            <a:ext cx="1965960" cy="219456"/>
          </a:xfrm>
          <a:prstGeom prst="rect">
            <a:avLst/>
          </a:prstGeom>
          <a:noFill/>
          <a:ln/>
        </p:spPr>
        <p:txBody>
          <a:bodyPr wrap="square" lIns="0" tIns="0" rIns="0" bIns="0" rtlCol="0" anchor="ctr"/>
          <a:lstStyle/>
          <a:p>
            <a:pPr indent="0" marL="0">
              <a:buNone/>
            </a:pPr>
            <a:r>
              <a:rPr lang="en-US" sz="1100" b="1" dirty="0">
                <a:solidFill>
                  <a:srgbClr val="0C1E33"/>
                </a:solidFill>
                <a:latin typeface="Arial" pitchFamily="34" charset="0"/>
                <a:ea typeface="Arial" pitchFamily="34" charset="-122"/>
                <a:cs typeface="Arial" pitchFamily="34" charset="-120"/>
              </a:rPr>
              <a:t>Recruiter</a:t>
            </a:r>
            <a:endParaRPr lang="en-US" sz="1100" dirty="0"/>
          </a:p>
        </p:txBody>
      </p:sp>
      <p:sp>
        <p:nvSpPr>
          <p:cNvPr id="16" name="Text 14"/>
          <p:cNvSpPr txBox="1"/>
          <p:nvPr/>
        </p:nvSpPr>
        <p:spPr>
          <a:xfrm>
            <a:off x="1152144" y="2688336"/>
            <a:ext cx="1965960" cy="182880"/>
          </a:xfrm>
          <a:prstGeom prst="rect">
            <a:avLst/>
          </a:prstGeom>
          <a:noFill/>
          <a:ln/>
        </p:spPr>
        <p:txBody>
          <a:bodyPr wrap="square" lIns="0" tIns="0" rIns="0" bIns="0" rtlCol="0" anchor="ctr"/>
          <a:lstStyle/>
          <a:p>
            <a:pPr indent="0" marL="0">
              <a:buNone/>
            </a:pPr>
            <a:r>
              <a:rPr lang="en-US" sz="900" dirty="0">
                <a:solidFill>
                  <a:srgbClr val="12756F"/>
                </a:solidFill>
                <a:latin typeface="Calibri" pitchFamily="34" charset="0"/>
                <a:ea typeface="Calibri" pitchFamily="34" charset="-122"/>
                <a:cs typeface="Calibri" pitchFamily="34" charset="-120"/>
              </a:rPr>
              <a:t>Talent acquisition</a:t>
            </a:r>
            <a:endParaRPr lang="en-US" sz="900" dirty="0"/>
          </a:p>
        </p:txBody>
      </p:sp>
      <p:sp>
        <p:nvSpPr>
          <p:cNvPr id="17" name="Text 15"/>
          <p:cNvSpPr txBox="1"/>
          <p:nvPr/>
        </p:nvSpPr>
        <p:spPr>
          <a:xfrm>
            <a:off x="3246120" y="2468880"/>
            <a:ext cx="4846320" cy="438912"/>
          </a:xfrm>
          <a:prstGeom prst="rect">
            <a:avLst/>
          </a:prstGeom>
          <a:noFill/>
          <a:ln/>
        </p:spPr>
        <p:txBody>
          <a:bodyPr wrap="square" lIns="0" tIns="0" rIns="0" bIns="0" rtlCol="0" anchor="ctr"/>
          <a:lstStyle/>
          <a:p>
            <a:pPr indent="0" marL="0">
              <a:lnSpc>
                <a:spcPts val="1250"/>
              </a:lnSpc>
              <a:buNone/>
            </a:pPr>
            <a:r>
              <a:rPr lang="en-US" sz="950" dirty="0">
                <a:solidFill>
                  <a:srgbClr val="5A6C82"/>
                </a:solidFill>
                <a:latin typeface="Calibri" pitchFamily="34" charset="0"/>
                <a:ea typeface="Calibri" pitchFamily="34" charset="-122"/>
                <a:cs typeface="Calibri" pitchFamily="34" charset="-120"/>
              </a:rPr>
              <a:t>Completes the candidate file and document checklist; releases accepted candidates into the permit process; aligns profession and work-location codes with the PRO.</a:t>
            </a:r>
            <a:endParaRPr lang="en-US" sz="950" dirty="0"/>
          </a:p>
        </p:txBody>
      </p:sp>
      <p:sp>
        <p:nvSpPr>
          <p:cNvPr id="18" name="Text 16"/>
          <p:cNvSpPr txBox="1"/>
          <p:nvPr/>
        </p:nvSpPr>
        <p:spPr>
          <a:xfrm>
            <a:off x="8229600" y="2468880"/>
            <a:ext cx="2615184" cy="438912"/>
          </a:xfrm>
          <a:prstGeom prst="rect">
            <a:avLst/>
          </a:prstGeom>
          <a:noFill/>
          <a:ln/>
        </p:spPr>
        <p:txBody>
          <a:bodyPr wrap="square" lIns="0" tIns="0" rIns="0" bIns="0" rtlCol="0" anchor="ctr"/>
          <a:lstStyle/>
          <a:p>
            <a:pPr indent="0" marL="0">
              <a:lnSpc>
                <a:spcPts val="1250"/>
              </a:lnSpc>
              <a:buNone/>
            </a:pPr>
            <a:r>
              <a:rPr lang="en-US" sz="950" b="1" i="1" dirty="0">
                <a:solidFill>
                  <a:srgbClr val="17795E"/>
                </a:solidFill>
                <a:latin typeface="Calibri" pitchFamily="34" charset="0"/>
                <a:ea typeface="Calibri" pitchFamily="34" charset="-122"/>
                <a:cs typeface="Calibri" pitchFamily="34" charset="-120"/>
              </a:rPr>
              <a:t>Joining dates based on real progress, not optimism.</a:t>
            </a:r>
            <a:endParaRPr lang="en-US" sz="950" dirty="0"/>
          </a:p>
        </p:txBody>
      </p:sp>
      <p:sp>
        <p:nvSpPr>
          <p:cNvPr id="19" name="Shape 17"/>
          <p:cNvSpPr/>
          <p:nvPr/>
        </p:nvSpPr>
        <p:spPr>
          <a:xfrm>
            <a:off x="548640" y="2999232"/>
            <a:ext cx="10424160" cy="548640"/>
          </a:xfrm>
          <a:prstGeom prst="roundRect">
            <a:avLst>
              <a:gd name="adj" fmla="val 10000"/>
            </a:avLst>
          </a:prstGeom>
          <a:solidFill>
            <a:srgbClr val="F4F6F7"/>
          </a:solidFill>
          <a:ln w="7620">
            <a:solidFill>
              <a:srgbClr val="E3E7EA"/>
            </a:solidFill>
            <a:prstDash val="solid"/>
          </a:ln>
        </p:spPr>
      </p:sp>
      <p:sp>
        <p:nvSpPr>
          <p:cNvPr id="20" name="Shape 18"/>
          <p:cNvSpPr/>
          <p:nvPr/>
        </p:nvSpPr>
        <p:spPr>
          <a:xfrm>
            <a:off x="694944" y="3099816"/>
            <a:ext cx="347472" cy="347472"/>
          </a:xfrm>
          <a:prstGeom prst="ellipse">
            <a:avLst/>
          </a:prstGeom>
          <a:solidFill>
            <a:srgbClr val="20A098"/>
          </a:solidFill>
          <a:ln/>
        </p:spPr>
      </p:sp>
      <p:sp>
        <p:nvSpPr>
          <p:cNvPr id="21" name="Text 19"/>
          <p:cNvSpPr txBox="1"/>
          <p:nvPr/>
        </p:nvSpPr>
        <p:spPr>
          <a:xfrm>
            <a:off x="694944" y="3099816"/>
            <a:ext cx="347472" cy="347472"/>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OB</a:t>
            </a:r>
            <a:endParaRPr lang="en-US" sz="1050" dirty="0"/>
          </a:p>
        </p:txBody>
      </p:sp>
      <p:sp>
        <p:nvSpPr>
          <p:cNvPr id="22" name="Text 20"/>
          <p:cNvSpPr txBox="1"/>
          <p:nvPr/>
        </p:nvSpPr>
        <p:spPr>
          <a:xfrm>
            <a:off x="1152144" y="3054096"/>
            <a:ext cx="1965960" cy="219456"/>
          </a:xfrm>
          <a:prstGeom prst="rect">
            <a:avLst/>
          </a:prstGeom>
          <a:noFill/>
          <a:ln/>
        </p:spPr>
        <p:txBody>
          <a:bodyPr wrap="square" lIns="0" tIns="0" rIns="0" bIns="0" rtlCol="0" anchor="ctr"/>
          <a:lstStyle/>
          <a:p>
            <a:pPr indent="0" marL="0">
              <a:buNone/>
            </a:pPr>
            <a:r>
              <a:rPr lang="en-US" sz="1100" b="1" dirty="0">
                <a:solidFill>
                  <a:srgbClr val="0C1E33"/>
                </a:solidFill>
                <a:latin typeface="Arial" pitchFamily="34" charset="0"/>
                <a:ea typeface="Arial" pitchFamily="34" charset="-122"/>
                <a:cs typeface="Arial" pitchFamily="34" charset="-120"/>
              </a:rPr>
              <a:t>Onboarding Coordinator</a:t>
            </a:r>
            <a:endParaRPr lang="en-US" sz="1100" dirty="0"/>
          </a:p>
        </p:txBody>
      </p:sp>
      <p:sp>
        <p:nvSpPr>
          <p:cNvPr id="23" name="Text 21"/>
          <p:cNvSpPr txBox="1"/>
          <p:nvPr/>
        </p:nvSpPr>
        <p:spPr>
          <a:xfrm>
            <a:off x="1152144" y="3273552"/>
            <a:ext cx="1965960" cy="182880"/>
          </a:xfrm>
          <a:prstGeom prst="rect">
            <a:avLst/>
          </a:prstGeom>
          <a:noFill/>
          <a:ln/>
        </p:spPr>
        <p:txBody>
          <a:bodyPr wrap="square" lIns="0" tIns="0" rIns="0" bIns="0" rtlCol="0" anchor="ctr"/>
          <a:lstStyle/>
          <a:p>
            <a:pPr indent="0" marL="0">
              <a:buNone/>
            </a:pPr>
            <a:r>
              <a:rPr lang="en-US" sz="900" dirty="0">
                <a:solidFill>
                  <a:srgbClr val="12756F"/>
                </a:solidFill>
                <a:latin typeface="Calibri" pitchFamily="34" charset="0"/>
                <a:ea typeface="Calibri" pitchFamily="34" charset="-122"/>
                <a:cs typeface="Calibri" pitchFamily="34" charset="-120"/>
              </a:rPr>
              <a:t>Employee relations</a:t>
            </a:r>
            <a:endParaRPr lang="en-US" sz="900" dirty="0"/>
          </a:p>
        </p:txBody>
      </p:sp>
      <p:sp>
        <p:nvSpPr>
          <p:cNvPr id="24" name="Text 22"/>
          <p:cNvSpPr txBox="1"/>
          <p:nvPr/>
        </p:nvSpPr>
        <p:spPr>
          <a:xfrm>
            <a:off x="3246120" y="3054096"/>
            <a:ext cx="4846320" cy="438912"/>
          </a:xfrm>
          <a:prstGeom prst="rect">
            <a:avLst/>
          </a:prstGeom>
          <a:noFill/>
          <a:ln/>
        </p:spPr>
        <p:txBody>
          <a:bodyPr wrap="square" lIns="0" tIns="0" rIns="0" bIns="0" rtlCol="0" anchor="ctr"/>
          <a:lstStyle/>
          <a:p>
            <a:pPr indent="0" marL="0">
              <a:lnSpc>
                <a:spcPts val="1250"/>
              </a:lnSpc>
              <a:buNone/>
            </a:pPr>
            <a:r>
              <a:rPr lang="en-US" sz="950" dirty="0">
                <a:solidFill>
                  <a:srgbClr val="5A6C82"/>
                </a:solidFill>
                <a:latin typeface="Calibri" pitchFamily="34" charset="0"/>
                <a:ea typeface="Calibri" pitchFamily="34" charset="-122"/>
                <a:cs typeface="Calibri" pitchFamily="34" charset="-120"/>
              </a:rPr>
              <a:t>Initiates the permit; checks quota; chases signed offers, contracts and medical receipts; sends biometric appointments; handles national-hire pension steps.</a:t>
            </a:r>
            <a:endParaRPr lang="en-US" sz="950" dirty="0"/>
          </a:p>
        </p:txBody>
      </p:sp>
      <p:sp>
        <p:nvSpPr>
          <p:cNvPr id="25" name="Text 23"/>
          <p:cNvSpPr txBox="1"/>
          <p:nvPr/>
        </p:nvSpPr>
        <p:spPr>
          <a:xfrm>
            <a:off x="8229600" y="3054096"/>
            <a:ext cx="2615184" cy="438912"/>
          </a:xfrm>
          <a:prstGeom prst="rect">
            <a:avLst/>
          </a:prstGeom>
          <a:noFill/>
          <a:ln/>
        </p:spPr>
        <p:txBody>
          <a:bodyPr wrap="square" lIns="0" tIns="0" rIns="0" bIns="0" rtlCol="0" anchor="ctr"/>
          <a:lstStyle/>
          <a:p>
            <a:pPr indent="0" marL="0">
              <a:lnSpc>
                <a:spcPts val="1250"/>
              </a:lnSpc>
              <a:buNone/>
            </a:pPr>
            <a:r>
              <a:rPr lang="en-US" sz="950" b="1" i="1" dirty="0">
                <a:solidFill>
                  <a:srgbClr val="17795E"/>
                </a:solidFill>
                <a:latin typeface="Calibri" pitchFamily="34" charset="0"/>
                <a:ea typeface="Calibri" pitchFamily="34" charset="-122"/>
                <a:cs typeface="Calibri" pitchFamily="34" charset="-120"/>
              </a:rPr>
              <a:t>No joiner arrives without the paperwork that makes them legal.</a:t>
            </a:r>
            <a:endParaRPr lang="en-US" sz="950" dirty="0"/>
          </a:p>
        </p:txBody>
      </p:sp>
      <p:sp>
        <p:nvSpPr>
          <p:cNvPr id="26" name="Shape 24"/>
          <p:cNvSpPr/>
          <p:nvPr/>
        </p:nvSpPr>
        <p:spPr>
          <a:xfrm>
            <a:off x="548640" y="3584448"/>
            <a:ext cx="10424160" cy="548640"/>
          </a:xfrm>
          <a:prstGeom prst="roundRect">
            <a:avLst>
              <a:gd name="adj" fmla="val 10000"/>
            </a:avLst>
          </a:prstGeom>
          <a:solidFill>
            <a:srgbClr val="FFFFFF"/>
          </a:solidFill>
          <a:ln w="7620">
            <a:solidFill>
              <a:srgbClr val="E3E7EA"/>
            </a:solidFill>
            <a:prstDash val="solid"/>
          </a:ln>
        </p:spPr>
      </p:sp>
      <p:sp>
        <p:nvSpPr>
          <p:cNvPr id="27" name="Shape 25"/>
          <p:cNvSpPr/>
          <p:nvPr/>
        </p:nvSpPr>
        <p:spPr>
          <a:xfrm>
            <a:off x="694944" y="3685032"/>
            <a:ext cx="347472" cy="347472"/>
          </a:xfrm>
          <a:prstGeom prst="ellipse">
            <a:avLst/>
          </a:prstGeom>
          <a:solidFill>
            <a:srgbClr val="12756F"/>
          </a:solidFill>
          <a:ln/>
        </p:spPr>
      </p:sp>
      <p:sp>
        <p:nvSpPr>
          <p:cNvPr id="28" name="Text 26"/>
          <p:cNvSpPr txBox="1"/>
          <p:nvPr/>
        </p:nvSpPr>
        <p:spPr>
          <a:xfrm>
            <a:off x="694944" y="3685032"/>
            <a:ext cx="347472" cy="347472"/>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BP</a:t>
            </a:r>
            <a:endParaRPr lang="en-US" sz="1050" dirty="0"/>
          </a:p>
        </p:txBody>
      </p:sp>
      <p:sp>
        <p:nvSpPr>
          <p:cNvPr id="29" name="Text 27"/>
          <p:cNvSpPr txBox="1"/>
          <p:nvPr/>
        </p:nvSpPr>
        <p:spPr>
          <a:xfrm>
            <a:off x="1152144" y="3639312"/>
            <a:ext cx="1965960" cy="219456"/>
          </a:xfrm>
          <a:prstGeom prst="rect">
            <a:avLst/>
          </a:prstGeom>
          <a:noFill/>
          <a:ln/>
        </p:spPr>
        <p:txBody>
          <a:bodyPr wrap="square" lIns="0" tIns="0" rIns="0" bIns="0" rtlCol="0" anchor="ctr"/>
          <a:lstStyle/>
          <a:p>
            <a:pPr indent="0" marL="0">
              <a:buNone/>
            </a:pPr>
            <a:r>
              <a:rPr lang="en-US" sz="1100" b="1" dirty="0">
                <a:solidFill>
                  <a:srgbClr val="0C1E33"/>
                </a:solidFill>
                <a:latin typeface="Arial" pitchFamily="34" charset="0"/>
                <a:ea typeface="Arial" pitchFamily="34" charset="-122"/>
                <a:cs typeface="Arial" pitchFamily="34" charset="-120"/>
              </a:rPr>
              <a:t>HR Business Partner</a:t>
            </a:r>
            <a:endParaRPr lang="en-US" sz="1100" dirty="0"/>
          </a:p>
        </p:txBody>
      </p:sp>
      <p:sp>
        <p:nvSpPr>
          <p:cNvPr id="30" name="Text 28"/>
          <p:cNvSpPr txBox="1"/>
          <p:nvPr/>
        </p:nvSpPr>
        <p:spPr>
          <a:xfrm>
            <a:off x="1152144" y="3858768"/>
            <a:ext cx="1965960" cy="182880"/>
          </a:xfrm>
          <a:prstGeom prst="rect">
            <a:avLst/>
          </a:prstGeom>
          <a:noFill/>
          <a:ln/>
        </p:spPr>
        <p:txBody>
          <a:bodyPr wrap="square" lIns="0" tIns="0" rIns="0" bIns="0" rtlCol="0" anchor="ctr"/>
          <a:lstStyle/>
          <a:p>
            <a:pPr indent="0" marL="0">
              <a:buNone/>
            </a:pPr>
            <a:r>
              <a:rPr lang="en-US" sz="900" dirty="0">
                <a:solidFill>
                  <a:srgbClr val="12756F"/>
                </a:solidFill>
                <a:latin typeface="Calibri" pitchFamily="34" charset="0"/>
                <a:ea typeface="Calibri" pitchFamily="34" charset="-122"/>
                <a:cs typeface="Calibri" pitchFamily="34" charset="-120"/>
              </a:rPr>
              <a:t>Employee relations</a:t>
            </a:r>
            <a:endParaRPr lang="en-US" sz="900" dirty="0"/>
          </a:p>
        </p:txBody>
      </p:sp>
      <p:sp>
        <p:nvSpPr>
          <p:cNvPr id="31" name="Text 29"/>
          <p:cNvSpPr txBox="1"/>
          <p:nvPr/>
        </p:nvSpPr>
        <p:spPr>
          <a:xfrm>
            <a:off x="3246120" y="3639312"/>
            <a:ext cx="4846320" cy="438912"/>
          </a:xfrm>
          <a:prstGeom prst="rect">
            <a:avLst/>
          </a:prstGeom>
          <a:noFill/>
          <a:ln/>
        </p:spPr>
        <p:txBody>
          <a:bodyPr wrap="square" lIns="0" tIns="0" rIns="0" bIns="0" rtlCol="0" anchor="ctr"/>
          <a:lstStyle/>
          <a:p>
            <a:pPr indent="0" marL="0">
              <a:lnSpc>
                <a:spcPts val="1250"/>
              </a:lnSpc>
              <a:buNone/>
            </a:pPr>
            <a:r>
              <a:rPr lang="en-US" sz="950" dirty="0">
                <a:solidFill>
                  <a:srgbClr val="5A6C82"/>
                </a:solidFill>
                <a:latin typeface="Calibri" pitchFamily="34" charset="0"/>
                <a:ea typeface="Calibri" pitchFamily="34" charset="-122"/>
                <a:cs typeface="Calibri" pitchFamily="34" charset="-120"/>
              </a:rPr>
              <a:t>Verifies renewal contracts; approves visa allocation for senior grades; initiates cancellation after end-of-service; reviews fines before payroll deduction.</a:t>
            </a:r>
            <a:endParaRPr lang="en-US" sz="950" dirty="0"/>
          </a:p>
        </p:txBody>
      </p:sp>
      <p:sp>
        <p:nvSpPr>
          <p:cNvPr id="32" name="Text 30"/>
          <p:cNvSpPr txBox="1"/>
          <p:nvPr/>
        </p:nvSpPr>
        <p:spPr>
          <a:xfrm>
            <a:off x="8229600" y="3639312"/>
            <a:ext cx="2615184" cy="438912"/>
          </a:xfrm>
          <a:prstGeom prst="rect">
            <a:avLst/>
          </a:prstGeom>
          <a:noFill/>
          <a:ln/>
        </p:spPr>
        <p:txBody>
          <a:bodyPr wrap="square" lIns="0" tIns="0" rIns="0" bIns="0" rtlCol="0" anchor="ctr"/>
          <a:lstStyle/>
          <a:p>
            <a:pPr indent="0" marL="0">
              <a:lnSpc>
                <a:spcPts val="1250"/>
              </a:lnSpc>
              <a:buNone/>
            </a:pPr>
            <a:r>
              <a:rPr lang="en-US" sz="950" b="1" i="1" dirty="0">
                <a:solidFill>
                  <a:srgbClr val="17795E"/>
                </a:solidFill>
                <a:latin typeface="Calibri" pitchFamily="34" charset="0"/>
                <a:ea typeface="Calibri" pitchFamily="34" charset="-122"/>
                <a:cs typeface="Calibri" pitchFamily="34" charset="-120"/>
              </a:rPr>
              <a:t>Escalations arrive before the fine, not after it.</a:t>
            </a:r>
            <a:endParaRPr lang="en-US" sz="950" dirty="0"/>
          </a:p>
        </p:txBody>
      </p:sp>
      <p:sp>
        <p:nvSpPr>
          <p:cNvPr id="33" name="Shape 31"/>
          <p:cNvSpPr/>
          <p:nvPr/>
        </p:nvSpPr>
        <p:spPr>
          <a:xfrm>
            <a:off x="548640" y="4169664"/>
            <a:ext cx="10424160" cy="548640"/>
          </a:xfrm>
          <a:prstGeom prst="roundRect">
            <a:avLst>
              <a:gd name="adj" fmla="val 10000"/>
            </a:avLst>
          </a:prstGeom>
          <a:solidFill>
            <a:srgbClr val="F4F6F7"/>
          </a:solidFill>
          <a:ln w="7620">
            <a:solidFill>
              <a:srgbClr val="E3E7EA"/>
            </a:solidFill>
            <a:prstDash val="solid"/>
          </a:ln>
        </p:spPr>
      </p:sp>
      <p:sp>
        <p:nvSpPr>
          <p:cNvPr id="34" name="Shape 32"/>
          <p:cNvSpPr/>
          <p:nvPr/>
        </p:nvSpPr>
        <p:spPr>
          <a:xfrm>
            <a:off x="694944" y="4270248"/>
            <a:ext cx="347472" cy="347472"/>
          </a:xfrm>
          <a:prstGeom prst="ellipse">
            <a:avLst/>
          </a:prstGeom>
          <a:solidFill>
            <a:srgbClr val="20A098"/>
          </a:solidFill>
          <a:ln/>
        </p:spPr>
      </p:sp>
      <p:sp>
        <p:nvSpPr>
          <p:cNvPr id="35" name="Text 33"/>
          <p:cNvSpPr txBox="1"/>
          <p:nvPr/>
        </p:nvSpPr>
        <p:spPr>
          <a:xfrm>
            <a:off x="694944" y="4270248"/>
            <a:ext cx="347472" cy="347472"/>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EM</a:t>
            </a:r>
            <a:endParaRPr lang="en-US" sz="1050" dirty="0"/>
          </a:p>
        </p:txBody>
      </p:sp>
      <p:sp>
        <p:nvSpPr>
          <p:cNvPr id="36" name="Text 34"/>
          <p:cNvSpPr txBox="1"/>
          <p:nvPr/>
        </p:nvSpPr>
        <p:spPr>
          <a:xfrm>
            <a:off x="1152144" y="4224528"/>
            <a:ext cx="1965960" cy="219456"/>
          </a:xfrm>
          <a:prstGeom prst="rect">
            <a:avLst/>
          </a:prstGeom>
          <a:noFill/>
          <a:ln/>
        </p:spPr>
        <p:txBody>
          <a:bodyPr wrap="square" lIns="0" tIns="0" rIns="0" bIns="0" rtlCol="0" anchor="ctr"/>
          <a:lstStyle/>
          <a:p>
            <a:pPr indent="0" marL="0">
              <a:buNone/>
            </a:pPr>
            <a:r>
              <a:rPr lang="en-US" sz="1100" b="1" dirty="0">
                <a:solidFill>
                  <a:srgbClr val="0C1E33"/>
                </a:solidFill>
                <a:latin typeface="Arial" pitchFamily="34" charset="0"/>
                <a:ea typeface="Arial" pitchFamily="34" charset="-122"/>
                <a:cs typeface="Arial" pitchFamily="34" charset="-120"/>
              </a:rPr>
              <a:t>Employee / Candidate</a:t>
            </a:r>
            <a:endParaRPr lang="en-US" sz="1100" dirty="0"/>
          </a:p>
        </p:txBody>
      </p:sp>
      <p:sp>
        <p:nvSpPr>
          <p:cNvPr id="37" name="Text 35"/>
          <p:cNvSpPr txBox="1"/>
          <p:nvPr/>
        </p:nvSpPr>
        <p:spPr>
          <a:xfrm>
            <a:off x="1152144" y="4443984"/>
            <a:ext cx="1965960" cy="182880"/>
          </a:xfrm>
          <a:prstGeom prst="rect">
            <a:avLst/>
          </a:prstGeom>
          <a:noFill/>
          <a:ln/>
        </p:spPr>
        <p:txBody>
          <a:bodyPr wrap="square" lIns="0" tIns="0" rIns="0" bIns="0" rtlCol="0" anchor="ctr"/>
          <a:lstStyle/>
          <a:p>
            <a:pPr indent="0" marL="0">
              <a:buNone/>
            </a:pPr>
            <a:r>
              <a:rPr lang="en-US" sz="900" dirty="0">
                <a:solidFill>
                  <a:srgbClr val="12756F"/>
                </a:solidFill>
                <a:latin typeface="Calibri" pitchFamily="34" charset="0"/>
                <a:ea typeface="Calibri" pitchFamily="34" charset="-122"/>
                <a:cs typeface="Calibri" pitchFamily="34" charset="-120"/>
              </a:rPr>
              <a:t>Self-service</a:t>
            </a:r>
            <a:endParaRPr lang="en-US" sz="900" dirty="0"/>
          </a:p>
        </p:txBody>
      </p:sp>
      <p:sp>
        <p:nvSpPr>
          <p:cNvPr id="38" name="Text 36"/>
          <p:cNvSpPr txBox="1"/>
          <p:nvPr/>
        </p:nvSpPr>
        <p:spPr>
          <a:xfrm>
            <a:off x="3246120" y="4224528"/>
            <a:ext cx="4846320" cy="438912"/>
          </a:xfrm>
          <a:prstGeom prst="rect">
            <a:avLst/>
          </a:prstGeom>
          <a:noFill/>
          <a:ln/>
        </p:spPr>
        <p:txBody>
          <a:bodyPr wrap="square" lIns="0" tIns="0" rIns="0" bIns="0" rtlCol="0" anchor="ctr"/>
          <a:lstStyle/>
          <a:p>
            <a:pPr indent="0" marL="0">
              <a:lnSpc>
                <a:spcPts val="1250"/>
              </a:lnSpc>
              <a:buNone/>
            </a:pPr>
            <a:r>
              <a:rPr lang="en-US" sz="950" dirty="0">
                <a:solidFill>
                  <a:srgbClr val="5A6C82"/>
                </a:solidFill>
                <a:latin typeface="Calibri" pitchFamily="34" charset="0"/>
                <a:ea typeface="Calibri" pitchFamily="34" charset="-122"/>
                <a:cs typeface="Calibri" pitchFamily="34" charset="-120"/>
              </a:rPr>
              <a:t>Acknowledges and uploads signed contracts; confirms in-country or out-of-country status; confirms medical completion, insurance enrolment and ID receipt.</a:t>
            </a:r>
            <a:endParaRPr lang="en-US" sz="950" dirty="0"/>
          </a:p>
        </p:txBody>
      </p:sp>
      <p:sp>
        <p:nvSpPr>
          <p:cNvPr id="39" name="Text 37"/>
          <p:cNvSpPr txBox="1"/>
          <p:nvPr/>
        </p:nvSpPr>
        <p:spPr>
          <a:xfrm>
            <a:off x="8229600" y="4224528"/>
            <a:ext cx="2615184" cy="438912"/>
          </a:xfrm>
          <a:prstGeom prst="rect">
            <a:avLst/>
          </a:prstGeom>
          <a:noFill/>
          <a:ln/>
        </p:spPr>
        <p:txBody>
          <a:bodyPr wrap="square" lIns="0" tIns="0" rIns="0" bIns="0" rtlCol="0" anchor="ctr"/>
          <a:lstStyle/>
          <a:p>
            <a:pPr indent="0" marL="0">
              <a:lnSpc>
                <a:spcPts val="1250"/>
              </a:lnSpc>
              <a:buNone/>
            </a:pPr>
            <a:r>
              <a:rPr lang="en-US" sz="950" b="1" i="1" dirty="0">
                <a:solidFill>
                  <a:srgbClr val="17795E"/>
                </a:solidFill>
                <a:latin typeface="Calibri" pitchFamily="34" charset="0"/>
                <a:ea typeface="Calibri" pitchFamily="34" charset="-122"/>
                <a:cs typeface="Calibri" pitchFamily="34" charset="-120"/>
              </a:rPr>
              <a:t>Knows exactly what is pending from them, and by when.</a:t>
            </a:r>
            <a:endParaRPr lang="en-US" sz="950" dirty="0"/>
          </a:p>
        </p:txBody>
      </p:sp>
      <p:sp>
        <p:nvSpPr>
          <p:cNvPr id="40" name="Shape 38"/>
          <p:cNvSpPr/>
          <p:nvPr/>
        </p:nvSpPr>
        <p:spPr>
          <a:xfrm>
            <a:off x="548640" y="4754880"/>
            <a:ext cx="10424160" cy="548640"/>
          </a:xfrm>
          <a:prstGeom prst="roundRect">
            <a:avLst>
              <a:gd name="adj" fmla="val 10000"/>
            </a:avLst>
          </a:prstGeom>
          <a:solidFill>
            <a:srgbClr val="FFFFFF"/>
          </a:solidFill>
          <a:ln w="7620">
            <a:solidFill>
              <a:srgbClr val="E3E7EA"/>
            </a:solidFill>
            <a:prstDash val="solid"/>
          </a:ln>
        </p:spPr>
      </p:sp>
      <p:sp>
        <p:nvSpPr>
          <p:cNvPr id="41" name="Shape 39"/>
          <p:cNvSpPr/>
          <p:nvPr/>
        </p:nvSpPr>
        <p:spPr>
          <a:xfrm>
            <a:off x="694944" y="4855464"/>
            <a:ext cx="347472" cy="347472"/>
          </a:xfrm>
          <a:prstGeom prst="ellipse">
            <a:avLst/>
          </a:prstGeom>
          <a:solidFill>
            <a:srgbClr val="12756F"/>
          </a:solidFill>
          <a:ln/>
        </p:spPr>
      </p:sp>
      <p:sp>
        <p:nvSpPr>
          <p:cNvPr id="42" name="Text 40"/>
          <p:cNvSpPr txBox="1"/>
          <p:nvPr/>
        </p:nvSpPr>
        <p:spPr>
          <a:xfrm>
            <a:off x="694944" y="4855464"/>
            <a:ext cx="347472" cy="347472"/>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FI</a:t>
            </a:r>
            <a:endParaRPr lang="en-US" sz="1050" dirty="0"/>
          </a:p>
        </p:txBody>
      </p:sp>
      <p:sp>
        <p:nvSpPr>
          <p:cNvPr id="43" name="Text 41"/>
          <p:cNvSpPr txBox="1"/>
          <p:nvPr/>
        </p:nvSpPr>
        <p:spPr>
          <a:xfrm>
            <a:off x="1152144" y="4809744"/>
            <a:ext cx="1965960" cy="219456"/>
          </a:xfrm>
          <a:prstGeom prst="rect">
            <a:avLst/>
          </a:prstGeom>
          <a:noFill/>
          <a:ln/>
        </p:spPr>
        <p:txBody>
          <a:bodyPr wrap="square" lIns="0" tIns="0" rIns="0" bIns="0" rtlCol="0" anchor="ctr"/>
          <a:lstStyle/>
          <a:p>
            <a:pPr indent="0" marL="0">
              <a:buNone/>
            </a:pPr>
            <a:r>
              <a:rPr lang="en-US" sz="1100" b="1" dirty="0">
                <a:solidFill>
                  <a:srgbClr val="0C1E33"/>
                </a:solidFill>
                <a:latin typeface="Arial" pitchFamily="34" charset="0"/>
                <a:ea typeface="Arial" pitchFamily="34" charset="-122"/>
                <a:cs typeface="Arial" pitchFamily="34" charset="-120"/>
              </a:rPr>
              <a:t>Finance Controller</a:t>
            </a:r>
            <a:endParaRPr lang="en-US" sz="1100" dirty="0"/>
          </a:p>
        </p:txBody>
      </p:sp>
      <p:sp>
        <p:nvSpPr>
          <p:cNvPr id="44" name="Text 42"/>
          <p:cNvSpPr txBox="1"/>
          <p:nvPr/>
        </p:nvSpPr>
        <p:spPr>
          <a:xfrm>
            <a:off x="1152144" y="5029200"/>
            <a:ext cx="1965960" cy="182880"/>
          </a:xfrm>
          <a:prstGeom prst="rect">
            <a:avLst/>
          </a:prstGeom>
          <a:noFill/>
          <a:ln/>
        </p:spPr>
        <p:txBody>
          <a:bodyPr wrap="square" lIns="0" tIns="0" rIns="0" bIns="0" rtlCol="0" anchor="ctr"/>
          <a:lstStyle/>
          <a:p>
            <a:pPr indent="0" marL="0">
              <a:buNone/>
            </a:pPr>
            <a:r>
              <a:rPr lang="en-US" sz="900" dirty="0">
                <a:solidFill>
                  <a:srgbClr val="12756F"/>
                </a:solidFill>
                <a:latin typeface="Calibri" pitchFamily="34" charset="0"/>
                <a:ea typeface="Calibri" pitchFamily="34" charset="-122"/>
                <a:cs typeface="Calibri" pitchFamily="34" charset="-120"/>
              </a:rPr>
              <a:t>Payments &amp; GL</a:t>
            </a:r>
            <a:endParaRPr lang="en-US" sz="900" dirty="0"/>
          </a:p>
        </p:txBody>
      </p:sp>
      <p:sp>
        <p:nvSpPr>
          <p:cNvPr id="45" name="Text 43"/>
          <p:cNvSpPr txBox="1"/>
          <p:nvPr/>
        </p:nvSpPr>
        <p:spPr>
          <a:xfrm>
            <a:off x="3246120" y="4809744"/>
            <a:ext cx="4846320" cy="438912"/>
          </a:xfrm>
          <a:prstGeom prst="rect">
            <a:avLst/>
          </a:prstGeom>
          <a:noFill/>
          <a:ln/>
        </p:spPr>
        <p:txBody>
          <a:bodyPr wrap="square" lIns="0" tIns="0" rIns="0" bIns="0" rtlCol="0" anchor="ctr"/>
          <a:lstStyle/>
          <a:p>
            <a:pPr indent="0" marL="0">
              <a:lnSpc>
                <a:spcPts val="1250"/>
              </a:lnSpc>
              <a:buNone/>
            </a:pPr>
            <a:r>
              <a:rPr lang="en-US" sz="950" dirty="0">
                <a:solidFill>
                  <a:srgbClr val="5A6C82"/>
                </a:solidFill>
                <a:latin typeface="Calibri" pitchFamily="34" charset="0"/>
                <a:ea typeface="Calibri" pitchFamily="34" charset="-122"/>
                <a:cs typeface="Calibri" pitchFamily="34" charset="-120"/>
              </a:rPr>
              <a:t>Reconciles government fees against receipts; posts permit costs to GL accounts; reviews card-holder spend for reimbursement; approves fine deductions.</a:t>
            </a:r>
            <a:endParaRPr lang="en-US" sz="950" dirty="0"/>
          </a:p>
        </p:txBody>
      </p:sp>
      <p:sp>
        <p:nvSpPr>
          <p:cNvPr id="46" name="Text 44"/>
          <p:cNvSpPr txBox="1"/>
          <p:nvPr/>
        </p:nvSpPr>
        <p:spPr>
          <a:xfrm>
            <a:off x="8229600" y="4809744"/>
            <a:ext cx="2615184" cy="438912"/>
          </a:xfrm>
          <a:prstGeom prst="rect">
            <a:avLst/>
          </a:prstGeom>
          <a:noFill/>
          <a:ln/>
        </p:spPr>
        <p:txBody>
          <a:bodyPr wrap="square" lIns="0" tIns="0" rIns="0" bIns="0" rtlCol="0" anchor="ctr"/>
          <a:lstStyle/>
          <a:p>
            <a:pPr indent="0" marL="0">
              <a:lnSpc>
                <a:spcPts val="1250"/>
              </a:lnSpc>
              <a:buNone/>
            </a:pPr>
            <a:r>
              <a:rPr lang="en-US" sz="950" b="1" i="1" dirty="0">
                <a:solidFill>
                  <a:srgbClr val="17795E"/>
                </a:solidFill>
                <a:latin typeface="Calibri" pitchFamily="34" charset="0"/>
                <a:ea typeface="Calibri" pitchFamily="34" charset="-122"/>
                <a:cs typeface="Calibri" pitchFamily="34" charset="-120"/>
              </a:rPr>
              <a:t>One export instead of days of reconciliation.</a:t>
            </a:r>
            <a:endParaRPr lang="en-US" sz="950" dirty="0"/>
          </a:p>
        </p:txBody>
      </p:sp>
      <p:sp>
        <p:nvSpPr>
          <p:cNvPr id="47" name="Shape 45"/>
          <p:cNvSpPr/>
          <p:nvPr/>
        </p:nvSpPr>
        <p:spPr>
          <a:xfrm>
            <a:off x="548640" y="5340096"/>
            <a:ext cx="10424160" cy="548640"/>
          </a:xfrm>
          <a:prstGeom prst="roundRect">
            <a:avLst>
              <a:gd name="adj" fmla="val 10000"/>
            </a:avLst>
          </a:prstGeom>
          <a:solidFill>
            <a:srgbClr val="F4F6F7"/>
          </a:solidFill>
          <a:ln w="7620">
            <a:solidFill>
              <a:srgbClr val="E3E7EA"/>
            </a:solidFill>
            <a:prstDash val="solid"/>
          </a:ln>
        </p:spPr>
      </p:sp>
      <p:sp>
        <p:nvSpPr>
          <p:cNvPr id="48" name="Shape 46"/>
          <p:cNvSpPr/>
          <p:nvPr/>
        </p:nvSpPr>
        <p:spPr>
          <a:xfrm>
            <a:off x="694944" y="5440680"/>
            <a:ext cx="347472" cy="347472"/>
          </a:xfrm>
          <a:prstGeom prst="ellipse">
            <a:avLst/>
          </a:prstGeom>
          <a:solidFill>
            <a:srgbClr val="16304C"/>
          </a:solidFill>
          <a:ln/>
        </p:spPr>
      </p:sp>
      <p:sp>
        <p:nvSpPr>
          <p:cNvPr id="49" name="Text 47"/>
          <p:cNvSpPr txBox="1"/>
          <p:nvPr/>
        </p:nvSpPr>
        <p:spPr>
          <a:xfrm>
            <a:off x="694944" y="5440680"/>
            <a:ext cx="347472" cy="347472"/>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HR</a:t>
            </a:r>
            <a:endParaRPr lang="en-US" sz="1050" dirty="0"/>
          </a:p>
        </p:txBody>
      </p:sp>
      <p:sp>
        <p:nvSpPr>
          <p:cNvPr id="50" name="Text 48"/>
          <p:cNvSpPr txBox="1"/>
          <p:nvPr/>
        </p:nvSpPr>
        <p:spPr>
          <a:xfrm>
            <a:off x="1152144" y="5394960"/>
            <a:ext cx="1965960" cy="219456"/>
          </a:xfrm>
          <a:prstGeom prst="rect">
            <a:avLst/>
          </a:prstGeom>
          <a:noFill/>
          <a:ln/>
        </p:spPr>
        <p:txBody>
          <a:bodyPr wrap="square" lIns="0" tIns="0" rIns="0" bIns="0" rtlCol="0" anchor="ctr"/>
          <a:lstStyle/>
          <a:p>
            <a:pPr indent="0" marL="0">
              <a:buNone/>
            </a:pPr>
            <a:r>
              <a:rPr lang="en-US" sz="1100" b="1" dirty="0">
                <a:solidFill>
                  <a:srgbClr val="0C1E33"/>
                </a:solidFill>
                <a:latin typeface="Arial" pitchFamily="34" charset="0"/>
                <a:ea typeface="Arial" pitchFamily="34" charset="-122"/>
                <a:cs typeface="Arial" pitchFamily="34" charset="-120"/>
              </a:rPr>
              <a:t>Head of HR</a:t>
            </a:r>
            <a:endParaRPr lang="en-US" sz="1100" dirty="0"/>
          </a:p>
        </p:txBody>
      </p:sp>
      <p:sp>
        <p:nvSpPr>
          <p:cNvPr id="51" name="Text 49"/>
          <p:cNvSpPr txBox="1"/>
          <p:nvPr/>
        </p:nvSpPr>
        <p:spPr>
          <a:xfrm>
            <a:off x="1152144" y="5614416"/>
            <a:ext cx="1965960" cy="182880"/>
          </a:xfrm>
          <a:prstGeom prst="rect">
            <a:avLst/>
          </a:prstGeom>
          <a:noFill/>
          <a:ln/>
        </p:spPr>
        <p:txBody>
          <a:bodyPr wrap="square" lIns="0" tIns="0" rIns="0" bIns="0" rtlCol="0" anchor="ctr"/>
          <a:lstStyle/>
          <a:p>
            <a:pPr indent="0" marL="0">
              <a:buNone/>
            </a:pPr>
            <a:r>
              <a:rPr lang="en-US" sz="900" dirty="0">
                <a:solidFill>
                  <a:srgbClr val="12756F"/>
                </a:solidFill>
                <a:latin typeface="Calibri" pitchFamily="34" charset="0"/>
                <a:ea typeface="Calibri" pitchFamily="34" charset="-122"/>
                <a:cs typeface="Calibri" pitchFamily="34" charset="-120"/>
              </a:rPr>
              <a:t>Governance &amp; risk</a:t>
            </a:r>
            <a:endParaRPr lang="en-US" sz="900" dirty="0"/>
          </a:p>
        </p:txBody>
      </p:sp>
      <p:sp>
        <p:nvSpPr>
          <p:cNvPr id="52" name="Text 50"/>
          <p:cNvSpPr txBox="1"/>
          <p:nvPr/>
        </p:nvSpPr>
        <p:spPr>
          <a:xfrm>
            <a:off x="3246120" y="5394960"/>
            <a:ext cx="4846320" cy="438912"/>
          </a:xfrm>
          <a:prstGeom prst="rect">
            <a:avLst/>
          </a:prstGeom>
          <a:noFill/>
          <a:ln/>
        </p:spPr>
        <p:txBody>
          <a:bodyPr wrap="square" lIns="0" tIns="0" rIns="0" bIns="0" rtlCol="0" anchor="ctr"/>
          <a:lstStyle/>
          <a:p>
            <a:pPr indent="0" marL="0">
              <a:lnSpc>
                <a:spcPts val="1250"/>
              </a:lnSpc>
              <a:buNone/>
            </a:pPr>
            <a:r>
              <a:rPr lang="en-US" sz="950" dirty="0">
                <a:solidFill>
                  <a:srgbClr val="5A6C82"/>
                </a:solidFill>
                <a:latin typeface="Calibri" pitchFamily="34" charset="0"/>
                <a:ea typeface="Calibri" pitchFamily="34" charset="-122"/>
                <a:cs typeface="Calibri" pitchFamily="34" charset="-120"/>
              </a:rPr>
              <a:t>Monitors quota utilisation and Saudization or Emiratisation ratios; reviews compliance exposure by entity and country; signs off permit cost budgets.</a:t>
            </a:r>
            <a:endParaRPr lang="en-US" sz="950" dirty="0"/>
          </a:p>
        </p:txBody>
      </p:sp>
      <p:sp>
        <p:nvSpPr>
          <p:cNvPr id="53" name="Text 51"/>
          <p:cNvSpPr txBox="1"/>
          <p:nvPr/>
        </p:nvSpPr>
        <p:spPr>
          <a:xfrm>
            <a:off x="8229600" y="5394960"/>
            <a:ext cx="2615184" cy="438912"/>
          </a:xfrm>
          <a:prstGeom prst="rect">
            <a:avLst/>
          </a:prstGeom>
          <a:noFill/>
          <a:ln/>
        </p:spPr>
        <p:txBody>
          <a:bodyPr wrap="square" lIns="0" tIns="0" rIns="0" bIns="0" rtlCol="0" anchor="ctr"/>
          <a:lstStyle/>
          <a:p>
            <a:pPr indent="0" marL="0">
              <a:lnSpc>
                <a:spcPts val="1250"/>
              </a:lnSpc>
              <a:buNone/>
            </a:pPr>
            <a:r>
              <a:rPr lang="en-US" sz="950" b="1" i="1" dirty="0">
                <a:solidFill>
                  <a:srgbClr val="17795E"/>
                </a:solidFill>
                <a:latin typeface="Calibri" pitchFamily="34" charset="0"/>
                <a:ea typeface="Calibri" pitchFamily="34" charset="-122"/>
                <a:cs typeface="Calibri" pitchFamily="34" charset="-120"/>
              </a:rPr>
              <a:t>Compliance risk as a dashboard, not a fire drill.</a:t>
            </a:r>
            <a:endParaRPr lang="en-US" sz="950" dirty="0"/>
          </a:p>
        </p:txBody>
      </p:sp>
      <p:sp>
        <p:nvSpPr>
          <p:cNvPr id="54" name="Text 52"/>
          <p:cNvSpPr txBox="1"/>
          <p:nvPr/>
        </p:nvSpPr>
        <p:spPr>
          <a:xfrm>
            <a:off x="1152144" y="1609344"/>
            <a:ext cx="1920240" cy="182880"/>
          </a:xfrm>
          <a:prstGeom prst="rect">
            <a:avLst/>
          </a:prstGeom>
          <a:noFill/>
          <a:ln/>
        </p:spPr>
        <p:txBody>
          <a:bodyPr wrap="square" lIns="0" tIns="0" rIns="0" bIns="0" rtlCol="0" anchor="ctr"/>
          <a:lstStyle/>
          <a:p>
            <a:pPr indent="0" marL="0">
              <a:buNone/>
            </a:pPr>
            <a:r>
              <a:rPr lang="en-US" sz="850" b="1" spc="140" kern="0" dirty="0">
                <a:solidFill>
                  <a:srgbClr val="96A3AE"/>
                </a:solidFill>
                <a:latin typeface="Calibri" pitchFamily="34" charset="0"/>
                <a:ea typeface="Calibri" pitchFamily="34" charset="-122"/>
                <a:cs typeface="Calibri" pitchFamily="34" charset="-120"/>
              </a:rPr>
              <a:t>ROLE</a:t>
            </a:r>
            <a:endParaRPr lang="en-US" sz="850" dirty="0"/>
          </a:p>
        </p:txBody>
      </p:sp>
      <p:sp>
        <p:nvSpPr>
          <p:cNvPr id="55" name="Text 53"/>
          <p:cNvSpPr txBox="1"/>
          <p:nvPr/>
        </p:nvSpPr>
        <p:spPr>
          <a:xfrm>
            <a:off x="3246120" y="1609344"/>
            <a:ext cx="4846320" cy="182880"/>
          </a:xfrm>
          <a:prstGeom prst="rect">
            <a:avLst/>
          </a:prstGeom>
          <a:noFill/>
          <a:ln/>
        </p:spPr>
        <p:txBody>
          <a:bodyPr wrap="square" lIns="0" tIns="0" rIns="0" bIns="0" rtlCol="0" anchor="ctr"/>
          <a:lstStyle/>
          <a:p>
            <a:pPr indent="0" marL="0">
              <a:buNone/>
            </a:pPr>
            <a:r>
              <a:rPr lang="en-US" sz="850" b="1" spc="140" kern="0" dirty="0">
                <a:solidFill>
                  <a:srgbClr val="96A3AE"/>
                </a:solidFill>
                <a:latin typeface="Calibri" pitchFamily="34" charset="0"/>
                <a:ea typeface="Calibri" pitchFamily="34" charset="-122"/>
                <a:cs typeface="Calibri" pitchFamily="34" charset="-120"/>
              </a:rPr>
              <a:t>WHAT THEY DO IN THE SYSTEM</a:t>
            </a:r>
            <a:endParaRPr lang="en-US" sz="850" dirty="0"/>
          </a:p>
        </p:txBody>
      </p:sp>
      <p:sp>
        <p:nvSpPr>
          <p:cNvPr id="56" name="Text 54"/>
          <p:cNvSpPr txBox="1"/>
          <p:nvPr/>
        </p:nvSpPr>
        <p:spPr>
          <a:xfrm>
            <a:off x="8229600" y="1609344"/>
            <a:ext cx="2615184" cy="182880"/>
          </a:xfrm>
          <a:prstGeom prst="rect">
            <a:avLst/>
          </a:prstGeom>
          <a:noFill/>
          <a:ln/>
        </p:spPr>
        <p:txBody>
          <a:bodyPr wrap="square" lIns="0" tIns="0" rIns="0" bIns="0" rtlCol="0" anchor="ctr"/>
          <a:lstStyle/>
          <a:p>
            <a:pPr indent="0" marL="0">
              <a:buNone/>
            </a:pPr>
            <a:r>
              <a:rPr lang="en-US" sz="850" b="1" spc="140" kern="0" dirty="0">
                <a:solidFill>
                  <a:srgbClr val="96A3AE"/>
                </a:solidFill>
                <a:latin typeface="Calibri" pitchFamily="34" charset="0"/>
                <a:ea typeface="Calibri" pitchFamily="34" charset="-122"/>
                <a:cs typeface="Calibri" pitchFamily="34" charset="-120"/>
              </a:rPr>
              <a:t>WHAT THEY GET</a:t>
            </a:r>
            <a:endParaRPr lang="en-US" sz="850" dirty="0"/>
          </a:p>
        </p:txBody>
      </p:sp>
      <p:sp>
        <p:nvSpPr>
          <p:cNvPr id="57" name="Text 55"/>
          <p:cNvSpPr txBox="1"/>
          <p:nvPr/>
        </p:nvSpPr>
        <p:spPr>
          <a:xfrm>
            <a:off x="548640" y="6419088"/>
            <a:ext cx="8595360" cy="237744"/>
          </a:xfrm>
          <a:prstGeom prst="rect">
            <a:avLst/>
          </a:prstGeom>
          <a:noFill/>
          <a:ln/>
        </p:spPr>
        <p:txBody>
          <a:bodyPr wrap="square" lIns="0" tIns="0" rIns="0" bIns="0" rtlCol="0" anchor="ctr"/>
          <a:lstStyle/>
          <a:p>
            <a:pPr indent="0" marL="0">
              <a:buNone/>
            </a:pPr>
            <a:r>
              <a:rPr lang="en-US" sz="900" dirty="0">
                <a:solidFill>
                  <a:srgbClr val="96A3AE"/>
                </a:solidFill>
                <a:latin typeface="Calibri" pitchFamily="34" charset="0"/>
                <a:ea typeface="Calibri" pitchFamily="34" charset="-122"/>
                <a:cs typeface="Calibri" pitchFamily="34" charset="-120"/>
              </a:rPr>
              <a:t>INK IT Business Solutions  ·  Visa &amp; Permits Management on SAP BTP</a:t>
            </a:r>
            <a:endParaRPr lang="en-US" sz="900" dirty="0"/>
          </a:p>
        </p:txBody>
      </p:sp>
      <p:sp>
        <p:nvSpPr>
          <p:cNvPr id="58" name="Text 56"/>
          <p:cNvSpPr txBox="1"/>
          <p:nvPr/>
        </p:nvSpPr>
        <p:spPr>
          <a:xfrm>
            <a:off x="11155680" y="6419088"/>
            <a:ext cx="457200" cy="237744"/>
          </a:xfrm>
          <a:prstGeom prst="rect">
            <a:avLst/>
          </a:prstGeom>
          <a:noFill/>
          <a:ln/>
        </p:spPr>
        <p:txBody>
          <a:bodyPr wrap="square" lIns="0" tIns="0" rIns="0" bIns="0" rtlCol="0" anchor="ctr"/>
          <a:lstStyle/>
          <a:p>
            <a:pPr algn="r" indent="0" marL="0">
              <a:buNone/>
            </a:pPr>
            <a:r>
              <a:rPr lang="en-US" sz="900" dirty="0">
                <a:solidFill>
                  <a:srgbClr val="96A3AE"/>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02336"/>
            <a:ext cx="11064240" cy="237744"/>
          </a:xfrm>
          <a:prstGeom prst="rect">
            <a:avLst/>
          </a:prstGeom>
          <a:noFill/>
          <a:ln/>
        </p:spPr>
        <p:txBody>
          <a:bodyPr wrap="square" lIns="0" tIns="0" rIns="0" bIns="0" rtlCol="0" anchor="ctr"/>
          <a:lstStyle/>
          <a:p>
            <a:pPr indent="0" marL="0">
              <a:buNone/>
            </a:pPr>
            <a:r>
              <a:rPr lang="en-US" sz="1100" b="1" spc="220" kern="0" dirty="0">
                <a:solidFill>
                  <a:srgbClr val="20A098"/>
                </a:solidFill>
                <a:latin typeface="Calibri" pitchFamily="34" charset="0"/>
                <a:ea typeface="Calibri" pitchFamily="34" charset="-122"/>
                <a:cs typeface="Calibri" pitchFamily="34" charset="-120"/>
              </a:rPr>
              <a:t>TASK MANAGEMENT &amp; ACCOUNTABILITY</a:t>
            </a:r>
            <a:endParaRPr lang="en-US" sz="1100" dirty="0"/>
          </a:p>
        </p:txBody>
      </p:sp>
      <p:sp>
        <p:nvSpPr>
          <p:cNvPr id="3" name="Text 1"/>
          <p:cNvSpPr txBox="1"/>
          <p:nvPr/>
        </p:nvSpPr>
        <p:spPr>
          <a:xfrm>
            <a:off x="548640" y="658368"/>
            <a:ext cx="11064240" cy="566928"/>
          </a:xfrm>
          <a:prstGeom prst="rect">
            <a:avLst/>
          </a:prstGeom>
          <a:noFill/>
          <a:ln/>
        </p:spPr>
        <p:txBody>
          <a:bodyPr wrap="square" lIns="0" tIns="0" rIns="0" bIns="0" rtlCol="0" anchor="ctr"/>
          <a:lstStyle/>
          <a:p>
            <a:pPr indent="0" marL="0">
              <a:buNone/>
            </a:pPr>
            <a:r>
              <a:rPr lang="en-US" sz="3000" b="1" dirty="0">
                <a:solidFill>
                  <a:srgbClr val="0C1E33"/>
                </a:solidFill>
                <a:latin typeface="Arial" pitchFamily="34" charset="0"/>
                <a:ea typeface="Arial" pitchFamily="34" charset="-122"/>
                <a:cs typeface="Arial" pitchFamily="34" charset="-120"/>
              </a:rPr>
              <a:t>Put a name on a task and it behaves differently.</a:t>
            </a:r>
            <a:endParaRPr lang="en-US" sz="3000" dirty="0"/>
          </a:p>
        </p:txBody>
      </p:sp>
      <p:sp>
        <p:nvSpPr>
          <p:cNvPr id="4" name="Text 2"/>
          <p:cNvSpPr txBox="1"/>
          <p:nvPr/>
        </p:nvSpPr>
        <p:spPr>
          <a:xfrm>
            <a:off x="548640" y="1243584"/>
            <a:ext cx="10424160" cy="420624"/>
          </a:xfrm>
          <a:prstGeom prst="rect">
            <a:avLst/>
          </a:prstGeom>
          <a:noFill/>
          <a:ln/>
        </p:spPr>
        <p:txBody>
          <a:bodyPr wrap="square" lIns="0" tIns="0" rIns="0" bIns="0" rtlCol="0" anchor="ctr"/>
          <a:lstStyle/>
          <a:p>
            <a:pPr indent="0" marL="0">
              <a:buNone/>
            </a:pPr>
            <a:r>
              <a:rPr lang="en-US" sz="1300" dirty="0">
                <a:solidFill>
                  <a:srgbClr val="5A6C82"/>
                </a:solidFill>
                <a:latin typeface="Calibri" pitchFamily="34" charset="0"/>
                <a:ea typeface="Calibri" pitchFamily="34" charset="-122"/>
                <a:cs typeface="Calibri" pitchFamily="34" charset="-120"/>
              </a:rPr>
              <a:t>Every step becomes a real task with a person, a due date and somewhere to escalate. Nothing sits in that grey area where everyone assumes someone else picked it up.</a:t>
            </a:r>
            <a:endParaRPr lang="en-US" sz="1300" dirty="0"/>
          </a:p>
        </p:txBody>
      </p:sp>
      <p:sp>
        <p:nvSpPr>
          <p:cNvPr id="5" name="Shape 3"/>
          <p:cNvSpPr/>
          <p:nvPr/>
        </p:nvSpPr>
        <p:spPr>
          <a:xfrm>
            <a:off x="548640" y="1773936"/>
            <a:ext cx="5532120" cy="969264"/>
          </a:xfrm>
          <a:prstGeom prst="roundRect">
            <a:avLst>
              <a:gd name="adj" fmla="val 7547"/>
            </a:avLst>
          </a:prstGeom>
          <a:solidFill>
            <a:srgbClr val="F4F6F7"/>
          </a:solidFill>
          <a:ln w="9525">
            <a:solidFill>
              <a:srgbClr val="E3E7EA"/>
            </a:solidFill>
            <a:prstDash val="solid"/>
          </a:ln>
        </p:spPr>
      </p:sp>
      <p:sp>
        <p:nvSpPr>
          <p:cNvPr id="6" name="Shape 4"/>
          <p:cNvSpPr/>
          <p:nvPr/>
        </p:nvSpPr>
        <p:spPr>
          <a:xfrm>
            <a:off x="749808" y="1975104"/>
            <a:ext cx="402336" cy="402336"/>
          </a:xfrm>
          <a:prstGeom prst="ellipse">
            <a:avLst/>
          </a:prstGeom>
          <a:solidFill>
            <a:srgbClr val="20A098"/>
          </a:solidFill>
          <a:ln/>
        </p:spPr>
      </p:sp>
      <p:sp>
        <p:nvSpPr>
          <p:cNvPr id="7" name="Text 5"/>
          <p:cNvSpPr txBox="1"/>
          <p:nvPr/>
        </p:nvSpPr>
        <p:spPr>
          <a:xfrm>
            <a:off x="749808" y="197510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8" name="Text 6"/>
          <p:cNvSpPr txBox="1"/>
          <p:nvPr/>
        </p:nvSpPr>
        <p:spPr>
          <a:xfrm>
            <a:off x="1298448" y="1911096"/>
            <a:ext cx="4572000" cy="256032"/>
          </a:xfrm>
          <a:prstGeom prst="rect">
            <a:avLst/>
          </a:prstGeom>
          <a:noFill/>
          <a:ln/>
        </p:spPr>
        <p:txBody>
          <a:bodyPr wrap="square" lIns="0" tIns="0" rIns="0" bIns="0" rtlCol="0" anchor="ctr"/>
          <a:lstStyle/>
          <a:p>
            <a:pPr indent="0" marL="0">
              <a:buNone/>
            </a:pPr>
            <a:r>
              <a:rPr lang="en-US" sz="1250" b="1" dirty="0">
                <a:solidFill>
                  <a:srgbClr val="20A098"/>
                </a:solidFill>
                <a:latin typeface="Arial" pitchFamily="34" charset="0"/>
                <a:ea typeface="Arial" pitchFamily="34" charset="-122"/>
                <a:cs typeface="Arial" pitchFamily="34" charset="-120"/>
              </a:rPr>
              <a:t>Assign  </a:t>
            </a:r>
            <a:pPr indent="0" marL="0">
              <a:buNone/>
            </a:pPr>
            <a:r>
              <a:rPr lang="en-US" sz="1200" b="1" dirty="0">
                <a:solidFill>
                  <a:srgbClr val="0C1E33"/>
                </a:solidFill>
                <a:latin typeface="Arial" pitchFamily="34" charset="0"/>
                <a:ea typeface="Arial" pitchFamily="34" charset="-122"/>
                <a:cs typeface="Arial" pitchFamily="34" charset="-120"/>
              </a:rPr>
              <a:t>· The task gets an owner</a:t>
            </a:r>
            <a:endParaRPr lang="en-US" sz="1250" dirty="0"/>
          </a:p>
        </p:txBody>
      </p:sp>
      <p:sp>
        <p:nvSpPr>
          <p:cNvPr id="9" name="Text 7"/>
          <p:cNvSpPr txBox="1"/>
          <p:nvPr/>
        </p:nvSpPr>
        <p:spPr>
          <a:xfrm>
            <a:off x="1298448" y="2185416"/>
            <a:ext cx="4572000" cy="475488"/>
          </a:xfrm>
          <a:prstGeom prst="rect">
            <a:avLst/>
          </a:prstGeom>
          <a:noFill/>
          <a:ln/>
        </p:spPr>
        <p:txBody>
          <a:bodyPr wrap="square" lIns="0" tIns="0" rIns="0" bIns="0" rtlCol="0" anchor="ctr"/>
          <a:lstStyle/>
          <a:p>
            <a:pPr indent="0" marL="0">
              <a:lnSpc>
                <a:spcPts val="1350"/>
              </a:lnSpc>
              <a:buNone/>
            </a:pPr>
            <a:r>
              <a:rPr lang="en-US" sz="980" dirty="0">
                <a:solidFill>
                  <a:srgbClr val="5A6C82"/>
                </a:solidFill>
                <a:latin typeface="Calibri" pitchFamily="34" charset="0"/>
                <a:ea typeface="Calibri" pitchFamily="34" charset="-122"/>
                <a:cs typeface="Calibri" pitchFamily="34" charset="-120"/>
              </a:rPr>
              <a:t>It goes to a role, then a named officer picks it up with "Assign To Yourself", or a supervisor sends it over with "Assign Agent". Priority and due date are set right then.</a:t>
            </a:r>
            <a:endParaRPr lang="en-US" sz="980" dirty="0"/>
          </a:p>
        </p:txBody>
      </p:sp>
      <p:sp>
        <p:nvSpPr>
          <p:cNvPr id="10" name="Shape 8"/>
          <p:cNvSpPr/>
          <p:nvPr/>
        </p:nvSpPr>
        <p:spPr>
          <a:xfrm>
            <a:off x="548640" y="2871216"/>
            <a:ext cx="5532120" cy="969264"/>
          </a:xfrm>
          <a:prstGeom prst="roundRect">
            <a:avLst>
              <a:gd name="adj" fmla="val 7547"/>
            </a:avLst>
          </a:prstGeom>
          <a:solidFill>
            <a:srgbClr val="FFFFFF"/>
          </a:solidFill>
          <a:ln w="9525">
            <a:solidFill>
              <a:srgbClr val="E3E7EA"/>
            </a:solidFill>
            <a:prstDash val="solid"/>
          </a:ln>
        </p:spPr>
      </p:sp>
      <p:sp>
        <p:nvSpPr>
          <p:cNvPr id="11" name="Shape 9"/>
          <p:cNvSpPr/>
          <p:nvPr/>
        </p:nvSpPr>
        <p:spPr>
          <a:xfrm>
            <a:off x="749808" y="3072384"/>
            <a:ext cx="402336" cy="402336"/>
          </a:xfrm>
          <a:prstGeom prst="ellipse">
            <a:avLst/>
          </a:prstGeom>
          <a:solidFill>
            <a:srgbClr val="B5730F"/>
          </a:solidFill>
          <a:ln/>
        </p:spPr>
      </p:sp>
      <p:sp>
        <p:nvSpPr>
          <p:cNvPr id="12" name="Text 10"/>
          <p:cNvSpPr txBox="1"/>
          <p:nvPr/>
        </p:nvSpPr>
        <p:spPr>
          <a:xfrm>
            <a:off x="749808" y="307238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3" name="Text 11"/>
          <p:cNvSpPr txBox="1"/>
          <p:nvPr/>
        </p:nvSpPr>
        <p:spPr>
          <a:xfrm>
            <a:off x="1298448" y="3008376"/>
            <a:ext cx="4572000" cy="256032"/>
          </a:xfrm>
          <a:prstGeom prst="rect">
            <a:avLst/>
          </a:prstGeom>
          <a:noFill/>
          <a:ln/>
        </p:spPr>
        <p:txBody>
          <a:bodyPr wrap="square" lIns="0" tIns="0" rIns="0" bIns="0" rtlCol="0" anchor="ctr"/>
          <a:lstStyle/>
          <a:p>
            <a:pPr indent="0" marL="0">
              <a:buNone/>
            </a:pPr>
            <a:r>
              <a:rPr lang="en-US" sz="1250" b="1" dirty="0">
                <a:solidFill>
                  <a:srgbClr val="B5730F"/>
                </a:solidFill>
                <a:latin typeface="Arial" pitchFamily="34" charset="0"/>
                <a:ea typeface="Arial" pitchFamily="34" charset="-122"/>
                <a:cs typeface="Arial" pitchFamily="34" charset="-120"/>
              </a:rPr>
              <a:t>Nudge  </a:t>
            </a:r>
            <a:pPr indent="0" marL="0">
              <a:buNone/>
            </a:pPr>
            <a:r>
              <a:rPr lang="en-US" sz="1200" b="1" dirty="0">
                <a:solidFill>
                  <a:srgbClr val="0C1E33"/>
                </a:solidFill>
                <a:latin typeface="Arial" pitchFamily="34" charset="0"/>
                <a:ea typeface="Arial" pitchFamily="34" charset="-122"/>
                <a:cs typeface="Arial" pitchFamily="34" charset="-120"/>
              </a:rPr>
              <a:t>· Reminder every 2 days</a:t>
            </a:r>
            <a:endParaRPr lang="en-US" sz="1250" dirty="0"/>
          </a:p>
        </p:txBody>
      </p:sp>
      <p:sp>
        <p:nvSpPr>
          <p:cNvPr id="14" name="Text 12"/>
          <p:cNvSpPr txBox="1"/>
          <p:nvPr/>
        </p:nvSpPr>
        <p:spPr>
          <a:xfrm>
            <a:off x="1298448" y="3282696"/>
            <a:ext cx="4572000" cy="475488"/>
          </a:xfrm>
          <a:prstGeom prst="rect">
            <a:avLst/>
          </a:prstGeom>
          <a:noFill/>
          <a:ln/>
        </p:spPr>
        <p:txBody>
          <a:bodyPr wrap="square" lIns="0" tIns="0" rIns="0" bIns="0" rtlCol="0" anchor="ctr"/>
          <a:lstStyle/>
          <a:p>
            <a:pPr indent="0" marL="0">
              <a:lnSpc>
                <a:spcPts val="1350"/>
              </a:lnSpc>
              <a:buNone/>
            </a:pPr>
            <a:r>
              <a:rPr lang="en-US" sz="980" dirty="0">
                <a:solidFill>
                  <a:srgbClr val="5A6C82"/>
                </a:solidFill>
                <a:latin typeface="Calibri" pitchFamily="34" charset="0"/>
                <a:ea typeface="Calibri" pitchFamily="34" charset="-122"/>
                <a:cs typeface="Calibri" pitchFamily="34" charset="-120"/>
              </a:rPr>
              <a:t>Anything still open pings the owner again every two days. Document expiries go out six weeks ahead, to the employee, the PRO and the HRBP at once.</a:t>
            </a:r>
            <a:endParaRPr lang="en-US" sz="980" dirty="0"/>
          </a:p>
        </p:txBody>
      </p:sp>
      <p:sp>
        <p:nvSpPr>
          <p:cNvPr id="15" name="Shape 13"/>
          <p:cNvSpPr/>
          <p:nvPr/>
        </p:nvSpPr>
        <p:spPr>
          <a:xfrm>
            <a:off x="548640" y="3968496"/>
            <a:ext cx="5532120" cy="969264"/>
          </a:xfrm>
          <a:prstGeom prst="roundRect">
            <a:avLst>
              <a:gd name="adj" fmla="val 7547"/>
            </a:avLst>
          </a:prstGeom>
          <a:solidFill>
            <a:srgbClr val="F4F6F7"/>
          </a:solidFill>
          <a:ln w="9525">
            <a:solidFill>
              <a:srgbClr val="E3E7EA"/>
            </a:solidFill>
            <a:prstDash val="solid"/>
          </a:ln>
        </p:spPr>
      </p:sp>
      <p:sp>
        <p:nvSpPr>
          <p:cNvPr id="16" name="Shape 14"/>
          <p:cNvSpPr/>
          <p:nvPr/>
        </p:nvSpPr>
        <p:spPr>
          <a:xfrm>
            <a:off x="749808" y="4169664"/>
            <a:ext cx="402336" cy="402336"/>
          </a:xfrm>
          <a:prstGeom prst="ellipse">
            <a:avLst/>
          </a:prstGeom>
          <a:solidFill>
            <a:srgbClr val="B23A2F"/>
          </a:solidFill>
          <a:ln/>
        </p:spPr>
      </p:sp>
      <p:sp>
        <p:nvSpPr>
          <p:cNvPr id="17" name="Text 15"/>
          <p:cNvSpPr txBox="1"/>
          <p:nvPr/>
        </p:nvSpPr>
        <p:spPr>
          <a:xfrm>
            <a:off x="749808" y="416966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8" name="Text 16"/>
          <p:cNvSpPr txBox="1"/>
          <p:nvPr/>
        </p:nvSpPr>
        <p:spPr>
          <a:xfrm>
            <a:off x="1298448" y="4105656"/>
            <a:ext cx="4572000" cy="256032"/>
          </a:xfrm>
          <a:prstGeom prst="rect">
            <a:avLst/>
          </a:prstGeom>
          <a:noFill/>
          <a:ln/>
        </p:spPr>
        <p:txBody>
          <a:bodyPr wrap="square" lIns="0" tIns="0" rIns="0" bIns="0" rtlCol="0" anchor="ctr"/>
          <a:lstStyle/>
          <a:p>
            <a:pPr indent="0" marL="0">
              <a:buNone/>
            </a:pPr>
            <a:r>
              <a:rPr lang="en-US" sz="1250" b="1" dirty="0">
                <a:solidFill>
                  <a:srgbClr val="B23A2F"/>
                </a:solidFill>
                <a:latin typeface="Arial" pitchFamily="34" charset="0"/>
                <a:ea typeface="Arial" pitchFamily="34" charset="-122"/>
                <a:cs typeface="Arial" pitchFamily="34" charset="-120"/>
              </a:rPr>
              <a:t>Escalate  </a:t>
            </a:r>
            <a:pPr indent="0" marL="0">
              <a:buNone/>
            </a:pPr>
            <a:r>
              <a:rPr lang="en-US" sz="1200" b="1" dirty="0">
                <a:solidFill>
                  <a:srgbClr val="0C1E33"/>
                </a:solidFill>
                <a:latin typeface="Arial" pitchFamily="34" charset="0"/>
                <a:ea typeface="Arial" pitchFamily="34" charset="-122"/>
                <a:cs typeface="Arial" pitchFamily="34" charset="-120"/>
              </a:rPr>
              <a:t>· The manager is told</a:t>
            </a:r>
            <a:endParaRPr lang="en-US" sz="1250" dirty="0"/>
          </a:p>
        </p:txBody>
      </p:sp>
      <p:sp>
        <p:nvSpPr>
          <p:cNvPr id="19" name="Text 17"/>
          <p:cNvSpPr txBox="1"/>
          <p:nvPr/>
        </p:nvSpPr>
        <p:spPr>
          <a:xfrm>
            <a:off x="1298448" y="4379976"/>
            <a:ext cx="4572000" cy="475488"/>
          </a:xfrm>
          <a:prstGeom prst="rect">
            <a:avLst/>
          </a:prstGeom>
          <a:noFill/>
          <a:ln/>
        </p:spPr>
        <p:txBody>
          <a:bodyPr wrap="square" lIns="0" tIns="0" rIns="0" bIns="0" rtlCol="0" anchor="ctr"/>
          <a:lstStyle/>
          <a:p>
            <a:pPr indent="0" marL="0">
              <a:lnSpc>
                <a:spcPts val="1350"/>
              </a:lnSpc>
              <a:buNone/>
            </a:pPr>
            <a:r>
              <a:rPr lang="en-US" sz="980" dirty="0">
                <a:solidFill>
                  <a:srgbClr val="5A6C82"/>
                </a:solidFill>
                <a:latin typeface="Calibri" pitchFamily="34" charset="0"/>
                <a:ea typeface="Calibri" pitchFamily="34" charset="-122"/>
                <a:cs typeface="Calibri" pitchFamily="34" charset="-120"/>
              </a:rPr>
              <a:t>Two weeks before expiry, or the moment a task goes past its due date, it escalates on its own to the HR manager and the line manager.</a:t>
            </a:r>
            <a:endParaRPr lang="en-US" sz="980" dirty="0"/>
          </a:p>
        </p:txBody>
      </p:sp>
      <p:sp>
        <p:nvSpPr>
          <p:cNvPr id="20" name="Shape 18"/>
          <p:cNvSpPr/>
          <p:nvPr/>
        </p:nvSpPr>
        <p:spPr>
          <a:xfrm>
            <a:off x="548640" y="5065776"/>
            <a:ext cx="5532120" cy="969264"/>
          </a:xfrm>
          <a:prstGeom prst="roundRect">
            <a:avLst>
              <a:gd name="adj" fmla="val 7547"/>
            </a:avLst>
          </a:prstGeom>
          <a:solidFill>
            <a:srgbClr val="FFFFFF"/>
          </a:solidFill>
          <a:ln w="9525">
            <a:solidFill>
              <a:srgbClr val="E3E7EA"/>
            </a:solidFill>
            <a:prstDash val="solid"/>
          </a:ln>
        </p:spPr>
      </p:sp>
      <p:sp>
        <p:nvSpPr>
          <p:cNvPr id="21" name="Shape 19"/>
          <p:cNvSpPr/>
          <p:nvPr/>
        </p:nvSpPr>
        <p:spPr>
          <a:xfrm>
            <a:off x="749808" y="5266944"/>
            <a:ext cx="402336" cy="402336"/>
          </a:xfrm>
          <a:prstGeom prst="ellipse">
            <a:avLst/>
          </a:prstGeom>
          <a:solidFill>
            <a:srgbClr val="17795E"/>
          </a:solidFill>
          <a:ln/>
        </p:spPr>
      </p:sp>
      <p:sp>
        <p:nvSpPr>
          <p:cNvPr id="22" name="Text 20"/>
          <p:cNvSpPr txBox="1"/>
          <p:nvPr/>
        </p:nvSpPr>
        <p:spPr>
          <a:xfrm>
            <a:off x="749808" y="526694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3" name="Text 21"/>
          <p:cNvSpPr txBox="1"/>
          <p:nvPr/>
        </p:nvSpPr>
        <p:spPr>
          <a:xfrm>
            <a:off x="1298448" y="5202936"/>
            <a:ext cx="4572000" cy="256032"/>
          </a:xfrm>
          <a:prstGeom prst="rect">
            <a:avLst/>
          </a:prstGeom>
          <a:noFill/>
          <a:ln/>
        </p:spPr>
        <p:txBody>
          <a:bodyPr wrap="square" lIns="0" tIns="0" rIns="0" bIns="0" rtlCol="0" anchor="ctr"/>
          <a:lstStyle/>
          <a:p>
            <a:pPr indent="0" marL="0">
              <a:buNone/>
            </a:pPr>
            <a:r>
              <a:rPr lang="en-US" sz="1250" b="1" dirty="0">
                <a:solidFill>
                  <a:srgbClr val="17795E"/>
                </a:solidFill>
                <a:latin typeface="Arial" pitchFamily="34" charset="0"/>
                <a:ea typeface="Arial" pitchFamily="34" charset="-122"/>
                <a:cs typeface="Arial" pitchFamily="34" charset="-120"/>
              </a:rPr>
              <a:t>Prove  </a:t>
            </a:r>
            <a:pPr indent="0" marL="0">
              <a:buNone/>
            </a:pPr>
            <a:r>
              <a:rPr lang="en-US" sz="1200" b="1" dirty="0">
                <a:solidFill>
                  <a:srgbClr val="0C1E33"/>
                </a:solidFill>
                <a:latin typeface="Arial" pitchFamily="34" charset="0"/>
                <a:ea typeface="Arial" pitchFamily="34" charset="-122"/>
                <a:cs typeface="Arial" pitchFamily="34" charset="-120"/>
              </a:rPr>
              <a:t>· The trail is permanent</a:t>
            </a:r>
            <a:endParaRPr lang="en-US" sz="1250" dirty="0"/>
          </a:p>
        </p:txBody>
      </p:sp>
      <p:sp>
        <p:nvSpPr>
          <p:cNvPr id="24" name="Text 22"/>
          <p:cNvSpPr txBox="1"/>
          <p:nvPr/>
        </p:nvSpPr>
        <p:spPr>
          <a:xfrm>
            <a:off x="1298448" y="5477256"/>
            <a:ext cx="4572000" cy="475488"/>
          </a:xfrm>
          <a:prstGeom prst="rect">
            <a:avLst/>
          </a:prstGeom>
          <a:noFill/>
          <a:ln/>
        </p:spPr>
        <p:txBody>
          <a:bodyPr wrap="square" lIns="0" tIns="0" rIns="0" bIns="0" rtlCol="0" anchor="ctr"/>
          <a:lstStyle/>
          <a:p>
            <a:pPr indent="0" marL="0">
              <a:lnSpc>
                <a:spcPts val="1350"/>
              </a:lnSpc>
              <a:buNone/>
            </a:pPr>
            <a:r>
              <a:rPr lang="en-US" sz="980" dirty="0">
                <a:solidFill>
                  <a:srgbClr val="5A6C82"/>
                </a:solidFill>
                <a:latin typeface="Calibri" pitchFamily="34" charset="0"/>
                <a:ea typeface="Calibri" pitchFamily="34" charset="-122"/>
                <a:cs typeface="Calibri" pitchFamily="34" charset="-120"/>
              </a:rPr>
              <a:t>Who had it, when they were reminded, what they uploaded and when they submitted. An audit turns into a report instead of a dig through old emails.</a:t>
            </a:r>
            <a:endParaRPr lang="en-US" sz="980" dirty="0"/>
          </a:p>
        </p:txBody>
      </p:sp>
      <p:pic>
        <p:nvPicPr>
          <p:cNvPr id="25" name="Image 0" descr="./img/inbox.jpg">    </p:cNvPr>
          <p:cNvPicPr>
            <a:picLocks noChangeAspect="1"/>
          </p:cNvPicPr>
          <p:nvPr/>
        </p:nvPicPr>
        <p:blipFill>
          <a:blip r:embed="rId1"/>
          <a:stretch>
            <a:fillRect/>
          </a:stretch>
        </p:blipFill>
        <p:spPr>
          <a:xfrm>
            <a:off x="6355080" y="1773936"/>
            <a:ext cx="5257800" cy="914400"/>
          </a:xfrm>
          <a:prstGeom prst="rect">
            <a:avLst/>
          </a:prstGeom>
          <a:effectLst>
            <a:outerShdw sx="100000" sy="100000" kx="0" ky="0" algn="bl" rotWithShape="0" blurRad="177800" dist="38100" dir="5400000">
              <a:srgbClr val="000000">
                <a:alpha val="20000"/>
              </a:srgbClr>
            </a:outerShdw>
          </a:effectLst>
        </p:spPr>
      </p:pic>
      <p:sp>
        <p:nvSpPr>
          <p:cNvPr id="26" name="Text 23"/>
          <p:cNvSpPr txBox="1"/>
          <p:nvPr/>
        </p:nvSpPr>
        <p:spPr>
          <a:xfrm>
            <a:off x="6355080" y="4443984"/>
            <a:ext cx="5257800" cy="512064"/>
          </a:xfrm>
          <a:prstGeom prst="rect">
            <a:avLst/>
          </a:prstGeom>
          <a:noFill/>
          <a:ln/>
        </p:spPr>
        <p:txBody>
          <a:bodyPr wrap="square" lIns="0" tIns="0" rIns="0" bIns="0" rtlCol="0" anchor="ctr"/>
          <a:lstStyle/>
          <a:p>
            <a:pPr indent="0" marL="0">
              <a:lnSpc>
                <a:spcPts val="1350"/>
              </a:lnSpc>
              <a:buNone/>
            </a:pPr>
            <a:r>
              <a:rPr lang="en-US" sz="980" i="1" dirty="0">
                <a:solidFill>
                  <a:srgbClr val="5A6C82"/>
                </a:solidFill>
                <a:latin typeface="Calibri" pitchFamily="34" charset="0"/>
                <a:ea typeface="Calibri" pitchFamily="34" charset="-122"/>
                <a:cs typeface="Calibri" pitchFamily="34" charset="-120"/>
              </a:rPr>
              <a:t>The officer’s inbox — pending tasks with type and due date on the left, the task itself on the right: assignee, due date, comment thread and the document that must come back before it can be submitted.</a:t>
            </a:r>
            <a:endParaRPr lang="en-US" sz="980" dirty="0"/>
          </a:p>
        </p:txBody>
      </p:sp>
      <p:sp>
        <p:nvSpPr>
          <p:cNvPr id="27" name="Shape 24"/>
          <p:cNvSpPr/>
          <p:nvPr/>
        </p:nvSpPr>
        <p:spPr>
          <a:xfrm>
            <a:off x="6355080" y="5084064"/>
            <a:ext cx="5257800" cy="512064"/>
          </a:xfrm>
          <a:prstGeom prst="roundRect">
            <a:avLst>
              <a:gd name="adj" fmla="val 10714"/>
            </a:avLst>
          </a:prstGeom>
          <a:solidFill>
            <a:srgbClr val="E4F5F3"/>
          </a:solidFill>
          <a:ln w="7620">
            <a:solidFill>
              <a:srgbClr val="BFE3DF"/>
            </a:solidFill>
            <a:prstDash val="solid"/>
          </a:ln>
        </p:spPr>
      </p:sp>
      <p:sp>
        <p:nvSpPr>
          <p:cNvPr id="28" name="Text 25"/>
          <p:cNvSpPr txBox="1"/>
          <p:nvPr/>
        </p:nvSpPr>
        <p:spPr>
          <a:xfrm>
            <a:off x="6519672" y="5084064"/>
            <a:ext cx="4937760" cy="512064"/>
          </a:xfrm>
          <a:prstGeom prst="rect">
            <a:avLst/>
          </a:prstGeom>
          <a:noFill/>
          <a:ln/>
        </p:spPr>
        <p:txBody>
          <a:bodyPr wrap="square" lIns="0" tIns="0" rIns="0" bIns="0" rtlCol="0" anchor="ctr"/>
          <a:lstStyle/>
          <a:p>
            <a:pPr indent="0" marL="0">
              <a:lnSpc>
                <a:spcPts val="1250"/>
              </a:lnSpc>
              <a:buNone/>
            </a:pPr>
            <a:r>
              <a:rPr lang="en-US" sz="930" b="1" dirty="0">
                <a:solidFill>
                  <a:srgbClr val="12756F"/>
                </a:solidFill>
                <a:latin typeface="Calibri" pitchFamily="34" charset="0"/>
                <a:ea typeface="Calibri" pitchFamily="34" charset="-122"/>
                <a:cs typeface="Calibri" pitchFamily="34" charset="-120"/>
              </a:rPr>
              <a:t>Delays surfaced at source  </a:t>
            </a:r>
            <a:pPr indent="0" marL="0">
              <a:lnSpc>
                <a:spcPts val="1250"/>
              </a:lnSpc>
              <a:buNone/>
            </a:pPr>
            <a:r>
              <a:rPr lang="en-US" sz="930" dirty="0">
                <a:solidFill>
                  <a:srgbClr val="0C1E33"/>
                </a:solidFill>
                <a:latin typeface="Calibri" pitchFamily="34" charset="0"/>
                <a:ea typeface="Calibri" pitchFamily="34" charset="-122"/>
                <a:cs typeface="Calibri" pitchFamily="34" charset="-120"/>
              </a:rPr>
              <a:t>The system shows where the wait actually is — the unsigned contract, the unbooked medical, the government step pending. The bottleneck has an address.</a:t>
            </a:r>
            <a:endParaRPr lang="en-US" sz="930" dirty="0"/>
          </a:p>
        </p:txBody>
      </p:sp>
      <p:sp>
        <p:nvSpPr>
          <p:cNvPr id="29" name="Shape 26"/>
          <p:cNvSpPr/>
          <p:nvPr/>
        </p:nvSpPr>
        <p:spPr>
          <a:xfrm>
            <a:off x="6355080" y="5687568"/>
            <a:ext cx="5257800" cy="512064"/>
          </a:xfrm>
          <a:prstGeom prst="roundRect">
            <a:avLst>
              <a:gd name="adj" fmla="val 10714"/>
            </a:avLst>
          </a:prstGeom>
          <a:solidFill>
            <a:srgbClr val="E4F5F3"/>
          </a:solidFill>
          <a:ln w="7620">
            <a:solidFill>
              <a:srgbClr val="BFE3DF"/>
            </a:solidFill>
            <a:prstDash val="solid"/>
          </a:ln>
        </p:spPr>
      </p:sp>
      <p:sp>
        <p:nvSpPr>
          <p:cNvPr id="30" name="Text 27"/>
          <p:cNvSpPr txBox="1"/>
          <p:nvPr/>
        </p:nvSpPr>
        <p:spPr>
          <a:xfrm>
            <a:off x="6519672" y="5687568"/>
            <a:ext cx="4937760" cy="512064"/>
          </a:xfrm>
          <a:prstGeom prst="rect">
            <a:avLst/>
          </a:prstGeom>
          <a:noFill/>
          <a:ln/>
        </p:spPr>
        <p:txBody>
          <a:bodyPr wrap="square" lIns="0" tIns="0" rIns="0" bIns="0" rtlCol="0" anchor="ctr"/>
          <a:lstStyle/>
          <a:p>
            <a:pPr indent="0" marL="0">
              <a:lnSpc>
                <a:spcPts val="1250"/>
              </a:lnSpc>
              <a:buNone/>
            </a:pPr>
            <a:r>
              <a:rPr lang="en-US" sz="930" b="1" dirty="0">
                <a:solidFill>
                  <a:srgbClr val="12756F"/>
                </a:solidFill>
                <a:latin typeface="Calibri" pitchFamily="34" charset="0"/>
                <a:ea typeface="Calibri" pitchFamily="34" charset="-122"/>
                <a:cs typeface="Calibri" pitchFamily="34" charset="-120"/>
              </a:rPr>
              <a:t>Workload made visible  </a:t>
            </a:r>
            <a:pPr indent="0" marL="0">
              <a:lnSpc>
                <a:spcPts val="1250"/>
              </a:lnSpc>
              <a:buNone/>
            </a:pPr>
            <a:r>
              <a:rPr lang="en-US" sz="930" dirty="0">
                <a:solidFill>
                  <a:srgbClr val="0C1E33"/>
                </a:solidFill>
                <a:latin typeface="Calibri" pitchFamily="34" charset="0"/>
                <a:ea typeface="Calibri" pitchFamily="34" charset="-122"/>
                <a:cs typeface="Calibri" pitchFamily="34" charset="-120"/>
              </a:rPr>
              <a:t>HR admins can see how many assignments each officer has completed, so work is distributed on evidence rather than on who complains loudest.</a:t>
            </a:r>
            <a:endParaRPr lang="en-US" sz="930" dirty="0"/>
          </a:p>
        </p:txBody>
      </p:sp>
      <p:sp>
        <p:nvSpPr>
          <p:cNvPr id="31" name="Text 28"/>
          <p:cNvSpPr txBox="1"/>
          <p:nvPr/>
        </p:nvSpPr>
        <p:spPr>
          <a:xfrm>
            <a:off x="548640" y="6419088"/>
            <a:ext cx="8595360" cy="237744"/>
          </a:xfrm>
          <a:prstGeom prst="rect">
            <a:avLst/>
          </a:prstGeom>
          <a:noFill/>
          <a:ln/>
        </p:spPr>
        <p:txBody>
          <a:bodyPr wrap="square" lIns="0" tIns="0" rIns="0" bIns="0" rtlCol="0" anchor="ctr"/>
          <a:lstStyle/>
          <a:p>
            <a:pPr indent="0" marL="0">
              <a:buNone/>
            </a:pPr>
            <a:r>
              <a:rPr lang="en-US" sz="900" dirty="0">
                <a:solidFill>
                  <a:srgbClr val="96A3AE"/>
                </a:solidFill>
                <a:latin typeface="Calibri" pitchFamily="34" charset="0"/>
                <a:ea typeface="Calibri" pitchFamily="34" charset="-122"/>
                <a:cs typeface="Calibri" pitchFamily="34" charset="-120"/>
              </a:rPr>
              <a:t>INK IT Business Solutions  ·  Visa &amp; Permits Management on SAP BTP</a:t>
            </a:r>
            <a:endParaRPr lang="en-US" sz="900" dirty="0"/>
          </a:p>
        </p:txBody>
      </p:sp>
      <p:sp>
        <p:nvSpPr>
          <p:cNvPr id="32" name="Text 29"/>
          <p:cNvSpPr txBox="1"/>
          <p:nvPr/>
        </p:nvSpPr>
        <p:spPr>
          <a:xfrm>
            <a:off x="11155680" y="6419088"/>
            <a:ext cx="457200" cy="237744"/>
          </a:xfrm>
          <a:prstGeom prst="rect">
            <a:avLst/>
          </a:prstGeom>
          <a:noFill/>
          <a:ln/>
        </p:spPr>
        <p:txBody>
          <a:bodyPr wrap="square" lIns="0" tIns="0" rIns="0" bIns="0" rtlCol="0" anchor="ctr"/>
          <a:lstStyle/>
          <a:p>
            <a:pPr algn="r" indent="0" marL="0">
              <a:buNone/>
            </a:pPr>
            <a:r>
              <a:rPr lang="en-US" sz="900" dirty="0">
                <a:solidFill>
                  <a:srgbClr val="96A3AE"/>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02336"/>
            <a:ext cx="11064240" cy="237744"/>
          </a:xfrm>
          <a:prstGeom prst="rect">
            <a:avLst/>
          </a:prstGeom>
          <a:noFill/>
          <a:ln/>
        </p:spPr>
        <p:txBody>
          <a:bodyPr wrap="square" lIns="0" tIns="0" rIns="0" bIns="0" rtlCol="0" anchor="ctr"/>
          <a:lstStyle/>
          <a:p>
            <a:pPr indent="0" marL="0">
              <a:buNone/>
            </a:pPr>
            <a:r>
              <a:rPr lang="en-US" sz="1100" b="1" spc="220" kern="0" dirty="0">
                <a:solidFill>
                  <a:srgbClr val="20A098"/>
                </a:solidFill>
                <a:latin typeface="Calibri" pitchFamily="34" charset="0"/>
                <a:ea typeface="Calibri" pitchFamily="34" charset="-122"/>
                <a:cs typeface="Calibri" pitchFamily="34" charset="-120"/>
              </a:rPr>
              <a:t>FINANCIAL CONTROL</a:t>
            </a:r>
            <a:endParaRPr lang="en-US" sz="1100" dirty="0"/>
          </a:p>
        </p:txBody>
      </p:sp>
      <p:sp>
        <p:nvSpPr>
          <p:cNvPr id="3" name="Text 1"/>
          <p:cNvSpPr txBox="1"/>
          <p:nvPr/>
        </p:nvSpPr>
        <p:spPr>
          <a:xfrm>
            <a:off x="548640" y="658368"/>
            <a:ext cx="11064240" cy="566928"/>
          </a:xfrm>
          <a:prstGeom prst="rect">
            <a:avLst/>
          </a:prstGeom>
          <a:noFill/>
          <a:ln/>
        </p:spPr>
        <p:txBody>
          <a:bodyPr wrap="square" lIns="0" tIns="0" rIns="0" bIns="0" rtlCol="0" anchor="ctr"/>
          <a:lstStyle/>
          <a:p>
            <a:pPr indent="0" marL="0">
              <a:buNone/>
            </a:pPr>
            <a:r>
              <a:rPr lang="en-US" sz="3000" b="1" dirty="0">
                <a:solidFill>
                  <a:srgbClr val="0C1E33"/>
                </a:solidFill>
                <a:latin typeface="Arial" pitchFamily="34" charset="0"/>
                <a:ea typeface="Arial" pitchFamily="34" charset="-122"/>
                <a:cs typeface="Arial" pitchFamily="34" charset="-120"/>
              </a:rPr>
              <a:t>Nothing gets paid without a receipt and a GL code.</a:t>
            </a:r>
            <a:endParaRPr lang="en-US" sz="3000" dirty="0"/>
          </a:p>
        </p:txBody>
      </p:sp>
      <p:sp>
        <p:nvSpPr>
          <p:cNvPr id="4" name="Text 2"/>
          <p:cNvSpPr txBox="1"/>
          <p:nvPr/>
        </p:nvSpPr>
        <p:spPr>
          <a:xfrm>
            <a:off x="548640" y="1243584"/>
            <a:ext cx="10424160" cy="420624"/>
          </a:xfrm>
          <a:prstGeom prst="rect">
            <a:avLst/>
          </a:prstGeom>
          <a:noFill/>
          <a:ln/>
        </p:spPr>
        <p:txBody>
          <a:bodyPr wrap="square" lIns="0" tIns="0" rIns="0" bIns="0" rtlCol="0" anchor="ctr"/>
          <a:lstStyle/>
          <a:p>
            <a:pPr indent="0" marL="0">
              <a:buNone/>
            </a:pPr>
            <a:r>
              <a:rPr lang="en-US" sz="1300" dirty="0">
                <a:solidFill>
                  <a:srgbClr val="5A6C82"/>
                </a:solidFill>
                <a:latin typeface="Calibri" pitchFamily="34" charset="0"/>
                <a:ea typeface="Calibri" pitchFamily="34" charset="-122"/>
                <a:cs typeface="Calibri" pitchFamily="34" charset="-120"/>
              </a:rPr>
              <a:t>Government fees are where the money leaks. Make the payment part of the task and it cannot move without leaving a trace.</a:t>
            </a:r>
            <a:endParaRPr lang="en-US" sz="1300" dirty="0"/>
          </a:p>
        </p:txBody>
      </p:sp>
      <p:sp>
        <p:nvSpPr>
          <p:cNvPr id="5" name="Shape 3"/>
          <p:cNvSpPr/>
          <p:nvPr/>
        </p:nvSpPr>
        <p:spPr>
          <a:xfrm>
            <a:off x="548640" y="1773936"/>
            <a:ext cx="2103120" cy="1481328"/>
          </a:xfrm>
          <a:prstGeom prst="roundRect">
            <a:avLst>
              <a:gd name="adj" fmla="val 4938"/>
            </a:avLst>
          </a:prstGeom>
          <a:solidFill>
            <a:srgbClr val="F4F6F7"/>
          </a:solidFill>
          <a:ln w="9525">
            <a:solidFill>
              <a:srgbClr val="E3E7EA"/>
            </a:solidFill>
            <a:prstDash val="solid"/>
          </a:ln>
        </p:spPr>
      </p:sp>
      <p:sp>
        <p:nvSpPr>
          <p:cNvPr id="6" name="Shape 4"/>
          <p:cNvSpPr/>
          <p:nvPr/>
        </p:nvSpPr>
        <p:spPr>
          <a:xfrm>
            <a:off x="713232" y="1938528"/>
            <a:ext cx="347472" cy="347472"/>
          </a:xfrm>
          <a:prstGeom prst="ellipse">
            <a:avLst/>
          </a:prstGeom>
          <a:solidFill>
            <a:srgbClr val="20A098"/>
          </a:solidFill>
          <a:ln/>
        </p:spPr>
      </p:sp>
      <p:sp>
        <p:nvSpPr>
          <p:cNvPr id="7" name="Text 5"/>
          <p:cNvSpPr txBox="1"/>
          <p:nvPr/>
        </p:nvSpPr>
        <p:spPr>
          <a:xfrm>
            <a:off x="713232" y="1938528"/>
            <a:ext cx="347472" cy="347472"/>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01</a:t>
            </a:r>
            <a:endParaRPr lang="en-US" sz="1050" dirty="0"/>
          </a:p>
        </p:txBody>
      </p:sp>
      <p:sp>
        <p:nvSpPr>
          <p:cNvPr id="8" name="Text 6"/>
          <p:cNvSpPr txBox="1"/>
          <p:nvPr/>
        </p:nvSpPr>
        <p:spPr>
          <a:xfrm>
            <a:off x="713232" y="2359152"/>
            <a:ext cx="1773936" cy="274320"/>
          </a:xfrm>
          <a:prstGeom prst="rect">
            <a:avLst/>
          </a:prstGeom>
          <a:noFill/>
          <a:ln/>
        </p:spPr>
        <p:txBody>
          <a:bodyPr wrap="square" lIns="0" tIns="0" rIns="0" bIns="0" rtlCol="0" anchor="ctr"/>
          <a:lstStyle/>
          <a:p>
            <a:pPr indent="0" marL="0">
              <a:buNone/>
            </a:pPr>
            <a:r>
              <a:rPr lang="en-US" sz="1100" b="1" dirty="0">
                <a:solidFill>
                  <a:srgbClr val="0C1E33"/>
                </a:solidFill>
                <a:latin typeface="Arial" pitchFamily="34" charset="0"/>
                <a:ea typeface="Arial" pitchFamily="34" charset="-122"/>
                <a:cs typeface="Arial" pitchFamily="34" charset="-120"/>
              </a:rPr>
              <a:t>Captured in the step</a:t>
            </a:r>
            <a:endParaRPr lang="en-US" sz="1100" dirty="0"/>
          </a:p>
        </p:txBody>
      </p:sp>
      <p:sp>
        <p:nvSpPr>
          <p:cNvPr id="9" name="Text 7"/>
          <p:cNvSpPr txBox="1"/>
          <p:nvPr/>
        </p:nvSpPr>
        <p:spPr>
          <a:xfrm>
            <a:off x="713232" y="2651760"/>
            <a:ext cx="1773936" cy="530352"/>
          </a:xfrm>
          <a:prstGeom prst="rect">
            <a:avLst/>
          </a:prstGeom>
          <a:noFill/>
          <a:ln/>
        </p:spPr>
        <p:txBody>
          <a:bodyPr wrap="square" lIns="0" tIns="0" rIns="0" bIns="0" rtlCol="0" anchor="ctr"/>
          <a:lstStyle/>
          <a:p>
            <a:pPr indent="0" marL="0">
              <a:lnSpc>
                <a:spcPts val="1250"/>
              </a:lnSpc>
              <a:buNone/>
            </a:pPr>
            <a:r>
              <a:rPr lang="en-US" sz="930" dirty="0">
                <a:solidFill>
                  <a:srgbClr val="5A6C82"/>
                </a:solidFill>
                <a:latin typeface="Calibri" pitchFamily="34" charset="0"/>
                <a:ea typeface="Calibri" pitchFamily="34" charset="-122"/>
                <a:cs typeface="Calibri" pitchFamily="34" charset="-120"/>
              </a:rPr>
              <a:t>Amount, VAT, how it was paid, the date and the reference are all compulsory on the step itself.</a:t>
            </a:r>
            <a:endParaRPr lang="en-US" sz="930" dirty="0"/>
          </a:p>
        </p:txBody>
      </p:sp>
      <p:sp>
        <p:nvSpPr>
          <p:cNvPr id="10" name="Shape 8"/>
          <p:cNvSpPr/>
          <p:nvPr/>
        </p:nvSpPr>
        <p:spPr>
          <a:xfrm>
            <a:off x="2834640" y="1773936"/>
            <a:ext cx="2103120" cy="1481328"/>
          </a:xfrm>
          <a:prstGeom prst="roundRect">
            <a:avLst>
              <a:gd name="adj" fmla="val 4938"/>
            </a:avLst>
          </a:prstGeom>
          <a:solidFill>
            <a:srgbClr val="F4F6F7"/>
          </a:solidFill>
          <a:ln w="9525">
            <a:solidFill>
              <a:srgbClr val="E3E7EA"/>
            </a:solidFill>
            <a:prstDash val="solid"/>
          </a:ln>
        </p:spPr>
      </p:sp>
      <p:sp>
        <p:nvSpPr>
          <p:cNvPr id="11" name="Shape 9"/>
          <p:cNvSpPr/>
          <p:nvPr/>
        </p:nvSpPr>
        <p:spPr>
          <a:xfrm>
            <a:off x="2999232" y="1938528"/>
            <a:ext cx="347472" cy="347472"/>
          </a:xfrm>
          <a:prstGeom prst="ellipse">
            <a:avLst/>
          </a:prstGeom>
          <a:solidFill>
            <a:srgbClr val="20A098"/>
          </a:solidFill>
          <a:ln/>
        </p:spPr>
      </p:sp>
      <p:sp>
        <p:nvSpPr>
          <p:cNvPr id="12" name="Text 10"/>
          <p:cNvSpPr txBox="1"/>
          <p:nvPr/>
        </p:nvSpPr>
        <p:spPr>
          <a:xfrm>
            <a:off x="2999232" y="1938528"/>
            <a:ext cx="347472" cy="347472"/>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02</a:t>
            </a:r>
            <a:endParaRPr lang="en-US" sz="1050" dirty="0"/>
          </a:p>
        </p:txBody>
      </p:sp>
      <p:sp>
        <p:nvSpPr>
          <p:cNvPr id="13" name="Text 11"/>
          <p:cNvSpPr txBox="1"/>
          <p:nvPr/>
        </p:nvSpPr>
        <p:spPr>
          <a:xfrm>
            <a:off x="2999232" y="2359152"/>
            <a:ext cx="1773936" cy="274320"/>
          </a:xfrm>
          <a:prstGeom prst="rect">
            <a:avLst/>
          </a:prstGeom>
          <a:noFill/>
          <a:ln/>
        </p:spPr>
        <p:txBody>
          <a:bodyPr wrap="square" lIns="0" tIns="0" rIns="0" bIns="0" rtlCol="0" anchor="ctr"/>
          <a:lstStyle/>
          <a:p>
            <a:pPr indent="0" marL="0">
              <a:buNone/>
            </a:pPr>
            <a:r>
              <a:rPr lang="en-US" sz="1100" b="1" dirty="0">
                <a:solidFill>
                  <a:srgbClr val="0C1E33"/>
                </a:solidFill>
                <a:latin typeface="Arial" pitchFamily="34" charset="0"/>
                <a:ea typeface="Arial" pitchFamily="34" charset="-122"/>
                <a:cs typeface="Arial" pitchFamily="34" charset="-120"/>
              </a:rPr>
              <a:t>Receipt attached</a:t>
            </a:r>
            <a:endParaRPr lang="en-US" sz="1100" dirty="0"/>
          </a:p>
        </p:txBody>
      </p:sp>
      <p:sp>
        <p:nvSpPr>
          <p:cNvPr id="14" name="Text 12"/>
          <p:cNvSpPr txBox="1"/>
          <p:nvPr/>
        </p:nvSpPr>
        <p:spPr>
          <a:xfrm>
            <a:off x="2999232" y="2651760"/>
            <a:ext cx="1773936" cy="530352"/>
          </a:xfrm>
          <a:prstGeom prst="rect">
            <a:avLst/>
          </a:prstGeom>
          <a:noFill/>
          <a:ln/>
        </p:spPr>
        <p:txBody>
          <a:bodyPr wrap="square" lIns="0" tIns="0" rIns="0" bIns="0" rtlCol="0" anchor="ctr"/>
          <a:lstStyle/>
          <a:p>
            <a:pPr indent="0" marL="0">
              <a:lnSpc>
                <a:spcPts val="1250"/>
              </a:lnSpc>
              <a:buNone/>
            </a:pPr>
            <a:r>
              <a:rPr lang="en-US" sz="930" dirty="0">
                <a:solidFill>
                  <a:srgbClr val="5A6C82"/>
                </a:solidFill>
                <a:latin typeface="Calibri" pitchFamily="34" charset="0"/>
                <a:ea typeface="Calibri" pitchFamily="34" charset="-122"/>
                <a:cs typeface="Calibri" pitchFamily="34" charset="-120"/>
              </a:rPr>
              <a:t>The scanned receipt has to be attached. No file, no submit, and the step stays open.</a:t>
            </a:r>
            <a:endParaRPr lang="en-US" sz="930" dirty="0"/>
          </a:p>
        </p:txBody>
      </p:sp>
      <p:sp>
        <p:nvSpPr>
          <p:cNvPr id="15" name="Shape 13"/>
          <p:cNvSpPr/>
          <p:nvPr/>
        </p:nvSpPr>
        <p:spPr>
          <a:xfrm>
            <a:off x="5120640" y="1773936"/>
            <a:ext cx="2103120" cy="1481328"/>
          </a:xfrm>
          <a:prstGeom prst="roundRect">
            <a:avLst>
              <a:gd name="adj" fmla="val 4938"/>
            </a:avLst>
          </a:prstGeom>
          <a:solidFill>
            <a:srgbClr val="F4F6F7"/>
          </a:solidFill>
          <a:ln w="9525">
            <a:solidFill>
              <a:srgbClr val="E3E7EA"/>
            </a:solidFill>
            <a:prstDash val="solid"/>
          </a:ln>
        </p:spPr>
      </p:sp>
      <p:sp>
        <p:nvSpPr>
          <p:cNvPr id="16" name="Shape 14"/>
          <p:cNvSpPr/>
          <p:nvPr/>
        </p:nvSpPr>
        <p:spPr>
          <a:xfrm>
            <a:off x="5285232" y="1938528"/>
            <a:ext cx="347472" cy="347472"/>
          </a:xfrm>
          <a:prstGeom prst="ellipse">
            <a:avLst/>
          </a:prstGeom>
          <a:solidFill>
            <a:srgbClr val="20A098"/>
          </a:solidFill>
          <a:ln/>
        </p:spPr>
      </p:sp>
      <p:sp>
        <p:nvSpPr>
          <p:cNvPr id="17" name="Text 15"/>
          <p:cNvSpPr txBox="1"/>
          <p:nvPr/>
        </p:nvSpPr>
        <p:spPr>
          <a:xfrm>
            <a:off x="5285232" y="1938528"/>
            <a:ext cx="347472" cy="347472"/>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03</a:t>
            </a:r>
            <a:endParaRPr lang="en-US" sz="1050" dirty="0"/>
          </a:p>
        </p:txBody>
      </p:sp>
      <p:sp>
        <p:nvSpPr>
          <p:cNvPr id="18" name="Text 16"/>
          <p:cNvSpPr txBox="1"/>
          <p:nvPr/>
        </p:nvSpPr>
        <p:spPr>
          <a:xfrm>
            <a:off x="5285232" y="2359152"/>
            <a:ext cx="1773936" cy="274320"/>
          </a:xfrm>
          <a:prstGeom prst="rect">
            <a:avLst/>
          </a:prstGeom>
          <a:noFill/>
          <a:ln/>
        </p:spPr>
        <p:txBody>
          <a:bodyPr wrap="square" lIns="0" tIns="0" rIns="0" bIns="0" rtlCol="0" anchor="ctr"/>
          <a:lstStyle/>
          <a:p>
            <a:pPr indent="0" marL="0">
              <a:buNone/>
            </a:pPr>
            <a:r>
              <a:rPr lang="en-US" sz="1100" b="1" dirty="0">
                <a:solidFill>
                  <a:srgbClr val="0C1E33"/>
                </a:solidFill>
                <a:latin typeface="Arial" pitchFamily="34" charset="0"/>
                <a:ea typeface="Arial" pitchFamily="34" charset="-122"/>
                <a:cs typeface="Arial" pitchFamily="34" charset="-120"/>
              </a:rPr>
              <a:t>Card holder recorded</a:t>
            </a:r>
            <a:endParaRPr lang="en-US" sz="1100" dirty="0"/>
          </a:p>
        </p:txBody>
      </p:sp>
      <p:sp>
        <p:nvSpPr>
          <p:cNvPr id="19" name="Text 17"/>
          <p:cNvSpPr txBox="1"/>
          <p:nvPr/>
        </p:nvSpPr>
        <p:spPr>
          <a:xfrm>
            <a:off x="5285232" y="2651760"/>
            <a:ext cx="1773936" cy="530352"/>
          </a:xfrm>
          <a:prstGeom prst="rect">
            <a:avLst/>
          </a:prstGeom>
          <a:noFill/>
          <a:ln/>
        </p:spPr>
        <p:txBody>
          <a:bodyPr wrap="square" lIns="0" tIns="0" rIns="0" bIns="0" rtlCol="0" anchor="ctr"/>
          <a:lstStyle/>
          <a:p>
            <a:pPr indent="0" marL="0">
              <a:lnSpc>
                <a:spcPts val="1250"/>
              </a:lnSpc>
              <a:buNone/>
            </a:pPr>
            <a:r>
              <a:rPr lang="en-US" sz="930" dirty="0">
                <a:solidFill>
                  <a:srgbClr val="5A6C82"/>
                </a:solidFill>
                <a:latin typeface="Calibri" pitchFamily="34" charset="0"/>
                <a:ea typeface="Calibri" pitchFamily="34" charset="-122"/>
                <a:cs typeface="Calibri" pitchFamily="34" charset="-120"/>
              </a:rPr>
              <a:t>Which card, whose card, and whether the company or the employee carries the cost.</a:t>
            </a:r>
            <a:endParaRPr lang="en-US" sz="930" dirty="0"/>
          </a:p>
        </p:txBody>
      </p:sp>
      <p:sp>
        <p:nvSpPr>
          <p:cNvPr id="20" name="Shape 18"/>
          <p:cNvSpPr/>
          <p:nvPr/>
        </p:nvSpPr>
        <p:spPr>
          <a:xfrm>
            <a:off x="7406640" y="1773936"/>
            <a:ext cx="2103120" cy="1481328"/>
          </a:xfrm>
          <a:prstGeom prst="roundRect">
            <a:avLst>
              <a:gd name="adj" fmla="val 4938"/>
            </a:avLst>
          </a:prstGeom>
          <a:solidFill>
            <a:srgbClr val="F4F6F7"/>
          </a:solidFill>
          <a:ln w="9525">
            <a:solidFill>
              <a:srgbClr val="E3E7EA"/>
            </a:solidFill>
            <a:prstDash val="solid"/>
          </a:ln>
        </p:spPr>
      </p:sp>
      <p:sp>
        <p:nvSpPr>
          <p:cNvPr id="21" name="Shape 19"/>
          <p:cNvSpPr/>
          <p:nvPr/>
        </p:nvSpPr>
        <p:spPr>
          <a:xfrm>
            <a:off x="7571232" y="1938528"/>
            <a:ext cx="347472" cy="347472"/>
          </a:xfrm>
          <a:prstGeom prst="ellipse">
            <a:avLst/>
          </a:prstGeom>
          <a:solidFill>
            <a:srgbClr val="20A098"/>
          </a:solidFill>
          <a:ln/>
        </p:spPr>
      </p:sp>
      <p:sp>
        <p:nvSpPr>
          <p:cNvPr id="22" name="Text 20"/>
          <p:cNvSpPr txBox="1"/>
          <p:nvPr/>
        </p:nvSpPr>
        <p:spPr>
          <a:xfrm>
            <a:off x="7571232" y="1938528"/>
            <a:ext cx="347472" cy="347472"/>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04</a:t>
            </a:r>
            <a:endParaRPr lang="en-US" sz="1050" dirty="0"/>
          </a:p>
        </p:txBody>
      </p:sp>
      <p:sp>
        <p:nvSpPr>
          <p:cNvPr id="23" name="Text 21"/>
          <p:cNvSpPr txBox="1"/>
          <p:nvPr/>
        </p:nvSpPr>
        <p:spPr>
          <a:xfrm>
            <a:off x="7571232" y="2359152"/>
            <a:ext cx="1773936" cy="274320"/>
          </a:xfrm>
          <a:prstGeom prst="rect">
            <a:avLst/>
          </a:prstGeom>
          <a:noFill/>
          <a:ln/>
        </p:spPr>
        <p:txBody>
          <a:bodyPr wrap="square" lIns="0" tIns="0" rIns="0" bIns="0" rtlCol="0" anchor="ctr"/>
          <a:lstStyle/>
          <a:p>
            <a:pPr indent="0" marL="0">
              <a:buNone/>
            </a:pPr>
            <a:r>
              <a:rPr lang="en-US" sz="1100" b="1" dirty="0">
                <a:solidFill>
                  <a:srgbClr val="0C1E33"/>
                </a:solidFill>
                <a:latin typeface="Arial" pitchFamily="34" charset="0"/>
                <a:ea typeface="Arial" pitchFamily="34" charset="-122"/>
                <a:cs typeface="Arial" pitchFamily="34" charset="-120"/>
              </a:rPr>
              <a:t>Posted to finance</a:t>
            </a:r>
            <a:endParaRPr lang="en-US" sz="1100" dirty="0"/>
          </a:p>
        </p:txBody>
      </p:sp>
      <p:sp>
        <p:nvSpPr>
          <p:cNvPr id="24" name="Text 22"/>
          <p:cNvSpPr txBox="1"/>
          <p:nvPr/>
        </p:nvSpPr>
        <p:spPr>
          <a:xfrm>
            <a:off x="7571232" y="2651760"/>
            <a:ext cx="1773936" cy="530352"/>
          </a:xfrm>
          <a:prstGeom prst="rect">
            <a:avLst/>
          </a:prstGeom>
          <a:noFill/>
          <a:ln/>
        </p:spPr>
        <p:txBody>
          <a:bodyPr wrap="square" lIns="0" tIns="0" rIns="0" bIns="0" rtlCol="0" anchor="ctr"/>
          <a:lstStyle/>
          <a:p>
            <a:pPr indent="0" marL="0">
              <a:lnSpc>
                <a:spcPts val="1250"/>
              </a:lnSpc>
              <a:buNone/>
            </a:pPr>
            <a:r>
              <a:rPr lang="en-US" sz="930" dirty="0">
                <a:solidFill>
                  <a:srgbClr val="5A6C82"/>
                </a:solidFill>
                <a:latin typeface="Calibri" pitchFamily="34" charset="0"/>
                <a:ea typeface="Calibri" pitchFamily="34" charset="-122"/>
                <a:cs typeface="Calibri" pitchFamily="34" charset="-120"/>
              </a:rPr>
              <a:t>Goes to the right GL account with a document number, ready to post.</a:t>
            </a:r>
            <a:endParaRPr lang="en-US" sz="930" dirty="0"/>
          </a:p>
        </p:txBody>
      </p:sp>
      <p:sp>
        <p:nvSpPr>
          <p:cNvPr id="25" name="Shape 23"/>
          <p:cNvSpPr/>
          <p:nvPr/>
        </p:nvSpPr>
        <p:spPr>
          <a:xfrm>
            <a:off x="9692640" y="1773936"/>
            <a:ext cx="2103120" cy="1481328"/>
          </a:xfrm>
          <a:prstGeom prst="roundRect">
            <a:avLst>
              <a:gd name="adj" fmla="val 4938"/>
            </a:avLst>
          </a:prstGeom>
          <a:solidFill>
            <a:srgbClr val="F4F6F7"/>
          </a:solidFill>
          <a:ln w="9525">
            <a:solidFill>
              <a:srgbClr val="E3E7EA"/>
            </a:solidFill>
            <a:prstDash val="solid"/>
          </a:ln>
        </p:spPr>
      </p:sp>
      <p:sp>
        <p:nvSpPr>
          <p:cNvPr id="26" name="Shape 24"/>
          <p:cNvSpPr/>
          <p:nvPr/>
        </p:nvSpPr>
        <p:spPr>
          <a:xfrm>
            <a:off x="9857232" y="1938528"/>
            <a:ext cx="347472" cy="347472"/>
          </a:xfrm>
          <a:prstGeom prst="ellipse">
            <a:avLst/>
          </a:prstGeom>
          <a:solidFill>
            <a:srgbClr val="20A098"/>
          </a:solidFill>
          <a:ln/>
        </p:spPr>
      </p:sp>
      <p:sp>
        <p:nvSpPr>
          <p:cNvPr id="27" name="Text 25"/>
          <p:cNvSpPr txBox="1"/>
          <p:nvPr/>
        </p:nvSpPr>
        <p:spPr>
          <a:xfrm>
            <a:off x="9857232" y="1938528"/>
            <a:ext cx="347472" cy="347472"/>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05</a:t>
            </a:r>
            <a:endParaRPr lang="en-US" sz="1050" dirty="0"/>
          </a:p>
        </p:txBody>
      </p:sp>
      <p:sp>
        <p:nvSpPr>
          <p:cNvPr id="28" name="Text 26"/>
          <p:cNvSpPr txBox="1"/>
          <p:nvPr/>
        </p:nvSpPr>
        <p:spPr>
          <a:xfrm>
            <a:off x="9857232" y="2359152"/>
            <a:ext cx="1773936" cy="274320"/>
          </a:xfrm>
          <a:prstGeom prst="rect">
            <a:avLst/>
          </a:prstGeom>
          <a:noFill/>
          <a:ln/>
        </p:spPr>
        <p:txBody>
          <a:bodyPr wrap="square" lIns="0" tIns="0" rIns="0" bIns="0" rtlCol="0" anchor="ctr"/>
          <a:lstStyle/>
          <a:p>
            <a:pPr indent="0" marL="0">
              <a:buNone/>
            </a:pPr>
            <a:r>
              <a:rPr lang="en-US" sz="1100" b="1" dirty="0">
                <a:solidFill>
                  <a:srgbClr val="0C1E33"/>
                </a:solidFill>
                <a:latin typeface="Arial" pitchFamily="34" charset="0"/>
                <a:ea typeface="Arial" pitchFamily="34" charset="-122"/>
                <a:cs typeface="Arial" pitchFamily="34" charset="-120"/>
              </a:rPr>
              <a:t>Reportable</a:t>
            </a:r>
            <a:endParaRPr lang="en-US" sz="1100" dirty="0"/>
          </a:p>
        </p:txBody>
      </p:sp>
      <p:sp>
        <p:nvSpPr>
          <p:cNvPr id="29" name="Text 27"/>
          <p:cNvSpPr txBox="1"/>
          <p:nvPr/>
        </p:nvSpPr>
        <p:spPr>
          <a:xfrm>
            <a:off x="9857232" y="2651760"/>
            <a:ext cx="1773936" cy="530352"/>
          </a:xfrm>
          <a:prstGeom prst="rect">
            <a:avLst/>
          </a:prstGeom>
          <a:noFill/>
          <a:ln/>
        </p:spPr>
        <p:txBody>
          <a:bodyPr wrap="square" lIns="0" tIns="0" rIns="0" bIns="0" rtlCol="0" anchor="ctr"/>
          <a:lstStyle/>
          <a:p>
            <a:pPr indent="0" marL="0">
              <a:lnSpc>
                <a:spcPts val="1250"/>
              </a:lnSpc>
              <a:buNone/>
            </a:pPr>
            <a:r>
              <a:rPr lang="en-US" sz="930" dirty="0">
                <a:solidFill>
                  <a:srgbClr val="5A6C82"/>
                </a:solidFill>
                <a:latin typeface="Calibri" pitchFamily="34" charset="0"/>
                <a:ea typeface="Calibri" pitchFamily="34" charset="-122"/>
                <a:cs typeface="Calibri" pitchFamily="34" charset="-120"/>
              </a:rPr>
              <a:t>Filter by process, company, employee, date, mode or card holder, then export it.</a:t>
            </a:r>
            <a:endParaRPr lang="en-US" sz="930" dirty="0"/>
          </a:p>
        </p:txBody>
      </p:sp>
      <p:sp>
        <p:nvSpPr>
          <p:cNvPr id="30" name="Shape 28"/>
          <p:cNvSpPr/>
          <p:nvPr/>
        </p:nvSpPr>
        <p:spPr>
          <a:xfrm>
            <a:off x="548640" y="3493008"/>
            <a:ext cx="5532120" cy="640080"/>
          </a:xfrm>
          <a:prstGeom prst="roundRect">
            <a:avLst>
              <a:gd name="adj" fmla="val 8571"/>
            </a:avLst>
          </a:prstGeom>
          <a:solidFill>
            <a:srgbClr val="FFFFFF"/>
          </a:solidFill>
          <a:ln w="9525">
            <a:solidFill>
              <a:srgbClr val="E3E7EA"/>
            </a:solidFill>
            <a:prstDash val="solid"/>
          </a:ln>
        </p:spPr>
      </p:sp>
      <p:sp>
        <p:nvSpPr>
          <p:cNvPr id="31" name="Shape 29"/>
          <p:cNvSpPr/>
          <p:nvPr/>
        </p:nvSpPr>
        <p:spPr>
          <a:xfrm>
            <a:off x="713232" y="3630168"/>
            <a:ext cx="365760" cy="365760"/>
          </a:xfrm>
          <a:prstGeom prst="ellipse">
            <a:avLst/>
          </a:prstGeom>
          <a:solidFill>
            <a:srgbClr val="17795E"/>
          </a:solidFill>
          <a:ln/>
        </p:spPr>
      </p:sp>
      <p:sp>
        <p:nvSpPr>
          <p:cNvPr id="32" name="Text 30"/>
          <p:cNvSpPr txBox="1"/>
          <p:nvPr/>
        </p:nvSpPr>
        <p:spPr>
          <a:xfrm>
            <a:off x="713232" y="3630168"/>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33" name="Text 31"/>
          <p:cNvSpPr txBox="1"/>
          <p:nvPr/>
        </p:nvSpPr>
        <p:spPr>
          <a:xfrm>
            <a:off x="1207008" y="3557016"/>
            <a:ext cx="4754880" cy="219456"/>
          </a:xfrm>
          <a:prstGeom prst="rect">
            <a:avLst/>
          </a:prstGeom>
          <a:noFill/>
          <a:ln/>
        </p:spPr>
        <p:txBody>
          <a:bodyPr wrap="square" lIns="0" tIns="0" rIns="0" bIns="0" rtlCol="0" anchor="ctr"/>
          <a:lstStyle/>
          <a:p>
            <a:pPr indent="0" marL="0">
              <a:buNone/>
            </a:pPr>
            <a:r>
              <a:rPr lang="en-US" sz="1150" b="1" dirty="0">
                <a:solidFill>
                  <a:srgbClr val="0C1E33"/>
                </a:solidFill>
                <a:latin typeface="Arial" pitchFamily="34" charset="0"/>
                <a:ea typeface="Arial" pitchFamily="34" charset="-122"/>
                <a:cs typeface="Arial" pitchFamily="34" charset="-120"/>
              </a:rPr>
              <a:t>No duplicate payments</a:t>
            </a:r>
            <a:endParaRPr lang="en-US" sz="1150" dirty="0"/>
          </a:p>
        </p:txBody>
      </p:sp>
      <p:sp>
        <p:nvSpPr>
          <p:cNvPr id="34" name="Text 32"/>
          <p:cNvSpPr txBox="1"/>
          <p:nvPr/>
        </p:nvSpPr>
        <p:spPr>
          <a:xfrm>
            <a:off x="1207008" y="3776472"/>
            <a:ext cx="4754880" cy="310896"/>
          </a:xfrm>
          <a:prstGeom prst="rect">
            <a:avLst/>
          </a:prstGeom>
          <a:noFill/>
          <a:ln/>
        </p:spPr>
        <p:txBody>
          <a:bodyPr wrap="square" lIns="0" tIns="0" rIns="0" bIns="0" rtlCol="0" anchor="ctr"/>
          <a:lstStyle/>
          <a:p>
            <a:pPr indent="0" marL="0">
              <a:lnSpc>
                <a:spcPts val="1200"/>
              </a:lnSpc>
              <a:buNone/>
            </a:pPr>
            <a:r>
              <a:rPr lang="en-US" sz="900" dirty="0">
                <a:solidFill>
                  <a:srgbClr val="5A6C82"/>
                </a:solidFill>
                <a:latin typeface="Calibri" pitchFamily="34" charset="0"/>
                <a:ea typeface="Calibri" pitchFamily="34" charset="-122"/>
                <a:cs typeface="Calibri" pitchFamily="34" charset="-120"/>
              </a:rPr>
              <a:t>Every reference is tied to one step of one case, so the same fee cannot be recorded twice against the same step.</a:t>
            </a:r>
            <a:endParaRPr lang="en-US" sz="900" dirty="0"/>
          </a:p>
        </p:txBody>
      </p:sp>
      <p:sp>
        <p:nvSpPr>
          <p:cNvPr id="35" name="Shape 33"/>
          <p:cNvSpPr/>
          <p:nvPr/>
        </p:nvSpPr>
        <p:spPr>
          <a:xfrm>
            <a:off x="548640" y="4224528"/>
            <a:ext cx="5532120" cy="640080"/>
          </a:xfrm>
          <a:prstGeom prst="roundRect">
            <a:avLst>
              <a:gd name="adj" fmla="val 8571"/>
            </a:avLst>
          </a:prstGeom>
          <a:solidFill>
            <a:srgbClr val="FFFFFF"/>
          </a:solidFill>
          <a:ln w="9525">
            <a:solidFill>
              <a:srgbClr val="E3E7EA"/>
            </a:solidFill>
            <a:prstDash val="solid"/>
          </a:ln>
        </p:spPr>
      </p:sp>
      <p:sp>
        <p:nvSpPr>
          <p:cNvPr id="36" name="Shape 34"/>
          <p:cNvSpPr/>
          <p:nvPr/>
        </p:nvSpPr>
        <p:spPr>
          <a:xfrm>
            <a:off x="713232" y="4361688"/>
            <a:ext cx="365760" cy="365760"/>
          </a:xfrm>
          <a:prstGeom prst="ellipse">
            <a:avLst/>
          </a:prstGeom>
          <a:solidFill>
            <a:srgbClr val="17795E"/>
          </a:solidFill>
          <a:ln/>
        </p:spPr>
      </p:sp>
      <p:sp>
        <p:nvSpPr>
          <p:cNvPr id="37" name="Text 35"/>
          <p:cNvSpPr txBox="1"/>
          <p:nvPr/>
        </p:nvSpPr>
        <p:spPr>
          <a:xfrm>
            <a:off x="713232" y="4361688"/>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38" name="Text 36"/>
          <p:cNvSpPr txBox="1"/>
          <p:nvPr/>
        </p:nvSpPr>
        <p:spPr>
          <a:xfrm>
            <a:off x="1207008" y="4288536"/>
            <a:ext cx="4754880" cy="219456"/>
          </a:xfrm>
          <a:prstGeom prst="rect">
            <a:avLst/>
          </a:prstGeom>
          <a:noFill/>
          <a:ln/>
        </p:spPr>
        <p:txBody>
          <a:bodyPr wrap="square" lIns="0" tIns="0" rIns="0" bIns="0" rtlCol="0" anchor="ctr"/>
          <a:lstStyle/>
          <a:p>
            <a:pPr indent="0" marL="0">
              <a:buNone/>
            </a:pPr>
            <a:r>
              <a:rPr lang="en-US" sz="1150" b="1" dirty="0">
                <a:solidFill>
                  <a:srgbClr val="0C1E33"/>
                </a:solidFill>
                <a:latin typeface="Arial" pitchFamily="34" charset="0"/>
                <a:ea typeface="Arial" pitchFamily="34" charset="-122"/>
                <a:cs typeface="Arial" pitchFamily="34" charset="-120"/>
              </a:rPr>
              <a:t>No unaccounted spend</a:t>
            </a:r>
            <a:endParaRPr lang="en-US" sz="1150" dirty="0"/>
          </a:p>
        </p:txBody>
      </p:sp>
      <p:sp>
        <p:nvSpPr>
          <p:cNvPr id="39" name="Text 37"/>
          <p:cNvSpPr txBox="1"/>
          <p:nvPr/>
        </p:nvSpPr>
        <p:spPr>
          <a:xfrm>
            <a:off x="1207008" y="4507992"/>
            <a:ext cx="4754880" cy="310896"/>
          </a:xfrm>
          <a:prstGeom prst="rect">
            <a:avLst/>
          </a:prstGeom>
          <a:noFill/>
          <a:ln/>
        </p:spPr>
        <p:txBody>
          <a:bodyPr wrap="square" lIns="0" tIns="0" rIns="0" bIns="0" rtlCol="0" anchor="ctr"/>
          <a:lstStyle/>
          <a:p>
            <a:pPr indent="0" marL="0">
              <a:lnSpc>
                <a:spcPts val="1200"/>
              </a:lnSpc>
              <a:buNone/>
            </a:pPr>
            <a:r>
              <a:rPr lang="en-US" sz="900" dirty="0">
                <a:solidFill>
                  <a:srgbClr val="5A6C82"/>
                </a:solidFill>
                <a:latin typeface="Calibri" pitchFamily="34" charset="0"/>
                <a:ea typeface="Calibri" pitchFamily="34" charset="-122"/>
                <a:cs typeface="Calibri" pitchFamily="34" charset="-120"/>
              </a:rPr>
              <a:t>Every payment leaves with a GL account and a document number. Finance reconciles from a report, not a shoebox of receipts.</a:t>
            </a:r>
            <a:endParaRPr lang="en-US" sz="900" dirty="0"/>
          </a:p>
        </p:txBody>
      </p:sp>
      <p:sp>
        <p:nvSpPr>
          <p:cNvPr id="40" name="Shape 38"/>
          <p:cNvSpPr/>
          <p:nvPr/>
        </p:nvSpPr>
        <p:spPr>
          <a:xfrm>
            <a:off x="548640" y="4956048"/>
            <a:ext cx="5532120" cy="640080"/>
          </a:xfrm>
          <a:prstGeom prst="roundRect">
            <a:avLst>
              <a:gd name="adj" fmla="val 8571"/>
            </a:avLst>
          </a:prstGeom>
          <a:solidFill>
            <a:srgbClr val="FFFFFF"/>
          </a:solidFill>
          <a:ln w="9525">
            <a:solidFill>
              <a:srgbClr val="E3E7EA"/>
            </a:solidFill>
            <a:prstDash val="solid"/>
          </a:ln>
        </p:spPr>
      </p:sp>
      <p:sp>
        <p:nvSpPr>
          <p:cNvPr id="41" name="Shape 39"/>
          <p:cNvSpPr/>
          <p:nvPr/>
        </p:nvSpPr>
        <p:spPr>
          <a:xfrm>
            <a:off x="713232" y="5093208"/>
            <a:ext cx="365760" cy="365760"/>
          </a:xfrm>
          <a:prstGeom prst="ellipse">
            <a:avLst/>
          </a:prstGeom>
          <a:solidFill>
            <a:srgbClr val="17795E"/>
          </a:solidFill>
          <a:ln/>
        </p:spPr>
      </p:sp>
      <p:sp>
        <p:nvSpPr>
          <p:cNvPr id="42" name="Text 40"/>
          <p:cNvSpPr txBox="1"/>
          <p:nvPr/>
        </p:nvSpPr>
        <p:spPr>
          <a:xfrm>
            <a:off x="713232" y="5093208"/>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43" name="Text 41"/>
          <p:cNvSpPr txBox="1"/>
          <p:nvPr/>
        </p:nvSpPr>
        <p:spPr>
          <a:xfrm>
            <a:off x="1207008" y="5020056"/>
            <a:ext cx="4754880" cy="219456"/>
          </a:xfrm>
          <a:prstGeom prst="rect">
            <a:avLst/>
          </a:prstGeom>
          <a:noFill/>
          <a:ln/>
        </p:spPr>
        <p:txBody>
          <a:bodyPr wrap="square" lIns="0" tIns="0" rIns="0" bIns="0" rtlCol="0" anchor="ctr"/>
          <a:lstStyle/>
          <a:p>
            <a:pPr indent="0" marL="0">
              <a:buNone/>
            </a:pPr>
            <a:r>
              <a:rPr lang="en-US" sz="1150" b="1" dirty="0">
                <a:solidFill>
                  <a:srgbClr val="0C1E33"/>
                </a:solidFill>
                <a:latin typeface="Arial" pitchFamily="34" charset="0"/>
                <a:ea typeface="Arial" pitchFamily="34" charset="-122"/>
                <a:cs typeface="Arial" pitchFamily="34" charset="-120"/>
              </a:rPr>
              <a:t>Fines have a workflow too</a:t>
            </a:r>
            <a:endParaRPr lang="en-US" sz="1150" dirty="0"/>
          </a:p>
        </p:txBody>
      </p:sp>
      <p:sp>
        <p:nvSpPr>
          <p:cNvPr id="44" name="Text 42"/>
          <p:cNvSpPr txBox="1"/>
          <p:nvPr/>
        </p:nvSpPr>
        <p:spPr>
          <a:xfrm>
            <a:off x="1207008" y="5239512"/>
            <a:ext cx="4754880" cy="310896"/>
          </a:xfrm>
          <a:prstGeom prst="rect">
            <a:avLst/>
          </a:prstGeom>
          <a:noFill/>
          <a:ln/>
        </p:spPr>
        <p:txBody>
          <a:bodyPr wrap="square" lIns="0" tIns="0" rIns="0" bIns="0" rtlCol="0" anchor="ctr"/>
          <a:lstStyle/>
          <a:p>
            <a:pPr indent="0" marL="0">
              <a:lnSpc>
                <a:spcPts val="1200"/>
              </a:lnSpc>
              <a:buNone/>
            </a:pPr>
            <a:r>
              <a:rPr lang="en-US" sz="900" dirty="0">
                <a:solidFill>
                  <a:srgbClr val="5A6C82"/>
                </a:solidFill>
                <a:latin typeface="Calibri" pitchFamily="34" charset="0"/>
                <a:ea typeface="Calibri" pitchFamily="34" charset="-122"/>
                <a:cs typeface="Calibri" pitchFamily="34" charset="-120"/>
              </a:rPr>
              <a:t>Overstay, traffic, labour and immigration fines get raised by the PRO, go through the HRBP to payroll, and sit as a deduction.</a:t>
            </a:r>
            <a:endParaRPr lang="en-US" sz="900" dirty="0"/>
          </a:p>
        </p:txBody>
      </p:sp>
      <p:pic>
        <p:nvPicPr>
          <p:cNvPr id="45" name="Image 0" descr="./img/payment.jpg">    </p:cNvPr>
          <p:cNvPicPr>
            <a:picLocks noChangeAspect="1"/>
          </p:cNvPicPr>
          <p:nvPr/>
        </p:nvPicPr>
        <p:blipFill>
          <a:blip r:embed="rId1"/>
          <a:stretch>
            <a:fillRect/>
          </a:stretch>
        </p:blipFill>
        <p:spPr>
          <a:xfrm>
            <a:off x="6355080" y="3493008"/>
            <a:ext cx="5257800" cy="914400"/>
          </a:xfrm>
          <a:prstGeom prst="rect">
            <a:avLst/>
          </a:prstGeom>
          <a:effectLst>
            <a:outerShdw sx="100000" sy="100000" kx="0" ky="0" algn="bl" rotWithShape="0" blurRad="177800" dist="38100" dir="5400000">
              <a:srgbClr val="000000">
                <a:alpha val="20000"/>
              </a:srgbClr>
            </a:outerShdw>
          </a:effectLst>
        </p:spPr>
      </p:pic>
      <p:sp>
        <p:nvSpPr>
          <p:cNvPr id="46" name="Text 43"/>
          <p:cNvSpPr txBox="1"/>
          <p:nvPr/>
        </p:nvSpPr>
        <p:spPr>
          <a:xfrm>
            <a:off x="6355080" y="5961888"/>
            <a:ext cx="5257800" cy="384048"/>
          </a:xfrm>
          <a:prstGeom prst="rect">
            <a:avLst/>
          </a:prstGeom>
          <a:noFill/>
          <a:ln/>
        </p:spPr>
        <p:txBody>
          <a:bodyPr wrap="square" lIns="0" tIns="0" rIns="0" bIns="0" rtlCol="0" anchor="ctr"/>
          <a:lstStyle/>
          <a:p>
            <a:pPr indent="0" marL="0">
              <a:lnSpc>
                <a:spcPts val="1350"/>
              </a:lnSpc>
              <a:buNone/>
            </a:pPr>
            <a:r>
              <a:rPr lang="en-US" sz="980" i="1" dirty="0">
                <a:solidFill>
                  <a:srgbClr val="5A6C82"/>
                </a:solidFill>
                <a:latin typeface="Calibri" pitchFamily="34" charset="0"/>
                <a:ea typeface="Calibri" pitchFamily="34" charset="-122"/>
                <a:cs typeface="Calibri" pitchFamily="34" charset="-120"/>
              </a:rPr>
              <a:t>Every row is auditable: amount, VAT, payment reference, payment document number, GL account and status — with the original receipt one click away under Download.</a:t>
            </a:r>
            <a:endParaRPr lang="en-US" sz="980" dirty="0"/>
          </a:p>
        </p:txBody>
      </p:sp>
      <p:sp>
        <p:nvSpPr>
          <p:cNvPr id="47" name="Text 44"/>
          <p:cNvSpPr txBox="1"/>
          <p:nvPr/>
        </p:nvSpPr>
        <p:spPr>
          <a:xfrm>
            <a:off x="548640" y="6419088"/>
            <a:ext cx="8595360" cy="237744"/>
          </a:xfrm>
          <a:prstGeom prst="rect">
            <a:avLst/>
          </a:prstGeom>
          <a:noFill/>
          <a:ln/>
        </p:spPr>
        <p:txBody>
          <a:bodyPr wrap="square" lIns="0" tIns="0" rIns="0" bIns="0" rtlCol="0" anchor="ctr"/>
          <a:lstStyle/>
          <a:p>
            <a:pPr indent="0" marL="0">
              <a:buNone/>
            </a:pPr>
            <a:r>
              <a:rPr lang="en-US" sz="900" dirty="0">
                <a:solidFill>
                  <a:srgbClr val="96A3AE"/>
                </a:solidFill>
                <a:latin typeface="Calibri" pitchFamily="34" charset="0"/>
                <a:ea typeface="Calibri" pitchFamily="34" charset="-122"/>
                <a:cs typeface="Calibri" pitchFamily="34" charset="-120"/>
              </a:rPr>
              <a:t>INK IT Business Solutions  ·  Visa &amp; Permits Management on SAP BTP</a:t>
            </a:r>
            <a:endParaRPr lang="en-US" sz="900" dirty="0"/>
          </a:p>
        </p:txBody>
      </p:sp>
      <p:sp>
        <p:nvSpPr>
          <p:cNvPr id="48" name="Text 45"/>
          <p:cNvSpPr txBox="1"/>
          <p:nvPr/>
        </p:nvSpPr>
        <p:spPr>
          <a:xfrm>
            <a:off x="11155680" y="6419088"/>
            <a:ext cx="457200" cy="237744"/>
          </a:xfrm>
          <a:prstGeom prst="rect">
            <a:avLst/>
          </a:prstGeom>
          <a:noFill/>
          <a:ln/>
        </p:spPr>
        <p:txBody>
          <a:bodyPr wrap="square" lIns="0" tIns="0" rIns="0" bIns="0" rtlCol="0" anchor="ctr"/>
          <a:lstStyle/>
          <a:p>
            <a:pPr algn="r" indent="0" marL="0">
              <a:buNone/>
            </a:pPr>
            <a:r>
              <a:rPr lang="en-US" sz="900" dirty="0">
                <a:solidFill>
                  <a:srgbClr val="96A3AE"/>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C1E33"/>
        </a:solidFill>
      </p:bgPr>
    </p:bg>
    <p:spTree>
      <p:nvGrpSpPr>
        <p:cNvPr id="1" name=""/>
        <p:cNvGrpSpPr/>
        <p:nvPr/>
      </p:nvGrpSpPr>
      <p:grpSpPr>
        <a:xfrm>
          <a:off x="0" y="0"/>
          <a:ext cx="0" cy="0"/>
          <a:chOff x="0" y="0"/>
          <a:chExt cx="0" cy="0"/>
        </a:xfrm>
      </p:grpSpPr>
      <p:sp>
        <p:nvSpPr>
          <p:cNvPr id="2" name="Shape 0"/>
          <p:cNvSpPr/>
          <p:nvPr/>
        </p:nvSpPr>
        <p:spPr>
          <a:xfrm>
            <a:off x="9509760" y="-2377440"/>
            <a:ext cx="5852160" cy="5852160"/>
          </a:xfrm>
          <a:prstGeom prst="ellipse">
            <a:avLst/>
          </a:prstGeom>
          <a:solidFill>
            <a:srgbClr val="20A098">
              <a:alpha val="10000"/>
            </a:srgbClr>
          </a:solidFill>
          <a:ln/>
        </p:spPr>
      </p:sp>
      <p:sp>
        <p:nvSpPr>
          <p:cNvPr id="3" name="Text 1"/>
          <p:cNvSpPr txBox="1"/>
          <p:nvPr/>
        </p:nvSpPr>
        <p:spPr>
          <a:xfrm>
            <a:off x="548640" y="402336"/>
            <a:ext cx="11064240" cy="237744"/>
          </a:xfrm>
          <a:prstGeom prst="rect">
            <a:avLst/>
          </a:prstGeom>
          <a:noFill/>
          <a:ln/>
        </p:spPr>
        <p:txBody>
          <a:bodyPr wrap="square" lIns="0" tIns="0" rIns="0" bIns="0" rtlCol="0" anchor="ctr"/>
          <a:lstStyle/>
          <a:p>
            <a:pPr indent="0" marL="0">
              <a:buNone/>
            </a:pPr>
            <a:r>
              <a:rPr lang="en-US" sz="1100" b="1" spc="220" kern="0" dirty="0">
                <a:solidFill>
                  <a:srgbClr val="C9A227"/>
                </a:solidFill>
                <a:latin typeface="Calibri" pitchFamily="34" charset="0"/>
                <a:ea typeface="Calibri" pitchFamily="34" charset="-122"/>
                <a:cs typeface="Calibri" pitchFamily="34" charset="-120"/>
              </a:rPr>
              <a:t>GCC COVERAGE</a:t>
            </a:r>
            <a:endParaRPr lang="en-US" sz="1100" dirty="0"/>
          </a:p>
        </p:txBody>
      </p:sp>
      <p:sp>
        <p:nvSpPr>
          <p:cNvPr id="4" name="Text 2"/>
          <p:cNvSpPr txBox="1"/>
          <p:nvPr/>
        </p:nvSpPr>
        <p:spPr>
          <a:xfrm>
            <a:off x="548640" y="658368"/>
            <a:ext cx="11064240" cy="566928"/>
          </a:xfrm>
          <a:prstGeom prst="rect">
            <a:avLst/>
          </a:prstGeom>
          <a:noFill/>
          <a:ln/>
        </p:spPr>
        <p:txBody>
          <a:bodyPr wrap="square" lIns="0" tIns="0" rIns="0" bIns="0" rtlCol="0" anchor="ctr"/>
          <a:lstStyle/>
          <a:p>
            <a:pPr indent="0" marL="0">
              <a:buNone/>
            </a:pPr>
            <a:r>
              <a:rPr lang="en-US" sz="3000" b="1" dirty="0">
                <a:solidFill>
                  <a:srgbClr val="FFFFFF"/>
                </a:solidFill>
                <a:latin typeface="Arial" pitchFamily="34" charset="0"/>
                <a:ea typeface="Arial" pitchFamily="34" charset="-122"/>
                <a:cs typeface="Arial" pitchFamily="34" charset="-120"/>
              </a:rPr>
              <a:t>One engine, seven rulebooks.</a:t>
            </a:r>
            <a:endParaRPr lang="en-US" sz="3000" dirty="0"/>
          </a:p>
        </p:txBody>
      </p:sp>
      <p:sp>
        <p:nvSpPr>
          <p:cNvPr id="5" name="Text 3"/>
          <p:cNvSpPr txBox="1"/>
          <p:nvPr/>
        </p:nvSpPr>
        <p:spPr>
          <a:xfrm>
            <a:off x="548640" y="1243584"/>
            <a:ext cx="10424160" cy="329184"/>
          </a:xfrm>
          <a:prstGeom prst="rect">
            <a:avLst/>
          </a:prstGeom>
          <a:noFill/>
          <a:ln/>
        </p:spPr>
        <p:txBody>
          <a:bodyPr wrap="square" lIns="0" tIns="0" rIns="0" bIns="0" rtlCol="0" anchor="ctr"/>
          <a:lstStyle/>
          <a:p>
            <a:pPr indent="0" marL="0">
              <a:buNone/>
            </a:pPr>
            <a:r>
              <a:rPr lang="en-US" sz="1250" dirty="0">
                <a:solidFill>
                  <a:srgbClr val="A9C2DA"/>
                </a:solidFill>
                <a:latin typeface="Calibri" pitchFamily="34" charset="0"/>
                <a:ea typeface="Calibri" pitchFamily="34" charset="-122"/>
                <a:cs typeface="Calibri" pitchFamily="34" charset="-120"/>
              </a:rPr>
              <a:t>Labour law is national, so the process has to be too. The engine underneath stays the same everywhere. What changes country by country is the steps, the authorities, the document checklist and when the alerts fire.</a:t>
            </a:r>
            <a:endParaRPr lang="en-US" sz="1250" dirty="0"/>
          </a:p>
        </p:txBody>
      </p:sp>
      <p:sp>
        <p:nvSpPr>
          <p:cNvPr id="6" name="Shape 4"/>
          <p:cNvSpPr/>
          <p:nvPr/>
        </p:nvSpPr>
        <p:spPr>
          <a:xfrm>
            <a:off x="548640" y="1737360"/>
            <a:ext cx="10424160" cy="530352"/>
          </a:xfrm>
          <a:prstGeom prst="roundRect">
            <a:avLst>
              <a:gd name="adj" fmla="val 8621"/>
            </a:avLst>
          </a:prstGeom>
          <a:solidFill>
            <a:srgbClr val="13314C"/>
          </a:solidFill>
          <a:ln w="9525">
            <a:solidFill>
              <a:srgbClr val="27415C"/>
            </a:solidFill>
            <a:prstDash val="solid"/>
          </a:ln>
        </p:spPr>
      </p:sp>
      <p:sp>
        <p:nvSpPr>
          <p:cNvPr id="7" name="Text 5"/>
          <p:cNvSpPr txBox="1"/>
          <p:nvPr/>
        </p:nvSpPr>
        <p:spPr>
          <a:xfrm>
            <a:off x="749808" y="1778508"/>
            <a:ext cx="2331720" cy="228600"/>
          </a:xfrm>
          <a:prstGeom prst="rect">
            <a:avLst/>
          </a:prstGeom>
          <a:noFill/>
          <a:ln/>
        </p:spPr>
        <p:txBody>
          <a:bodyPr wrap="square" lIns="0" tIns="0" rIns="0" bIns="0" rtlCol="0" anchor="ctr"/>
          <a:lstStyle/>
          <a:p>
            <a:pPr indent="0" marL="0">
              <a:buNone/>
            </a:pPr>
            <a:r>
              <a:rPr lang="en-US" sz="1150" b="1" dirty="0">
                <a:solidFill>
                  <a:srgbClr val="FFFFFF"/>
                </a:solidFill>
                <a:latin typeface="Arial" pitchFamily="34" charset="0"/>
                <a:ea typeface="Arial" pitchFamily="34" charset="-122"/>
                <a:cs typeface="Arial" pitchFamily="34" charset="-120"/>
              </a:rPr>
              <a:t>United Arab Emirates</a:t>
            </a:r>
            <a:endParaRPr lang="en-US" sz="1150" dirty="0"/>
          </a:p>
        </p:txBody>
      </p:sp>
      <p:sp>
        <p:nvSpPr>
          <p:cNvPr id="8" name="Shape 6"/>
          <p:cNvSpPr/>
          <p:nvPr/>
        </p:nvSpPr>
        <p:spPr>
          <a:xfrm>
            <a:off x="749808" y="2020824"/>
            <a:ext cx="566928" cy="173736"/>
          </a:xfrm>
          <a:prstGeom prst="roundRect">
            <a:avLst>
              <a:gd name="adj" fmla="val 52632"/>
            </a:avLst>
          </a:prstGeom>
          <a:solidFill>
            <a:srgbClr val="C9A227"/>
          </a:solidFill>
          <a:ln/>
        </p:spPr>
      </p:sp>
      <p:sp>
        <p:nvSpPr>
          <p:cNvPr id="9" name="Text 7"/>
          <p:cNvSpPr txBox="1"/>
          <p:nvPr/>
        </p:nvSpPr>
        <p:spPr>
          <a:xfrm>
            <a:off x="749808" y="2020824"/>
            <a:ext cx="566928" cy="173736"/>
          </a:xfrm>
          <a:prstGeom prst="rect">
            <a:avLst/>
          </a:prstGeom>
          <a:noFill/>
          <a:ln/>
        </p:spPr>
        <p:txBody>
          <a:bodyPr wrap="square" lIns="0" tIns="0" rIns="0" bIns="0" rtlCol="0" anchor="ctr"/>
          <a:lstStyle/>
          <a:p>
            <a:pPr algn="ctr" indent="0" marL="0">
              <a:buNone/>
            </a:pPr>
            <a:r>
              <a:rPr lang="en-US" sz="750" b="1" dirty="0">
                <a:solidFill>
                  <a:srgbClr val="0C1E33"/>
                </a:solidFill>
                <a:latin typeface="Calibri" pitchFamily="34" charset="0"/>
                <a:ea typeface="Calibri" pitchFamily="34" charset="-122"/>
                <a:cs typeface="Calibri" pitchFamily="34" charset="-120"/>
              </a:rPr>
              <a:t>PACK</a:t>
            </a:r>
            <a:endParaRPr lang="en-US" sz="750" dirty="0"/>
          </a:p>
        </p:txBody>
      </p:sp>
      <p:sp>
        <p:nvSpPr>
          <p:cNvPr id="10" name="Text 8"/>
          <p:cNvSpPr txBox="1"/>
          <p:nvPr/>
        </p:nvSpPr>
        <p:spPr>
          <a:xfrm>
            <a:off x="3200400" y="1792224"/>
            <a:ext cx="3794760" cy="420624"/>
          </a:xfrm>
          <a:prstGeom prst="rect">
            <a:avLst/>
          </a:prstGeom>
          <a:noFill/>
          <a:ln/>
        </p:spPr>
        <p:txBody>
          <a:bodyPr wrap="square" lIns="0" tIns="0" rIns="0" bIns="0" rtlCol="0" anchor="ctr"/>
          <a:lstStyle/>
          <a:p>
            <a:pPr indent="0" marL="0">
              <a:lnSpc>
                <a:spcPts val="1200"/>
              </a:lnSpc>
              <a:buNone/>
            </a:pPr>
            <a:r>
              <a:rPr lang="en-US" sz="900" b="1" dirty="0">
                <a:solidFill>
                  <a:srgbClr val="7FD4CC"/>
                </a:solidFill>
                <a:latin typeface="Calibri" pitchFamily="34" charset="0"/>
                <a:ea typeface="Calibri" pitchFamily="34" charset="-122"/>
                <a:cs typeface="Calibri" pitchFamily="34" charset="-120"/>
              </a:rPr>
              <a:t>MOHRE  ·  ICP  ·  GDRFA  ·  Tasheel / Tawjeeh  ·  ILOE</a:t>
            </a:r>
            <a:endParaRPr lang="en-US" sz="900" dirty="0"/>
          </a:p>
        </p:txBody>
      </p:sp>
      <p:sp>
        <p:nvSpPr>
          <p:cNvPr id="11" name="Text 9"/>
          <p:cNvSpPr txBox="1"/>
          <p:nvPr/>
        </p:nvSpPr>
        <p:spPr>
          <a:xfrm>
            <a:off x="7132320" y="1792224"/>
            <a:ext cx="3657600" cy="420624"/>
          </a:xfrm>
          <a:prstGeom prst="rect">
            <a:avLst/>
          </a:prstGeom>
          <a:noFill/>
          <a:ln/>
        </p:spPr>
        <p:txBody>
          <a:bodyPr wrap="square" lIns="0" tIns="0" rIns="0" bIns="0" rtlCol="0" anchor="ctr"/>
          <a:lstStyle/>
          <a:p>
            <a:pPr indent="0" marL="0">
              <a:lnSpc>
                <a:spcPts val="1150"/>
              </a:lnSpc>
              <a:buNone/>
            </a:pPr>
            <a:r>
              <a:rPr lang="en-US" sz="860" dirty="0">
                <a:solidFill>
                  <a:srgbClr val="A9C2DA"/>
                </a:solidFill>
                <a:latin typeface="Calibri" pitchFamily="34" charset="0"/>
                <a:ea typeface="Calibri" pitchFamily="34" charset="-122"/>
                <a:cs typeface="Calibri" pitchFamily="34" charset="-120"/>
              </a:rPr>
              <a:t>New, renew, cancel, quota, temporary permit, Emiratisation, absconding, company documents</a:t>
            </a:r>
            <a:endParaRPr lang="en-US" sz="860" dirty="0"/>
          </a:p>
        </p:txBody>
      </p:sp>
      <p:sp>
        <p:nvSpPr>
          <p:cNvPr id="12" name="Shape 10"/>
          <p:cNvSpPr/>
          <p:nvPr/>
        </p:nvSpPr>
        <p:spPr>
          <a:xfrm>
            <a:off x="548640" y="2322576"/>
            <a:ext cx="10424160" cy="530352"/>
          </a:xfrm>
          <a:prstGeom prst="roundRect">
            <a:avLst>
              <a:gd name="adj" fmla="val 8621"/>
            </a:avLst>
          </a:prstGeom>
          <a:solidFill>
            <a:srgbClr val="16304C"/>
          </a:solidFill>
          <a:ln w="9525">
            <a:solidFill>
              <a:srgbClr val="27415C"/>
            </a:solidFill>
            <a:prstDash val="solid"/>
          </a:ln>
        </p:spPr>
      </p:sp>
      <p:sp>
        <p:nvSpPr>
          <p:cNvPr id="13" name="Text 11"/>
          <p:cNvSpPr txBox="1"/>
          <p:nvPr/>
        </p:nvSpPr>
        <p:spPr>
          <a:xfrm>
            <a:off x="749808" y="2363724"/>
            <a:ext cx="2331720" cy="228600"/>
          </a:xfrm>
          <a:prstGeom prst="rect">
            <a:avLst/>
          </a:prstGeom>
          <a:noFill/>
          <a:ln/>
        </p:spPr>
        <p:txBody>
          <a:bodyPr wrap="square" lIns="0" tIns="0" rIns="0" bIns="0" rtlCol="0" anchor="ctr"/>
          <a:lstStyle/>
          <a:p>
            <a:pPr indent="0" marL="0">
              <a:buNone/>
            </a:pPr>
            <a:r>
              <a:rPr lang="en-US" sz="1150" b="1" dirty="0">
                <a:solidFill>
                  <a:srgbClr val="FFFFFF"/>
                </a:solidFill>
                <a:latin typeface="Arial" pitchFamily="34" charset="0"/>
                <a:ea typeface="Arial" pitchFamily="34" charset="-122"/>
                <a:cs typeface="Arial" pitchFamily="34" charset="-120"/>
              </a:rPr>
              <a:t>Kingdom of Saudi Arabia</a:t>
            </a:r>
            <a:endParaRPr lang="en-US" sz="1150" dirty="0"/>
          </a:p>
        </p:txBody>
      </p:sp>
      <p:sp>
        <p:nvSpPr>
          <p:cNvPr id="14" name="Shape 12"/>
          <p:cNvSpPr/>
          <p:nvPr/>
        </p:nvSpPr>
        <p:spPr>
          <a:xfrm>
            <a:off x="749808" y="2606040"/>
            <a:ext cx="566928" cy="173736"/>
          </a:xfrm>
          <a:prstGeom prst="roundRect">
            <a:avLst>
              <a:gd name="adj" fmla="val 52632"/>
            </a:avLst>
          </a:prstGeom>
          <a:solidFill>
            <a:srgbClr val="C9A227"/>
          </a:solidFill>
          <a:ln/>
        </p:spPr>
      </p:sp>
      <p:sp>
        <p:nvSpPr>
          <p:cNvPr id="15" name="Text 13"/>
          <p:cNvSpPr txBox="1"/>
          <p:nvPr/>
        </p:nvSpPr>
        <p:spPr>
          <a:xfrm>
            <a:off x="749808" y="2606040"/>
            <a:ext cx="566928" cy="173736"/>
          </a:xfrm>
          <a:prstGeom prst="rect">
            <a:avLst/>
          </a:prstGeom>
          <a:noFill/>
          <a:ln/>
        </p:spPr>
        <p:txBody>
          <a:bodyPr wrap="square" lIns="0" tIns="0" rIns="0" bIns="0" rtlCol="0" anchor="ctr"/>
          <a:lstStyle/>
          <a:p>
            <a:pPr algn="ctr" indent="0" marL="0">
              <a:buNone/>
            </a:pPr>
            <a:r>
              <a:rPr lang="en-US" sz="750" b="1" dirty="0">
                <a:solidFill>
                  <a:srgbClr val="0C1E33"/>
                </a:solidFill>
                <a:latin typeface="Calibri" pitchFamily="34" charset="0"/>
                <a:ea typeface="Calibri" pitchFamily="34" charset="-122"/>
                <a:cs typeface="Calibri" pitchFamily="34" charset="-120"/>
              </a:rPr>
              <a:t>PACK</a:t>
            </a:r>
            <a:endParaRPr lang="en-US" sz="750" dirty="0"/>
          </a:p>
        </p:txBody>
      </p:sp>
      <p:sp>
        <p:nvSpPr>
          <p:cNvPr id="16" name="Text 14"/>
          <p:cNvSpPr txBox="1"/>
          <p:nvPr/>
        </p:nvSpPr>
        <p:spPr>
          <a:xfrm>
            <a:off x="3200400" y="2377440"/>
            <a:ext cx="3794760" cy="420624"/>
          </a:xfrm>
          <a:prstGeom prst="rect">
            <a:avLst/>
          </a:prstGeom>
          <a:noFill/>
          <a:ln/>
        </p:spPr>
        <p:txBody>
          <a:bodyPr wrap="square" lIns="0" tIns="0" rIns="0" bIns="0" rtlCol="0" anchor="ctr"/>
          <a:lstStyle/>
          <a:p>
            <a:pPr indent="0" marL="0">
              <a:lnSpc>
                <a:spcPts val="1200"/>
              </a:lnSpc>
              <a:buNone/>
            </a:pPr>
            <a:r>
              <a:rPr lang="en-US" sz="900" b="1" dirty="0">
                <a:solidFill>
                  <a:srgbClr val="7FD4CC"/>
                </a:solidFill>
                <a:latin typeface="Calibri" pitchFamily="34" charset="0"/>
                <a:ea typeface="Calibri" pitchFamily="34" charset="-122"/>
                <a:cs typeface="Calibri" pitchFamily="34" charset="-120"/>
              </a:rPr>
              <a:t>Qiwa  ·  Muqeem  ·  Absher  ·  GOSI  ·  Mudad</a:t>
            </a:r>
            <a:endParaRPr lang="en-US" sz="900" dirty="0"/>
          </a:p>
        </p:txBody>
      </p:sp>
      <p:sp>
        <p:nvSpPr>
          <p:cNvPr id="17" name="Text 15"/>
          <p:cNvSpPr txBox="1"/>
          <p:nvPr/>
        </p:nvSpPr>
        <p:spPr>
          <a:xfrm>
            <a:off x="7132320" y="2377440"/>
            <a:ext cx="3657600" cy="420624"/>
          </a:xfrm>
          <a:prstGeom prst="rect">
            <a:avLst/>
          </a:prstGeom>
          <a:noFill/>
          <a:ln/>
        </p:spPr>
        <p:txBody>
          <a:bodyPr wrap="square" lIns="0" tIns="0" rIns="0" bIns="0" rtlCol="0" anchor="ctr"/>
          <a:lstStyle/>
          <a:p>
            <a:pPr indent="0" marL="0">
              <a:lnSpc>
                <a:spcPts val="1150"/>
              </a:lnSpc>
              <a:buNone/>
            </a:pPr>
            <a:r>
              <a:rPr lang="en-US" sz="860" dirty="0">
                <a:solidFill>
                  <a:srgbClr val="A9C2DA"/>
                </a:solidFill>
                <a:latin typeface="Calibri" pitchFamily="34" charset="0"/>
                <a:ea typeface="Calibri" pitchFamily="34" charset="-122"/>
                <a:cs typeface="Calibri" pitchFamily="34" charset="-120"/>
              </a:rPr>
              <a:t>Block visa &amp; quota, work permit, Iqama issue and renewal, exit / re-entry, final exit, profession change, transfer, Nitaqat</a:t>
            </a:r>
            <a:endParaRPr lang="en-US" sz="860" dirty="0"/>
          </a:p>
        </p:txBody>
      </p:sp>
      <p:sp>
        <p:nvSpPr>
          <p:cNvPr id="18" name="Shape 16"/>
          <p:cNvSpPr/>
          <p:nvPr/>
        </p:nvSpPr>
        <p:spPr>
          <a:xfrm>
            <a:off x="548640" y="2907792"/>
            <a:ext cx="10424160" cy="530352"/>
          </a:xfrm>
          <a:prstGeom prst="roundRect">
            <a:avLst>
              <a:gd name="adj" fmla="val 8621"/>
            </a:avLst>
          </a:prstGeom>
          <a:solidFill>
            <a:srgbClr val="13314C"/>
          </a:solidFill>
          <a:ln w="9525">
            <a:solidFill>
              <a:srgbClr val="27415C"/>
            </a:solidFill>
            <a:prstDash val="solid"/>
          </a:ln>
        </p:spPr>
      </p:sp>
      <p:sp>
        <p:nvSpPr>
          <p:cNvPr id="19" name="Text 17"/>
          <p:cNvSpPr txBox="1"/>
          <p:nvPr/>
        </p:nvSpPr>
        <p:spPr>
          <a:xfrm>
            <a:off x="749808" y="2948940"/>
            <a:ext cx="2331720" cy="228600"/>
          </a:xfrm>
          <a:prstGeom prst="rect">
            <a:avLst/>
          </a:prstGeom>
          <a:noFill/>
          <a:ln/>
        </p:spPr>
        <p:txBody>
          <a:bodyPr wrap="square" lIns="0" tIns="0" rIns="0" bIns="0" rtlCol="0" anchor="ctr"/>
          <a:lstStyle/>
          <a:p>
            <a:pPr indent="0" marL="0">
              <a:buNone/>
            </a:pPr>
            <a:r>
              <a:rPr lang="en-US" sz="1150" b="1" dirty="0">
                <a:solidFill>
                  <a:srgbClr val="FFFFFF"/>
                </a:solidFill>
                <a:latin typeface="Arial" pitchFamily="34" charset="0"/>
                <a:ea typeface="Arial" pitchFamily="34" charset="-122"/>
                <a:cs typeface="Arial" pitchFamily="34" charset="-120"/>
              </a:rPr>
              <a:t>Qatar</a:t>
            </a:r>
            <a:endParaRPr lang="en-US" sz="1150" dirty="0"/>
          </a:p>
        </p:txBody>
      </p:sp>
      <p:sp>
        <p:nvSpPr>
          <p:cNvPr id="20" name="Shape 18"/>
          <p:cNvSpPr/>
          <p:nvPr/>
        </p:nvSpPr>
        <p:spPr>
          <a:xfrm>
            <a:off x="749808" y="3191256"/>
            <a:ext cx="566928" cy="173736"/>
          </a:xfrm>
          <a:prstGeom prst="roundRect">
            <a:avLst>
              <a:gd name="adj" fmla="val 52632"/>
            </a:avLst>
          </a:prstGeom>
          <a:solidFill>
            <a:srgbClr val="C9A227"/>
          </a:solidFill>
          <a:ln/>
        </p:spPr>
      </p:sp>
      <p:sp>
        <p:nvSpPr>
          <p:cNvPr id="21" name="Text 19"/>
          <p:cNvSpPr txBox="1"/>
          <p:nvPr/>
        </p:nvSpPr>
        <p:spPr>
          <a:xfrm>
            <a:off x="749808" y="3191256"/>
            <a:ext cx="566928" cy="173736"/>
          </a:xfrm>
          <a:prstGeom prst="rect">
            <a:avLst/>
          </a:prstGeom>
          <a:noFill/>
          <a:ln/>
        </p:spPr>
        <p:txBody>
          <a:bodyPr wrap="square" lIns="0" tIns="0" rIns="0" bIns="0" rtlCol="0" anchor="ctr"/>
          <a:lstStyle/>
          <a:p>
            <a:pPr algn="ctr" indent="0" marL="0">
              <a:buNone/>
            </a:pPr>
            <a:r>
              <a:rPr lang="en-US" sz="750" b="1" dirty="0">
                <a:solidFill>
                  <a:srgbClr val="0C1E33"/>
                </a:solidFill>
                <a:latin typeface="Calibri" pitchFamily="34" charset="0"/>
                <a:ea typeface="Calibri" pitchFamily="34" charset="-122"/>
                <a:cs typeface="Calibri" pitchFamily="34" charset="-120"/>
              </a:rPr>
              <a:t>PACK</a:t>
            </a:r>
            <a:endParaRPr lang="en-US" sz="750" dirty="0"/>
          </a:p>
        </p:txBody>
      </p:sp>
      <p:sp>
        <p:nvSpPr>
          <p:cNvPr id="22" name="Text 20"/>
          <p:cNvSpPr txBox="1"/>
          <p:nvPr/>
        </p:nvSpPr>
        <p:spPr>
          <a:xfrm>
            <a:off x="3200400" y="2962656"/>
            <a:ext cx="3794760" cy="420624"/>
          </a:xfrm>
          <a:prstGeom prst="rect">
            <a:avLst/>
          </a:prstGeom>
          <a:noFill/>
          <a:ln/>
        </p:spPr>
        <p:txBody>
          <a:bodyPr wrap="square" lIns="0" tIns="0" rIns="0" bIns="0" rtlCol="0" anchor="ctr"/>
          <a:lstStyle/>
          <a:p>
            <a:pPr indent="0" marL="0">
              <a:lnSpc>
                <a:spcPts val="1200"/>
              </a:lnSpc>
              <a:buNone/>
            </a:pPr>
            <a:r>
              <a:rPr lang="en-US" sz="900" b="1" dirty="0">
                <a:solidFill>
                  <a:srgbClr val="7FD4CC"/>
                </a:solidFill>
                <a:latin typeface="Calibri" pitchFamily="34" charset="0"/>
                <a:ea typeface="Calibri" pitchFamily="34" charset="-122"/>
                <a:cs typeface="Calibri" pitchFamily="34" charset="-120"/>
              </a:rPr>
              <a:t>ADLSA  ·  MOI  ·  Metrash2  ·  Qatar Visa Centre</a:t>
            </a:r>
            <a:endParaRPr lang="en-US" sz="900" dirty="0"/>
          </a:p>
        </p:txBody>
      </p:sp>
      <p:sp>
        <p:nvSpPr>
          <p:cNvPr id="23" name="Text 21"/>
          <p:cNvSpPr txBox="1"/>
          <p:nvPr/>
        </p:nvSpPr>
        <p:spPr>
          <a:xfrm>
            <a:off x="7132320" y="2962656"/>
            <a:ext cx="3657600" cy="420624"/>
          </a:xfrm>
          <a:prstGeom prst="rect">
            <a:avLst/>
          </a:prstGeom>
          <a:noFill/>
          <a:ln/>
        </p:spPr>
        <p:txBody>
          <a:bodyPr wrap="square" lIns="0" tIns="0" rIns="0" bIns="0" rtlCol="0" anchor="ctr"/>
          <a:lstStyle/>
          <a:p>
            <a:pPr indent="0" marL="0">
              <a:lnSpc>
                <a:spcPts val="1150"/>
              </a:lnSpc>
              <a:buNone/>
            </a:pPr>
            <a:r>
              <a:rPr lang="en-US" sz="860" dirty="0">
                <a:solidFill>
                  <a:srgbClr val="A9C2DA"/>
                </a:solidFill>
                <a:latin typeface="Calibri" pitchFamily="34" charset="0"/>
                <a:ea typeface="Calibri" pitchFamily="34" charset="-122"/>
                <a:cs typeface="Calibri" pitchFamily="34" charset="-120"/>
              </a:rPr>
              <a:t>Work visa quota, contract attestation, entry visa, medical and biometrics, RP and Qatar ID, renewal, exit</a:t>
            </a:r>
            <a:endParaRPr lang="en-US" sz="860" dirty="0"/>
          </a:p>
        </p:txBody>
      </p:sp>
      <p:sp>
        <p:nvSpPr>
          <p:cNvPr id="24" name="Shape 22"/>
          <p:cNvSpPr/>
          <p:nvPr/>
        </p:nvSpPr>
        <p:spPr>
          <a:xfrm>
            <a:off x="548640" y="3493008"/>
            <a:ext cx="10424160" cy="530352"/>
          </a:xfrm>
          <a:prstGeom prst="roundRect">
            <a:avLst>
              <a:gd name="adj" fmla="val 8621"/>
            </a:avLst>
          </a:prstGeom>
          <a:solidFill>
            <a:srgbClr val="16304C"/>
          </a:solidFill>
          <a:ln w="9525">
            <a:solidFill>
              <a:srgbClr val="27415C"/>
            </a:solidFill>
            <a:prstDash val="solid"/>
          </a:ln>
        </p:spPr>
      </p:sp>
      <p:sp>
        <p:nvSpPr>
          <p:cNvPr id="25" name="Text 23"/>
          <p:cNvSpPr txBox="1"/>
          <p:nvPr/>
        </p:nvSpPr>
        <p:spPr>
          <a:xfrm>
            <a:off x="749808" y="3534156"/>
            <a:ext cx="2331720" cy="228600"/>
          </a:xfrm>
          <a:prstGeom prst="rect">
            <a:avLst/>
          </a:prstGeom>
          <a:noFill/>
          <a:ln/>
        </p:spPr>
        <p:txBody>
          <a:bodyPr wrap="square" lIns="0" tIns="0" rIns="0" bIns="0" rtlCol="0" anchor="ctr"/>
          <a:lstStyle/>
          <a:p>
            <a:pPr indent="0" marL="0">
              <a:buNone/>
            </a:pPr>
            <a:r>
              <a:rPr lang="en-US" sz="1150" b="1" dirty="0">
                <a:solidFill>
                  <a:srgbClr val="FFFFFF"/>
                </a:solidFill>
                <a:latin typeface="Arial" pitchFamily="34" charset="0"/>
                <a:ea typeface="Arial" pitchFamily="34" charset="-122"/>
                <a:cs typeface="Arial" pitchFamily="34" charset="-120"/>
              </a:rPr>
              <a:t>Kuwait</a:t>
            </a:r>
            <a:endParaRPr lang="en-US" sz="1150" dirty="0"/>
          </a:p>
        </p:txBody>
      </p:sp>
      <p:sp>
        <p:nvSpPr>
          <p:cNvPr id="26" name="Shape 24"/>
          <p:cNvSpPr/>
          <p:nvPr/>
        </p:nvSpPr>
        <p:spPr>
          <a:xfrm>
            <a:off x="749808" y="3776472"/>
            <a:ext cx="566928" cy="173736"/>
          </a:xfrm>
          <a:prstGeom prst="roundRect">
            <a:avLst>
              <a:gd name="adj" fmla="val 52632"/>
            </a:avLst>
          </a:prstGeom>
          <a:solidFill>
            <a:srgbClr val="C9A227"/>
          </a:solidFill>
          <a:ln/>
        </p:spPr>
      </p:sp>
      <p:sp>
        <p:nvSpPr>
          <p:cNvPr id="27" name="Text 25"/>
          <p:cNvSpPr txBox="1"/>
          <p:nvPr/>
        </p:nvSpPr>
        <p:spPr>
          <a:xfrm>
            <a:off x="749808" y="3776472"/>
            <a:ext cx="566928" cy="173736"/>
          </a:xfrm>
          <a:prstGeom prst="rect">
            <a:avLst/>
          </a:prstGeom>
          <a:noFill/>
          <a:ln/>
        </p:spPr>
        <p:txBody>
          <a:bodyPr wrap="square" lIns="0" tIns="0" rIns="0" bIns="0" rtlCol="0" anchor="ctr"/>
          <a:lstStyle/>
          <a:p>
            <a:pPr algn="ctr" indent="0" marL="0">
              <a:buNone/>
            </a:pPr>
            <a:r>
              <a:rPr lang="en-US" sz="750" b="1" dirty="0">
                <a:solidFill>
                  <a:srgbClr val="0C1E33"/>
                </a:solidFill>
                <a:latin typeface="Calibri" pitchFamily="34" charset="0"/>
                <a:ea typeface="Calibri" pitchFamily="34" charset="-122"/>
                <a:cs typeface="Calibri" pitchFamily="34" charset="-120"/>
              </a:rPr>
              <a:t>PACK</a:t>
            </a:r>
            <a:endParaRPr lang="en-US" sz="750" dirty="0"/>
          </a:p>
        </p:txBody>
      </p:sp>
      <p:sp>
        <p:nvSpPr>
          <p:cNvPr id="28" name="Text 26"/>
          <p:cNvSpPr txBox="1"/>
          <p:nvPr/>
        </p:nvSpPr>
        <p:spPr>
          <a:xfrm>
            <a:off x="3200400" y="3547872"/>
            <a:ext cx="3794760" cy="420624"/>
          </a:xfrm>
          <a:prstGeom prst="rect">
            <a:avLst/>
          </a:prstGeom>
          <a:noFill/>
          <a:ln/>
        </p:spPr>
        <p:txBody>
          <a:bodyPr wrap="square" lIns="0" tIns="0" rIns="0" bIns="0" rtlCol="0" anchor="ctr"/>
          <a:lstStyle/>
          <a:p>
            <a:pPr indent="0" marL="0">
              <a:lnSpc>
                <a:spcPts val="1200"/>
              </a:lnSpc>
              <a:buNone/>
            </a:pPr>
            <a:r>
              <a:rPr lang="en-US" sz="900" b="1" dirty="0">
                <a:solidFill>
                  <a:srgbClr val="7FD4CC"/>
                </a:solidFill>
                <a:latin typeface="Calibri" pitchFamily="34" charset="0"/>
                <a:ea typeface="Calibri" pitchFamily="34" charset="-122"/>
                <a:cs typeface="Calibri" pitchFamily="34" charset="-120"/>
              </a:rPr>
              <a:t>PAM (Ashal)  ·  MOI  ·  Sahel  ·  PACI</a:t>
            </a:r>
            <a:endParaRPr lang="en-US" sz="900" dirty="0"/>
          </a:p>
        </p:txBody>
      </p:sp>
      <p:sp>
        <p:nvSpPr>
          <p:cNvPr id="29" name="Text 27"/>
          <p:cNvSpPr txBox="1"/>
          <p:nvPr/>
        </p:nvSpPr>
        <p:spPr>
          <a:xfrm>
            <a:off x="7132320" y="3547872"/>
            <a:ext cx="3657600" cy="420624"/>
          </a:xfrm>
          <a:prstGeom prst="rect">
            <a:avLst/>
          </a:prstGeom>
          <a:noFill/>
          <a:ln/>
        </p:spPr>
        <p:txBody>
          <a:bodyPr wrap="square" lIns="0" tIns="0" rIns="0" bIns="0" rtlCol="0" anchor="ctr"/>
          <a:lstStyle/>
          <a:p>
            <a:pPr indent="0" marL="0">
              <a:lnSpc>
                <a:spcPts val="1150"/>
              </a:lnSpc>
              <a:buNone/>
            </a:pPr>
            <a:r>
              <a:rPr lang="en-US" sz="860" dirty="0">
                <a:solidFill>
                  <a:srgbClr val="A9C2DA"/>
                </a:solidFill>
                <a:latin typeface="Calibri" pitchFamily="34" charset="0"/>
                <a:ea typeface="Calibri" pitchFamily="34" charset="-122"/>
                <a:cs typeface="Calibri" pitchFamily="34" charset="-120"/>
              </a:rPr>
              <a:t>Article 18 work permit, entry visa, medical and fingerprint, residency stamping, Civil ID, renewal, cancellation</a:t>
            </a:r>
            <a:endParaRPr lang="en-US" sz="860" dirty="0"/>
          </a:p>
        </p:txBody>
      </p:sp>
      <p:sp>
        <p:nvSpPr>
          <p:cNvPr id="30" name="Shape 28"/>
          <p:cNvSpPr/>
          <p:nvPr/>
        </p:nvSpPr>
        <p:spPr>
          <a:xfrm>
            <a:off x="548640" y="4078224"/>
            <a:ext cx="10424160" cy="530352"/>
          </a:xfrm>
          <a:prstGeom prst="roundRect">
            <a:avLst>
              <a:gd name="adj" fmla="val 8621"/>
            </a:avLst>
          </a:prstGeom>
          <a:solidFill>
            <a:srgbClr val="13314C"/>
          </a:solidFill>
          <a:ln w="9525">
            <a:solidFill>
              <a:srgbClr val="27415C"/>
            </a:solidFill>
            <a:prstDash val="solid"/>
          </a:ln>
        </p:spPr>
      </p:sp>
      <p:sp>
        <p:nvSpPr>
          <p:cNvPr id="31" name="Text 29"/>
          <p:cNvSpPr txBox="1"/>
          <p:nvPr/>
        </p:nvSpPr>
        <p:spPr>
          <a:xfrm>
            <a:off x="749808" y="4119372"/>
            <a:ext cx="2331720" cy="228600"/>
          </a:xfrm>
          <a:prstGeom prst="rect">
            <a:avLst/>
          </a:prstGeom>
          <a:noFill/>
          <a:ln/>
        </p:spPr>
        <p:txBody>
          <a:bodyPr wrap="square" lIns="0" tIns="0" rIns="0" bIns="0" rtlCol="0" anchor="ctr"/>
          <a:lstStyle/>
          <a:p>
            <a:pPr indent="0" marL="0">
              <a:buNone/>
            </a:pPr>
            <a:r>
              <a:rPr lang="en-US" sz="1150" b="1" dirty="0">
                <a:solidFill>
                  <a:srgbClr val="FFFFFF"/>
                </a:solidFill>
                <a:latin typeface="Arial" pitchFamily="34" charset="0"/>
                <a:ea typeface="Arial" pitchFamily="34" charset="-122"/>
                <a:cs typeface="Arial" pitchFamily="34" charset="-120"/>
              </a:rPr>
              <a:t>Oman</a:t>
            </a:r>
            <a:endParaRPr lang="en-US" sz="1150" dirty="0"/>
          </a:p>
        </p:txBody>
      </p:sp>
      <p:sp>
        <p:nvSpPr>
          <p:cNvPr id="32" name="Shape 30"/>
          <p:cNvSpPr/>
          <p:nvPr/>
        </p:nvSpPr>
        <p:spPr>
          <a:xfrm>
            <a:off x="749808" y="4361688"/>
            <a:ext cx="566928" cy="173736"/>
          </a:xfrm>
          <a:prstGeom prst="roundRect">
            <a:avLst>
              <a:gd name="adj" fmla="val 52632"/>
            </a:avLst>
          </a:prstGeom>
          <a:solidFill>
            <a:srgbClr val="C9A227"/>
          </a:solidFill>
          <a:ln/>
        </p:spPr>
      </p:sp>
      <p:sp>
        <p:nvSpPr>
          <p:cNvPr id="33" name="Text 31"/>
          <p:cNvSpPr txBox="1"/>
          <p:nvPr/>
        </p:nvSpPr>
        <p:spPr>
          <a:xfrm>
            <a:off x="749808" y="4361688"/>
            <a:ext cx="566928" cy="173736"/>
          </a:xfrm>
          <a:prstGeom prst="rect">
            <a:avLst/>
          </a:prstGeom>
          <a:noFill/>
          <a:ln/>
        </p:spPr>
        <p:txBody>
          <a:bodyPr wrap="square" lIns="0" tIns="0" rIns="0" bIns="0" rtlCol="0" anchor="ctr"/>
          <a:lstStyle/>
          <a:p>
            <a:pPr algn="ctr" indent="0" marL="0">
              <a:buNone/>
            </a:pPr>
            <a:r>
              <a:rPr lang="en-US" sz="750" b="1" dirty="0">
                <a:solidFill>
                  <a:srgbClr val="0C1E33"/>
                </a:solidFill>
                <a:latin typeface="Calibri" pitchFamily="34" charset="0"/>
                <a:ea typeface="Calibri" pitchFamily="34" charset="-122"/>
                <a:cs typeface="Calibri" pitchFamily="34" charset="-120"/>
              </a:rPr>
              <a:t>PACK</a:t>
            </a:r>
            <a:endParaRPr lang="en-US" sz="750" dirty="0"/>
          </a:p>
        </p:txBody>
      </p:sp>
      <p:sp>
        <p:nvSpPr>
          <p:cNvPr id="34" name="Text 32"/>
          <p:cNvSpPr txBox="1"/>
          <p:nvPr/>
        </p:nvSpPr>
        <p:spPr>
          <a:xfrm>
            <a:off x="3200400" y="4133088"/>
            <a:ext cx="3794760" cy="420624"/>
          </a:xfrm>
          <a:prstGeom prst="rect">
            <a:avLst/>
          </a:prstGeom>
          <a:noFill/>
          <a:ln/>
        </p:spPr>
        <p:txBody>
          <a:bodyPr wrap="square" lIns="0" tIns="0" rIns="0" bIns="0" rtlCol="0" anchor="ctr"/>
          <a:lstStyle/>
          <a:p>
            <a:pPr indent="0" marL="0">
              <a:lnSpc>
                <a:spcPts val="1200"/>
              </a:lnSpc>
              <a:buNone/>
            </a:pPr>
            <a:r>
              <a:rPr lang="en-US" sz="900" b="1" dirty="0">
                <a:solidFill>
                  <a:srgbClr val="7FD4CC"/>
                </a:solidFill>
                <a:latin typeface="Calibri" pitchFamily="34" charset="0"/>
                <a:ea typeface="Calibri" pitchFamily="34" charset="-122"/>
                <a:cs typeface="Calibri" pitchFamily="34" charset="-120"/>
              </a:rPr>
              <a:t>Ministry of Labour  ·  ROP  ·  Invest Easy</a:t>
            </a:r>
            <a:endParaRPr lang="en-US" sz="900" dirty="0"/>
          </a:p>
        </p:txBody>
      </p:sp>
      <p:sp>
        <p:nvSpPr>
          <p:cNvPr id="35" name="Text 33"/>
          <p:cNvSpPr txBox="1"/>
          <p:nvPr/>
        </p:nvSpPr>
        <p:spPr>
          <a:xfrm>
            <a:off x="7132320" y="4133088"/>
            <a:ext cx="3657600" cy="420624"/>
          </a:xfrm>
          <a:prstGeom prst="rect">
            <a:avLst/>
          </a:prstGeom>
          <a:noFill/>
          <a:ln/>
        </p:spPr>
        <p:txBody>
          <a:bodyPr wrap="square" lIns="0" tIns="0" rIns="0" bIns="0" rtlCol="0" anchor="ctr"/>
          <a:lstStyle/>
          <a:p>
            <a:pPr indent="0" marL="0">
              <a:lnSpc>
                <a:spcPts val="1150"/>
              </a:lnSpc>
              <a:buNone/>
            </a:pPr>
            <a:r>
              <a:rPr lang="en-US" sz="860" dirty="0">
                <a:solidFill>
                  <a:srgbClr val="A9C2DA"/>
                </a:solidFill>
                <a:latin typeface="Calibri" pitchFamily="34" charset="0"/>
                <a:ea typeface="Calibri" pitchFamily="34" charset="-122"/>
                <a:cs typeface="Calibri" pitchFamily="34" charset="-120"/>
              </a:rPr>
              <a:t>Labour clearance, employment visa, medical, resident card, renewal, Omanisation monitoring, exit</a:t>
            </a:r>
            <a:endParaRPr lang="en-US" sz="860" dirty="0"/>
          </a:p>
        </p:txBody>
      </p:sp>
      <p:sp>
        <p:nvSpPr>
          <p:cNvPr id="36" name="Shape 34"/>
          <p:cNvSpPr/>
          <p:nvPr/>
        </p:nvSpPr>
        <p:spPr>
          <a:xfrm>
            <a:off x="548640" y="4663440"/>
            <a:ext cx="10424160" cy="530352"/>
          </a:xfrm>
          <a:prstGeom prst="roundRect">
            <a:avLst>
              <a:gd name="adj" fmla="val 8621"/>
            </a:avLst>
          </a:prstGeom>
          <a:solidFill>
            <a:srgbClr val="16304C"/>
          </a:solidFill>
          <a:ln w="9525">
            <a:solidFill>
              <a:srgbClr val="27415C"/>
            </a:solidFill>
            <a:prstDash val="solid"/>
          </a:ln>
        </p:spPr>
      </p:sp>
      <p:sp>
        <p:nvSpPr>
          <p:cNvPr id="37" name="Text 35"/>
          <p:cNvSpPr txBox="1"/>
          <p:nvPr/>
        </p:nvSpPr>
        <p:spPr>
          <a:xfrm>
            <a:off x="749808" y="4704588"/>
            <a:ext cx="2331720" cy="228600"/>
          </a:xfrm>
          <a:prstGeom prst="rect">
            <a:avLst/>
          </a:prstGeom>
          <a:noFill/>
          <a:ln/>
        </p:spPr>
        <p:txBody>
          <a:bodyPr wrap="square" lIns="0" tIns="0" rIns="0" bIns="0" rtlCol="0" anchor="ctr"/>
          <a:lstStyle/>
          <a:p>
            <a:pPr indent="0" marL="0">
              <a:buNone/>
            </a:pPr>
            <a:r>
              <a:rPr lang="en-US" sz="1150" b="1" dirty="0">
                <a:solidFill>
                  <a:srgbClr val="FFFFFF"/>
                </a:solidFill>
                <a:latin typeface="Arial" pitchFamily="34" charset="0"/>
                <a:ea typeface="Arial" pitchFamily="34" charset="-122"/>
                <a:cs typeface="Arial" pitchFamily="34" charset="-120"/>
              </a:rPr>
              <a:t>Bahrain</a:t>
            </a:r>
            <a:endParaRPr lang="en-US" sz="1150" dirty="0"/>
          </a:p>
        </p:txBody>
      </p:sp>
      <p:sp>
        <p:nvSpPr>
          <p:cNvPr id="38" name="Shape 36"/>
          <p:cNvSpPr/>
          <p:nvPr/>
        </p:nvSpPr>
        <p:spPr>
          <a:xfrm>
            <a:off x="749808" y="4946904"/>
            <a:ext cx="566928" cy="173736"/>
          </a:xfrm>
          <a:prstGeom prst="roundRect">
            <a:avLst>
              <a:gd name="adj" fmla="val 52632"/>
            </a:avLst>
          </a:prstGeom>
          <a:solidFill>
            <a:srgbClr val="C9A227"/>
          </a:solidFill>
          <a:ln/>
        </p:spPr>
      </p:sp>
      <p:sp>
        <p:nvSpPr>
          <p:cNvPr id="39" name="Text 37"/>
          <p:cNvSpPr txBox="1"/>
          <p:nvPr/>
        </p:nvSpPr>
        <p:spPr>
          <a:xfrm>
            <a:off x="749808" y="4946904"/>
            <a:ext cx="566928" cy="173736"/>
          </a:xfrm>
          <a:prstGeom prst="rect">
            <a:avLst/>
          </a:prstGeom>
          <a:noFill/>
          <a:ln/>
        </p:spPr>
        <p:txBody>
          <a:bodyPr wrap="square" lIns="0" tIns="0" rIns="0" bIns="0" rtlCol="0" anchor="ctr"/>
          <a:lstStyle/>
          <a:p>
            <a:pPr algn="ctr" indent="0" marL="0">
              <a:buNone/>
            </a:pPr>
            <a:r>
              <a:rPr lang="en-US" sz="750" b="1" dirty="0">
                <a:solidFill>
                  <a:srgbClr val="0C1E33"/>
                </a:solidFill>
                <a:latin typeface="Calibri" pitchFamily="34" charset="0"/>
                <a:ea typeface="Calibri" pitchFamily="34" charset="-122"/>
                <a:cs typeface="Calibri" pitchFamily="34" charset="-120"/>
              </a:rPr>
              <a:t>PACK</a:t>
            </a:r>
            <a:endParaRPr lang="en-US" sz="750" dirty="0"/>
          </a:p>
        </p:txBody>
      </p:sp>
      <p:sp>
        <p:nvSpPr>
          <p:cNvPr id="40" name="Text 38"/>
          <p:cNvSpPr txBox="1"/>
          <p:nvPr/>
        </p:nvSpPr>
        <p:spPr>
          <a:xfrm>
            <a:off x="3200400" y="4718304"/>
            <a:ext cx="3794760" cy="420624"/>
          </a:xfrm>
          <a:prstGeom prst="rect">
            <a:avLst/>
          </a:prstGeom>
          <a:noFill/>
          <a:ln/>
        </p:spPr>
        <p:txBody>
          <a:bodyPr wrap="square" lIns="0" tIns="0" rIns="0" bIns="0" rtlCol="0" anchor="ctr"/>
          <a:lstStyle/>
          <a:p>
            <a:pPr indent="0" marL="0">
              <a:lnSpc>
                <a:spcPts val="1200"/>
              </a:lnSpc>
              <a:buNone/>
            </a:pPr>
            <a:r>
              <a:rPr lang="en-US" sz="900" b="1" dirty="0">
                <a:solidFill>
                  <a:srgbClr val="7FD4CC"/>
                </a:solidFill>
                <a:latin typeface="Calibri" pitchFamily="34" charset="0"/>
                <a:ea typeface="Calibri" pitchFamily="34" charset="-122"/>
                <a:cs typeface="Calibri" pitchFamily="34" charset="-120"/>
              </a:rPr>
              <a:t>LMRA (EMS)  ·  NPRA  ·  SIO / CPR  ·  GOSI</a:t>
            </a:r>
            <a:endParaRPr lang="en-US" sz="900" dirty="0"/>
          </a:p>
        </p:txBody>
      </p:sp>
      <p:sp>
        <p:nvSpPr>
          <p:cNvPr id="41" name="Text 39"/>
          <p:cNvSpPr txBox="1"/>
          <p:nvPr/>
        </p:nvSpPr>
        <p:spPr>
          <a:xfrm>
            <a:off x="7132320" y="4718304"/>
            <a:ext cx="3657600" cy="420624"/>
          </a:xfrm>
          <a:prstGeom prst="rect">
            <a:avLst/>
          </a:prstGeom>
          <a:noFill/>
          <a:ln/>
        </p:spPr>
        <p:txBody>
          <a:bodyPr wrap="square" lIns="0" tIns="0" rIns="0" bIns="0" rtlCol="0" anchor="ctr"/>
          <a:lstStyle/>
          <a:p>
            <a:pPr indent="0" marL="0">
              <a:lnSpc>
                <a:spcPts val="1150"/>
              </a:lnSpc>
              <a:buNone/>
            </a:pPr>
            <a:r>
              <a:rPr lang="en-US" sz="860" dirty="0">
                <a:solidFill>
                  <a:srgbClr val="A9C2DA"/>
                </a:solidFill>
                <a:latin typeface="Calibri" pitchFamily="34" charset="0"/>
                <a:ea typeface="Calibri" pitchFamily="34" charset="-122"/>
                <a:cs typeface="Calibri" pitchFamily="34" charset="-120"/>
              </a:rPr>
              <a:t>Expatriate work permit, medical, residence permit, CPR card, renewal, flexi permit tracking, cancellation</a:t>
            </a:r>
            <a:endParaRPr lang="en-US" sz="860" dirty="0"/>
          </a:p>
        </p:txBody>
      </p:sp>
      <p:sp>
        <p:nvSpPr>
          <p:cNvPr id="42" name="Shape 40"/>
          <p:cNvSpPr/>
          <p:nvPr/>
        </p:nvSpPr>
        <p:spPr>
          <a:xfrm>
            <a:off x="548640" y="5248656"/>
            <a:ext cx="10424160" cy="530352"/>
          </a:xfrm>
          <a:prstGeom prst="roundRect">
            <a:avLst>
              <a:gd name="adj" fmla="val 8621"/>
            </a:avLst>
          </a:prstGeom>
          <a:solidFill>
            <a:srgbClr val="13314C"/>
          </a:solidFill>
          <a:ln w="9525">
            <a:solidFill>
              <a:srgbClr val="27415C"/>
            </a:solidFill>
            <a:prstDash val="solid"/>
          </a:ln>
        </p:spPr>
      </p:sp>
      <p:sp>
        <p:nvSpPr>
          <p:cNvPr id="43" name="Text 41"/>
          <p:cNvSpPr txBox="1"/>
          <p:nvPr/>
        </p:nvSpPr>
        <p:spPr>
          <a:xfrm>
            <a:off x="749808" y="5289804"/>
            <a:ext cx="2331720" cy="228600"/>
          </a:xfrm>
          <a:prstGeom prst="rect">
            <a:avLst/>
          </a:prstGeom>
          <a:noFill/>
          <a:ln/>
        </p:spPr>
        <p:txBody>
          <a:bodyPr wrap="square" lIns="0" tIns="0" rIns="0" bIns="0" rtlCol="0" anchor="ctr"/>
          <a:lstStyle/>
          <a:p>
            <a:pPr indent="0" marL="0">
              <a:buNone/>
            </a:pPr>
            <a:r>
              <a:rPr lang="en-US" sz="1150" b="1" dirty="0">
                <a:solidFill>
                  <a:srgbClr val="FFFFFF"/>
                </a:solidFill>
                <a:latin typeface="Arial" pitchFamily="34" charset="0"/>
                <a:ea typeface="Arial" pitchFamily="34" charset="-122"/>
                <a:cs typeface="Arial" pitchFamily="34" charset="-120"/>
              </a:rPr>
              <a:t>Libya</a:t>
            </a:r>
            <a:endParaRPr lang="en-US" sz="1150" dirty="0"/>
          </a:p>
        </p:txBody>
      </p:sp>
      <p:sp>
        <p:nvSpPr>
          <p:cNvPr id="44" name="Shape 42"/>
          <p:cNvSpPr/>
          <p:nvPr/>
        </p:nvSpPr>
        <p:spPr>
          <a:xfrm>
            <a:off x="749808" y="5532120"/>
            <a:ext cx="566928" cy="173736"/>
          </a:xfrm>
          <a:prstGeom prst="roundRect">
            <a:avLst>
              <a:gd name="adj" fmla="val 52632"/>
            </a:avLst>
          </a:prstGeom>
          <a:solidFill>
            <a:srgbClr val="C9A227"/>
          </a:solidFill>
          <a:ln/>
        </p:spPr>
      </p:sp>
      <p:sp>
        <p:nvSpPr>
          <p:cNvPr id="45" name="Text 43"/>
          <p:cNvSpPr txBox="1"/>
          <p:nvPr/>
        </p:nvSpPr>
        <p:spPr>
          <a:xfrm>
            <a:off x="749808" y="5532120"/>
            <a:ext cx="566928" cy="173736"/>
          </a:xfrm>
          <a:prstGeom prst="rect">
            <a:avLst/>
          </a:prstGeom>
          <a:noFill/>
          <a:ln/>
        </p:spPr>
        <p:txBody>
          <a:bodyPr wrap="square" lIns="0" tIns="0" rIns="0" bIns="0" rtlCol="0" anchor="ctr"/>
          <a:lstStyle/>
          <a:p>
            <a:pPr algn="ctr" indent="0" marL="0">
              <a:buNone/>
            </a:pPr>
            <a:r>
              <a:rPr lang="en-US" sz="750" b="1" dirty="0">
                <a:solidFill>
                  <a:srgbClr val="0C1E33"/>
                </a:solidFill>
                <a:latin typeface="Calibri" pitchFamily="34" charset="0"/>
                <a:ea typeface="Calibri" pitchFamily="34" charset="-122"/>
                <a:cs typeface="Calibri" pitchFamily="34" charset="-120"/>
              </a:rPr>
              <a:t>PACK</a:t>
            </a:r>
            <a:endParaRPr lang="en-US" sz="750" dirty="0"/>
          </a:p>
        </p:txBody>
      </p:sp>
      <p:sp>
        <p:nvSpPr>
          <p:cNvPr id="46" name="Text 44"/>
          <p:cNvSpPr txBox="1"/>
          <p:nvPr/>
        </p:nvSpPr>
        <p:spPr>
          <a:xfrm>
            <a:off x="3200400" y="5303520"/>
            <a:ext cx="3794760" cy="420624"/>
          </a:xfrm>
          <a:prstGeom prst="rect">
            <a:avLst/>
          </a:prstGeom>
          <a:noFill/>
          <a:ln/>
        </p:spPr>
        <p:txBody>
          <a:bodyPr wrap="square" lIns="0" tIns="0" rIns="0" bIns="0" rtlCol="0" anchor="ctr"/>
          <a:lstStyle/>
          <a:p>
            <a:pPr indent="0" marL="0">
              <a:lnSpc>
                <a:spcPts val="1200"/>
              </a:lnSpc>
              <a:buNone/>
            </a:pPr>
            <a:r>
              <a:rPr lang="en-US" sz="900" b="1" dirty="0">
                <a:solidFill>
                  <a:srgbClr val="7FD4CC"/>
                </a:solidFill>
                <a:latin typeface="Calibri" pitchFamily="34" charset="0"/>
                <a:ea typeface="Calibri" pitchFamily="34" charset="-122"/>
                <a:cs typeface="Calibri" pitchFamily="34" charset="-120"/>
              </a:rPr>
              <a:t>Ministry of Labour  ·  Passport &amp; Nationality Authority</a:t>
            </a:r>
            <a:endParaRPr lang="en-US" sz="900" dirty="0"/>
          </a:p>
        </p:txBody>
      </p:sp>
      <p:sp>
        <p:nvSpPr>
          <p:cNvPr id="47" name="Text 45"/>
          <p:cNvSpPr txBox="1"/>
          <p:nvPr/>
        </p:nvSpPr>
        <p:spPr>
          <a:xfrm>
            <a:off x="7132320" y="5303520"/>
            <a:ext cx="3657600" cy="420624"/>
          </a:xfrm>
          <a:prstGeom prst="rect">
            <a:avLst/>
          </a:prstGeom>
          <a:noFill/>
          <a:ln/>
        </p:spPr>
        <p:txBody>
          <a:bodyPr wrap="square" lIns="0" tIns="0" rIns="0" bIns="0" rtlCol="0" anchor="ctr"/>
          <a:lstStyle/>
          <a:p>
            <a:pPr indent="0" marL="0">
              <a:lnSpc>
                <a:spcPts val="1150"/>
              </a:lnSpc>
              <a:buNone/>
            </a:pPr>
            <a:r>
              <a:rPr lang="en-US" sz="860" dirty="0">
                <a:solidFill>
                  <a:srgbClr val="A9C2DA"/>
                </a:solidFill>
                <a:latin typeface="Calibri" pitchFamily="34" charset="0"/>
                <a:ea typeface="Calibri" pitchFamily="34" charset="-122"/>
                <a:cs typeface="Calibri" pitchFamily="34" charset="-120"/>
              </a:rPr>
              <a:t>Work permit, entry visa, medical, residency, rotation tracking for expatriate crews, company operating permits</a:t>
            </a:r>
            <a:endParaRPr lang="en-US" sz="860" dirty="0"/>
          </a:p>
        </p:txBody>
      </p:sp>
      <p:sp>
        <p:nvSpPr>
          <p:cNvPr id="48" name="Text 46"/>
          <p:cNvSpPr txBox="1"/>
          <p:nvPr/>
        </p:nvSpPr>
        <p:spPr>
          <a:xfrm>
            <a:off x="749808" y="1517904"/>
            <a:ext cx="2194560" cy="173736"/>
          </a:xfrm>
          <a:prstGeom prst="rect">
            <a:avLst/>
          </a:prstGeom>
          <a:noFill/>
          <a:ln/>
        </p:spPr>
        <p:txBody>
          <a:bodyPr wrap="square" lIns="0" tIns="0" rIns="0" bIns="0" rtlCol="0" anchor="ctr"/>
          <a:lstStyle/>
          <a:p>
            <a:pPr indent="0" marL="0">
              <a:buNone/>
            </a:pPr>
            <a:r>
              <a:rPr lang="en-US" sz="800" b="1" spc="140" kern="0" dirty="0">
                <a:solidFill>
                  <a:srgbClr val="6C87A2"/>
                </a:solidFill>
                <a:latin typeface="Calibri" pitchFamily="34" charset="0"/>
                <a:ea typeface="Calibri" pitchFamily="34" charset="-122"/>
                <a:cs typeface="Calibri" pitchFamily="34" charset="-120"/>
              </a:rPr>
              <a:t>COUNTRY</a:t>
            </a:r>
            <a:endParaRPr lang="en-US" sz="800" dirty="0"/>
          </a:p>
        </p:txBody>
      </p:sp>
      <p:sp>
        <p:nvSpPr>
          <p:cNvPr id="49" name="Text 47"/>
          <p:cNvSpPr txBox="1"/>
          <p:nvPr/>
        </p:nvSpPr>
        <p:spPr>
          <a:xfrm>
            <a:off x="3200400" y="1517904"/>
            <a:ext cx="3749040" cy="173736"/>
          </a:xfrm>
          <a:prstGeom prst="rect">
            <a:avLst/>
          </a:prstGeom>
          <a:noFill/>
          <a:ln/>
        </p:spPr>
        <p:txBody>
          <a:bodyPr wrap="square" lIns="0" tIns="0" rIns="0" bIns="0" rtlCol="0" anchor="ctr"/>
          <a:lstStyle/>
          <a:p>
            <a:pPr indent="0" marL="0">
              <a:buNone/>
            </a:pPr>
            <a:r>
              <a:rPr lang="en-US" sz="800" b="1" spc="140" kern="0" dirty="0">
                <a:solidFill>
                  <a:srgbClr val="6C87A2"/>
                </a:solidFill>
                <a:latin typeface="Calibri" pitchFamily="34" charset="0"/>
                <a:ea typeface="Calibri" pitchFamily="34" charset="-122"/>
                <a:cs typeface="Calibri" pitchFamily="34" charset="-120"/>
              </a:rPr>
              <a:t>AUTHORITIES &amp; PORTALS</a:t>
            </a:r>
            <a:endParaRPr lang="en-US" sz="800" dirty="0"/>
          </a:p>
        </p:txBody>
      </p:sp>
      <p:sp>
        <p:nvSpPr>
          <p:cNvPr id="50" name="Text 48"/>
          <p:cNvSpPr txBox="1"/>
          <p:nvPr/>
        </p:nvSpPr>
        <p:spPr>
          <a:xfrm>
            <a:off x="7132320" y="1517904"/>
            <a:ext cx="3657600" cy="173736"/>
          </a:xfrm>
          <a:prstGeom prst="rect">
            <a:avLst/>
          </a:prstGeom>
          <a:noFill/>
          <a:ln/>
        </p:spPr>
        <p:txBody>
          <a:bodyPr wrap="square" lIns="0" tIns="0" rIns="0" bIns="0" rtlCol="0" anchor="ctr"/>
          <a:lstStyle/>
          <a:p>
            <a:pPr indent="0" marL="0">
              <a:buNone/>
            </a:pPr>
            <a:r>
              <a:rPr lang="en-US" sz="800" b="1" spc="140" kern="0" dirty="0">
                <a:solidFill>
                  <a:srgbClr val="6C87A2"/>
                </a:solidFill>
                <a:latin typeface="Calibri" pitchFamily="34" charset="0"/>
                <a:ea typeface="Calibri" pitchFamily="34" charset="-122"/>
                <a:cs typeface="Calibri" pitchFamily="34" charset="-120"/>
              </a:rPr>
              <a:t>PROCESSES IN THE PACK</a:t>
            </a:r>
            <a:endParaRPr lang="en-US" sz="800" dirty="0"/>
          </a:p>
        </p:txBody>
      </p:sp>
      <p:sp>
        <p:nvSpPr>
          <p:cNvPr id="51" name="Text 49"/>
          <p:cNvSpPr txBox="1"/>
          <p:nvPr/>
        </p:nvSpPr>
        <p:spPr>
          <a:xfrm>
            <a:off x="548640" y="5943600"/>
            <a:ext cx="10424160" cy="384048"/>
          </a:xfrm>
          <a:prstGeom prst="rect">
            <a:avLst/>
          </a:prstGeom>
          <a:noFill/>
          <a:ln/>
        </p:spPr>
        <p:txBody>
          <a:bodyPr wrap="square" lIns="0" tIns="0" rIns="0" bIns="0" rtlCol="0" anchor="ctr"/>
          <a:lstStyle/>
          <a:p>
            <a:pPr indent="0" marL="0">
              <a:lnSpc>
                <a:spcPts val="1300"/>
              </a:lnSpc>
              <a:buNone/>
            </a:pPr>
            <a:r>
              <a:rPr lang="en-US" sz="950" b="1" dirty="0">
                <a:solidFill>
                  <a:srgbClr val="C9A227"/>
                </a:solidFill>
                <a:latin typeface="Calibri" pitchFamily="34" charset="0"/>
                <a:ea typeface="Calibri" pitchFamily="34" charset="-122"/>
                <a:cs typeface="Calibri" pitchFamily="34" charset="-120"/>
              </a:rPr>
              <a:t>PACK</a:t>
            </a:r>
            <a:pPr indent="0" marL="0">
              <a:lnSpc>
                <a:spcPts val="1300"/>
              </a:lnSpc>
              <a:buNone/>
            </a:pPr>
            <a:r>
              <a:rPr lang="en-US" sz="950" dirty="0">
                <a:solidFill>
                  <a:srgbClr val="A9C2DA"/>
                </a:solidFill>
                <a:latin typeface="Calibri" pitchFamily="34" charset="0"/>
                <a:ea typeface="Calibri" pitchFamily="34" charset="-122"/>
                <a:cs typeface="Calibri" pitchFamily="34" charset="-120"/>
              </a:rPr>
              <a:t> = the country’s statutory flow expressed as configuration on the shared engine — milestones, authorities, document checklist, mandatory fields, payment types and alert thresholds. Pre-built rather than custom-developed, with a localisation workshop confirming document names, fees and thresholds before go-live.</a:t>
            </a:r>
            <a:endParaRPr lang="en-US" sz="950" dirty="0"/>
          </a:p>
        </p:txBody>
      </p:sp>
      <p:sp>
        <p:nvSpPr>
          <p:cNvPr id="52" name="Text 50"/>
          <p:cNvSpPr txBox="1"/>
          <p:nvPr/>
        </p:nvSpPr>
        <p:spPr>
          <a:xfrm>
            <a:off x="548640" y="6419088"/>
            <a:ext cx="8595360" cy="237744"/>
          </a:xfrm>
          <a:prstGeom prst="rect">
            <a:avLst/>
          </a:prstGeom>
          <a:noFill/>
          <a:ln/>
        </p:spPr>
        <p:txBody>
          <a:bodyPr wrap="square" lIns="0" tIns="0" rIns="0" bIns="0" rtlCol="0" anchor="ctr"/>
          <a:lstStyle/>
          <a:p>
            <a:pPr indent="0" marL="0">
              <a:buNone/>
            </a:pPr>
            <a:r>
              <a:rPr lang="en-US" sz="900" dirty="0">
                <a:solidFill>
                  <a:srgbClr val="7E99B4"/>
                </a:solidFill>
                <a:latin typeface="Calibri" pitchFamily="34" charset="0"/>
                <a:ea typeface="Calibri" pitchFamily="34" charset="-122"/>
                <a:cs typeface="Calibri" pitchFamily="34" charset="-120"/>
              </a:rPr>
              <a:t>INK IT Business Solutions  ·  Visa &amp; Permits Management on SAP BTP</a:t>
            </a:r>
            <a:endParaRPr lang="en-US" sz="900" dirty="0"/>
          </a:p>
        </p:txBody>
      </p:sp>
      <p:sp>
        <p:nvSpPr>
          <p:cNvPr id="53" name="Text 51"/>
          <p:cNvSpPr txBox="1"/>
          <p:nvPr/>
        </p:nvSpPr>
        <p:spPr>
          <a:xfrm>
            <a:off x="11155680" y="6419088"/>
            <a:ext cx="457200" cy="237744"/>
          </a:xfrm>
          <a:prstGeom prst="rect">
            <a:avLst/>
          </a:prstGeom>
          <a:noFill/>
          <a:ln/>
        </p:spPr>
        <p:txBody>
          <a:bodyPr wrap="square" lIns="0" tIns="0" rIns="0" bIns="0" rtlCol="0" anchor="ctr"/>
          <a:lstStyle/>
          <a:p>
            <a:pPr algn="r" indent="0" marL="0">
              <a:buNone/>
            </a:pPr>
            <a:r>
              <a:rPr lang="en-US" sz="900" dirty="0">
                <a:solidFill>
                  <a:srgbClr val="7E99B4"/>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02336"/>
            <a:ext cx="11064240" cy="237744"/>
          </a:xfrm>
          <a:prstGeom prst="rect">
            <a:avLst/>
          </a:prstGeom>
          <a:noFill/>
          <a:ln/>
        </p:spPr>
        <p:txBody>
          <a:bodyPr wrap="square" lIns="0" tIns="0" rIns="0" bIns="0" rtlCol="0" anchor="ctr"/>
          <a:lstStyle/>
          <a:p>
            <a:pPr indent="0" marL="0">
              <a:buNone/>
            </a:pPr>
            <a:r>
              <a:rPr lang="en-US" sz="1100" b="1" spc="220" kern="0" dirty="0">
                <a:solidFill>
                  <a:srgbClr val="20A098"/>
                </a:solidFill>
                <a:latin typeface="Calibri" pitchFamily="34" charset="0"/>
                <a:ea typeface="Calibri" pitchFamily="34" charset="-122"/>
                <a:cs typeface="Calibri" pitchFamily="34" charset="-120"/>
              </a:rPr>
              <a:t>HEALTHCARE &amp; INDUSTRY PERMITS</a:t>
            </a:r>
            <a:endParaRPr lang="en-US" sz="1100" dirty="0"/>
          </a:p>
        </p:txBody>
      </p:sp>
      <p:sp>
        <p:nvSpPr>
          <p:cNvPr id="3" name="Text 1"/>
          <p:cNvSpPr txBox="1"/>
          <p:nvPr/>
        </p:nvSpPr>
        <p:spPr>
          <a:xfrm>
            <a:off x="548640" y="658368"/>
            <a:ext cx="11064240" cy="566928"/>
          </a:xfrm>
          <a:prstGeom prst="rect">
            <a:avLst/>
          </a:prstGeom>
          <a:noFill/>
          <a:ln/>
        </p:spPr>
        <p:txBody>
          <a:bodyPr wrap="square" lIns="0" tIns="0" rIns="0" bIns="0" rtlCol="0" anchor="ctr"/>
          <a:lstStyle/>
          <a:p>
            <a:pPr indent="0" marL="0">
              <a:buNone/>
            </a:pPr>
            <a:r>
              <a:rPr lang="en-US" sz="3000" b="1" dirty="0">
                <a:solidFill>
                  <a:srgbClr val="0C1E33"/>
                </a:solidFill>
                <a:latin typeface="Arial" pitchFamily="34" charset="0"/>
                <a:ea typeface="Arial" pitchFamily="34" charset="-122"/>
                <a:cs typeface="Arial" pitchFamily="34" charset="-120"/>
              </a:rPr>
              <a:t>A nurse needs two permissions, not one.</a:t>
            </a:r>
            <a:endParaRPr lang="en-US" sz="3000" dirty="0"/>
          </a:p>
        </p:txBody>
      </p:sp>
      <p:sp>
        <p:nvSpPr>
          <p:cNvPr id="4" name="Text 2"/>
          <p:cNvSpPr txBox="1"/>
          <p:nvPr/>
        </p:nvSpPr>
        <p:spPr>
          <a:xfrm>
            <a:off x="548640" y="1243584"/>
            <a:ext cx="10424160" cy="420624"/>
          </a:xfrm>
          <a:prstGeom prst="rect">
            <a:avLst/>
          </a:prstGeom>
          <a:noFill/>
          <a:ln/>
        </p:spPr>
        <p:txBody>
          <a:bodyPr wrap="square" lIns="0" tIns="0" rIns="0" bIns="0" rtlCol="0" anchor="ctr"/>
          <a:lstStyle/>
          <a:p>
            <a:pPr indent="0" marL="0">
              <a:buNone/>
            </a:pPr>
            <a:r>
              <a:rPr lang="en-US" sz="1300" dirty="0">
                <a:solidFill>
                  <a:srgbClr val="5A6C82"/>
                </a:solidFill>
                <a:latin typeface="Calibri" pitchFamily="34" charset="0"/>
                <a:ea typeface="Calibri" pitchFamily="34" charset="-122"/>
                <a:cs typeface="Calibri" pitchFamily="34" charset="-120"/>
              </a:rPr>
              <a:t>A clinician cannot legally treat anyone until a health regulator has checked their credentials and issued a professional licence. That runs on its own clock, with its own renewal cycle. We run it as a second lane on the same case.</a:t>
            </a:r>
            <a:endParaRPr lang="en-US" sz="1300" dirty="0"/>
          </a:p>
        </p:txBody>
      </p:sp>
      <p:sp>
        <p:nvSpPr>
          <p:cNvPr id="5" name="Shape 3"/>
          <p:cNvSpPr/>
          <p:nvPr/>
        </p:nvSpPr>
        <p:spPr>
          <a:xfrm>
            <a:off x="548640" y="1773936"/>
            <a:ext cx="5394960" cy="2487168"/>
          </a:xfrm>
          <a:prstGeom prst="roundRect">
            <a:avLst>
              <a:gd name="adj" fmla="val 2941"/>
            </a:avLst>
          </a:prstGeom>
          <a:solidFill>
            <a:srgbClr val="F4F6F7"/>
          </a:solidFill>
          <a:ln w="9525">
            <a:solidFill>
              <a:srgbClr val="E3E7EA"/>
            </a:solidFill>
            <a:prstDash val="solid"/>
          </a:ln>
        </p:spPr>
      </p:sp>
      <p:sp>
        <p:nvSpPr>
          <p:cNvPr id="6" name="Text 4"/>
          <p:cNvSpPr txBox="1"/>
          <p:nvPr/>
        </p:nvSpPr>
        <p:spPr>
          <a:xfrm>
            <a:off x="786384" y="1938528"/>
            <a:ext cx="4937760" cy="274320"/>
          </a:xfrm>
          <a:prstGeom prst="rect">
            <a:avLst/>
          </a:prstGeom>
          <a:noFill/>
          <a:ln/>
        </p:spPr>
        <p:txBody>
          <a:bodyPr wrap="square" lIns="0" tIns="0" rIns="0" bIns="0" rtlCol="0" anchor="ctr"/>
          <a:lstStyle/>
          <a:p>
            <a:pPr indent="0" marL="0">
              <a:buNone/>
            </a:pPr>
            <a:r>
              <a:rPr lang="en-US" sz="1400" b="1" dirty="0">
                <a:solidFill>
                  <a:srgbClr val="0C1E33"/>
                </a:solidFill>
                <a:latin typeface="Arial" pitchFamily="34" charset="0"/>
                <a:ea typeface="Arial" pitchFamily="34" charset="-122"/>
                <a:cs typeface="Arial" pitchFamily="34" charset="-120"/>
              </a:rPr>
              <a:t>The licensing lane, running alongside</a:t>
            </a:r>
            <a:endParaRPr lang="en-US" sz="1400" dirty="0"/>
          </a:p>
        </p:txBody>
      </p:sp>
      <p:sp>
        <p:nvSpPr>
          <p:cNvPr id="7" name="Text 5"/>
          <p:cNvSpPr txBox="1"/>
          <p:nvPr/>
        </p:nvSpPr>
        <p:spPr>
          <a:xfrm>
            <a:off x="786384" y="2267712"/>
            <a:ext cx="4937760" cy="1847088"/>
          </a:xfrm>
          <a:prstGeom prst="rect">
            <a:avLst/>
          </a:prstGeom>
          <a:noFill/>
          <a:ln/>
        </p:spPr>
        <p:txBody>
          <a:bodyPr wrap="square" lIns="0" tIns="0" rIns="0" bIns="0" rtlCol="0" anchor="ctr"/>
          <a:lstStyle/>
          <a:p>
            <a:pPr marL="342900" indent="-342900">
              <a:lnSpc>
                <a:spcPts val="1400"/>
              </a:lnSpc>
              <a:spcAft>
                <a:spcPts val="500"/>
              </a:spcAft>
              <a:buSzPct val="100000"/>
              <a:buChar char="•"/>
            </a:pPr>
            <a:r>
              <a:rPr lang="en-US" sz="1050" dirty="0">
                <a:solidFill>
                  <a:srgbClr val="5A6C82"/>
                </a:solidFill>
                <a:latin typeface="Calibri" pitchFamily="34" charset="0"/>
                <a:ea typeface="Calibri" pitchFamily="34" charset="-122"/>
                <a:cs typeface="Calibri" pitchFamily="34" charset="-120"/>
              </a:rPr>
              <a:t>Credential pack collected at recruitment</a:t>
            </a:r>
            <a:endParaRPr lang="en-US" sz="1050" dirty="0"/>
          </a:p>
          <a:p>
            <a:pPr marL="342900" indent="-342900">
              <a:lnSpc>
                <a:spcPts val="1400"/>
              </a:lnSpc>
              <a:spcAft>
                <a:spcPts val="500"/>
              </a:spcAft>
              <a:buSzPct val="100000"/>
              <a:buChar char="•"/>
            </a:pPr>
            <a:r>
              <a:rPr lang="en-US" sz="1050" dirty="0">
                <a:solidFill>
                  <a:srgbClr val="5A6C82"/>
                </a:solidFill>
                <a:latin typeface="Calibri" pitchFamily="34" charset="0"/>
                <a:ea typeface="Calibri" pitchFamily="34" charset="-122"/>
                <a:cs typeface="Calibri" pitchFamily="34" charset="-120"/>
              </a:rPr>
              <a:t>Primary-source verification (DataFlow) tracked to result</a:t>
            </a:r>
            <a:endParaRPr lang="en-US" sz="1050" dirty="0"/>
          </a:p>
          <a:p>
            <a:pPr marL="342900" indent="-342900">
              <a:lnSpc>
                <a:spcPts val="1400"/>
              </a:lnSpc>
              <a:spcAft>
                <a:spcPts val="500"/>
              </a:spcAft>
              <a:buSzPct val="100000"/>
              <a:buChar char="•"/>
            </a:pPr>
            <a:r>
              <a:rPr lang="en-US" sz="1050" dirty="0">
                <a:solidFill>
                  <a:srgbClr val="5A6C82"/>
                </a:solidFill>
                <a:latin typeface="Calibri" pitchFamily="34" charset="0"/>
                <a:ea typeface="Calibri" pitchFamily="34" charset="-122"/>
                <a:cs typeface="Calibri" pitchFamily="34" charset="-120"/>
              </a:rPr>
              <a:t>Professional classification or eligibility assessment</a:t>
            </a:r>
            <a:endParaRPr lang="en-US" sz="1050" dirty="0"/>
          </a:p>
          <a:p>
            <a:pPr marL="342900" indent="-342900">
              <a:lnSpc>
                <a:spcPts val="1400"/>
              </a:lnSpc>
              <a:spcAft>
                <a:spcPts val="500"/>
              </a:spcAft>
              <a:buSzPct val="100000"/>
              <a:buChar char="•"/>
            </a:pPr>
            <a:r>
              <a:rPr lang="en-US" sz="1050" dirty="0">
                <a:solidFill>
                  <a:srgbClr val="5A6C82"/>
                </a:solidFill>
                <a:latin typeface="Calibri" pitchFamily="34" charset="0"/>
                <a:ea typeface="Calibri" pitchFamily="34" charset="-122"/>
                <a:cs typeface="Calibri" pitchFamily="34" charset="-120"/>
              </a:rPr>
              <a:t>Licensing exam booked, sat and certificate uploaded</a:t>
            </a:r>
            <a:endParaRPr lang="en-US" sz="1050" dirty="0"/>
          </a:p>
          <a:p>
            <a:pPr marL="342900" indent="-342900">
              <a:lnSpc>
                <a:spcPts val="1400"/>
              </a:lnSpc>
              <a:spcAft>
                <a:spcPts val="500"/>
              </a:spcAft>
              <a:buSzPct val="100000"/>
              <a:buChar char="•"/>
            </a:pPr>
            <a:r>
              <a:rPr lang="en-US" sz="1050" dirty="0">
                <a:solidFill>
                  <a:srgbClr val="5A6C82"/>
                </a:solidFill>
                <a:latin typeface="Calibri" pitchFamily="34" charset="0"/>
                <a:ea typeface="Calibri" pitchFamily="34" charset="-122"/>
                <a:cs typeface="Calibri" pitchFamily="34" charset="-120"/>
              </a:rPr>
              <a:t>Licence issued, activated against the employing facility</a:t>
            </a:r>
            <a:endParaRPr lang="en-US" sz="1050" dirty="0"/>
          </a:p>
          <a:p>
            <a:pPr marL="342900" indent="-342900">
              <a:lnSpc>
                <a:spcPts val="1400"/>
              </a:lnSpc>
              <a:spcAft>
                <a:spcPts val="500"/>
              </a:spcAft>
              <a:buSzPct val="100000"/>
              <a:buChar char="•"/>
            </a:pPr>
            <a:r>
              <a:rPr lang="en-US" sz="1050" dirty="0">
                <a:solidFill>
                  <a:srgbClr val="5A6C82"/>
                </a:solidFill>
                <a:latin typeface="Calibri" pitchFamily="34" charset="0"/>
                <a:ea typeface="Calibri" pitchFamily="34" charset="-122"/>
                <a:cs typeface="Calibri" pitchFamily="34" charset="-120"/>
              </a:rPr>
              <a:t>Renewal driven by CME hours — 90-day alerts, 15-day escalations</a:t>
            </a:r>
            <a:endParaRPr lang="en-US" sz="1050" dirty="0"/>
          </a:p>
        </p:txBody>
      </p:sp>
      <p:sp>
        <p:nvSpPr>
          <p:cNvPr id="8" name="Shape 6"/>
          <p:cNvSpPr/>
          <p:nvPr/>
        </p:nvSpPr>
        <p:spPr>
          <a:xfrm>
            <a:off x="6144768" y="1773936"/>
            <a:ext cx="5486400" cy="2487168"/>
          </a:xfrm>
          <a:prstGeom prst="roundRect">
            <a:avLst>
              <a:gd name="adj" fmla="val 2941"/>
            </a:avLst>
          </a:prstGeom>
          <a:solidFill>
            <a:srgbClr val="FFFFFF"/>
          </a:solidFill>
          <a:ln w="9525">
            <a:solidFill>
              <a:srgbClr val="E3E7EA"/>
            </a:solidFill>
            <a:prstDash val="solid"/>
          </a:ln>
        </p:spPr>
      </p:sp>
      <p:sp>
        <p:nvSpPr>
          <p:cNvPr id="9" name="Text 7"/>
          <p:cNvSpPr txBox="1"/>
          <p:nvPr/>
        </p:nvSpPr>
        <p:spPr>
          <a:xfrm>
            <a:off x="6382512" y="1938528"/>
            <a:ext cx="5029200" cy="274320"/>
          </a:xfrm>
          <a:prstGeom prst="rect">
            <a:avLst/>
          </a:prstGeom>
          <a:noFill/>
          <a:ln/>
        </p:spPr>
        <p:txBody>
          <a:bodyPr wrap="square" lIns="0" tIns="0" rIns="0" bIns="0" rtlCol="0" anchor="ctr"/>
          <a:lstStyle/>
          <a:p>
            <a:pPr indent="0" marL="0">
              <a:buNone/>
            </a:pPr>
            <a:r>
              <a:rPr lang="en-US" sz="1400" b="1" dirty="0">
                <a:solidFill>
                  <a:srgbClr val="B23A2F"/>
                </a:solidFill>
                <a:latin typeface="Arial" pitchFamily="34" charset="0"/>
                <a:ea typeface="Arial" pitchFamily="34" charset="-122"/>
                <a:cs typeface="Arial" pitchFamily="34" charset="-120"/>
              </a:rPr>
              <a:t>What goes wrong without it</a:t>
            </a:r>
            <a:endParaRPr lang="en-US" sz="1400" dirty="0"/>
          </a:p>
        </p:txBody>
      </p:sp>
      <p:sp>
        <p:nvSpPr>
          <p:cNvPr id="10" name="Text 8"/>
          <p:cNvSpPr txBox="1"/>
          <p:nvPr/>
        </p:nvSpPr>
        <p:spPr>
          <a:xfrm>
            <a:off x="6382512" y="2267712"/>
            <a:ext cx="5029200" cy="1847088"/>
          </a:xfrm>
          <a:prstGeom prst="rect">
            <a:avLst/>
          </a:prstGeom>
          <a:noFill/>
          <a:ln/>
        </p:spPr>
        <p:txBody>
          <a:bodyPr wrap="square" lIns="0" tIns="0" rIns="0" bIns="0" rtlCol="0" anchor="ctr"/>
          <a:lstStyle/>
          <a:p>
            <a:pPr marL="342900" indent="-342900">
              <a:lnSpc>
                <a:spcPts val="1400"/>
              </a:lnSpc>
              <a:spcAft>
                <a:spcPts val="500"/>
              </a:spcAft>
              <a:buSzPct val="100000"/>
              <a:buChar char="•"/>
            </a:pPr>
            <a:r>
              <a:rPr lang="en-US" sz="1050" dirty="0">
                <a:solidFill>
                  <a:srgbClr val="5A6C82"/>
                </a:solidFill>
                <a:latin typeface="Calibri" pitchFamily="34" charset="0"/>
                <a:ea typeface="Calibri" pitchFamily="34" charset="-122"/>
                <a:cs typeface="Calibri" pitchFamily="34" charset="-120"/>
              </a:rPr>
              <a:t>A clinician joins on a valid visa but cannot be rostered</a:t>
            </a:r>
            <a:endParaRPr lang="en-US" sz="1050" dirty="0"/>
          </a:p>
          <a:p>
            <a:pPr marL="342900" indent="-342900">
              <a:lnSpc>
                <a:spcPts val="1400"/>
              </a:lnSpc>
              <a:spcAft>
                <a:spcPts val="500"/>
              </a:spcAft>
              <a:buSzPct val="100000"/>
              <a:buChar char="•"/>
            </a:pPr>
            <a:r>
              <a:rPr lang="en-US" sz="1050" dirty="0">
                <a:solidFill>
                  <a:srgbClr val="5A6C82"/>
                </a:solidFill>
                <a:latin typeface="Calibri" pitchFamily="34" charset="0"/>
                <a:ea typeface="Calibri" pitchFamily="34" charset="-122"/>
                <a:cs typeface="Calibri" pitchFamily="34" charset="-120"/>
              </a:rPr>
              <a:t>Primary-source verification stalls with nobody watching the queue</a:t>
            </a:r>
            <a:endParaRPr lang="en-US" sz="1050" dirty="0"/>
          </a:p>
          <a:p>
            <a:pPr marL="342900" indent="-342900">
              <a:lnSpc>
                <a:spcPts val="1400"/>
              </a:lnSpc>
              <a:spcAft>
                <a:spcPts val="500"/>
              </a:spcAft>
              <a:buSzPct val="100000"/>
              <a:buChar char="•"/>
            </a:pPr>
            <a:r>
              <a:rPr lang="en-US" sz="1050" dirty="0">
                <a:solidFill>
                  <a:srgbClr val="5A6C82"/>
                </a:solidFill>
                <a:latin typeface="Calibri" pitchFamily="34" charset="0"/>
                <a:ea typeface="Calibri" pitchFamily="34" charset="-122"/>
                <a:cs typeface="Calibri" pitchFamily="34" charset="-120"/>
              </a:rPr>
              <a:t>A trainee’s 45-day dataflow deadline passes unnoticed</a:t>
            </a:r>
            <a:endParaRPr lang="en-US" sz="1050" dirty="0"/>
          </a:p>
          <a:p>
            <a:pPr marL="342900" indent="-342900">
              <a:lnSpc>
                <a:spcPts val="1400"/>
              </a:lnSpc>
              <a:spcAft>
                <a:spcPts val="500"/>
              </a:spcAft>
              <a:buSzPct val="100000"/>
              <a:buChar char="•"/>
            </a:pPr>
            <a:r>
              <a:rPr lang="en-US" sz="1050" dirty="0">
                <a:solidFill>
                  <a:srgbClr val="5A6C82"/>
                </a:solidFill>
                <a:latin typeface="Calibri" pitchFamily="34" charset="0"/>
                <a:ea typeface="Calibri" pitchFamily="34" charset="-122"/>
                <a:cs typeface="Calibri" pitchFamily="34" charset="-120"/>
              </a:rPr>
              <a:t>CME hours logged only after the renewal window has closed</a:t>
            </a:r>
            <a:endParaRPr lang="en-US" sz="1050" dirty="0"/>
          </a:p>
          <a:p>
            <a:pPr marL="342900" indent="-342900">
              <a:lnSpc>
                <a:spcPts val="1400"/>
              </a:lnSpc>
              <a:spcAft>
                <a:spcPts val="500"/>
              </a:spcAft>
              <a:buSzPct val="100000"/>
              <a:buChar char="•"/>
            </a:pPr>
            <a:r>
              <a:rPr lang="en-US" sz="1050" dirty="0">
                <a:solidFill>
                  <a:srgbClr val="5A6C82"/>
                </a:solidFill>
                <a:latin typeface="Calibri" pitchFamily="34" charset="0"/>
                <a:ea typeface="Calibri" pitchFamily="34" charset="-122"/>
                <a:cs typeface="Calibri" pitchFamily="34" charset="-120"/>
              </a:rPr>
              <a:t>Licence and visa expiry drift apart — one lapses, the other is fine</a:t>
            </a:r>
            <a:endParaRPr lang="en-US" sz="1050" dirty="0"/>
          </a:p>
          <a:p>
            <a:pPr marL="342900" indent="-342900">
              <a:lnSpc>
                <a:spcPts val="1400"/>
              </a:lnSpc>
              <a:spcAft>
                <a:spcPts val="500"/>
              </a:spcAft>
              <a:buSzPct val="100000"/>
              <a:buChar char="•"/>
            </a:pPr>
            <a:r>
              <a:rPr lang="en-US" sz="1050" dirty="0">
                <a:solidFill>
                  <a:srgbClr val="5A6C82"/>
                </a:solidFill>
                <a:latin typeface="Calibri" pitchFamily="34" charset="0"/>
                <a:ea typeface="Calibri" pitchFamily="34" charset="-122"/>
                <a:cs typeface="Calibri" pitchFamily="34" charset="-120"/>
              </a:rPr>
              <a:t>The facility licence expires, exposing every practitioner under it</a:t>
            </a:r>
            <a:endParaRPr lang="en-US" sz="1050" dirty="0"/>
          </a:p>
        </p:txBody>
      </p:sp>
      <p:sp>
        <p:nvSpPr>
          <p:cNvPr id="11" name="Text 9"/>
          <p:cNvSpPr txBox="1"/>
          <p:nvPr/>
        </p:nvSpPr>
        <p:spPr>
          <a:xfrm>
            <a:off x="548640" y="4462272"/>
            <a:ext cx="10424160" cy="256032"/>
          </a:xfrm>
          <a:prstGeom prst="rect">
            <a:avLst/>
          </a:prstGeom>
          <a:noFill/>
          <a:ln/>
        </p:spPr>
        <p:txBody>
          <a:bodyPr wrap="square" lIns="0" tIns="0" rIns="0" bIns="0" rtlCol="0" anchor="ctr"/>
          <a:lstStyle/>
          <a:p>
            <a:pPr indent="0" marL="0">
              <a:buNone/>
            </a:pPr>
            <a:r>
              <a:rPr lang="en-US" sz="1300" b="1" dirty="0">
                <a:solidFill>
                  <a:srgbClr val="0C1E33"/>
                </a:solidFill>
                <a:latin typeface="Arial" pitchFamily="34" charset="0"/>
                <a:ea typeface="Arial" pitchFamily="34" charset="-122"/>
                <a:cs typeface="Arial" pitchFamily="34" charset="-120"/>
              </a:rPr>
              <a:t>Health regulators covered by the country packs</a:t>
            </a:r>
            <a:endParaRPr lang="en-US" sz="1300" dirty="0"/>
          </a:p>
        </p:txBody>
      </p:sp>
      <p:sp>
        <p:nvSpPr>
          <p:cNvPr id="12" name="Shape 10"/>
          <p:cNvSpPr/>
          <p:nvPr/>
        </p:nvSpPr>
        <p:spPr>
          <a:xfrm>
            <a:off x="548640" y="4809744"/>
            <a:ext cx="2688336" cy="621792"/>
          </a:xfrm>
          <a:prstGeom prst="roundRect">
            <a:avLst>
              <a:gd name="adj" fmla="val 7353"/>
            </a:avLst>
          </a:prstGeom>
          <a:solidFill>
            <a:srgbClr val="F4F6F7"/>
          </a:solidFill>
          <a:ln w="7620">
            <a:solidFill>
              <a:srgbClr val="E3E7EA"/>
            </a:solidFill>
            <a:prstDash val="solid"/>
          </a:ln>
        </p:spPr>
      </p:sp>
      <p:sp>
        <p:nvSpPr>
          <p:cNvPr id="13" name="Text 11"/>
          <p:cNvSpPr txBox="1"/>
          <p:nvPr/>
        </p:nvSpPr>
        <p:spPr>
          <a:xfrm>
            <a:off x="694944" y="4864608"/>
            <a:ext cx="2395728" cy="182880"/>
          </a:xfrm>
          <a:prstGeom prst="rect">
            <a:avLst/>
          </a:prstGeom>
          <a:noFill/>
          <a:ln/>
        </p:spPr>
        <p:txBody>
          <a:bodyPr wrap="square" lIns="0" tIns="0" rIns="0" bIns="0" rtlCol="0" anchor="ctr"/>
          <a:lstStyle/>
          <a:p>
            <a:pPr indent="0" marL="0">
              <a:buNone/>
            </a:pPr>
            <a:r>
              <a:rPr lang="en-US" sz="850" dirty="0">
                <a:solidFill>
                  <a:srgbClr val="5A6C82"/>
                </a:solidFill>
                <a:latin typeface="Calibri" pitchFamily="34" charset="0"/>
                <a:ea typeface="Calibri" pitchFamily="34" charset="-122"/>
                <a:cs typeface="Calibri" pitchFamily="34" charset="-120"/>
              </a:rPr>
              <a:t>Saudi Arabia</a:t>
            </a:r>
            <a:endParaRPr lang="en-US" sz="850" dirty="0"/>
          </a:p>
        </p:txBody>
      </p:sp>
      <p:sp>
        <p:nvSpPr>
          <p:cNvPr id="14" name="Text 12"/>
          <p:cNvSpPr txBox="1"/>
          <p:nvPr/>
        </p:nvSpPr>
        <p:spPr>
          <a:xfrm>
            <a:off x="694944" y="5038344"/>
            <a:ext cx="2395728" cy="201168"/>
          </a:xfrm>
          <a:prstGeom prst="rect">
            <a:avLst/>
          </a:prstGeom>
          <a:noFill/>
          <a:ln/>
        </p:spPr>
        <p:txBody>
          <a:bodyPr wrap="square" lIns="0" tIns="0" rIns="0" bIns="0" rtlCol="0" anchor="ctr"/>
          <a:lstStyle/>
          <a:p>
            <a:pPr indent="0" marL="0">
              <a:buNone/>
            </a:pPr>
            <a:r>
              <a:rPr lang="en-US" sz="1150" b="1" dirty="0">
                <a:solidFill>
                  <a:srgbClr val="12756F"/>
                </a:solidFill>
                <a:latin typeface="Arial" pitchFamily="34" charset="0"/>
                <a:ea typeface="Arial" pitchFamily="34" charset="-122"/>
                <a:cs typeface="Arial" pitchFamily="34" charset="-120"/>
              </a:rPr>
              <a:t>SCFHS</a:t>
            </a:r>
            <a:endParaRPr lang="en-US" sz="1150" dirty="0"/>
          </a:p>
        </p:txBody>
      </p:sp>
      <p:sp>
        <p:nvSpPr>
          <p:cNvPr id="15" name="Text 13"/>
          <p:cNvSpPr txBox="1"/>
          <p:nvPr/>
        </p:nvSpPr>
        <p:spPr>
          <a:xfrm>
            <a:off x="694944" y="5230368"/>
            <a:ext cx="2395728" cy="182880"/>
          </a:xfrm>
          <a:prstGeom prst="rect">
            <a:avLst/>
          </a:prstGeom>
          <a:noFill/>
          <a:ln/>
        </p:spPr>
        <p:txBody>
          <a:bodyPr wrap="square" lIns="0" tIns="0" rIns="0" bIns="0" rtlCol="0" anchor="ctr"/>
          <a:lstStyle/>
          <a:p>
            <a:pPr indent="0" marL="0">
              <a:buNone/>
            </a:pPr>
            <a:r>
              <a:rPr lang="en-US" sz="830" dirty="0">
                <a:solidFill>
                  <a:srgbClr val="5A6C82"/>
                </a:solidFill>
                <a:latin typeface="Calibri" pitchFamily="34" charset="0"/>
                <a:ea typeface="Calibri" pitchFamily="34" charset="-122"/>
                <a:cs typeface="Calibri" pitchFamily="34" charset="-120"/>
              </a:rPr>
              <a:t>Mumaris+ · DataFlow · Prometric</a:t>
            </a:r>
            <a:endParaRPr lang="en-US" sz="830" dirty="0"/>
          </a:p>
        </p:txBody>
      </p:sp>
      <p:sp>
        <p:nvSpPr>
          <p:cNvPr id="16" name="Shape 14"/>
          <p:cNvSpPr/>
          <p:nvPr/>
        </p:nvSpPr>
        <p:spPr>
          <a:xfrm>
            <a:off x="3407969" y="4809744"/>
            <a:ext cx="2688336" cy="621792"/>
          </a:xfrm>
          <a:prstGeom prst="roundRect">
            <a:avLst>
              <a:gd name="adj" fmla="val 7353"/>
            </a:avLst>
          </a:prstGeom>
          <a:solidFill>
            <a:srgbClr val="F4F6F7"/>
          </a:solidFill>
          <a:ln w="7620">
            <a:solidFill>
              <a:srgbClr val="E3E7EA"/>
            </a:solidFill>
            <a:prstDash val="solid"/>
          </a:ln>
        </p:spPr>
      </p:sp>
      <p:sp>
        <p:nvSpPr>
          <p:cNvPr id="17" name="Text 15"/>
          <p:cNvSpPr txBox="1"/>
          <p:nvPr/>
        </p:nvSpPr>
        <p:spPr>
          <a:xfrm>
            <a:off x="3554273" y="4864608"/>
            <a:ext cx="2395728" cy="182880"/>
          </a:xfrm>
          <a:prstGeom prst="rect">
            <a:avLst/>
          </a:prstGeom>
          <a:noFill/>
          <a:ln/>
        </p:spPr>
        <p:txBody>
          <a:bodyPr wrap="square" lIns="0" tIns="0" rIns="0" bIns="0" rtlCol="0" anchor="ctr"/>
          <a:lstStyle/>
          <a:p>
            <a:pPr indent="0" marL="0">
              <a:buNone/>
            </a:pPr>
            <a:r>
              <a:rPr lang="en-US" sz="850" dirty="0">
                <a:solidFill>
                  <a:srgbClr val="5A6C82"/>
                </a:solidFill>
                <a:latin typeface="Calibri" pitchFamily="34" charset="0"/>
                <a:ea typeface="Calibri" pitchFamily="34" charset="-122"/>
                <a:cs typeface="Calibri" pitchFamily="34" charset="-120"/>
              </a:rPr>
              <a:t>UAE — Dubai</a:t>
            </a:r>
            <a:endParaRPr lang="en-US" sz="850" dirty="0"/>
          </a:p>
        </p:txBody>
      </p:sp>
      <p:sp>
        <p:nvSpPr>
          <p:cNvPr id="18" name="Text 16"/>
          <p:cNvSpPr txBox="1"/>
          <p:nvPr/>
        </p:nvSpPr>
        <p:spPr>
          <a:xfrm>
            <a:off x="3554273" y="5038344"/>
            <a:ext cx="2395728" cy="201168"/>
          </a:xfrm>
          <a:prstGeom prst="rect">
            <a:avLst/>
          </a:prstGeom>
          <a:noFill/>
          <a:ln/>
        </p:spPr>
        <p:txBody>
          <a:bodyPr wrap="square" lIns="0" tIns="0" rIns="0" bIns="0" rtlCol="0" anchor="ctr"/>
          <a:lstStyle/>
          <a:p>
            <a:pPr indent="0" marL="0">
              <a:buNone/>
            </a:pPr>
            <a:r>
              <a:rPr lang="en-US" sz="1150" b="1" dirty="0">
                <a:solidFill>
                  <a:srgbClr val="12756F"/>
                </a:solidFill>
                <a:latin typeface="Arial" pitchFamily="34" charset="0"/>
                <a:ea typeface="Arial" pitchFamily="34" charset="-122"/>
                <a:cs typeface="Arial" pitchFamily="34" charset="-120"/>
              </a:rPr>
              <a:t>DHA</a:t>
            </a:r>
            <a:endParaRPr lang="en-US" sz="1150" dirty="0"/>
          </a:p>
        </p:txBody>
      </p:sp>
      <p:sp>
        <p:nvSpPr>
          <p:cNvPr id="19" name="Text 17"/>
          <p:cNvSpPr txBox="1"/>
          <p:nvPr/>
        </p:nvSpPr>
        <p:spPr>
          <a:xfrm>
            <a:off x="3554273" y="5230368"/>
            <a:ext cx="2395728" cy="182880"/>
          </a:xfrm>
          <a:prstGeom prst="rect">
            <a:avLst/>
          </a:prstGeom>
          <a:noFill/>
          <a:ln/>
        </p:spPr>
        <p:txBody>
          <a:bodyPr wrap="square" lIns="0" tIns="0" rIns="0" bIns="0" rtlCol="0" anchor="ctr"/>
          <a:lstStyle/>
          <a:p>
            <a:pPr indent="0" marL="0">
              <a:buNone/>
            </a:pPr>
            <a:r>
              <a:rPr lang="en-US" sz="830" dirty="0">
                <a:solidFill>
                  <a:srgbClr val="5A6C82"/>
                </a:solidFill>
                <a:latin typeface="Calibri" pitchFamily="34" charset="0"/>
                <a:ea typeface="Calibri" pitchFamily="34" charset="-122"/>
                <a:cs typeface="Calibri" pitchFamily="34" charset="-120"/>
              </a:rPr>
              <a:t>Sheryan portal</a:t>
            </a:r>
            <a:endParaRPr lang="en-US" sz="830" dirty="0"/>
          </a:p>
        </p:txBody>
      </p:sp>
      <p:sp>
        <p:nvSpPr>
          <p:cNvPr id="20" name="Shape 18"/>
          <p:cNvSpPr/>
          <p:nvPr/>
        </p:nvSpPr>
        <p:spPr>
          <a:xfrm>
            <a:off x="6267298" y="4809744"/>
            <a:ext cx="2688336" cy="621792"/>
          </a:xfrm>
          <a:prstGeom prst="roundRect">
            <a:avLst>
              <a:gd name="adj" fmla="val 7353"/>
            </a:avLst>
          </a:prstGeom>
          <a:solidFill>
            <a:srgbClr val="F4F6F7"/>
          </a:solidFill>
          <a:ln w="7620">
            <a:solidFill>
              <a:srgbClr val="E3E7EA"/>
            </a:solidFill>
            <a:prstDash val="solid"/>
          </a:ln>
        </p:spPr>
      </p:sp>
      <p:sp>
        <p:nvSpPr>
          <p:cNvPr id="21" name="Text 19"/>
          <p:cNvSpPr txBox="1"/>
          <p:nvPr/>
        </p:nvSpPr>
        <p:spPr>
          <a:xfrm>
            <a:off x="6413602" y="4864608"/>
            <a:ext cx="2395728" cy="182880"/>
          </a:xfrm>
          <a:prstGeom prst="rect">
            <a:avLst/>
          </a:prstGeom>
          <a:noFill/>
          <a:ln/>
        </p:spPr>
        <p:txBody>
          <a:bodyPr wrap="square" lIns="0" tIns="0" rIns="0" bIns="0" rtlCol="0" anchor="ctr"/>
          <a:lstStyle/>
          <a:p>
            <a:pPr indent="0" marL="0">
              <a:buNone/>
            </a:pPr>
            <a:r>
              <a:rPr lang="en-US" sz="850" dirty="0">
                <a:solidFill>
                  <a:srgbClr val="5A6C82"/>
                </a:solidFill>
                <a:latin typeface="Calibri" pitchFamily="34" charset="0"/>
                <a:ea typeface="Calibri" pitchFamily="34" charset="-122"/>
                <a:cs typeface="Calibri" pitchFamily="34" charset="-120"/>
              </a:rPr>
              <a:t>UAE — Abu Dhabi</a:t>
            </a:r>
            <a:endParaRPr lang="en-US" sz="850" dirty="0"/>
          </a:p>
        </p:txBody>
      </p:sp>
      <p:sp>
        <p:nvSpPr>
          <p:cNvPr id="22" name="Text 20"/>
          <p:cNvSpPr txBox="1"/>
          <p:nvPr/>
        </p:nvSpPr>
        <p:spPr>
          <a:xfrm>
            <a:off x="6413602" y="5038344"/>
            <a:ext cx="2395728" cy="201168"/>
          </a:xfrm>
          <a:prstGeom prst="rect">
            <a:avLst/>
          </a:prstGeom>
          <a:noFill/>
          <a:ln/>
        </p:spPr>
        <p:txBody>
          <a:bodyPr wrap="square" lIns="0" tIns="0" rIns="0" bIns="0" rtlCol="0" anchor="ctr"/>
          <a:lstStyle/>
          <a:p>
            <a:pPr indent="0" marL="0">
              <a:buNone/>
            </a:pPr>
            <a:r>
              <a:rPr lang="en-US" sz="1150" b="1" dirty="0">
                <a:solidFill>
                  <a:srgbClr val="12756F"/>
                </a:solidFill>
                <a:latin typeface="Arial" pitchFamily="34" charset="0"/>
                <a:ea typeface="Arial" pitchFamily="34" charset="-122"/>
                <a:cs typeface="Arial" pitchFamily="34" charset="-120"/>
              </a:rPr>
              <a:t>DOH</a:t>
            </a:r>
            <a:endParaRPr lang="en-US" sz="1150" dirty="0"/>
          </a:p>
        </p:txBody>
      </p:sp>
      <p:sp>
        <p:nvSpPr>
          <p:cNvPr id="23" name="Text 21"/>
          <p:cNvSpPr txBox="1"/>
          <p:nvPr/>
        </p:nvSpPr>
        <p:spPr>
          <a:xfrm>
            <a:off x="6413602" y="5230368"/>
            <a:ext cx="2395728" cy="182880"/>
          </a:xfrm>
          <a:prstGeom prst="rect">
            <a:avLst/>
          </a:prstGeom>
          <a:noFill/>
          <a:ln/>
        </p:spPr>
        <p:txBody>
          <a:bodyPr wrap="square" lIns="0" tIns="0" rIns="0" bIns="0" rtlCol="0" anchor="ctr"/>
          <a:lstStyle/>
          <a:p>
            <a:pPr indent="0" marL="0">
              <a:buNone/>
            </a:pPr>
            <a:r>
              <a:rPr lang="en-US" sz="830" dirty="0">
                <a:solidFill>
                  <a:srgbClr val="5A6C82"/>
                </a:solidFill>
                <a:latin typeface="Calibri" pitchFamily="34" charset="0"/>
                <a:ea typeface="Calibri" pitchFamily="34" charset="-122"/>
                <a:cs typeface="Calibri" pitchFamily="34" charset="-120"/>
              </a:rPr>
              <a:t>TAMM / DOH portal</a:t>
            </a:r>
            <a:endParaRPr lang="en-US" sz="830" dirty="0"/>
          </a:p>
        </p:txBody>
      </p:sp>
      <p:sp>
        <p:nvSpPr>
          <p:cNvPr id="24" name="Shape 22"/>
          <p:cNvSpPr/>
          <p:nvPr/>
        </p:nvSpPr>
        <p:spPr>
          <a:xfrm>
            <a:off x="9126626" y="4809744"/>
            <a:ext cx="2688336" cy="621792"/>
          </a:xfrm>
          <a:prstGeom prst="roundRect">
            <a:avLst>
              <a:gd name="adj" fmla="val 7353"/>
            </a:avLst>
          </a:prstGeom>
          <a:solidFill>
            <a:srgbClr val="F4F6F7"/>
          </a:solidFill>
          <a:ln w="7620">
            <a:solidFill>
              <a:srgbClr val="E3E7EA"/>
            </a:solidFill>
            <a:prstDash val="solid"/>
          </a:ln>
        </p:spPr>
      </p:sp>
      <p:sp>
        <p:nvSpPr>
          <p:cNvPr id="25" name="Text 23"/>
          <p:cNvSpPr txBox="1"/>
          <p:nvPr/>
        </p:nvSpPr>
        <p:spPr>
          <a:xfrm>
            <a:off x="9272930" y="4864608"/>
            <a:ext cx="2395728" cy="182880"/>
          </a:xfrm>
          <a:prstGeom prst="rect">
            <a:avLst/>
          </a:prstGeom>
          <a:noFill/>
          <a:ln/>
        </p:spPr>
        <p:txBody>
          <a:bodyPr wrap="square" lIns="0" tIns="0" rIns="0" bIns="0" rtlCol="0" anchor="ctr"/>
          <a:lstStyle/>
          <a:p>
            <a:pPr indent="0" marL="0">
              <a:buNone/>
            </a:pPr>
            <a:r>
              <a:rPr lang="en-US" sz="850" dirty="0">
                <a:solidFill>
                  <a:srgbClr val="5A6C82"/>
                </a:solidFill>
                <a:latin typeface="Calibri" pitchFamily="34" charset="0"/>
                <a:ea typeface="Calibri" pitchFamily="34" charset="-122"/>
                <a:cs typeface="Calibri" pitchFamily="34" charset="-120"/>
              </a:rPr>
              <a:t>UAE — Northern</a:t>
            </a:r>
            <a:endParaRPr lang="en-US" sz="850" dirty="0"/>
          </a:p>
        </p:txBody>
      </p:sp>
      <p:sp>
        <p:nvSpPr>
          <p:cNvPr id="26" name="Text 24"/>
          <p:cNvSpPr txBox="1"/>
          <p:nvPr/>
        </p:nvSpPr>
        <p:spPr>
          <a:xfrm>
            <a:off x="9272930" y="5038344"/>
            <a:ext cx="2395728" cy="201168"/>
          </a:xfrm>
          <a:prstGeom prst="rect">
            <a:avLst/>
          </a:prstGeom>
          <a:noFill/>
          <a:ln/>
        </p:spPr>
        <p:txBody>
          <a:bodyPr wrap="square" lIns="0" tIns="0" rIns="0" bIns="0" rtlCol="0" anchor="ctr"/>
          <a:lstStyle/>
          <a:p>
            <a:pPr indent="0" marL="0">
              <a:buNone/>
            </a:pPr>
            <a:r>
              <a:rPr lang="en-US" sz="1150" b="1" dirty="0">
                <a:solidFill>
                  <a:srgbClr val="12756F"/>
                </a:solidFill>
                <a:latin typeface="Arial" pitchFamily="34" charset="0"/>
                <a:ea typeface="Arial" pitchFamily="34" charset="-122"/>
                <a:cs typeface="Arial" pitchFamily="34" charset="-120"/>
              </a:rPr>
              <a:t>MOHAP</a:t>
            </a:r>
            <a:endParaRPr lang="en-US" sz="1150" dirty="0"/>
          </a:p>
        </p:txBody>
      </p:sp>
      <p:sp>
        <p:nvSpPr>
          <p:cNvPr id="27" name="Text 25"/>
          <p:cNvSpPr txBox="1"/>
          <p:nvPr/>
        </p:nvSpPr>
        <p:spPr>
          <a:xfrm>
            <a:off x="9272930" y="5230368"/>
            <a:ext cx="2395728" cy="182880"/>
          </a:xfrm>
          <a:prstGeom prst="rect">
            <a:avLst/>
          </a:prstGeom>
          <a:noFill/>
          <a:ln/>
        </p:spPr>
        <p:txBody>
          <a:bodyPr wrap="square" lIns="0" tIns="0" rIns="0" bIns="0" rtlCol="0" anchor="ctr"/>
          <a:lstStyle/>
          <a:p>
            <a:pPr indent="0" marL="0">
              <a:buNone/>
            </a:pPr>
            <a:r>
              <a:rPr lang="en-US" sz="830" dirty="0">
                <a:solidFill>
                  <a:srgbClr val="5A6C82"/>
                </a:solidFill>
                <a:latin typeface="Calibri" pitchFamily="34" charset="0"/>
                <a:ea typeface="Calibri" pitchFamily="34" charset="-122"/>
                <a:cs typeface="Calibri" pitchFamily="34" charset="-120"/>
              </a:rPr>
              <a:t>MOHAP licensing</a:t>
            </a:r>
            <a:endParaRPr lang="en-US" sz="830" dirty="0"/>
          </a:p>
        </p:txBody>
      </p:sp>
      <p:sp>
        <p:nvSpPr>
          <p:cNvPr id="28" name="Shape 26"/>
          <p:cNvSpPr/>
          <p:nvPr/>
        </p:nvSpPr>
        <p:spPr>
          <a:xfrm>
            <a:off x="548640" y="5541264"/>
            <a:ext cx="2688336" cy="621792"/>
          </a:xfrm>
          <a:prstGeom prst="roundRect">
            <a:avLst>
              <a:gd name="adj" fmla="val 7353"/>
            </a:avLst>
          </a:prstGeom>
          <a:solidFill>
            <a:srgbClr val="FFFFFF"/>
          </a:solidFill>
          <a:ln w="7620">
            <a:solidFill>
              <a:srgbClr val="E3E7EA"/>
            </a:solidFill>
            <a:prstDash val="solid"/>
          </a:ln>
        </p:spPr>
      </p:sp>
      <p:sp>
        <p:nvSpPr>
          <p:cNvPr id="29" name="Text 27"/>
          <p:cNvSpPr txBox="1"/>
          <p:nvPr/>
        </p:nvSpPr>
        <p:spPr>
          <a:xfrm>
            <a:off x="694944" y="5596128"/>
            <a:ext cx="2395728" cy="182880"/>
          </a:xfrm>
          <a:prstGeom prst="rect">
            <a:avLst/>
          </a:prstGeom>
          <a:noFill/>
          <a:ln/>
        </p:spPr>
        <p:txBody>
          <a:bodyPr wrap="square" lIns="0" tIns="0" rIns="0" bIns="0" rtlCol="0" anchor="ctr"/>
          <a:lstStyle/>
          <a:p>
            <a:pPr indent="0" marL="0">
              <a:buNone/>
            </a:pPr>
            <a:r>
              <a:rPr lang="en-US" sz="850" dirty="0">
                <a:solidFill>
                  <a:srgbClr val="5A6C82"/>
                </a:solidFill>
                <a:latin typeface="Calibri" pitchFamily="34" charset="0"/>
                <a:ea typeface="Calibri" pitchFamily="34" charset="-122"/>
                <a:cs typeface="Calibri" pitchFamily="34" charset="-120"/>
              </a:rPr>
              <a:t>Qatar</a:t>
            </a:r>
            <a:endParaRPr lang="en-US" sz="850" dirty="0"/>
          </a:p>
        </p:txBody>
      </p:sp>
      <p:sp>
        <p:nvSpPr>
          <p:cNvPr id="30" name="Text 28"/>
          <p:cNvSpPr txBox="1"/>
          <p:nvPr/>
        </p:nvSpPr>
        <p:spPr>
          <a:xfrm>
            <a:off x="694944" y="5769864"/>
            <a:ext cx="2395728" cy="201168"/>
          </a:xfrm>
          <a:prstGeom prst="rect">
            <a:avLst/>
          </a:prstGeom>
          <a:noFill/>
          <a:ln/>
        </p:spPr>
        <p:txBody>
          <a:bodyPr wrap="square" lIns="0" tIns="0" rIns="0" bIns="0" rtlCol="0" anchor="ctr"/>
          <a:lstStyle/>
          <a:p>
            <a:pPr indent="0" marL="0">
              <a:buNone/>
            </a:pPr>
            <a:r>
              <a:rPr lang="en-US" sz="1150" b="1" dirty="0">
                <a:solidFill>
                  <a:srgbClr val="12756F"/>
                </a:solidFill>
                <a:latin typeface="Arial" pitchFamily="34" charset="0"/>
                <a:ea typeface="Arial" pitchFamily="34" charset="-122"/>
                <a:cs typeface="Arial" pitchFamily="34" charset="-120"/>
              </a:rPr>
              <a:t>DHP (MOPH)</a:t>
            </a:r>
            <a:endParaRPr lang="en-US" sz="1150" dirty="0"/>
          </a:p>
        </p:txBody>
      </p:sp>
      <p:sp>
        <p:nvSpPr>
          <p:cNvPr id="31" name="Text 29"/>
          <p:cNvSpPr txBox="1"/>
          <p:nvPr/>
        </p:nvSpPr>
        <p:spPr>
          <a:xfrm>
            <a:off x="694944" y="5961888"/>
            <a:ext cx="2395728" cy="182880"/>
          </a:xfrm>
          <a:prstGeom prst="rect">
            <a:avLst/>
          </a:prstGeom>
          <a:noFill/>
          <a:ln/>
        </p:spPr>
        <p:txBody>
          <a:bodyPr wrap="square" lIns="0" tIns="0" rIns="0" bIns="0" rtlCol="0" anchor="ctr"/>
          <a:lstStyle/>
          <a:p>
            <a:pPr indent="0" marL="0">
              <a:buNone/>
            </a:pPr>
            <a:r>
              <a:rPr lang="en-US" sz="830" dirty="0">
                <a:solidFill>
                  <a:srgbClr val="5A6C82"/>
                </a:solidFill>
                <a:latin typeface="Calibri" pitchFamily="34" charset="0"/>
                <a:ea typeface="Calibri" pitchFamily="34" charset="-122"/>
                <a:cs typeface="Calibri" pitchFamily="34" charset="-120"/>
              </a:rPr>
              <a:t>DHP practitioner portal</a:t>
            </a:r>
            <a:endParaRPr lang="en-US" sz="830" dirty="0"/>
          </a:p>
        </p:txBody>
      </p:sp>
      <p:sp>
        <p:nvSpPr>
          <p:cNvPr id="32" name="Shape 30"/>
          <p:cNvSpPr/>
          <p:nvPr/>
        </p:nvSpPr>
        <p:spPr>
          <a:xfrm>
            <a:off x="3407969" y="5541264"/>
            <a:ext cx="2688336" cy="621792"/>
          </a:xfrm>
          <a:prstGeom prst="roundRect">
            <a:avLst>
              <a:gd name="adj" fmla="val 7353"/>
            </a:avLst>
          </a:prstGeom>
          <a:solidFill>
            <a:srgbClr val="FFFFFF"/>
          </a:solidFill>
          <a:ln w="7620">
            <a:solidFill>
              <a:srgbClr val="E3E7EA"/>
            </a:solidFill>
            <a:prstDash val="solid"/>
          </a:ln>
        </p:spPr>
      </p:sp>
      <p:sp>
        <p:nvSpPr>
          <p:cNvPr id="33" name="Text 31"/>
          <p:cNvSpPr txBox="1"/>
          <p:nvPr/>
        </p:nvSpPr>
        <p:spPr>
          <a:xfrm>
            <a:off x="3554273" y="5596128"/>
            <a:ext cx="2395728" cy="182880"/>
          </a:xfrm>
          <a:prstGeom prst="rect">
            <a:avLst/>
          </a:prstGeom>
          <a:noFill/>
          <a:ln/>
        </p:spPr>
        <p:txBody>
          <a:bodyPr wrap="square" lIns="0" tIns="0" rIns="0" bIns="0" rtlCol="0" anchor="ctr"/>
          <a:lstStyle/>
          <a:p>
            <a:pPr indent="0" marL="0">
              <a:buNone/>
            </a:pPr>
            <a:r>
              <a:rPr lang="en-US" sz="850" dirty="0">
                <a:solidFill>
                  <a:srgbClr val="5A6C82"/>
                </a:solidFill>
                <a:latin typeface="Calibri" pitchFamily="34" charset="0"/>
                <a:ea typeface="Calibri" pitchFamily="34" charset="-122"/>
                <a:cs typeface="Calibri" pitchFamily="34" charset="-120"/>
              </a:rPr>
              <a:t>Bahrain</a:t>
            </a:r>
            <a:endParaRPr lang="en-US" sz="850" dirty="0"/>
          </a:p>
        </p:txBody>
      </p:sp>
      <p:sp>
        <p:nvSpPr>
          <p:cNvPr id="34" name="Text 32"/>
          <p:cNvSpPr txBox="1"/>
          <p:nvPr/>
        </p:nvSpPr>
        <p:spPr>
          <a:xfrm>
            <a:off x="3554273" y="5769864"/>
            <a:ext cx="2395728" cy="201168"/>
          </a:xfrm>
          <a:prstGeom prst="rect">
            <a:avLst/>
          </a:prstGeom>
          <a:noFill/>
          <a:ln/>
        </p:spPr>
        <p:txBody>
          <a:bodyPr wrap="square" lIns="0" tIns="0" rIns="0" bIns="0" rtlCol="0" anchor="ctr"/>
          <a:lstStyle/>
          <a:p>
            <a:pPr indent="0" marL="0">
              <a:buNone/>
            </a:pPr>
            <a:r>
              <a:rPr lang="en-US" sz="1150" b="1" dirty="0">
                <a:solidFill>
                  <a:srgbClr val="12756F"/>
                </a:solidFill>
                <a:latin typeface="Arial" pitchFamily="34" charset="0"/>
                <a:ea typeface="Arial" pitchFamily="34" charset="-122"/>
                <a:cs typeface="Arial" pitchFamily="34" charset="-120"/>
              </a:rPr>
              <a:t>NHRA</a:t>
            </a:r>
            <a:endParaRPr lang="en-US" sz="1150" dirty="0"/>
          </a:p>
        </p:txBody>
      </p:sp>
      <p:sp>
        <p:nvSpPr>
          <p:cNvPr id="35" name="Text 33"/>
          <p:cNvSpPr txBox="1"/>
          <p:nvPr/>
        </p:nvSpPr>
        <p:spPr>
          <a:xfrm>
            <a:off x="3554273" y="5961888"/>
            <a:ext cx="2395728" cy="182880"/>
          </a:xfrm>
          <a:prstGeom prst="rect">
            <a:avLst/>
          </a:prstGeom>
          <a:noFill/>
          <a:ln/>
        </p:spPr>
        <p:txBody>
          <a:bodyPr wrap="square" lIns="0" tIns="0" rIns="0" bIns="0" rtlCol="0" anchor="ctr"/>
          <a:lstStyle/>
          <a:p>
            <a:pPr indent="0" marL="0">
              <a:buNone/>
            </a:pPr>
            <a:r>
              <a:rPr lang="en-US" sz="830" dirty="0">
                <a:solidFill>
                  <a:srgbClr val="5A6C82"/>
                </a:solidFill>
                <a:latin typeface="Calibri" pitchFamily="34" charset="0"/>
                <a:ea typeface="Calibri" pitchFamily="34" charset="-122"/>
                <a:cs typeface="Calibri" pitchFamily="34" charset="-120"/>
              </a:rPr>
              <a:t>NHRA licensing</a:t>
            </a:r>
            <a:endParaRPr lang="en-US" sz="830" dirty="0"/>
          </a:p>
        </p:txBody>
      </p:sp>
      <p:sp>
        <p:nvSpPr>
          <p:cNvPr id="36" name="Shape 34"/>
          <p:cNvSpPr/>
          <p:nvPr/>
        </p:nvSpPr>
        <p:spPr>
          <a:xfrm>
            <a:off x="6267298" y="5541264"/>
            <a:ext cx="2688336" cy="621792"/>
          </a:xfrm>
          <a:prstGeom prst="roundRect">
            <a:avLst>
              <a:gd name="adj" fmla="val 7353"/>
            </a:avLst>
          </a:prstGeom>
          <a:solidFill>
            <a:srgbClr val="FFFFFF"/>
          </a:solidFill>
          <a:ln w="7620">
            <a:solidFill>
              <a:srgbClr val="E3E7EA"/>
            </a:solidFill>
            <a:prstDash val="solid"/>
          </a:ln>
        </p:spPr>
      </p:sp>
      <p:sp>
        <p:nvSpPr>
          <p:cNvPr id="37" name="Text 35"/>
          <p:cNvSpPr txBox="1"/>
          <p:nvPr/>
        </p:nvSpPr>
        <p:spPr>
          <a:xfrm>
            <a:off x="6413602" y="5596128"/>
            <a:ext cx="2395728" cy="182880"/>
          </a:xfrm>
          <a:prstGeom prst="rect">
            <a:avLst/>
          </a:prstGeom>
          <a:noFill/>
          <a:ln/>
        </p:spPr>
        <p:txBody>
          <a:bodyPr wrap="square" lIns="0" tIns="0" rIns="0" bIns="0" rtlCol="0" anchor="ctr"/>
          <a:lstStyle/>
          <a:p>
            <a:pPr indent="0" marL="0">
              <a:buNone/>
            </a:pPr>
            <a:r>
              <a:rPr lang="en-US" sz="850" dirty="0">
                <a:solidFill>
                  <a:srgbClr val="5A6C82"/>
                </a:solidFill>
                <a:latin typeface="Calibri" pitchFamily="34" charset="0"/>
                <a:ea typeface="Calibri" pitchFamily="34" charset="-122"/>
                <a:cs typeface="Calibri" pitchFamily="34" charset="-120"/>
              </a:rPr>
              <a:t>Oman</a:t>
            </a:r>
            <a:endParaRPr lang="en-US" sz="850" dirty="0"/>
          </a:p>
        </p:txBody>
      </p:sp>
      <p:sp>
        <p:nvSpPr>
          <p:cNvPr id="38" name="Text 36"/>
          <p:cNvSpPr txBox="1"/>
          <p:nvPr/>
        </p:nvSpPr>
        <p:spPr>
          <a:xfrm>
            <a:off x="6413602" y="5769864"/>
            <a:ext cx="2395728" cy="201168"/>
          </a:xfrm>
          <a:prstGeom prst="rect">
            <a:avLst/>
          </a:prstGeom>
          <a:noFill/>
          <a:ln/>
        </p:spPr>
        <p:txBody>
          <a:bodyPr wrap="square" lIns="0" tIns="0" rIns="0" bIns="0" rtlCol="0" anchor="ctr"/>
          <a:lstStyle/>
          <a:p>
            <a:pPr indent="0" marL="0">
              <a:buNone/>
            </a:pPr>
            <a:r>
              <a:rPr lang="en-US" sz="1150" b="1" dirty="0">
                <a:solidFill>
                  <a:srgbClr val="12756F"/>
                </a:solidFill>
                <a:latin typeface="Arial" pitchFamily="34" charset="0"/>
                <a:ea typeface="Arial" pitchFamily="34" charset="-122"/>
                <a:cs typeface="Arial" pitchFamily="34" charset="-120"/>
              </a:rPr>
              <a:t>OMSB / MOH</a:t>
            </a:r>
            <a:endParaRPr lang="en-US" sz="1150" dirty="0"/>
          </a:p>
        </p:txBody>
      </p:sp>
      <p:sp>
        <p:nvSpPr>
          <p:cNvPr id="39" name="Text 37"/>
          <p:cNvSpPr txBox="1"/>
          <p:nvPr/>
        </p:nvSpPr>
        <p:spPr>
          <a:xfrm>
            <a:off x="6413602" y="5961888"/>
            <a:ext cx="2395728" cy="182880"/>
          </a:xfrm>
          <a:prstGeom prst="rect">
            <a:avLst/>
          </a:prstGeom>
          <a:noFill/>
          <a:ln/>
        </p:spPr>
        <p:txBody>
          <a:bodyPr wrap="square" lIns="0" tIns="0" rIns="0" bIns="0" rtlCol="0" anchor="ctr"/>
          <a:lstStyle/>
          <a:p>
            <a:pPr indent="0" marL="0">
              <a:buNone/>
            </a:pPr>
            <a:r>
              <a:rPr lang="en-US" sz="830" dirty="0">
                <a:solidFill>
                  <a:srgbClr val="5A6C82"/>
                </a:solidFill>
                <a:latin typeface="Calibri" pitchFamily="34" charset="0"/>
                <a:ea typeface="Calibri" pitchFamily="34" charset="-122"/>
                <a:cs typeface="Calibri" pitchFamily="34" charset="-120"/>
              </a:rPr>
              <a:t>MOH · Prometric</a:t>
            </a:r>
            <a:endParaRPr lang="en-US" sz="830" dirty="0"/>
          </a:p>
        </p:txBody>
      </p:sp>
      <p:sp>
        <p:nvSpPr>
          <p:cNvPr id="40" name="Shape 38"/>
          <p:cNvSpPr/>
          <p:nvPr/>
        </p:nvSpPr>
        <p:spPr>
          <a:xfrm>
            <a:off x="9126626" y="5541264"/>
            <a:ext cx="2688336" cy="621792"/>
          </a:xfrm>
          <a:prstGeom prst="roundRect">
            <a:avLst>
              <a:gd name="adj" fmla="val 7353"/>
            </a:avLst>
          </a:prstGeom>
          <a:solidFill>
            <a:srgbClr val="FFFFFF"/>
          </a:solidFill>
          <a:ln w="7620">
            <a:solidFill>
              <a:srgbClr val="E3E7EA"/>
            </a:solidFill>
            <a:prstDash val="solid"/>
          </a:ln>
        </p:spPr>
      </p:sp>
      <p:sp>
        <p:nvSpPr>
          <p:cNvPr id="41" name="Text 39"/>
          <p:cNvSpPr txBox="1"/>
          <p:nvPr/>
        </p:nvSpPr>
        <p:spPr>
          <a:xfrm>
            <a:off x="9272930" y="5596128"/>
            <a:ext cx="2395728" cy="182880"/>
          </a:xfrm>
          <a:prstGeom prst="rect">
            <a:avLst/>
          </a:prstGeom>
          <a:noFill/>
          <a:ln/>
        </p:spPr>
        <p:txBody>
          <a:bodyPr wrap="square" lIns="0" tIns="0" rIns="0" bIns="0" rtlCol="0" anchor="ctr"/>
          <a:lstStyle/>
          <a:p>
            <a:pPr indent="0" marL="0">
              <a:buNone/>
            </a:pPr>
            <a:r>
              <a:rPr lang="en-US" sz="850" dirty="0">
                <a:solidFill>
                  <a:srgbClr val="5A6C82"/>
                </a:solidFill>
                <a:latin typeface="Calibri" pitchFamily="34" charset="0"/>
                <a:ea typeface="Calibri" pitchFamily="34" charset="-122"/>
                <a:cs typeface="Calibri" pitchFamily="34" charset="-120"/>
              </a:rPr>
              <a:t>Kuwait</a:t>
            </a:r>
            <a:endParaRPr lang="en-US" sz="850" dirty="0"/>
          </a:p>
        </p:txBody>
      </p:sp>
      <p:sp>
        <p:nvSpPr>
          <p:cNvPr id="42" name="Text 40"/>
          <p:cNvSpPr txBox="1"/>
          <p:nvPr/>
        </p:nvSpPr>
        <p:spPr>
          <a:xfrm>
            <a:off x="9272930" y="5769864"/>
            <a:ext cx="2395728" cy="201168"/>
          </a:xfrm>
          <a:prstGeom prst="rect">
            <a:avLst/>
          </a:prstGeom>
          <a:noFill/>
          <a:ln/>
        </p:spPr>
        <p:txBody>
          <a:bodyPr wrap="square" lIns="0" tIns="0" rIns="0" bIns="0" rtlCol="0" anchor="ctr"/>
          <a:lstStyle/>
          <a:p>
            <a:pPr indent="0" marL="0">
              <a:buNone/>
            </a:pPr>
            <a:r>
              <a:rPr lang="en-US" sz="1150" b="1" dirty="0">
                <a:solidFill>
                  <a:srgbClr val="12756F"/>
                </a:solidFill>
                <a:latin typeface="Arial" pitchFamily="34" charset="0"/>
                <a:ea typeface="Arial" pitchFamily="34" charset="-122"/>
                <a:cs typeface="Arial" pitchFamily="34" charset="-120"/>
              </a:rPr>
              <a:t>MOH</a:t>
            </a:r>
            <a:endParaRPr lang="en-US" sz="1150" dirty="0"/>
          </a:p>
        </p:txBody>
      </p:sp>
      <p:sp>
        <p:nvSpPr>
          <p:cNvPr id="43" name="Text 41"/>
          <p:cNvSpPr txBox="1"/>
          <p:nvPr/>
        </p:nvSpPr>
        <p:spPr>
          <a:xfrm>
            <a:off x="9272930" y="5961888"/>
            <a:ext cx="2395728" cy="182880"/>
          </a:xfrm>
          <a:prstGeom prst="rect">
            <a:avLst/>
          </a:prstGeom>
          <a:noFill/>
          <a:ln/>
        </p:spPr>
        <p:txBody>
          <a:bodyPr wrap="square" lIns="0" tIns="0" rIns="0" bIns="0" rtlCol="0" anchor="ctr"/>
          <a:lstStyle/>
          <a:p>
            <a:pPr indent="0" marL="0">
              <a:buNone/>
            </a:pPr>
            <a:r>
              <a:rPr lang="en-US" sz="830" dirty="0">
                <a:solidFill>
                  <a:srgbClr val="5A6C82"/>
                </a:solidFill>
                <a:latin typeface="Calibri" pitchFamily="34" charset="0"/>
                <a:ea typeface="Calibri" pitchFamily="34" charset="-122"/>
                <a:cs typeface="Calibri" pitchFamily="34" charset="-120"/>
              </a:rPr>
              <a:t>MOH · Kuwait Prometric</a:t>
            </a:r>
            <a:endParaRPr lang="en-US" sz="830" dirty="0"/>
          </a:p>
        </p:txBody>
      </p:sp>
      <p:sp>
        <p:nvSpPr>
          <p:cNvPr id="44" name="Text 42"/>
          <p:cNvSpPr txBox="1"/>
          <p:nvPr/>
        </p:nvSpPr>
        <p:spPr>
          <a:xfrm>
            <a:off x="548640" y="6419088"/>
            <a:ext cx="8595360" cy="237744"/>
          </a:xfrm>
          <a:prstGeom prst="rect">
            <a:avLst/>
          </a:prstGeom>
          <a:noFill/>
          <a:ln/>
        </p:spPr>
        <p:txBody>
          <a:bodyPr wrap="square" lIns="0" tIns="0" rIns="0" bIns="0" rtlCol="0" anchor="ctr"/>
          <a:lstStyle/>
          <a:p>
            <a:pPr indent="0" marL="0">
              <a:buNone/>
            </a:pPr>
            <a:r>
              <a:rPr lang="en-US" sz="900" dirty="0">
                <a:solidFill>
                  <a:srgbClr val="96A3AE"/>
                </a:solidFill>
                <a:latin typeface="Calibri" pitchFamily="34" charset="0"/>
                <a:ea typeface="Calibri" pitchFamily="34" charset="-122"/>
                <a:cs typeface="Calibri" pitchFamily="34" charset="-120"/>
              </a:rPr>
              <a:t>INK IT Business Solutions  ·  Visa &amp; Permits Management on SAP BTP</a:t>
            </a:r>
            <a:endParaRPr lang="en-US" sz="900" dirty="0"/>
          </a:p>
        </p:txBody>
      </p:sp>
      <p:sp>
        <p:nvSpPr>
          <p:cNvPr id="45" name="Text 43"/>
          <p:cNvSpPr txBox="1"/>
          <p:nvPr/>
        </p:nvSpPr>
        <p:spPr>
          <a:xfrm>
            <a:off x="11155680" y="6419088"/>
            <a:ext cx="457200" cy="237744"/>
          </a:xfrm>
          <a:prstGeom prst="rect">
            <a:avLst/>
          </a:prstGeom>
          <a:noFill/>
          <a:ln/>
        </p:spPr>
        <p:txBody>
          <a:bodyPr wrap="square" lIns="0" tIns="0" rIns="0" bIns="0" rtlCol="0" anchor="ctr"/>
          <a:lstStyle/>
          <a:p>
            <a:pPr algn="r" indent="0" marL="0">
              <a:buNone/>
            </a:pPr>
            <a:r>
              <a:rPr lang="en-US" sz="900" dirty="0">
                <a:solidFill>
                  <a:srgbClr val="96A3AE"/>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02336"/>
            <a:ext cx="11064240" cy="237744"/>
          </a:xfrm>
          <a:prstGeom prst="rect">
            <a:avLst/>
          </a:prstGeom>
          <a:noFill/>
          <a:ln/>
        </p:spPr>
        <p:txBody>
          <a:bodyPr wrap="square" lIns="0" tIns="0" rIns="0" bIns="0" rtlCol="0" anchor="ctr"/>
          <a:lstStyle/>
          <a:p>
            <a:pPr indent="0" marL="0">
              <a:buNone/>
            </a:pPr>
            <a:r>
              <a:rPr lang="en-US" sz="1100" b="1" spc="220" kern="0" dirty="0">
                <a:solidFill>
                  <a:srgbClr val="20A098"/>
                </a:solidFill>
                <a:latin typeface="Calibri" pitchFamily="34" charset="0"/>
                <a:ea typeface="Calibri" pitchFamily="34" charset="-122"/>
                <a:cs typeface="Calibri" pitchFamily="34" charset="-120"/>
              </a:rPr>
              <a:t>ARCHITECTURE &amp; INTEGRATION</a:t>
            </a:r>
            <a:endParaRPr lang="en-US" sz="1100" dirty="0"/>
          </a:p>
        </p:txBody>
      </p:sp>
      <p:sp>
        <p:nvSpPr>
          <p:cNvPr id="3" name="Text 1"/>
          <p:cNvSpPr txBox="1"/>
          <p:nvPr/>
        </p:nvSpPr>
        <p:spPr>
          <a:xfrm>
            <a:off x="548640" y="658368"/>
            <a:ext cx="11064240" cy="566928"/>
          </a:xfrm>
          <a:prstGeom prst="rect">
            <a:avLst/>
          </a:prstGeom>
          <a:noFill/>
          <a:ln/>
        </p:spPr>
        <p:txBody>
          <a:bodyPr wrap="square" lIns="0" tIns="0" rIns="0" bIns="0" rtlCol="0" anchor="ctr"/>
          <a:lstStyle/>
          <a:p>
            <a:pPr indent="0" marL="0">
              <a:buNone/>
            </a:pPr>
            <a:r>
              <a:rPr lang="en-US" sz="3000" b="1" dirty="0">
                <a:solidFill>
                  <a:srgbClr val="0C1E33"/>
                </a:solidFill>
                <a:latin typeface="Arial" pitchFamily="34" charset="0"/>
                <a:ea typeface="Arial" pitchFamily="34" charset="-122"/>
                <a:cs typeface="Arial" pitchFamily="34" charset="-120"/>
              </a:rPr>
              <a:t>We sit between government and SuccessFactors.</a:t>
            </a:r>
            <a:endParaRPr lang="en-US" sz="3000" dirty="0"/>
          </a:p>
        </p:txBody>
      </p:sp>
      <p:sp>
        <p:nvSpPr>
          <p:cNvPr id="4" name="Text 2"/>
          <p:cNvSpPr txBox="1"/>
          <p:nvPr/>
        </p:nvSpPr>
        <p:spPr>
          <a:xfrm>
            <a:off x="548640" y="1243584"/>
            <a:ext cx="10424160" cy="420624"/>
          </a:xfrm>
          <a:prstGeom prst="rect">
            <a:avLst/>
          </a:prstGeom>
          <a:noFill/>
          <a:ln/>
        </p:spPr>
        <p:txBody>
          <a:bodyPr wrap="square" lIns="0" tIns="0" rIns="0" bIns="0" rtlCol="0" anchor="ctr"/>
          <a:lstStyle/>
          <a:p>
            <a:pPr indent="0" marL="0">
              <a:buNone/>
            </a:pPr>
            <a:r>
              <a:rPr lang="en-US" sz="1300" dirty="0">
                <a:solidFill>
                  <a:srgbClr val="5A6C82"/>
                </a:solidFill>
                <a:latin typeface="Calibri" pitchFamily="34" charset="0"/>
                <a:ea typeface="Calibri" pitchFamily="34" charset="-122"/>
                <a:cs typeface="Calibri" pitchFamily="34" charset="-120"/>
              </a:rPr>
              <a:t>That gap is where the problem lives. We take candidates from Recruiting, drive the government-facing work, write the permit details back into Employee Central, and send the money to finance.</a:t>
            </a:r>
            <a:endParaRPr lang="en-US" sz="1300" dirty="0"/>
          </a:p>
        </p:txBody>
      </p:sp>
      <p:sp>
        <p:nvSpPr>
          <p:cNvPr id="5" name="Shape 3"/>
          <p:cNvSpPr/>
          <p:nvPr/>
        </p:nvSpPr>
        <p:spPr>
          <a:xfrm>
            <a:off x="548640" y="1792224"/>
            <a:ext cx="6903720" cy="859536"/>
          </a:xfrm>
          <a:prstGeom prst="roundRect">
            <a:avLst>
              <a:gd name="adj" fmla="val 7447"/>
            </a:avLst>
          </a:prstGeom>
          <a:solidFill>
            <a:srgbClr val="F4F6F7"/>
          </a:solidFill>
          <a:ln w="11430">
            <a:solidFill>
              <a:srgbClr val="E3E7EA"/>
            </a:solidFill>
            <a:prstDash val="solid"/>
          </a:ln>
        </p:spPr>
      </p:sp>
      <p:sp>
        <p:nvSpPr>
          <p:cNvPr id="6" name="Text 4"/>
          <p:cNvSpPr txBox="1"/>
          <p:nvPr/>
        </p:nvSpPr>
        <p:spPr>
          <a:xfrm>
            <a:off x="749808" y="1883664"/>
            <a:ext cx="4572000" cy="237744"/>
          </a:xfrm>
          <a:prstGeom prst="rect">
            <a:avLst/>
          </a:prstGeom>
          <a:noFill/>
          <a:ln/>
        </p:spPr>
        <p:txBody>
          <a:bodyPr wrap="square" lIns="0" tIns="0" rIns="0" bIns="0" rtlCol="0" anchor="ctr"/>
          <a:lstStyle/>
          <a:p>
            <a:pPr indent="0" marL="0">
              <a:buNone/>
            </a:pPr>
            <a:r>
              <a:rPr lang="en-US" sz="1250" b="1" dirty="0">
                <a:solidFill>
                  <a:srgbClr val="0C1E33"/>
                </a:solidFill>
                <a:latin typeface="Arial" pitchFamily="34" charset="0"/>
                <a:ea typeface="Arial" pitchFamily="34" charset="-122"/>
                <a:cs typeface="Arial" pitchFamily="34" charset="-120"/>
              </a:rPr>
              <a:t>SAP SuccessFactors</a:t>
            </a:r>
            <a:endParaRPr lang="en-US" sz="1250" dirty="0"/>
          </a:p>
        </p:txBody>
      </p:sp>
      <p:sp>
        <p:nvSpPr>
          <p:cNvPr id="7" name="Text 5"/>
          <p:cNvSpPr txBox="1"/>
          <p:nvPr/>
        </p:nvSpPr>
        <p:spPr>
          <a:xfrm>
            <a:off x="749808" y="2103120"/>
            <a:ext cx="6309360" cy="182880"/>
          </a:xfrm>
          <a:prstGeom prst="rect">
            <a:avLst/>
          </a:prstGeom>
          <a:noFill/>
          <a:ln/>
        </p:spPr>
        <p:txBody>
          <a:bodyPr wrap="square" lIns="0" tIns="0" rIns="0" bIns="0" rtlCol="0" anchor="ctr"/>
          <a:lstStyle/>
          <a:p>
            <a:pPr indent="0" marL="0">
              <a:buNone/>
            </a:pPr>
            <a:r>
              <a:rPr lang="en-US" sz="880" i="1" dirty="0">
                <a:solidFill>
                  <a:srgbClr val="5A6C82"/>
                </a:solidFill>
                <a:latin typeface="Calibri" pitchFamily="34" charset="0"/>
                <a:ea typeface="Calibri" pitchFamily="34" charset="-122"/>
                <a:cs typeface="Calibri" pitchFamily="34" charset="-120"/>
              </a:rPr>
              <a:t>Candidates, employee master, separations and expiry dates flow in</a:t>
            </a:r>
            <a:endParaRPr lang="en-US" sz="880" dirty="0"/>
          </a:p>
        </p:txBody>
      </p:sp>
      <p:sp>
        <p:nvSpPr>
          <p:cNvPr id="8" name="Shape 6"/>
          <p:cNvSpPr/>
          <p:nvPr/>
        </p:nvSpPr>
        <p:spPr>
          <a:xfrm>
            <a:off x="749808" y="2322576"/>
            <a:ext cx="1175918" cy="237744"/>
          </a:xfrm>
          <a:prstGeom prst="roundRect">
            <a:avLst>
              <a:gd name="adj" fmla="val 46154"/>
            </a:avLst>
          </a:prstGeom>
          <a:solidFill>
            <a:srgbClr val="FFFFFF"/>
          </a:solidFill>
          <a:ln w="7620">
            <a:solidFill>
              <a:srgbClr val="E3E7EA"/>
            </a:solidFill>
            <a:prstDash val="solid"/>
          </a:ln>
        </p:spPr>
      </p:sp>
      <p:sp>
        <p:nvSpPr>
          <p:cNvPr id="9" name="Text 7"/>
          <p:cNvSpPr txBox="1"/>
          <p:nvPr/>
        </p:nvSpPr>
        <p:spPr>
          <a:xfrm>
            <a:off x="749808" y="2322576"/>
            <a:ext cx="1175918" cy="237744"/>
          </a:xfrm>
          <a:prstGeom prst="rect">
            <a:avLst/>
          </a:prstGeom>
          <a:noFill/>
          <a:ln/>
        </p:spPr>
        <p:txBody>
          <a:bodyPr wrap="square" lIns="0" tIns="0" rIns="0" bIns="0" rtlCol="0" anchor="ctr"/>
          <a:lstStyle/>
          <a:p>
            <a:pPr algn="ctr" indent="0" marL="0">
              <a:buNone/>
            </a:pPr>
            <a:r>
              <a:rPr lang="en-US" sz="860" b="1" dirty="0">
                <a:solidFill>
                  <a:srgbClr val="12756F"/>
                </a:solidFill>
                <a:latin typeface="Calibri" pitchFamily="34" charset="0"/>
                <a:ea typeface="Calibri" pitchFamily="34" charset="-122"/>
                <a:cs typeface="Calibri" pitchFamily="34" charset="-120"/>
              </a:rPr>
              <a:t>SF Recruiting</a:t>
            </a:r>
            <a:endParaRPr lang="en-US" sz="860" dirty="0"/>
          </a:p>
        </p:txBody>
      </p:sp>
      <p:sp>
        <p:nvSpPr>
          <p:cNvPr id="10" name="Shape 8"/>
          <p:cNvSpPr/>
          <p:nvPr/>
        </p:nvSpPr>
        <p:spPr>
          <a:xfrm>
            <a:off x="2017166" y="2322576"/>
            <a:ext cx="1475842" cy="237744"/>
          </a:xfrm>
          <a:prstGeom prst="roundRect">
            <a:avLst>
              <a:gd name="adj" fmla="val 46154"/>
            </a:avLst>
          </a:prstGeom>
          <a:solidFill>
            <a:srgbClr val="FFFFFF"/>
          </a:solidFill>
          <a:ln w="7620">
            <a:solidFill>
              <a:srgbClr val="E3E7EA"/>
            </a:solidFill>
            <a:prstDash val="solid"/>
          </a:ln>
        </p:spPr>
      </p:sp>
      <p:sp>
        <p:nvSpPr>
          <p:cNvPr id="11" name="Text 9"/>
          <p:cNvSpPr txBox="1"/>
          <p:nvPr/>
        </p:nvSpPr>
        <p:spPr>
          <a:xfrm>
            <a:off x="2017166" y="2322576"/>
            <a:ext cx="1475842" cy="237744"/>
          </a:xfrm>
          <a:prstGeom prst="rect">
            <a:avLst/>
          </a:prstGeom>
          <a:noFill/>
          <a:ln/>
        </p:spPr>
        <p:txBody>
          <a:bodyPr wrap="square" lIns="0" tIns="0" rIns="0" bIns="0" rtlCol="0" anchor="ctr"/>
          <a:lstStyle/>
          <a:p>
            <a:pPr algn="ctr" indent="0" marL="0">
              <a:buNone/>
            </a:pPr>
            <a:r>
              <a:rPr lang="en-US" sz="860" b="1" dirty="0">
                <a:solidFill>
                  <a:srgbClr val="12756F"/>
                </a:solidFill>
                <a:latin typeface="Calibri" pitchFamily="34" charset="0"/>
                <a:ea typeface="Calibri" pitchFamily="34" charset="-122"/>
                <a:cs typeface="Calibri" pitchFamily="34" charset="-120"/>
              </a:rPr>
              <a:t>SF Onboarding 2.0</a:t>
            </a:r>
            <a:endParaRPr lang="en-US" sz="860" dirty="0"/>
          </a:p>
        </p:txBody>
      </p:sp>
      <p:sp>
        <p:nvSpPr>
          <p:cNvPr id="12" name="Shape 10"/>
          <p:cNvSpPr/>
          <p:nvPr/>
        </p:nvSpPr>
        <p:spPr>
          <a:xfrm>
            <a:off x="3584448" y="2322576"/>
            <a:ext cx="1400861" cy="237744"/>
          </a:xfrm>
          <a:prstGeom prst="roundRect">
            <a:avLst>
              <a:gd name="adj" fmla="val 46154"/>
            </a:avLst>
          </a:prstGeom>
          <a:solidFill>
            <a:srgbClr val="FFFFFF"/>
          </a:solidFill>
          <a:ln w="7620">
            <a:solidFill>
              <a:srgbClr val="E3E7EA"/>
            </a:solidFill>
            <a:prstDash val="solid"/>
          </a:ln>
        </p:spPr>
      </p:sp>
      <p:sp>
        <p:nvSpPr>
          <p:cNvPr id="13" name="Text 11"/>
          <p:cNvSpPr txBox="1"/>
          <p:nvPr/>
        </p:nvSpPr>
        <p:spPr>
          <a:xfrm>
            <a:off x="3584448" y="2322576"/>
            <a:ext cx="1400861" cy="237744"/>
          </a:xfrm>
          <a:prstGeom prst="rect">
            <a:avLst/>
          </a:prstGeom>
          <a:noFill/>
          <a:ln/>
        </p:spPr>
        <p:txBody>
          <a:bodyPr wrap="square" lIns="0" tIns="0" rIns="0" bIns="0" rtlCol="0" anchor="ctr"/>
          <a:lstStyle/>
          <a:p>
            <a:pPr algn="ctr" indent="0" marL="0">
              <a:buNone/>
            </a:pPr>
            <a:r>
              <a:rPr lang="en-US" sz="860" b="1" dirty="0">
                <a:solidFill>
                  <a:srgbClr val="12756F"/>
                </a:solidFill>
                <a:latin typeface="Calibri" pitchFamily="34" charset="0"/>
                <a:ea typeface="Calibri" pitchFamily="34" charset="-122"/>
                <a:cs typeface="Calibri" pitchFamily="34" charset="-120"/>
              </a:rPr>
              <a:t>Employee Central</a:t>
            </a:r>
            <a:endParaRPr lang="en-US" sz="860" dirty="0"/>
          </a:p>
        </p:txBody>
      </p:sp>
      <p:sp>
        <p:nvSpPr>
          <p:cNvPr id="14" name="Shape 12"/>
          <p:cNvSpPr/>
          <p:nvPr/>
        </p:nvSpPr>
        <p:spPr>
          <a:xfrm>
            <a:off x="5076749" y="2322576"/>
            <a:ext cx="1100938" cy="237744"/>
          </a:xfrm>
          <a:prstGeom prst="roundRect">
            <a:avLst>
              <a:gd name="adj" fmla="val 46154"/>
            </a:avLst>
          </a:prstGeom>
          <a:solidFill>
            <a:srgbClr val="FFFFFF"/>
          </a:solidFill>
          <a:ln w="7620">
            <a:solidFill>
              <a:srgbClr val="E3E7EA"/>
            </a:solidFill>
            <a:prstDash val="solid"/>
          </a:ln>
        </p:spPr>
      </p:sp>
      <p:sp>
        <p:nvSpPr>
          <p:cNvPr id="15" name="Text 13"/>
          <p:cNvSpPr txBox="1"/>
          <p:nvPr/>
        </p:nvSpPr>
        <p:spPr>
          <a:xfrm>
            <a:off x="5076749" y="2322576"/>
            <a:ext cx="1100938" cy="237744"/>
          </a:xfrm>
          <a:prstGeom prst="rect">
            <a:avLst/>
          </a:prstGeom>
          <a:noFill/>
          <a:ln/>
        </p:spPr>
        <p:txBody>
          <a:bodyPr wrap="square" lIns="0" tIns="0" rIns="0" bIns="0" rtlCol="0" anchor="ctr"/>
          <a:lstStyle/>
          <a:p>
            <a:pPr algn="ctr" indent="0" marL="0">
              <a:buNone/>
            </a:pPr>
            <a:r>
              <a:rPr lang="en-US" sz="860" b="1" dirty="0">
                <a:solidFill>
                  <a:srgbClr val="12756F"/>
                </a:solidFill>
                <a:latin typeface="Calibri" pitchFamily="34" charset="0"/>
                <a:ea typeface="Calibri" pitchFamily="34" charset="-122"/>
                <a:cs typeface="Calibri" pitchFamily="34" charset="-120"/>
              </a:rPr>
              <a:t>SF Work Zone</a:t>
            </a:r>
            <a:endParaRPr lang="en-US" sz="860" dirty="0"/>
          </a:p>
        </p:txBody>
      </p:sp>
      <p:sp>
        <p:nvSpPr>
          <p:cNvPr id="16" name="Shape 14"/>
          <p:cNvSpPr/>
          <p:nvPr/>
        </p:nvSpPr>
        <p:spPr>
          <a:xfrm rot="5400000">
            <a:off x="3703320" y="2683764"/>
            <a:ext cx="566928" cy="201168"/>
          </a:xfrm>
          <a:prstGeom prst="chevron">
            <a:avLst/>
          </a:prstGeom>
          <a:solidFill>
            <a:srgbClr val="C3CDD4"/>
          </a:solidFill>
          <a:ln/>
        </p:spPr>
      </p:sp>
      <p:sp>
        <p:nvSpPr>
          <p:cNvPr id="17" name="Shape 15"/>
          <p:cNvSpPr/>
          <p:nvPr/>
        </p:nvSpPr>
        <p:spPr>
          <a:xfrm>
            <a:off x="548640" y="2926080"/>
            <a:ext cx="6903720" cy="1042416"/>
          </a:xfrm>
          <a:prstGeom prst="roundRect">
            <a:avLst>
              <a:gd name="adj" fmla="val 6140"/>
            </a:avLst>
          </a:prstGeom>
          <a:solidFill>
            <a:srgbClr val="20A098"/>
          </a:solidFill>
          <a:ln w="11430">
            <a:solidFill>
              <a:srgbClr val="12756F"/>
            </a:solidFill>
            <a:prstDash val="solid"/>
          </a:ln>
        </p:spPr>
      </p:sp>
      <p:sp>
        <p:nvSpPr>
          <p:cNvPr id="18" name="Text 16"/>
          <p:cNvSpPr txBox="1"/>
          <p:nvPr/>
        </p:nvSpPr>
        <p:spPr>
          <a:xfrm>
            <a:off x="749808" y="3017520"/>
            <a:ext cx="4572000" cy="237744"/>
          </a:xfrm>
          <a:prstGeom prst="rect">
            <a:avLst/>
          </a:prstGeom>
          <a:noFill/>
          <a:ln/>
        </p:spPr>
        <p:txBody>
          <a:bodyPr wrap="square" lIns="0" tIns="0" rIns="0" bIns="0" rtlCol="0" anchor="ctr"/>
          <a:lstStyle/>
          <a:p>
            <a:pPr indent="0" marL="0">
              <a:buNone/>
            </a:pPr>
            <a:r>
              <a:rPr lang="en-US" sz="1250" b="1" dirty="0">
                <a:solidFill>
                  <a:srgbClr val="FFFFFF"/>
                </a:solidFill>
                <a:latin typeface="Arial" pitchFamily="34" charset="0"/>
                <a:ea typeface="Arial" pitchFamily="34" charset="-122"/>
                <a:cs typeface="Arial" pitchFamily="34" charset="-120"/>
              </a:rPr>
              <a:t>Visa &amp; Permits on SAP BTP</a:t>
            </a:r>
            <a:endParaRPr lang="en-US" sz="1250" dirty="0"/>
          </a:p>
        </p:txBody>
      </p:sp>
      <p:sp>
        <p:nvSpPr>
          <p:cNvPr id="19" name="Text 17"/>
          <p:cNvSpPr txBox="1"/>
          <p:nvPr/>
        </p:nvSpPr>
        <p:spPr>
          <a:xfrm>
            <a:off x="749808" y="3236976"/>
            <a:ext cx="6309360" cy="182880"/>
          </a:xfrm>
          <a:prstGeom prst="rect">
            <a:avLst/>
          </a:prstGeom>
          <a:noFill/>
          <a:ln/>
        </p:spPr>
        <p:txBody>
          <a:bodyPr wrap="square" lIns="0" tIns="0" rIns="0" bIns="0" rtlCol="0" anchor="ctr"/>
          <a:lstStyle/>
          <a:p>
            <a:pPr indent="0" marL="0">
              <a:buNone/>
            </a:pPr>
            <a:r>
              <a:rPr lang="en-US" sz="880" i="1" dirty="0">
                <a:solidFill>
                  <a:srgbClr val="CFEFEB"/>
                </a:solidFill>
                <a:latin typeface="Calibri" pitchFamily="34" charset="0"/>
                <a:ea typeface="Calibri" pitchFamily="34" charset="-122"/>
                <a:cs typeface="Calibri" pitchFamily="34" charset="-120"/>
              </a:rPr>
              <a:t>The governed layer — where the work is actually managed</a:t>
            </a:r>
            <a:endParaRPr lang="en-US" sz="880" dirty="0"/>
          </a:p>
        </p:txBody>
      </p:sp>
      <p:sp>
        <p:nvSpPr>
          <p:cNvPr id="20" name="Shape 18"/>
          <p:cNvSpPr/>
          <p:nvPr/>
        </p:nvSpPr>
        <p:spPr>
          <a:xfrm>
            <a:off x="749808" y="3456432"/>
            <a:ext cx="1775765" cy="237744"/>
          </a:xfrm>
          <a:prstGeom prst="roundRect">
            <a:avLst>
              <a:gd name="adj" fmla="val 46154"/>
            </a:avLst>
          </a:prstGeom>
          <a:solidFill>
            <a:srgbClr val="12756F"/>
          </a:solidFill>
          <a:ln w="7620">
            <a:solidFill>
              <a:srgbClr val="0E5F5A"/>
            </a:solidFill>
            <a:prstDash val="solid"/>
          </a:ln>
        </p:spPr>
      </p:sp>
      <p:sp>
        <p:nvSpPr>
          <p:cNvPr id="21" name="Text 19"/>
          <p:cNvSpPr txBox="1"/>
          <p:nvPr/>
        </p:nvSpPr>
        <p:spPr>
          <a:xfrm>
            <a:off x="749808" y="3456432"/>
            <a:ext cx="1775765" cy="237744"/>
          </a:xfrm>
          <a:prstGeom prst="rect">
            <a:avLst/>
          </a:prstGeom>
          <a:noFill/>
          <a:ln/>
        </p:spPr>
        <p:txBody>
          <a:bodyPr wrap="square" lIns="0" tIns="0" rIns="0" bIns="0" rtlCol="0" anchor="ctr"/>
          <a:lstStyle/>
          <a:p>
            <a:pPr algn="ctr" indent="0" marL="0">
              <a:buNone/>
            </a:pPr>
            <a:r>
              <a:rPr lang="en-US" sz="860" b="1" dirty="0">
                <a:solidFill>
                  <a:srgbClr val="FFFFFF"/>
                </a:solidFill>
                <a:latin typeface="Calibri" pitchFamily="34" charset="0"/>
                <a:ea typeface="Calibri" pitchFamily="34" charset="-122"/>
                <a:cs typeface="Calibri" pitchFamily="34" charset="-120"/>
              </a:rPr>
              <a:t>Workflow &amp; milestones</a:t>
            </a:r>
            <a:endParaRPr lang="en-US" sz="860" dirty="0"/>
          </a:p>
        </p:txBody>
      </p:sp>
      <p:sp>
        <p:nvSpPr>
          <p:cNvPr id="22" name="Shape 20"/>
          <p:cNvSpPr/>
          <p:nvPr/>
        </p:nvSpPr>
        <p:spPr>
          <a:xfrm>
            <a:off x="2617013" y="3456432"/>
            <a:ext cx="1925726" cy="237744"/>
          </a:xfrm>
          <a:prstGeom prst="roundRect">
            <a:avLst>
              <a:gd name="adj" fmla="val 46154"/>
            </a:avLst>
          </a:prstGeom>
          <a:solidFill>
            <a:srgbClr val="12756F"/>
          </a:solidFill>
          <a:ln w="7620">
            <a:solidFill>
              <a:srgbClr val="0E5F5A"/>
            </a:solidFill>
            <a:prstDash val="solid"/>
          </a:ln>
        </p:spPr>
      </p:sp>
      <p:sp>
        <p:nvSpPr>
          <p:cNvPr id="23" name="Text 21"/>
          <p:cNvSpPr txBox="1"/>
          <p:nvPr/>
        </p:nvSpPr>
        <p:spPr>
          <a:xfrm>
            <a:off x="2617013" y="3456432"/>
            <a:ext cx="1925726" cy="237744"/>
          </a:xfrm>
          <a:prstGeom prst="rect">
            <a:avLst/>
          </a:prstGeom>
          <a:noFill/>
          <a:ln/>
        </p:spPr>
        <p:txBody>
          <a:bodyPr wrap="square" lIns="0" tIns="0" rIns="0" bIns="0" rtlCol="0" anchor="ctr"/>
          <a:lstStyle/>
          <a:p>
            <a:pPr algn="ctr" indent="0" marL="0">
              <a:buNone/>
            </a:pPr>
            <a:r>
              <a:rPr lang="en-US" sz="860" b="1" dirty="0">
                <a:solidFill>
                  <a:srgbClr val="FFFFFF"/>
                </a:solidFill>
                <a:latin typeface="Calibri" pitchFamily="34" charset="0"/>
                <a:ea typeface="Calibri" pitchFamily="34" charset="-122"/>
                <a:cs typeface="Calibri" pitchFamily="34" charset="-120"/>
              </a:rPr>
              <a:t>Task inbox &amp; escalation</a:t>
            </a:r>
            <a:endParaRPr lang="en-US" sz="860" dirty="0"/>
          </a:p>
        </p:txBody>
      </p:sp>
      <p:sp>
        <p:nvSpPr>
          <p:cNvPr id="24" name="Shape 22"/>
          <p:cNvSpPr/>
          <p:nvPr/>
        </p:nvSpPr>
        <p:spPr>
          <a:xfrm>
            <a:off x="4634179" y="3456432"/>
            <a:ext cx="875995" cy="237744"/>
          </a:xfrm>
          <a:prstGeom prst="roundRect">
            <a:avLst>
              <a:gd name="adj" fmla="val 46154"/>
            </a:avLst>
          </a:prstGeom>
          <a:solidFill>
            <a:srgbClr val="12756F"/>
          </a:solidFill>
          <a:ln w="7620">
            <a:solidFill>
              <a:srgbClr val="0E5F5A"/>
            </a:solidFill>
            <a:prstDash val="solid"/>
          </a:ln>
        </p:spPr>
      </p:sp>
      <p:sp>
        <p:nvSpPr>
          <p:cNvPr id="25" name="Text 23"/>
          <p:cNvSpPr txBox="1"/>
          <p:nvPr/>
        </p:nvSpPr>
        <p:spPr>
          <a:xfrm>
            <a:off x="4634179" y="3456432"/>
            <a:ext cx="875995" cy="237744"/>
          </a:xfrm>
          <a:prstGeom prst="rect">
            <a:avLst/>
          </a:prstGeom>
          <a:noFill/>
          <a:ln/>
        </p:spPr>
        <p:txBody>
          <a:bodyPr wrap="square" lIns="0" tIns="0" rIns="0" bIns="0" rtlCol="0" anchor="ctr"/>
          <a:lstStyle/>
          <a:p>
            <a:pPr algn="ctr" indent="0" marL="0">
              <a:buNone/>
            </a:pPr>
            <a:r>
              <a:rPr lang="en-US" sz="860" b="1" dirty="0">
                <a:solidFill>
                  <a:srgbClr val="FFFFFF"/>
                </a:solidFill>
                <a:latin typeface="Calibri" pitchFamily="34" charset="0"/>
                <a:ea typeface="Calibri" pitchFamily="34" charset="-122"/>
                <a:cs typeface="Calibri" pitchFamily="34" charset="-120"/>
              </a:rPr>
              <a:t>Documents</a:t>
            </a:r>
            <a:endParaRPr lang="en-US" sz="860" dirty="0"/>
          </a:p>
        </p:txBody>
      </p:sp>
      <p:sp>
        <p:nvSpPr>
          <p:cNvPr id="26" name="Shape 24"/>
          <p:cNvSpPr/>
          <p:nvPr/>
        </p:nvSpPr>
        <p:spPr>
          <a:xfrm>
            <a:off x="5601614" y="3456432"/>
            <a:ext cx="801014" cy="237744"/>
          </a:xfrm>
          <a:prstGeom prst="roundRect">
            <a:avLst>
              <a:gd name="adj" fmla="val 46154"/>
            </a:avLst>
          </a:prstGeom>
          <a:solidFill>
            <a:srgbClr val="12756F"/>
          </a:solidFill>
          <a:ln w="7620">
            <a:solidFill>
              <a:srgbClr val="0E5F5A"/>
            </a:solidFill>
            <a:prstDash val="solid"/>
          </a:ln>
        </p:spPr>
      </p:sp>
      <p:sp>
        <p:nvSpPr>
          <p:cNvPr id="27" name="Text 25"/>
          <p:cNvSpPr txBox="1"/>
          <p:nvPr/>
        </p:nvSpPr>
        <p:spPr>
          <a:xfrm>
            <a:off x="5601614" y="3456432"/>
            <a:ext cx="801014" cy="237744"/>
          </a:xfrm>
          <a:prstGeom prst="rect">
            <a:avLst/>
          </a:prstGeom>
          <a:noFill/>
          <a:ln/>
        </p:spPr>
        <p:txBody>
          <a:bodyPr wrap="square" lIns="0" tIns="0" rIns="0" bIns="0" rtlCol="0" anchor="ctr"/>
          <a:lstStyle/>
          <a:p>
            <a:pPr algn="ctr" indent="0" marL="0">
              <a:buNone/>
            </a:pPr>
            <a:r>
              <a:rPr lang="en-US" sz="860" b="1" dirty="0">
                <a:solidFill>
                  <a:srgbClr val="FFFFFF"/>
                </a:solidFill>
                <a:latin typeface="Calibri" pitchFamily="34" charset="0"/>
                <a:ea typeface="Calibri" pitchFamily="34" charset="-122"/>
                <a:cs typeface="Calibri" pitchFamily="34" charset="-120"/>
              </a:rPr>
              <a:t>Payments</a:t>
            </a:r>
            <a:endParaRPr lang="en-US" sz="860" dirty="0"/>
          </a:p>
        </p:txBody>
      </p:sp>
      <p:sp>
        <p:nvSpPr>
          <p:cNvPr id="28" name="Shape 26"/>
          <p:cNvSpPr/>
          <p:nvPr/>
        </p:nvSpPr>
        <p:spPr>
          <a:xfrm>
            <a:off x="749808" y="3730752"/>
            <a:ext cx="1250899" cy="237744"/>
          </a:xfrm>
          <a:prstGeom prst="roundRect">
            <a:avLst>
              <a:gd name="adj" fmla="val 46154"/>
            </a:avLst>
          </a:prstGeom>
          <a:solidFill>
            <a:srgbClr val="12756F"/>
          </a:solidFill>
          <a:ln w="7620">
            <a:solidFill>
              <a:srgbClr val="0E5F5A"/>
            </a:solidFill>
            <a:prstDash val="solid"/>
          </a:ln>
        </p:spPr>
      </p:sp>
      <p:sp>
        <p:nvSpPr>
          <p:cNvPr id="29" name="Text 27"/>
          <p:cNvSpPr txBox="1"/>
          <p:nvPr/>
        </p:nvSpPr>
        <p:spPr>
          <a:xfrm>
            <a:off x="749808" y="3730752"/>
            <a:ext cx="1250899" cy="237744"/>
          </a:xfrm>
          <a:prstGeom prst="rect">
            <a:avLst/>
          </a:prstGeom>
          <a:noFill/>
          <a:ln/>
        </p:spPr>
        <p:txBody>
          <a:bodyPr wrap="square" lIns="0" tIns="0" rIns="0" bIns="0" rtlCol="0" anchor="ctr"/>
          <a:lstStyle/>
          <a:p>
            <a:pPr algn="ctr" indent="0" marL="0">
              <a:buNone/>
            </a:pPr>
            <a:r>
              <a:rPr lang="en-US" sz="860" b="1" dirty="0">
                <a:solidFill>
                  <a:srgbClr val="FFFFFF"/>
                </a:solidFill>
                <a:latin typeface="Calibri" pitchFamily="34" charset="0"/>
                <a:ea typeface="Calibri" pitchFamily="34" charset="-122"/>
                <a:cs typeface="Calibri" pitchFamily="34" charset="-120"/>
              </a:rPr>
              <a:t>Quota register</a:t>
            </a:r>
            <a:endParaRPr lang="en-US" sz="860" dirty="0"/>
          </a:p>
        </p:txBody>
      </p:sp>
      <p:sp>
        <p:nvSpPr>
          <p:cNvPr id="30" name="Shape 28"/>
          <p:cNvSpPr/>
          <p:nvPr/>
        </p:nvSpPr>
        <p:spPr>
          <a:xfrm>
            <a:off x="2092147" y="3730752"/>
            <a:ext cx="875995" cy="237744"/>
          </a:xfrm>
          <a:prstGeom prst="roundRect">
            <a:avLst>
              <a:gd name="adj" fmla="val 46154"/>
            </a:avLst>
          </a:prstGeom>
          <a:solidFill>
            <a:srgbClr val="12756F"/>
          </a:solidFill>
          <a:ln w="7620">
            <a:solidFill>
              <a:srgbClr val="0E5F5A"/>
            </a:solidFill>
            <a:prstDash val="solid"/>
          </a:ln>
        </p:spPr>
      </p:sp>
      <p:sp>
        <p:nvSpPr>
          <p:cNvPr id="31" name="Text 29"/>
          <p:cNvSpPr txBox="1"/>
          <p:nvPr/>
        </p:nvSpPr>
        <p:spPr>
          <a:xfrm>
            <a:off x="2092147" y="3730752"/>
            <a:ext cx="875995" cy="237744"/>
          </a:xfrm>
          <a:prstGeom prst="rect">
            <a:avLst/>
          </a:prstGeom>
          <a:noFill/>
          <a:ln/>
        </p:spPr>
        <p:txBody>
          <a:bodyPr wrap="square" lIns="0" tIns="0" rIns="0" bIns="0" rtlCol="0" anchor="ctr"/>
          <a:lstStyle/>
          <a:p>
            <a:pPr algn="ctr" indent="0" marL="0">
              <a:buNone/>
            </a:pPr>
            <a:r>
              <a:rPr lang="en-US" sz="860" b="1" dirty="0">
                <a:solidFill>
                  <a:srgbClr val="FFFFFF"/>
                </a:solidFill>
                <a:latin typeface="Calibri" pitchFamily="34" charset="0"/>
                <a:ea typeface="Calibri" pitchFamily="34" charset="-122"/>
                <a:cs typeface="Calibri" pitchFamily="34" charset="-120"/>
              </a:rPr>
              <a:t>Reporting</a:t>
            </a:r>
            <a:endParaRPr lang="en-US" sz="860" dirty="0"/>
          </a:p>
        </p:txBody>
      </p:sp>
      <p:sp>
        <p:nvSpPr>
          <p:cNvPr id="32" name="Shape 30"/>
          <p:cNvSpPr/>
          <p:nvPr/>
        </p:nvSpPr>
        <p:spPr>
          <a:xfrm rot="5400000">
            <a:off x="3703320" y="4000500"/>
            <a:ext cx="566928" cy="201168"/>
          </a:xfrm>
          <a:prstGeom prst="chevron">
            <a:avLst/>
          </a:prstGeom>
          <a:solidFill>
            <a:srgbClr val="C3CDD4"/>
          </a:solidFill>
          <a:ln/>
        </p:spPr>
      </p:sp>
      <p:sp>
        <p:nvSpPr>
          <p:cNvPr id="33" name="Shape 31"/>
          <p:cNvSpPr/>
          <p:nvPr/>
        </p:nvSpPr>
        <p:spPr>
          <a:xfrm>
            <a:off x="548640" y="4242816"/>
            <a:ext cx="6903720" cy="859536"/>
          </a:xfrm>
          <a:prstGeom prst="roundRect">
            <a:avLst>
              <a:gd name="adj" fmla="val 7447"/>
            </a:avLst>
          </a:prstGeom>
          <a:solidFill>
            <a:srgbClr val="F4F6F7"/>
          </a:solidFill>
          <a:ln w="11430">
            <a:solidFill>
              <a:srgbClr val="E3E7EA"/>
            </a:solidFill>
            <a:prstDash val="solid"/>
          </a:ln>
        </p:spPr>
      </p:sp>
      <p:sp>
        <p:nvSpPr>
          <p:cNvPr id="34" name="Text 32"/>
          <p:cNvSpPr txBox="1"/>
          <p:nvPr/>
        </p:nvSpPr>
        <p:spPr>
          <a:xfrm>
            <a:off x="749808" y="4334256"/>
            <a:ext cx="4572000" cy="237744"/>
          </a:xfrm>
          <a:prstGeom prst="rect">
            <a:avLst/>
          </a:prstGeom>
          <a:noFill/>
          <a:ln/>
        </p:spPr>
        <p:txBody>
          <a:bodyPr wrap="square" lIns="0" tIns="0" rIns="0" bIns="0" rtlCol="0" anchor="ctr"/>
          <a:lstStyle/>
          <a:p>
            <a:pPr indent="0" marL="0">
              <a:buNone/>
            </a:pPr>
            <a:r>
              <a:rPr lang="en-US" sz="1250" b="1" dirty="0">
                <a:solidFill>
                  <a:srgbClr val="0C1E33"/>
                </a:solidFill>
                <a:latin typeface="Arial" pitchFamily="34" charset="0"/>
                <a:ea typeface="Arial" pitchFamily="34" charset="-122"/>
                <a:cs typeface="Arial" pitchFamily="34" charset="-120"/>
              </a:rPr>
              <a:t>SAP S/4HANA Finance</a:t>
            </a:r>
            <a:endParaRPr lang="en-US" sz="1250" dirty="0"/>
          </a:p>
        </p:txBody>
      </p:sp>
      <p:sp>
        <p:nvSpPr>
          <p:cNvPr id="35" name="Text 33"/>
          <p:cNvSpPr txBox="1"/>
          <p:nvPr/>
        </p:nvSpPr>
        <p:spPr>
          <a:xfrm>
            <a:off x="749808" y="4553712"/>
            <a:ext cx="6309360" cy="182880"/>
          </a:xfrm>
          <a:prstGeom prst="rect">
            <a:avLst/>
          </a:prstGeom>
          <a:noFill/>
          <a:ln/>
        </p:spPr>
        <p:txBody>
          <a:bodyPr wrap="square" lIns="0" tIns="0" rIns="0" bIns="0" rtlCol="0" anchor="ctr"/>
          <a:lstStyle/>
          <a:p>
            <a:pPr indent="0" marL="0">
              <a:buNone/>
            </a:pPr>
            <a:r>
              <a:rPr lang="en-US" sz="880" i="1" dirty="0">
                <a:solidFill>
                  <a:srgbClr val="5A6C82"/>
                </a:solidFill>
                <a:latin typeface="Calibri" pitchFamily="34" charset="0"/>
                <a:ea typeface="Calibri" pitchFamily="34" charset="-122"/>
                <a:cs typeface="Calibri" pitchFamily="34" charset="-120"/>
              </a:rPr>
              <a:t>Permit costs and approved fine deductions post outward</a:t>
            </a:r>
            <a:endParaRPr lang="en-US" sz="880" dirty="0"/>
          </a:p>
        </p:txBody>
      </p:sp>
      <p:sp>
        <p:nvSpPr>
          <p:cNvPr id="36" name="Shape 34"/>
          <p:cNvSpPr/>
          <p:nvPr/>
        </p:nvSpPr>
        <p:spPr>
          <a:xfrm>
            <a:off x="749808" y="4773168"/>
            <a:ext cx="1250899" cy="237744"/>
          </a:xfrm>
          <a:prstGeom prst="roundRect">
            <a:avLst>
              <a:gd name="adj" fmla="val 46154"/>
            </a:avLst>
          </a:prstGeom>
          <a:solidFill>
            <a:srgbClr val="FFFFFF"/>
          </a:solidFill>
          <a:ln w="7620">
            <a:solidFill>
              <a:srgbClr val="E3E7EA"/>
            </a:solidFill>
            <a:prstDash val="solid"/>
          </a:ln>
        </p:spPr>
      </p:sp>
      <p:sp>
        <p:nvSpPr>
          <p:cNvPr id="37" name="Text 35"/>
          <p:cNvSpPr txBox="1"/>
          <p:nvPr/>
        </p:nvSpPr>
        <p:spPr>
          <a:xfrm>
            <a:off x="749808" y="4773168"/>
            <a:ext cx="1250899" cy="237744"/>
          </a:xfrm>
          <a:prstGeom prst="rect">
            <a:avLst/>
          </a:prstGeom>
          <a:noFill/>
          <a:ln/>
        </p:spPr>
        <p:txBody>
          <a:bodyPr wrap="square" lIns="0" tIns="0" rIns="0" bIns="0" rtlCol="0" anchor="ctr"/>
          <a:lstStyle/>
          <a:p>
            <a:pPr algn="ctr" indent="0" marL="0">
              <a:buNone/>
            </a:pPr>
            <a:r>
              <a:rPr lang="en-US" sz="860" b="1" dirty="0">
                <a:solidFill>
                  <a:srgbClr val="12756F"/>
                </a:solidFill>
                <a:latin typeface="Calibri" pitchFamily="34" charset="0"/>
                <a:ea typeface="Calibri" pitchFamily="34" charset="-122"/>
                <a:cs typeface="Calibri" pitchFamily="34" charset="-120"/>
              </a:rPr>
              <a:t>Payments to GL</a:t>
            </a:r>
            <a:endParaRPr lang="en-US" sz="860" dirty="0"/>
          </a:p>
        </p:txBody>
      </p:sp>
      <p:sp>
        <p:nvSpPr>
          <p:cNvPr id="38" name="Shape 36"/>
          <p:cNvSpPr/>
          <p:nvPr/>
        </p:nvSpPr>
        <p:spPr>
          <a:xfrm>
            <a:off x="2092147" y="4773168"/>
            <a:ext cx="1325880" cy="237744"/>
          </a:xfrm>
          <a:prstGeom prst="roundRect">
            <a:avLst>
              <a:gd name="adj" fmla="val 46154"/>
            </a:avLst>
          </a:prstGeom>
          <a:solidFill>
            <a:srgbClr val="FFFFFF"/>
          </a:solidFill>
          <a:ln w="7620">
            <a:solidFill>
              <a:srgbClr val="E3E7EA"/>
            </a:solidFill>
            <a:prstDash val="solid"/>
          </a:ln>
        </p:spPr>
      </p:sp>
      <p:sp>
        <p:nvSpPr>
          <p:cNvPr id="39" name="Text 37"/>
          <p:cNvSpPr txBox="1"/>
          <p:nvPr/>
        </p:nvSpPr>
        <p:spPr>
          <a:xfrm>
            <a:off x="2092147" y="4773168"/>
            <a:ext cx="1325880" cy="237744"/>
          </a:xfrm>
          <a:prstGeom prst="rect">
            <a:avLst/>
          </a:prstGeom>
          <a:noFill/>
          <a:ln/>
        </p:spPr>
        <p:txBody>
          <a:bodyPr wrap="square" lIns="0" tIns="0" rIns="0" bIns="0" rtlCol="0" anchor="ctr"/>
          <a:lstStyle/>
          <a:p>
            <a:pPr algn="ctr" indent="0" marL="0">
              <a:buNone/>
            </a:pPr>
            <a:r>
              <a:rPr lang="en-US" sz="860" b="1" dirty="0">
                <a:solidFill>
                  <a:srgbClr val="12756F"/>
                </a:solidFill>
                <a:latin typeface="Calibri" pitchFamily="34" charset="0"/>
                <a:ea typeface="Calibri" pitchFamily="34" charset="-122"/>
                <a:cs typeface="Calibri" pitchFamily="34" charset="-120"/>
              </a:rPr>
              <a:t>Journal posting</a:t>
            </a:r>
            <a:endParaRPr lang="en-US" sz="860" dirty="0"/>
          </a:p>
        </p:txBody>
      </p:sp>
      <p:sp>
        <p:nvSpPr>
          <p:cNvPr id="40" name="Shape 38"/>
          <p:cNvSpPr/>
          <p:nvPr/>
        </p:nvSpPr>
        <p:spPr>
          <a:xfrm>
            <a:off x="3509467" y="4773168"/>
            <a:ext cx="1550822" cy="237744"/>
          </a:xfrm>
          <a:prstGeom prst="roundRect">
            <a:avLst>
              <a:gd name="adj" fmla="val 46154"/>
            </a:avLst>
          </a:prstGeom>
          <a:solidFill>
            <a:srgbClr val="FFFFFF"/>
          </a:solidFill>
          <a:ln w="7620">
            <a:solidFill>
              <a:srgbClr val="E3E7EA"/>
            </a:solidFill>
            <a:prstDash val="solid"/>
          </a:ln>
        </p:spPr>
      </p:sp>
      <p:sp>
        <p:nvSpPr>
          <p:cNvPr id="41" name="Text 39"/>
          <p:cNvSpPr txBox="1"/>
          <p:nvPr/>
        </p:nvSpPr>
        <p:spPr>
          <a:xfrm>
            <a:off x="3509467" y="4773168"/>
            <a:ext cx="1550822" cy="237744"/>
          </a:xfrm>
          <a:prstGeom prst="rect">
            <a:avLst/>
          </a:prstGeom>
          <a:noFill/>
          <a:ln/>
        </p:spPr>
        <p:txBody>
          <a:bodyPr wrap="square" lIns="0" tIns="0" rIns="0" bIns="0" rtlCol="0" anchor="ctr"/>
          <a:lstStyle/>
          <a:p>
            <a:pPr algn="ctr" indent="0" marL="0">
              <a:buNone/>
            </a:pPr>
            <a:r>
              <a:rPr lang="en-US" sz="860" b="1" dirty="0">
                <a:solidFill>
                  <a:srgbClr val="12756F"/>
                </a:solidFill>
                <a:latin typeface="Calibri" pitchFamily="34" charset="0"/>
                <a:ea typeface="Calibri" pitchFamily="34" charset="-122"/>
                <a:cs typeface="Calibri" pitchFamily="34" charset="-120"/>
              </a:rPr>
              <a:t>Payroll deductions</a:t>
            </a:r>
            <a:endParaRPr lang="en-US" sz="860" dirty="0"/>
          </a:p>
        </p:txBody>
      </p:sp>
      <p:sp>
        <p:nvSpPr>
          <p:cNvPr id="42" name="Shape 40"/>
          <p:cNvSpPr/>
          <p:nvPr/>
        </p:nvSpPr>
        <p:spPr>
          <a:xfrm>
            <a:off x="7699248" y="1792224"/>
            <a:ext cx="3913632" cy="1115568"/>
          </a:xfrm>
          <a:prstGeom prst="roundRect">
            <a:avLst>
              <a:gd name="adj" fmla="val 5738"/>
            </a:avLst>
          </a:prstGeom>
          <a:solidFill>
            <a:srgbClr val="0C1E33"/>
          </a:solidFill>
          <a:ln w="12700">
            <a:solidFill>
              <a:srgbClr val="16304C"/>
            </a:solidFill>
            <a:prstDash val="solid"/>
          </a:ln>
        </p:spPr>
      </p:sp>
      <p:sp>
        <p:nvSpPr>
          <p:cNvPr id="43" name="Text 41"/>
          <p:cNvSpPr txBox="1"/>
          <p:nvPr/>
        </p:nvSpPr>
        <p:spPr>
          <a:xfrm>
            <a:off x="7900416" y="1920240"/>
            <a:ext cx="3566160" cy="237744"/>
          </a:xfrm>
          <a:prstGeom prst="rect">
            <a:avLst/>
          </a:prstGeom>
          <a:noFill/>
          <a:ln/>
        </p:spPr>
        <p:txBody>
          <a:bodyPr wrap="square" lIns="0" tIns="0" rIns="0" bIns="0" rtlCol="0" anchor="ctr"/>
          <a:lstStyle/>
          <a:p>
            <a:pPr indent="0" marL="0">
              <a:buNone/>
            </a:pPr>
            <a:r>
              <a:rPr lang="en-US" sz="1250" b="1" dirty="0">
                <a:solidFill>
                  <a:srgbClr val="FFFFFF"/>
                </a:solidFill>
                <a:latin typeface="Arial" pitchFamily="34" charset="0"/>
                <a:ea typeface="Arial" pitchFamily="34" charset="-122"/>
                <a:cs typeface="Arial" pitchFamily="34" charset="-120"/>
              </a:rPr>
              <a:t>Government portals</a:t>
            </a:r>
            <a:endParaRPr lang="en-US" sz="1250" dirty="0"/>
          </a:p>
        </p:txBody>
      </p:sp>
      <p:sp>
        <p:nvSpPr>
          <p:cNvPr id="44" name="Text 42"/>
          <p:cNvSpPr txBox="1"/>
          <p:nvPr/>
        </p:nvSpPr>
        <p:spPr>
          <a:xfrm>
            <a:off x="7900416" y="2176272"/>
            <a:ext cx="3511296" cy="658368"/>
          </a:xfrm>
          <a:prstGeom prst="rect">
            <a:avLst/>
          </a:prstGeom>
          <a:noFill/>
          <a:ln/>
        </p:spPr>
        <p:txBody>
          <a:bodyPr wrap="square" lIns="0" tIns="0" rIns="0" bIns="0" rtlCol="0" anchor="ctr"/>
          <a:lstStyle/>
          <a:p>
            <a:pPr indent="0" marL="0">
              <a:lnSpc>
                <a:spcPts val="1200"/>
              </a:lnSpc>
              <a:buNone/>
            </a:pPr>
            <a:r>
              <a:rPr lang="en-US" sz="880" dirty="0">
                <a:solidFill>
                  <a:srgbClr val="7FD4CC"/>
                </a:solidFill>
                <a:latin typeface="Calibri" pitchFamily="34" charset="0"/>
                <a:ea typeface="Calibri" pitchFamily="34" charset="-122"/>
                <a:cs typeface="Calibri" pitchFamily="34" charset="-120"/>
              </a:rPr>
              <a:t>Qiwa · Muqeem · Absher · MOHRE · ICP · GDRFA · LMRA · PAM · ADLSA · SCFHS · DHA · DOH</a:t>
            </a:r>
            <a:endParaRPr lang="en-US" sz="880" dirty="0"/>
          </a:p>
        </p:txBody>
      </p:sp>
      <p:sp>
        <p:nvSpPr>
          <p:cNvPr id="45" name="Shape 43"/>
          <p:cNvSpPr/>
          <p:nvPr/>
        </p:nvSpPr>
        <p:spPr>
          <a:xfrm>
            <a:off x="7699248" y="3054096"/>
            <a:ext cx="3913632" cy="3035808"/>
          </a:xfrm>
          <a:prstGeom prst="roundRect">
            <a:avLst>
              <a:gd name="adj" fmla="val 2108"/>
            </a:avLst>
          </a:prstGeom>
          <a:solidFill>
            <a:srgbClr val="FCF6E4"/>
          </a:solidFill>
          <a:ln w="12700">
            <a:solidFill>
              <a:srgbClr val="C9A227"/>
            </a:solidFill>
            <a:prstDash val="solid"/>
          </a:ln>
        </p:spPr>
      </p:sp>
      <p:sp>
        <p:nvSpPr>
          <p:cNvPr id="46" name="Text 44"/>
          <p:cNvSpPr txBox="1"/>
          <p:nvPr/>
        </p:nvSpPr>
        <p:spPr>
          <a:xfrm>
            <a:off x="7900416" y="3182112"/>
            <a:ext cx="3566160" cy="219456"/>
          </a:xfrm>
          <a:prstGeom prst="rect">
            <a:avLst/>
          </a:prstGeom>
          <a:noFill/>
          <a:ln/>
        </p:spPr>
        <p:txBody>
          <a:bodyPr wrap="square" lIns="0" tIns="0" rIns="0" bIns="0" rtlCol="0" anchor="ctr"/>
          <a:lstStyle/>
          <a:p>
            <a:pPr indent="0" marL="0">
              <a:buNone/>
            </a:pPr>
            <a:r>
              <a:rPr lang="en-US" sz="1200" b="1" dirty="0">
                <a:solidFill>
                  <a:srgbClr val="7A6410"/>
                </a:solidFill>
                <a:latin typeface="Arial" pitchFamily="34" charset="0"/>
                <a:ea typeface="Arial" pitchFamily="34" charset="-122"/>
                <a:cs typeface="Arial" pitchFamily="34" charset="-120"/>
              </a:rPr>
              <a:t>About government APIs</a:t>
            </a:r>
            <a:endParaRPr lang="en-US" sz="1200" dirty="0"/>
          </a:p>
        </p:txBody>
      </p:sp>
      <p:sp>
        <p:nvSpPr>
          <p:cNvPr id="47" name="Text 45"/>
          <p:cNvSpPr txBox="1"/>
          <p:nvPr/>
        </p:nvSpPr>
        <p:spPr>
          <a:xfrm>
            <a:off x="7900416" y="3456432"/>
            <a:ext cx="3511296" cy="2523744"/>
          </a:xfrm>
          <a:prstGeom prst="rect">
            <a:avLst/>
          </a:prstGeom>
          <a:noFill/>
          <a:ln/>
        </p:spPr>
        <p:txBody>
          <a:bodyPr wrap="square" lIns="0" tIns="0" rIns="0" bIns="0" rtlCol="0" anchor="ctr"/>
          <a:lstStyle/>
          <a:p>
            <a:pPr indent="0" marL="0">
              <a:lnSpc>
                <a:spcPts val="1140"/>
              </a:lnSpc>
              <a:buNone/>
            </a:pPr>
            <a:r>
              <a:rPr lang="en-US" sz="840" b="1" dirty="0">
                <a:solidFill>
                  <a:srgbClr val="0C1E33"/>
                </a:solidFill>
                <a:latin typeface="Calibri" pitchFamily="34" charset="0"/>
                <a:ea typeface="Calibri" pitchFamily="34" charset="-122"/>
                <a:cs typeface="Calibri" pitchFamily="34" charset="-120"/>
              </a:rPr>
              <a:t>We built this ready for APIs. </a:t>
            </a:r>
            <a:pPr indent="0" marL="0">
              <a:lnSpc>
                <a:spcPts val="1140"/>
              </a:lnSpc>
              <a:buNone/>
            </a:pPr>
            <a:r>
              <a:rPr lang="en-US" sz="840" dirty="0">
                <a:solidFill>
                  <a:srgbClr val="5A6C82"/>
                </a:solidFill>
                <a:latin typeface="Calibri" pitchFamily="34" charset="0"/>
                <a:ea typeface="Calibri" pitchFamily="34" charset="-122"/>
                <a:cs typeface="Calibri" pitchFamily="34" charset="-120"/>
              </a:rPr>
              <a:t>Every government-facing step is a service call with a slot waiting behind it, so connecting a portal means plugging it in rather than rebuilding the process.
</a:t>
            </a:r>
            <a:pPr indent="0" marL="0">
              <a:lnSpc>
                <a:spcPts val="1140"/>
              </a:lnSpc>
              <a:buNone/>
            </a:pPr>
            <a:r>
              <a:rPr lang="en-US" sz="840" b="1" dirty="0">
                <a:solidFill>
                  <a:srgbClr val="0C1E33"/>
                </a:solidFill>
                <a:latin typeface="Calibri" pitchFamily="34" charset="0"/>
                <a:ea typeface="Calibri" pitchFamily="34" charset="-122"/>
                <a:cs typeface="Calibri" pitchFamily="34" charset="-120"/>
              </a:rPr>
              <a:t>What we will need from you. </a:t>
            </a:r>
            <a:pPr indent="0" marL="0">
              <a:lnSpc>
                <a:spcPts val="1140"/>
              </a:lnSpc>
              <a:buNone/>
            </a:pPr>
            <a:r>
              <a:rPr lang="en-US" sz="840" dirty="0">
                <a:solidFill>
                  <a:srgbClr val="5A6C82"/>
                </a:solidFill>
                <a:latin typeface="Calibri" pitchFamily="34" charset="0"/>
                <a:ea typeface="Calibri" pitchFamily="34" charset="-122"/>
                <a:cs typeface="Calibri" pitchFamily="34" charset="-120"/>
              </a:rPr>
              <a:t>GCC governments do not publish open APIs, and when they do give access they give it to the employer, not to a software vendor. So you go to each authority yourself (Qiwa and Muqeem in Saudi, MOHRE and ICP in the UAE, LMRA in Bahrain) and ask for API credentials, the specification and a sandbox under your own establishment registration. Hand those to us and we build the connector.
</a:t>
            </a:r>
            <a:pPr indent="0" marL="0">
              <a:lnSpc>
                <a:spcPts val="1140"/>
              </a:lnSpc>
              <a:buNone/>
            </a:pPr>
            <a:r>
              <a:rPr lang="en-US" sz="840" b="1" dirty="0">
                <a:solidFill>
                  <a:srgbClr val="0C1E33"/>
                </a:solidFill>
                <a:latin typeface="Calibri" pitchFamily="34" charset="0"/>
                <a:ea typeface="Calibri" pitchFamily="34" charset="-122"/>
                <a:cs typeface="Calibri" pitchFamily="34" charset="-120"/>
              </a:rPr>
              <a:t>Until then </a:t>
            </a:r>
            <a:pPr indent="0" marL="0">
              <a:lnSpc>
                <a:spcPts val="1140"/>
              </a:lnSpc>
              <a:buNone/>
            </a:pPr>
            <a:r>
              <a:rPr lang="en-US" sz="840" dirty="0">
                <a:solidFill>
                  <a:srgbClr val="5A6C82"/>
                </a:solidFill>
                <a:latin typeface="Calibri" pitchFamily="34" charset="0"/>
                <a:ea typeface="Calibri" pitchFamily="34" charset="-122"/>
                <a:cs typeface="Calibri" pitchFamily="34" charset="-120"/>
              </a:rPr>
              <a:t>the government step stays a tracked manual PRO activity, with reference number, receipt and status captured in the milestone — which is how the application is designed to operate from day one, with or without a portal connection.</a:t>
            </a:r>
            <a:endParaRPr lang="en-US" sz="840" dirty="0"/>
          </a:p>
        </p:txBody>
      </p:sp>
      <p:sp>
        <p:nvSpPr>
          <p:cNvPr id="48" name="Text 46"/>
          <p:cNvSpPr txBox="1"/>
          <p:nvPr/>
        </p:nvSpPr>
        <p:spPr>
          <a:xfrm>
            <a:off x="548640" y="6419088"/>
            <a:ext cx="8595360" cy="237744"/>
          </a:xfrm>
          <a:prstGeom prst="rect">
            <a:avLst/>
          </a:prstGeom>
          <a:noFill/>
          <a:ln/>
        </p:spPr>
        <p:txBody>
          <a:bodyPr wrap="square" lIns="0" tIns="0" rIns="0" bIns="0" rtlCol="0" anchor="ctr"/>
          <a:lstStyle/>
          <a:p>
            <a:pPr indent="0" marL="0">
              <a:buNone/>
            </a:pPr>
            <a:r>
              <a:rPr lang="en-US" sz="900" dirty="0">
                <a:solidFill>
                  <a:srgbClr val="96A3AE"/>
                </a:solidFill>
                <a:latin typeface="Calibri" pitchFamily="34" charset="0"/>
                <a:ea typeface="Calibri" pitchFamily="34" charset="-122"/>
                <a:cs typeface="Calibri" pitchFamily="34" charset="-120"/>
              </a:rPr>
              <a:t>INK IT Business Solutions  ·  Visa &amp; Permits Management on SAP BTP</a:t>
            </a:r>
            <a:endParaRPr lang="en-US" sz="900" dirty="0"/>
          </a:p>
        </p:txBody>
      </p:sp>
      <p:sp>
        <p:nvSpPr>
          <p:cNvPr id="49" name="Text 47"/>
          <p:cNvSpPr txBox="1"/>
          <p:nvPr/>
        </p:nvSpPr>
        <p:spPr>
          <a:xfrm>
            <a:off x="11155680" y="6419088"/>
            <a:ext cx="457200" cy="237744"/>
          </a:xfrm>
          <a:prstGeom prst="rect">
            <a:avLst/>
          </a:prstGeom>
          <a:noFill/>
          <a:ln/>
        </p:spPr>
        <p:txBody>
          <a:bodyPr wrap="square" lIns="0" tIns="0" rIns="0" bIns="0" rtlCol="0" anchor="ctr"/>
          <a:lstStyle/>
          <a:p>
            <a:pPr algn="r" indent="0" marL="0">
              <a:buNone/>
            </a:pPr>
            <a:r>
              <a:rPr lang="en-US" sz="900" dirty="0">
                <a:solidFill>
                  <a:srgbClr val="96A3AE"/>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C1E33"/>
        </a:solidFill>
      </p:bgPr>
    </p:bg>
    <p:spTree>
      <p:nvGrpSpPr>
        <p:cNvPr id="1" name=""/>
        <p:cNvGrpSpPr/>
        <p:nvPr/>
      </p:nvGrpSpPr>
      <p:grpSpPr>
        <a:xfrm>
          <a:off x="0" y="0"/>
          <a:ext cx="0" cy="0"/>
          <a:chOff x="0" y="0"/>
          <a:chExt cx="0" cy="0"/>
        </a:xfrm>
      </p:grpSpPr>
      <p:sp>
        <p:nvSpPr>
          <p:cNvPr id="2" name="Shape 0"/>
          <p:cNvSpPr/>
          <p:nvPr/>
        </p:nvSpPr>
        <p:spPr>
          <a:xfrm>
            <a:off x="-2194560" y="3840480"/>
            <a:ext cx="6035040" cy="6035040"/>
          </a:xfrm>
          <a:prstGeom prst="ellipse">
            <a:avLst/>
          </a:prstGeom>
          <a:solidFill>
            <a:srgbClr val="20A098">
              <a:alpha val="9000"/>
            </a:srgbClr>
          </a:solidFill>
          <a:ln/>
        </p:spPr>
      </p:sp>
      <p:sp>
        <p:nvSpPr>
          <p:cNvPr id="3" name="Text 1"/>
          <p:cNvSpPr txBox="1"/>
          <p:nvPr/>
        </p:nvSpPr>
        <p:spPr>
          <a:xfrm>
            <a:off x="548640" y="402336"/>
            <a:ext cx="11064240" cy="237744"/>
          </a:xfrm>
          <a:prstGeom prst="rect">
            <a:avLst/>
          </a:prstGeom>
          <a:noFill/>
          <a:ln/>
        </p:spPr>
        <p:txBody>
          <a:bodyPr wrap="square" lIns="0" tIns="0" rIns="0" bIns="0" rtlCol="0" anchor="ctr"/>
          <a:lstStyle/>
          <a:p>
            <a:pPr indent="0" marL="0">
              <a:buNone/>
            </a:pPr>
            <a:r>
              <a:rPr lang="en-US" sz="1100" b="1" spc="220" kern="0" dirty="0">
                <a:solidFill>
                  <a:srgbClr val="C9A227"/>
                </a:solidFill>
                <a:latin typeface="Calibri" pitchFamily="34" charset="0"/>
                <a:ea typeface="Calibri" pitchFamily="34" charset="-122"/>
                <a:cs typeface="Calibri" pitchFamily="34" charset="-120"/>
              </a:rPr>
              <a:t>WHAT IT RUNS ON</a:t>
            </a:r>
            <a:endParaRPr lang="en-US" sz="1100" dirty="0"/>
          </a:p>
        </p:txBody>
      </p:sp>
      <p:sp>
        <p:nvSpPr>
          <p:cNvPr id="4" name="Text 2"/>
          <p:cNvSpPr txBox="1"/>
          <p:nvPr/>
        </p:nvSpPr>
        <p:spPr>
          <a:xfrm>
            <a:off x="548640" y="658368"/>
            <a:ext cx="11064240" cy="566928"/>
          </a:xfrm>
          <a:prstGeom prst="rect">
            <a:avLst/>
          </a:prstGeom>
          <a:noFill/>
          <a:ln/>
        </p:spPr>
        <p:txBody>
          <a:bodyPr wrap="square" lIns="0" tIns="0" rIns="0" bIns="0" rtlCol="0" anchor="ctr"/>
          <a:lstStyle/>
          <a:p>
            <a:pPr indent="0" marL="0">
              <a:buNone/>
            </a:pPr>
            <a:r>
              <a:rPr lang="en-US" sz="3000" b="1" dirty="0">
                <a:solidFill>
                  <a:srgbClr val="FFFFFF"/>
                </a:solidFill>
                <a:latin typeface="Arial" pitchFamily="34" charset="0"/>
                <a:ea typeface="Arial" pitchFamily="34" charset="-122"/>
                <a:cs typeface="Arial" pitchFamily="34" charset="-120"/>
              </a:rPr>
              <a:t>What you will need on SAP BTP.</a:t>
            </a:r>
            <a:endParaRPr lang="en-US" sz="3000" dirty="0"/>
          </a:p>
        </p:txBody>
      </p:sp>
      <p:sp>
        <p:nvSpPr>
          <p:cNvPr id="5" name="Text 3"/>
          <p:cNvSpPr txBox="1"/>
          <p:nvPr/>
        </p:nvSpPr>
        <p:spPr>
          <a:xfrm>
            <a:off x="548640" y="1481328"/>
            <a:ext cx="5120640" cy="219456"/>
          </a:xfrm>
          <a:prstGeom prst="rect">
            <a:avLst/>
          </a:prstGeom>
          <a:noFill/>
          <a:ln/>
        </p:spPr>
        <p:txBody>
          <a:bodyPr wrap="square" lIns="0" tIns="0" rIns="0" bIns="0" rtlCol="0" anchor="ctr"/>
          <a:lstStyle/>
          <a:p>
            <a:pPr indent="0" marL="0">
              <a:buNone/>
            </a:pPr>
            <a:r>
              <a:rPr lang="en-US" sz="900" b="1" spc="150" kern="0" dirty="0">
                <a:solidFill>
                  <a:srgbClr val="20A098"/>
                </a:solidFill>
                <a:latin typeface="Calibri" pitchFamily="34" charset="0"/>
                <a:ea typeface="Calibri" pitchFamily="34" charset="-122"/>
                <a:cs typeface="Calibri" pitchFamily="34" charset="-120"/>
              </a:rPr>
              <a:t>CORE — REQUIRED FOR ANY DEPLOYMENT</a:t>
            </a:r>
            <a:endParaRPr lang="en-US" sz="900" dirty="0"/>
          </a:p>
        </p:txBody>
      </p:sp>
      <p:sp>
        <p:nvSpPr>
          <p:cNvPr id="6" name="Shape 4"/>
          <p:cNvSpPr/>
          <p:nvPr/>
        </p:nvSpPr>
        <p:spPr>
          <a:xfrm>
            <a:off x="548640" y="1773936"/>
            <a:ext cx="5138928" cy="448056"/>
          </a:xfrm>
          <a:prstGeom prst="roundRect">
            <a:avLst>
              <a:gd name="adj" fmla="val 10204"/>
            </a:avLst>
          </a:prstGeom>
          <a:solidFill>
            <a:srgbClr val="16304C"/>
          </a:solidFill>
          <a:ln w="7620">
            <a:solidFill>
              <a:srgbClr val="27415C"/>
            </a:solidFill>
            <a:prstDash val="solid"/>
          </a:ln>
        </p:spPr>
      </p:sp>
      <p:sp>
        <p:nvSpPr>
          <p:cNvPr id="7" name="Shape 5"/>
          <p:cNvSpPr/>
          <p:nvPr/>
        </p:nvSpPr>
        <p:spPr>
          <a:xfrm>
            <a:off x="676656" y="1911096"/>
            <a:ext cx="173736" cy="173736"/>
          </a:xfrm>
          <a:prstGeom prst="roundRect">
            <a:avLst>
              <a:gd name="adj" fmla="val 21053"/>
            </a:avLst>
          </a:prstGeom>
          <a:solidFill>
            <a:srgbClr val="20A098"/>
          </a:solidFill>
          <a:ln/>
        </p:spPr>
      </p:sp>
      <p:sp>
        <p:nvSpPr>
          <p:cNvPr id="8" name="Text 6"/>
          <p:cNvSpPr txBox="1"/>
          <p:nvPr/>
        </p:nvSpPr>
        <p:spPr>
          <a:xfrm>
            <a:off x="950976" y="1815084"/>
            <a:ext cx="4617720" cy="201168"/>
          </a:xfrm>
          <a:prstGeom prst="rect">
            <a:avLst/>
          </a:prstGeom>
          <a:noFill/>
          <a:ln/>
        </p:spPr>
        <p:txBody>
          <a:bodyPr wrap="square" lIns="0" tIns="0" rIns="0" bIns="0" rtlCol="0" anchor="ctr"/>
          <a:lstStyle/>
          <a:p>
            <a:pPr indent="0" marL="0">
              <a:buNone/>
            </a:pPr>
            <a:r>
              <a:rPr lang="en-US" sz="1000" b="1" dirty="0">
                <a:solidFill>
                  <a:srgbClr val="FFFFFF"/>
                </a:solidFill>
                <a:latin typeface="Arial" pitchFamily="34" charset="0"/>
                <a:ea typeface="Arial" pitchFamily="34" charset="-122"/>
                <a:cs typeface="Arial" pitchFamily="34" charset="-120"/>
              </a:rPr>
              <a:t>Cloud Foundry Runtime</a:t>
            </a:r>
            <a:endParaRPr lang="en-US" sz="1000" dirty="0"/>
          </a:p>
        </p:txBody>
      </p:sp>
      <p:sp>
        <p:nvSpPr>
          <p:cNvPr id="9" name="Text 7"/>
          <p:cNvSpPr txBox="1"/>
          <p:nvPr/>
        </p:nvSpPr>
        <p:spPr>
          <a:xfrm>
            <a:off x="950976" y="2007108"/>
            <a:ext cx="4617720" cy="182880"/>
          </a:xfrm>
          <a:prstGeom prst="rect">
            <a:avLst/>
          </a:prstGeom>
          <a:noFill/>
          <a:ln/>
        </p:spPr>
        <p:txBody>
          <a:bodyPr wrap="square" lIns="0" tIns="0" rIns="0" bIns="0" rtlCol="0" anchor="ctr"/>
          <a:lstStyle/>
          <a:p>
            <a:pPr indent="0" marL="0">
              <a:buNone/>
            </a:pPr>
            <a:r>
              <a:rPr lang="en-US" sz="840" dirty="0">
                <a:solidFill>
                  <a:srgbClr val="A9C2DA"/>
                </a:solidFill>
                <a:latin typeface="Calibri" pitchFamily="34" charset="0"/>
                <a:ea typeface="Calibri" pitchFamily="34" charset="-122"/>
                <a:cs typeface="Calibri" pitchFamily="34" charset="-120"/>
              </a:rPr>
              <a:t>Hosts the application, workflow engine and APIs</a:t>
            </a:r>
            <a:endParaRPr lang="en-US" sz="840" dirty="0"/>
          </a:p>
        </p:txBody>
      </p:sp>
      <p:sp>
        <p:nvSpPr>
          <p:cNvPr id="10" name="Shape 8"/>
          <p:cNvSpPr/>
          <p:nvPr/>
        </p:nvSpPr>
        <p:spPr>
          <a:xfrm>
            <a:off x="548640" y="2272284"/>
            <a:ext cx="5138928" cy="448056"/>
          </a:xfrm>
          <a:prstGeom prst="roundRect">
            <a:avLst>
              <a:gd name="adj" fmla="val 10204"/>
            </a:avLst>
          </a:prstGeom>
          <a:solidFill>
            <a:srgbClr val="16304C"/>
          </a:solidFill>
          <a:ln w="7620">
            <a:solidFill>
              <a:srgbClr val="27415C"/>
            </a:solidFill>
            <a:prstDash val="solid"/>
          </a:ln>
        </p:spPr>
      </p:sp>
      <p:sp>
        <p:nvSpPr>
          <p:cNvPr id="11" name="Shape 9"/>
          <p:cNvSpPr/>
          <p:nvPr/>
        </p:nvSpPr>
        <p:spPr>
          <a:xfrm>
            <a:off x="676656" y="2409444"/>
            <a:ext cx="173736" cy="173736"/>
          </a:xfrm>
          <a:prstGeom prst="roundRect">
            <a:avLst>
              <a:gd name="adj" fmla="val 21053"/>
            </a:avLst>
          </a:prstGeom>
          <a:solidFill>
            <a:srgbClr val="20A098"/>
          </a:solidFill>
          <a:ln/>
        </p:spPr>
      </p:sp>
      <p:sp>
        <p:nvSpPr>
          <p:cNvPr id="12" name="Text 10"/>
          <p:cNvSpPr txBox="1"/>
          <p:nvPr/>
        </p:nvSpPr>
        <p:spPr>
          <a:xfrm>
            <a:off x="950976" y="2313432"/>
            <a:ext cx="4617720" cy="201168"/>
          </a:xfrm>
          <a:prstGeom prst="rect">
            <a:avLst/>
          </a:prstGeom>
          <a:noFill/>
          <a:ln/>
        </p:spPr>
        <p:txBody>
          <a:bodyPr wrap="square" lIns="0" tIns="0" rIns="0" bIns="0" rtlCol="0" anchor="ctr"/>
          <a:lstStyle/>
          <a:p>
            <a:pPr indent="0" marL="0">
              <a:buNone/>
            </a:pPr>
            <a:r>
              <a:rPr lang="en-US" sz="1000" b="1" dirty="0">
                <a:solidFill>
                  <a:srgbClr val="FFFFFF"/>
                </a:solidFill>
                <a:latin typeface="Arial" pitchFamily="34" charset="0"/>
                <a:ea typeface="Arial" pitchFamily="34" charset="-122"/>
                <a:cs typeface="Arial" pitchFamily="34" charset="-120"/>
              </a:rPr>
              <a:t>SAP HANA Cloud</a:t>
            </a:r>
            <a:endParaRPr lang="en-US" sz="1000" dirty="0"/>
          </a:p>
        </p:txBody>
      </p:sp>
      <p:sp>
        <p:nvSpPr>
          <p:cNvPr id="13" name="Text 11"/>
          <p:cNvSpPr txBox="1"/>
          <p:nvPr/>
        </p:nvSpPr>
        <p:spPr>
          <a:xfrm>
            <a:off x="950976" y="2505456"/>
            <a:ext cx="4617720" cy="182880"/>
          </a:xfrm>
          <a:prstGeom prst="rect">
            <a:avLst/>
          </a:prstGeom>
          <a:noFill/>
          <a:ln/>
        </p:spPr>
        <p:txBody>
          <a:bodyPr wrap="square" lIns="0" tIns="0" rIns="0" bIns="0" rtlCol="0" anchor="ctr"/>
          <a:lstStyle/>
          <a:p>
            <a:pPr indent="0" marL="0">
              <a:buNone/>
            </a:pPr>
            <a:r>
              <a:rPr lang="en-US" sz="840" dirty="0">
                <a:solidFill>
                  <a:srgbClr val="A9C2DA"/>
                </a:solidFill>
                <a:latin typeface="Calibri" pitchFamily="34" charset="0"/>
                <a:ea typeface="Calibri" pitchFamily="34" charset="-122"/>
                <a:cs typeface="Calibri" pitchFamily="34" charset="-120"/>
              </a:rPr>
              <a:t>Permit records, quotas, payments, audit trail</a:t>
            </a:r>
            <a:endParaRPr lang="en-US" sz="840" dirty="0"/>
          </a:p>
        </p:txBody>
      </p:sp>
      <p:sp>
        <p:nvSpPr>
          <p:cNvPr id="14" name="Shape 12"/>
          <p:cNvSpPr/>
          <p:nvPr/>
        </p:nvSpPr>
        <p:spPr>
          <a:xfrm>
            <a:off x="548640" y="2770632"/>
            <a:ext cx="5138928" cy="448056"/>
          </a:xfrm>
          <a:prstGeom prst="roundRect">
            <a:avLst>
              <a:gd name="adj" fmla="val 10204"/>
            </a:avLst>
          </a:prstGeom>
          <a:solidFill>
            <a:srgbClr val="16304C"/>
          </a:solidFill>
          <a:ln w="7620">
            <a:solidFill>
              <a:srgbClr val="27415C"/>
            </a:solidFill>
            <a:prstDash val="solid"/>
          </a:ln>
        </p:spPr>
      </p:sp>
      <p:sp>
        <p:nvSpPr>
          <p:cNvPr id="15" name="Shape 13"/>
          <p:cNvSpPr/>
          <p:nvPr/>
        </p:nvSpPr>
        <p:spPr>
          <a:xfrm>
            <a:off x="676656" y="2907792"/>
            <a:ext cx="173736" cy="173736"/>
          </a:xfrm>
          <a:prstGeom prst="roundRect">
            <a:avLst>
              <a:gd name="adj" fmla="val 21053"/>
            </a:avLst>
          </a:prstGeom>
          <a:solidFill>
            <a:srgbClr val="20A098"/>
          </a:solidFill>
          <a:ln/>
        </p:spPr>
      </p:sp>
      <p:sp>
        <p:nvSpPr>
          <p:cNvPr id="16" name="Text 14"/>
          <p:cNvSpPr txBox="1"/>
          <p:nvPr/>
        </p:nvSpPr>
        <p:spPr>
          <a:xfrm>
            <a:off x="950976" y="2811780"/>
            <a:ext cx="4617720" cy="201168"/>
          </a:xfrm>
          <a:prstGeom prst="rect">
            <a:avLst/>
          </a:prstGeom>
          <a:noFill/>
          <a:ln/>
        </p:spPr>
        <p:txBody>
          <a:bodyPr wrap="square" lIns="0" tIns="0" rIns="0" bIns="0" rtlCol="0" anchor="ctr"/>
          <a:lstStyle/>
          <a:p>
            <a:pPr indent="0" marL="0">
              <a:buNone/>
            </a:pPr>
            <a:r>
              <a:rPr lang="en-US" sz="1000" b="1" dirty="0">
                <a:solidFill>
                  <a:srgbClr val="FFFFFF"/>
                </a:solidFill>
                <a:latin typeface="Arial" pitchFamily="34" charset="0"/>
                <a:ea typeface="Arial" pitchFamily="34" charset="-122"/>
                <a:cs typeface="Arial" pitchFamily="34" charset="-120"/>
              </a:rPr>
              <a:t>SAP Build Work Zone</a:t>
            </a:r>
            <a:endParaRPr lang="en-US" sz="1000" dirty="0"/>
          </a:p>
        </p:txBody>
      </p:sp>
      <p:sp>
        <p:nvSpPr>
          <p:cNvPr id="17" name="Text 15"/>
          <p:cNvSpPr txBox="1"/>
          <p:nvPr/>
        </p:nvSpPr>
        <p:spPr>
          <a:xfrm>
            <a:off x="950976" y="3003804"/>
            <a:ext cx="4617720" cy="182880"/>
          </a:xfrm>
          <a:prstGeom prst="rect">
            <a:avLst/>
          </a:prstGeom>
          <a:noFill/>
          <a:ln/>
        </p:spPr>
        <p:txBody>
          <a:bodyPr wrap="square" lIns="0" tIns="0" rIns="0" bIns="0" rtlCol="0" anchor="ctr"/>
          <a:lstStyle/>
          <a:p>
            <a:pPr indent="0" marL="0">
              <a:buNone/>
            </a:pPr>
            <a:r>
              <a:rPr lang="en-US" sz="840" dirty="0">
                <a:solidFill>
                  <a:srgbClr val="A9C2DA"/>
                </a:solidFill>
                <a:latin typeface="Calibri" pitchFamily="34" charset="0"/>
                <a:ea typeface="Calibri" pitchFamily="34" charset="-122"/>
                <a:cs typeface="Calibri" pitchFamily="34" charset="-120"/>
              </a:rPr>
              <a:t>Role-based portal and launchpad per persona</a:t>
            </a:r>
            <a:endParaRPr lang="en-US" sz="840" dirty="0"/>
          </a:p>
        </p:txBody>
      </p:sp>
      <p:sp>
        <p:nvSpPr>
          <p:cNvPr id="18" name="Shape 16"/>
          <p:cNvSpPr/>
          <p:nvPr/>
        </p:nvSpPr>
        <p:spPr>
          <a:xfrm>
            <a:off x="548640" y="3268980"/>
            <a:ext cx="5138928" cy="448056"/>
          </a:xfrm>
          <a:prstGeom prst="roundRect">
            <a:avLst>
              <a:gd name="adj" fmla="val 10204"/>
            </a:avLst>
          </a:prstGeom>
          <a:solidFill>
            <a:srgbClr val="16304C"/>
          </a:solidFill>
          <a:ln w="7620">
            <a:solidFill>
              <a:srgbClr val="27415C"/>
            </a:solidFill>
            <a:prstDash val="solid"/>
          </a:ln>
        </p:spPr>
      </p:sp>
      <p:sp>
        <p:nvSpPr>
          <p:cNvPr id="19" name="Shape 17"/>
          <p:cNvSpPr/>
          <p:nvPr/>
        </p:nvSpPr>
        <p:spPr>
          <a:xfrm>
            <a:off x="676656" y="3406140"/>
            <a:ext cx="173736" cy="173736"/>
          </a:xfrm>
          <a:prstGeom prst="roundRect">
            <a:avLst>
              <a:gd name="adj" fmla="val 21053"/>
            </a:avLst>
          </a:prstGeom>
          <a:solidFill>
            <a:srgbClr val="20A098"/>
          </a:solidFill>
          <a:ln/>
        </p:spPr>
      </p:sp>
      <p:sp>
        <p:nvSpPr>
          <p:cNvPr id="20" name="Text 18"/>
          <p:cNvSpPr txBox="1"/>
          <p:nvPr/>
        </p:nvSpPr>
        <p:spPr>
          <a:xfrm>
            <a:off x="950976" y="3310128"/>
            <a:ext cx="4617720" cy="201168"/>
          </a:xfrm>
          <a:prstGeom prst="rect">
            <a:avLst/>
          </a:prstGeom>
          <a:noFill/>
          <a:ln/>
        </p:spPr>
        <p:txBody>
          <a:bodyPr wrap="square" lIns="0" tIns="0" rIns="0" bIns="0" rtlCol="0" anchor="ctr"/>
          <a:lstStyle/>
          <a:p>
            <a:pPr indent="0" marL="0">
              <a:buNone/>
            </a:pPr>
            <a:r>
              <a:rPr lang="en-US" sz="1000" b="1" dirty="0">
                <a:solidFill>
                  <a:srgbClr val="FFFFFF"/>
                </a:solidFill>
                <a:latin typeface="Arial" pitchFamily="34" charset="0"/>
                <a:ea typeface="Arial" pitchFamily="34" charset="-122"/>
                <a:cs typeface="Arial" pitchFamily="34" charset="-120"/>
              </a:rPr>
              <a:t>SAP Build Process Automation</a:t>
            </a:r>
            <a:endParaRPr lang="en-US" sz="1000" dirty="0"/>
          </a:p>
        </p:txBody>
      </p:sp>
      <p:sp>
        <p:nvSpPr>
          <p:cNvPr id="21" name="Text 19"/>
          <p:cNvSpPr txBox="1"/>
          <p:nvPr/>
        </p:nvSpPr>
        <p:spPr>
          <a:xfrm>
            <a:off x="950976" y="3502152"/>
            <a:ext cx="4617720" cy="182880"/>
          </a:xfrm>
          <a:prstGeom prst="rect">
            <a:avLst/>
          </a:prstGeom>
          <a:noFill/>
          <a:ln/>
        </p:spPr>
        <p:txBody>
          <a:bodyPr wrap="square" lIns="0" tIns="0" rIns="0" bIns="0" rtlCol="0" anchor="ctr"/>
          <a:lstStyle/>
          <a:p>
            <a:pPr indent="0" marL="0">
              <a:buNone/>
            </a:pPr>
            <a:r>
              <a:rPr lang="en-US" sz="840" dirty="0">
                <a:solidFill>
                  <a:srgbClr val="A9C2DA"/>
                </a:solidFill>
                <a:latin typeface="Calibri" pitchFamily="34" charset="0"/>
                <a:ea typeface="Calibri" pitchFamily="34" charset="-122"/>
                <a:cs typeface="Calibri" pitchFamily="34" charset="-120"/>
              </a:rPr>
              <a:t>Milestones, routing, due dates, escalation</a:t>
            </a:r>
            <a:endParaRPr lang="en-US" sz="840" dirty="0"/>
          </a:p>
        </p:txBody>
      </p:sp>
      <p:sp>
        <p:nvSpPr>
          <p:cNvPr id="22" name="Shape 20"/>
          <p:cNvSpPr/>
          <p:nvPr/>
        </p:nvSpPr>
        <p:spPr>
          <a:xfrm>
            <a:off x="548640" y="3767328"/>
            <a:ext cx="5138928" cy="448056"/>
          </a:xfrm>
          <a:prstGeom prst="roundRect">
            <a:avLst>
              <a:gd name="adj" fmla="val 10204"/>
            </a:avLst>
          </a:prstGeom>
          <a:solidFill>
            <a:srgbClr val="16304C"/>
          </a:solidFill>
          <a:ln w="7620">
            <a:solidFill>
              <a:srgbClr val="27415C"/>
            </a:solidFill>
            <a:prstDash val="solid"/>
          </a:ln>
        </p:spPr>
      </p:sp>
      <p:sp>
        <p:nvSpPr>
          <p:cNvPr id="23" name="Shape 21"/>
          <p:cNvSpPr/>
          <p:nvPr/>
        </p:nvSpPr>
        <p:spPr>
          <a:xfrm>
            <a:off x="676656" y="3904488"/>
            <a:ext cx="173736" cy="173736"/>
          </a:xfrm>
          <a:prstGeom prst="roundRect">
            <a:avLst>
              <a:gd name="adj" fmla="val 21053"/>
            </a:avLst>
          </a:prstGeom>
          <a:solidFill>
            <a:srgbClr val="20A098"/>
          </a:solidFill>
          <a:ln/>
        </p:spPr>
      </p:sp>
      <p:sp>
        <p:nvSpPr>
          <p:cNvPr id="24" name="Text 22"/>
          <p:cNvSpPr txBox="1"/>
          <p:nvPr/>
        </p:nvSpPr>
        <p:spPr>
          <a:xfrm>
            <a:off x="950976" y="3808476"/>
            <a:ext cx="4617720" cy="201168"/>
          </a:xfrm>
          <a:prstGeom prst="rect">
            <a:avLst/>
          </a:prstGeom>
          <a:noFill/>
          <a:ln/>
        </p:spPr>
        <p:txBody>
          <a:bodyPr wrap="square" lIns="0" tIns="0" rIns="0" bIns="0" rtlCol="0" anchor="ctr"/>
          <a:lstStyle/>
          <a:p>
            <a:pPr indent="0" marL="0">
              <a:buNone/>
            </a:pPr>
            <a:r>
              <a:rPr lang="en-US" sz="1000" b="1" dirty="0">
                <a:solidFill>
                  <a:srgbClr val="FFFFFF"/>
                </a:solidFill>
                <a:latin typeface="Arial" pitchFamily="34" charset="0"/>
                <a:ea typeface="Arial" pitchFamily="34" charset="-122"/>
                <a:cs typeface="Arial" pitchFamily="34" charset="-120"/>
              </a:rPr>
              <a:t>SAP Identity Authentication</a:t>
            </a:r>
            <a:endParaRPr lang="en-US" sz="1000" dirty="0"/>
          </a:p>
        </p:txBody>
      </p:sp>
      <p:sp>
        <p:nvSpPr>
          <p:cNvPr id="25" name="Text 23"/>
          <p:cNvSpPr txBox="1"/>
          <p:nvPr/>
        </p:nvSpPr>
        <p:spPr>
          <a:xfrm>
            <a:off x="950976" y="4000500"/>
            <a:ext cx="4617720" cy="182880"/>
          </a:xfrm>
          <a:prstGeom prst="rect">
            <a:avLst/>
          </a:prstGeom>
          <a:noFill/>
          <a:ln/>
        </p:spPr>
        <p:txBody>
          <a:bodyPr wrap="square" lIns="0" tIns="0" rIns="0" bIns="0" rtlCol="0" anchor="ctr"/>
          <a:lstStyle/>
          <a:p>
            <a:pPr indent="0" marL="0">
              <a:buNone/>
            </a:pPr>
            <a:r>
              <a:rPr lang="en-US" sz="840" dirty="0">
                <a:solidFill>
                  <a:srgbClr val="A9C2DA"/>
                </a:solidFill>
                <a:latin typeface="Calibri" pitchFamily="34" charset="0"/>
                <a:ea typeface="Calibri" pitchFamily="34" charset="-122"/>
                <a:cs typeface="Calibri" pitchFamily="34" charset="-120"/>
              </a:rPr>
              <a:t>Single sign-on and directory federation</a:t>
            </a:r>
            <a:endParaRPr lang="en-US" sz="840" dirty="0"/>
          </a:p>
        </p:txBody>
      </p:sp>
      <p:sp>
        <p:nvSpPr>
          <p:cNvPr id="26" name="Shape 24"/>
          <p:cNvSpPr/>
          <p:nvPr/>
        </p:nvSpPr>
        <p:spPr>
          <a:xfrm>
            <a:off x="548640" y="4265676"/>
            <a:ext cx="5138928" cy="448056"/>
          </a:xfrm>
          <a:prstGeom prst="roundRect">
            <a:avLst>
              <a:gd name="adj" fmla="val 10204"/>
            </a:avLst>
          </a:prstGeom>
          <a:solidFill>
            <a:srgbClr val="16304C"/>
          </a:solidFill>
          <a:ln w="7620">
            <a:solidFill>
              <a:srgbClr val="27415C"/>
            </a:solidFill>
            <a:prstDash val="solid"/>
          </a:ln>
        </p:spPr>
      </p:sp>
      <p:sp>
        <p:nvSpPr>
          <p:cNvPr id="27" name="Shape 25"/>
          <p:cNvSpPr/>
          <p:nvPr/>
        </p:nvSpPr>
        <p:spPr>
          <a:xfrm>
            <a:off x="676656" y="4402836"/>
            <a:ext cx="173736" cy="173736"/>
          </a:xfrm>
          <a:prstGeom prst="roundRect">
            <a:avLst>
              <a:gd name="adj" fmla="val 21053"/>
            </a:avLst>
          </a:prstGeom>
          <a:solidFill>
            <a:srgbClr val="20A098"/>
          </a:solidFill>
          <a:ln/>
        </p:spPr>
      </p:sp>
      <p:sp>
        <p:nvSpPr>
          <p:cNvPr id="28" name="Text 26"/>
          <p:cNvSpPr txBox="1"/>
          <p:nvPr/>
        </p:nvSpPr>
        <p:spPr>
          <a:xfrm>
            <a:off x="950976" y="4306824"/>
            <a:ext cx="4617720" cy="201168"/>
          </a:xfrm>
          <a:prstGeom prst="rect">
            <a:avLst/>
          </a:prstGeom>
          <a:noFill/>
          <a:ln/>
        </p:spPr>
        <p:txBody>
          <a:bodyPr wrap="square" lIns="0" tIns="0" rIns="0" bIns="0" rtlCol="0" anchor="ctr"/>
          <a:lstStyle/>
          <a:p>
            <a:pPr indent="0" marL="0">
              <a:buNone/>
            </a:pPr>
            <a:r>
              <a:rPr lang="en-US" sz="1000" b="1" dirty="0">
                <a:solidFill>
                  <a:srgbClr val="FFFFFF"/>
                </a:solidFill>
                <a:latin typeface="Arial" pitchFamily="34" charset="0"/>
                <a:ea typeface="Arial" pitchFamily="34" charset="-122"/>
                <a:cs typeface="Arial" pitchFamily="34" charset="-120"/>
              </a:rPr>
              <a:t>Destination &amp; Connectivity</a:t>
            </a:r>
            <a:endParaRPr lang="en-US" sz="1000" dirty="0"/>
          </a:p>
        </p:txBody>
      </p:sp>
      <p:sp>
        <p:nvSpPr>
          <p:cNvPr id="29" name="Text 27"/>
          <p:cNvSpPr txBox="1"/>
          <p:nvPr/>
        </p:nvSpPr>
        <p:spPr>
          <a:xfrm>
            <a:off x="950976" y="4498848"/>
            <a:ext cx="4617720" cy="182880"/>
          </a:xfrm>
          <a:prstGeom prst="rect">
            <a:avLst/>
          </a:prstGeom>
          <a:noFill/>
          <a:ln/>
        </p:spPr>
        <p:txBody>
          <a:bodyPr wrap="square" lIns="0" tIns="0" rIns="0" bIns="0" rtlCol="0" anchor="ctr"/>
          <a:lstStyle/>
          <a:p>
            <a:pPr indent="0" marL="0">
              <a:buNone/>
            </a:pPr>
            <a:r>
              <a:rPr lang="en-US" sz="840" dirty="0">
                <a:solidFill>
                  <a:srgbClr val="A9C2DA"/>
                </a:solidFill>
                <a:latin typeface="Calibri" pitchFamily="34" charset="0"/>
                <a:ea typeface="Calibri" pitchFamily="34" charset="-122"/>
                <a:cs typeface="Calibri" pitchFamily="34" charset="-120"/>
              </a:rPr>
              <a:t>Secure outbound to SF, S/4HANA and future APIs</a:t>
            </a:r>
            <a:endParaRPr lang="en-US" sz="840" dirty="0"/>
          </a:p>
        </p:txBody>
      </p:sp>
      <p:sp>
        <p:nvSpPr>
          <p:cNvPr id="30" name="Text 28"/>
          <p:cNvSpPr txBox="1"/>
          <p:nvPr/>
        </p:nvSpPr>
        <p:spPr>
          <a:xfrm>
            <a:off x="5852160" y="1481328"/>
            <a:ext cx="5120640" cy="219456"/>
          </a:xfrm>
          <a:prstGeom prst="rect">
            <a:avLst/>
          </a:prstGeom>
          <a:noFill/>
          <a:ln/>
        </p:spPr>
        <p:txBody>
          <a:bodyPr wrap="square" lIns="0" tIns="0" rIns="0" bIns="0" rtlCol="0" anchor="ctr"/>
          <a:lstStyle/>
          <a:p>
            <a:pPr indent="0" marL="0">
              <a:buNone/>
            </a:pPr>
            <a:r>
              <a:rPr lang="en-US" sz="900" b="1" spc="150" kern="0" dirty="0">
                <a:solidFill>
                  <a:srgbClr val="C9A227"/>
                </a:solidFill>
                <a:latin typeface="Calibri" pitchFamily="34" charset="0"/>
                <a:ea typeface="Calibri" pitchFamily="34" charset="-122"/>
                <a:cs typeface="Calibri" pitchFamily="34" charset="-120"/>
              </a:rPr>
              <a:t>INTEGRATION &amp; SCALE — AS REQUIRED</a:t>
            </a:r>
            <a:endParaRPr lang="en-US" sz="900" dirty="0"/>
          </a:p>
        </p:txBody>
      </p:sp>
      <p:sp>
        <p:nvSpPr>
          <p:cNvPr id="31" name="Shape 29"/>
          <p:cNvSpPr/>
          <p:nvPr/>
        </p:nvSpPr>
        <p:spPr>
          <a:xfrm>
            <a:off x="5852160" y="1773936"/>
            <a:ext cx="5138928" cy="448056"/>
          </a:xfrm>
          <a:prstGeom prst="roundRect">
            <a:avLst>
              <a:gd name="adj" fmla="val 10204"/>
            </a:avLst>
          </a:prstGeom>
          <a:solidFill>
            <a:srgbClr val="16304C"/>
          </a:solidFill>
          <a:ln w="7620">
            <a:solidFill>
              <a:srgbClr val="27415C"/>
            </a:solidFill>
            <a:prstDash val="solid"/>
          </a:ln>
        </p:spPr>
      </p:sp>
      <p:sp>
        <p:nvSpPr>
          <p:cNvPr id="32" name="Shape 30"/>
          <p:cNvSpPr/>
          <p:nvPr/>
        </p:nvSpPr>
        <p:spPr>
          <a:xfrm>
            <a:off x="5980176" y="1911096"/>
            <a:ext cx="173736" cy="173736"/>
          </a:xfrm>
          <a:prstGeom prst="roundRect">
            <a:avLst>
              <a:gd name="adj" fmla="val 21053"/>
            </a:avLst>
          </a:prstGeom>
          <a:solidFill>
            <a:srgbClr val="C9A227"/>
          </a:solidFill>
          <a:ln/>
        </p:spPr>
      </p:sp>
      <p:sp>
        <p:nvSpPr>
          <p:cNvPr id="33" name="Text 31"/>
          <p:cNvSpPr txBox="1"/>
          <p:nvPr/>
        </p:nvSpPr>
        <p:spPr>
          <a:xfrm>
            <a:off x="6254496" y="1815084"/>
            <a:ext cx="4617720" cy="201168"/>
          </a:xfrm>
          <a:prstGeom prst="rect">
            <a:avLst/>
          </a:prstGeom>
          <a:noFill/>
          <a:ln/>
        </p:spPr>
        <p:txBody>
          <a:bodyPr wrap="square" lIns="0" tIns="0" rIns="0" bIns="0" rtlCol="0" anchor="ctr"/>
          <a:lstStyle/>
          <a:p>
            <a:pPr indent="0" marL="0">
              <a:buNone/>
            </a:pPr>
            <a:r>
              <a:rPr lang="en-US" sz="1000" b="1" dirty="0">
                <a:solidFill>
                  <a:srgbClr val="FFFFFF"/>
                </a:solidFill>
                <a:latin typeface="Arial" pitchFamily="34" charset="0"/>
                <a:ea typeface="Arial" pitchFamily="34" charset="-122"/>
                <a:cs typeface="Arial" pitchFamily="34" charset="-120"/>
              </a:rPr>
              <a:t>SAP Integration Suite (CPI)</a:t>
            </a:r>
            <a:endParaRPr lang="en-US" sz="1000" dirty="0"/>
          </a:p>
        </p:txBody>
      </p:sp>
      <p:sp>
        <p:nvSpPr>
          <p:cNvPr id="34" name="Text 32"/>
          <p:cNvSpPr txBox="1"/>
          <p:nvPr/>
        </p:nvSpPr>
        <p:spPr>
          <a:xfrm>
            <a:off x="6254496" y="2007108"/>
            <a:ext cx="4617720" cy="182880"/>
          </a:xfrm>
          <a:prstGeom prst="rect">
            <a:avLst/>
          </a:prstGeom>
          <a:noFill/>
          <a:ln/>
        </p:spPr>
        <p:txBody>
          <a:bodyPr wrap="square" lIns="0" tIns="0" rIns="0" bIns="0" rtlCol="0" anchor="ctr"/>
          <a:lstStyle/>
          <a:p>
            <a:pPr indent="0" marL="0">
              <a:buNone/>
            </a:pPr>
            <a:r>
              <a:rPr lang="en-US" sz="840" dirty="0">
                <a:solidFill>
                  <a:srgbClr val="A9C2DA"/>
                </a:solidFill>
                <a:latin typeface="Calibri" pitchFamily="34" charset="0"/>
                <a:ea typeface="Calibri" pitchFamily="34" charset="-122"/>
                <a:cs typeface="Calibri" pitchFamily="34" charset="-120"/>
              </a:rPr>
              <a:t>Integration flows to SF and S/4HANA Finance</a:t>
            </a:r>
            <a:endParaRPr lang="en-US" sz="840" dirty="0"/>
          </a:p>
        </p:txBody>
      </p:sp>
      <p:sp>
        <p:nvSpPr>
          <p:cNvPr id="35" name="Shape 33"/>
          <p:cNvSpPr/>
          <p:nvPr/>
        </p:nvSpPr>
        <p:spPr>
          <a:xfrm>
            <a:off x="5852160" y="2272284"/>
            <a:ext cx="5138928" cy="448056"/>
          </a:xfrm>
          <a:prstGeom prst="roundRect">
            <a:avLst>
              <a:gd name="adj" fmla="val 10204"/>
            </a:avLst>
          </a:prstGeom>
          <a:solidFill>
            <a:srgbClr val="16304C"/>
          </a:solidFill>
          <a:ln w="7620">
            <a:solidFill>
              <a:srgbClr val="27415C"/>
            </a:solidFill>
            <a:prstDash val="solid"/>
          </a:ln>
        </p:spPr>
      </p:sp>
      <p:sp>
        <p:nvSpPr>
          <p:cNvPr id="36" name="Shape 34"/>
          <p:cNvSpPr/>
          <p:nvPr/>
        </p:nvSpPr>
        <p:spPr>
          <a:xfrm>
            <a:off x="5980176" y="2409444"/>
            <a:ext cx="173736" cy="173736"/>
          </a:xfrm>
          <a:prstGeom prst="roundRect">
            <a:avLst>
              <a:gd name="adj" fmla="val 21053"/>
            </a:avLst>
          </a:prstGeom>
          <a:solidFill>
            <a:srgbClr val="C9A227"/>
          </a:solidFill>
          <a:ln/>
        </p:spPr>
      </p:sp>
      <p:sp>
        <p:nvSpPr>
          <p:cNvPr id="37" name="Text 35"/>
          <p:cNvSpPr txBox="1"/>
          <p:nvPr/>
        </p:nvSpPr>
        <p:spPr>
          <a:xfrm>
            <a:off x="6254496" y="2313432"/>
            <a:ext cx="4617720" cy="201168"/>
          </a:xfrm>
          <a:prstGeom prst="rect">
            <a:avLst/>
          </a:prstGeom>
          <a:noFill/>
          <a:ln/>
        </p:spPr>
        <p:txBody>
          <a:bodyPr wrap="square" lIns="0" tIns="0" rIns="0" bIns="0" rtlCol="0" anchor="ctr"/>
          <a:lstStyle/>
          <a:p>
            <a:pPr indent="0" marL="0">
              <a:buNone/>
            </a:pPr>
            <a:r>
              <a:rPr lang="en-US" sz="1000" b="1" dirty="0">
                <a:solidFill>
                  <a:srgbClr val="FFFFFF"/>
                </a:solidFill>
                <a:latin typeface="Arial" pitchFamily="34" charset="0"/>
                <a:ea typeface="Arial" pitchFamily="34" charset="-122"/>
                <a:cs typeface="Arial" pitchFamily="34" charset="-120"/>
              </a:rPr>
              <a:t>Document Management Service</a:t>
            </a:r>
            <a:endParaRPr lang="en-US" sz="1000" dirty="0"/>
          </a:p>
        </p:txBody>
      </p:sp>
      <p:sp>
        <p:nvSpPr>
          <p:cNvPr id="38" name="Text 36"/>
          <p:cNvSpPr txBox="1"/>
          <p:nvPr/>
        </p:nvSpPr>
        <p:spPr>
          <a:xfrm>
            <a:off x="6254496" y="2505456"/>
            <a:ext cx="4617720" cy="182880"/>
          </a:xfrm>
          <a:prstGeom prst="rect">
            <a:avLst/>
          </a:prstGeom>
          <a:noFill/>
          <a:ln/>
        </p:spPr>
        <p:txBody>
          <a:bodyPr wrap="square" lIns="0" tIns="0" rIns="0" bIns="0" rtlCol="0" anchor="ctr"/>
          <a:lstStyle/>
          <a:p>
            <a:pPr indent="0" marL="0">
              <a:buNone/>
            </a:pPr>
            <a:r>
              <a:rPr lang="en-US" sz="840" dirty="0">
                <a:solidFill>
                  <a:srgbClr val="A9C2DA"/>
                </a:solidFill>
                <a:latin typeface="Calibri" pitchFamily="34" charset="0"/>
                <a:ea typeface="Calibri" pitchFamily="34" charset="-122"/>
                <a:cs typeface="Calibri" pitchFamily="34" charset="-120"/>
              </a:rPr>
              <a:t>Passports, contracts, receipts, certificates</a:t>
            </a:r>
            <a:endParaRPr lang="en-US" sz="840" dirty="0"/>
          </a:p>
        </p:txBody>
      </p:sp>
      <p:sp>
        <p:nvSpPr>
          <p:cNvPr id="39" name="Shape 37"/>
          <p:cNvSpPr/>
          <p:nvPr/>
        </p:nvSpPr>
        <p:spPr>
          <a:xfrm>
            <a:off x="5852160" y="2770632"/>
            <a:ext cx="5138928" cy="448056"/>
          </a:xfrm>
          <a:prstGeom prst="roundRect">
            <a:avLst>
              <a:gd name="adj" fmla="val 10204"/>
            </a:avLst>
          </a:prstGeom>
          <a:solidFill>
            <a:srgbClr val="16304C"/>
          </a:solidFill>
          <a:ln w="7620">
            <a:solidFill>
              <a:srgbClr val="27415C"/>
            </a:solidFill>
            <a:prstDash val="solid"/>
          </a:ln>
        </p:spPr>
      </p:sp>
      <p:sp>
        <p:nvSpPr>
          <p:cNvPr id="40" name="Shape 38"/>
          <p:cNvSpPr/>
          <p:nvPr/>
        </p:nvSpPr>
        <p:spPr>
          <a:xfrm>
            <a:off x="5980176" y="2907792"/>
            <a:ext cx="173736" cy="173736"/>
          </a:xfrm>
          <a:prstGeom prst="roundRect">
            <a:avLst>
              <a:gd name="adj" fmla="val 21053"/>
            </a:avLst>
          </a:prstGeom>
          <a:solidFill>
            <a:srgbClr val="C9A227"/>
          </a:solidFill>
          <a:ln/>
        </p:spPr>
      </p:sp>
      <p:sp>
        <p:nvSpPr>
          <p:cNvPr id="41" name="Text 39"/>
          <p:cNvSpPr txBox="1"/>
          <p:nvPr/>
        </p:nvSpPr>
        <p:spPr>
          <a:xfrm>
            <a:off x="6254496" y="2811780"/>
            <a:ext cx="4617720" cy="201168"/>
          </a:xfrm>
          <a:prstGeom prst="rect">
            <a:avLst/>
          </a:prstGeom>
          <a:noFill/>
          <a:ln/>
        </p:spPr>
        <p:txBody>
          <a:bodyPr wrap="square" lIns="0" tIns="0" rIns="0" bIns="0" rtlCol="0" anchor="ctr"/>
          <a:lstStyle/>
          <a:p>
            <a:pPr indent="0" marL="0">
              <a:buNone/>
            </a:pPr>
            <a:r>
              <a:rPr lang="en-US" sz="1000" b="1" dirty="0">
                <a:solidFill>
                  <a:srgbClr val="FFFFFF"/>
                </a:solidFill>
                <a:latin typeface="Arial" pitchFamily="34" charset="0"/>
                <a:ea typeface="Arial" pitchFamily="34" charset="-122"/>
                <a:cs typeface="Arial" pitchFamily="34" charset="-120"/>
              </a:rPr>
              <a:t>Alert Notification / Email</a:t>
            </a:r>
            <a:endParaRPr lang="en-US" sz="1000" dirty="0"/>
          </a:p>
        </p:txBody>
      </p:sp>
      <p:sp>
        <p:nvSpPr>
          <p:cNvPr id="42" name="Text 40"/>
          <p:cNvSpPr txBox="1"/>
          <p:nvPr/>
        </p:nvSpPr>
        <p:spPr>
          <a:xfrm>
            <a:off x="6254496" y="3003804"/>
            <a:ext cx="4617720" cy="182880"/>
          </a:xfrm>
          <a:prstGeom prst="rect">
            <a:avLst/>
          </a:prstGeom>
          <a:noFill/>
          <a:ln/>
        </p:spPr>
        <p:txBody>
          <a:bodyPr wrap="square" lIns="0" tIns="0" rIns="0" bIns="0" rtlCol="0" anchor="ctr"/>
          <a:lstStyle/>
          <a:p>
            <a:pPr indent="0" marL="0">
              <a:buNone/>
            </a:pPr>
            <a:r>
              <a:rPr lang="en-US" sz="840" dirty="0">
                <a:solidFill>
                  <a:srgbClr val="A9C2DA"/>
                </a:solidFill>
                <a:latin typeface="Calibri" pitchFamily="34" charset="0"/>
                <a:ea typeface="Calibri" pitchFamily="34" charset="-122"/>
                <a:cs typeface="Calibri" pitchFamily="34" charset="-120"/>
              </a:rPr>
              <a:t>Expiry alerts, reminders and escalation mails</a:t>
            </a:r>
            <a:endParaRPr lang="en-US" sz="840" dirty="0"/>
          </a:p>
        </p:txBody>
      </p:sp>
      <p:sp>
        <p:nvSpPr>
          <p:cNvPr id="43" name="Shape 41"/>
          <p:cNvSpPr/>
          <p:nvPr/>
        </p:nvSpPr>
        <p:spPr>
          <a:xfrm>
            <a:off x="5852160" y="3268980"/>
            <a:ext cx="5138928" cy="448056"/>
          </a:xfrm>
          <a:prstGeom prst="roundRect">
            <a:avLst>
              <a:gd name="adj" fmla="val 10204"/>
            </a:avLst>
          </a:prstGeom>
          <a:solidFill>
            <a:srgbClr val="16304C"/>
          </a:solidFill>
          <a:ln w="7620">
            <a:solidFill>
              <a:srgbClr val="27415C"/>
            </a:solidFill>
            <a:prstDash val="solid"/>
          </a:ln>
        </p:spPr>
      </p:sp>
      <p:sp>
        <p:nvSpPr>
          <p:cNvPr id="44" name="Shape 42"/>
          <p:cNvSpPr/>
          <p:nvPr/>
        </p:nvSpPr>
        <p:spPr>
          <a:xfrm>
            <a:off x="5980176" y="3406140"/>
            <a:ext cx="173736" cy="173736"/>
          </a:xfrm>
          <a:prstGeom prst="roundRect">
            <a:avLst>
              <a:gd name="adj" fmla="val 21053"/>
            </a:avLst>
          </a:prstGeom>
          <a:solidFill>
            <a:srgbClr val="C9A227"/>
          </a:solidFill>
          <a:ln/>
        </p:spPr>
      </p:sp>
      <p:sp>
        <p:nvSpPr>
          <p:cNvPr id="45" name="Text 43"/>
          <p:cNvSpPr txBox="1"/>
          <p:nvPr/>
        </p:nvSpPr>
        <p:spPr>
          <a:xfrm>
            <a:off x="6254496" y="3310128"/>
            <a:ext cx="4617720" cy="201168"/>
          </a:xfrm>
          <a:prstGeom prst="rect">
            <a:avLst/>
          </a:prstGeom>
          <a:noFill/>
          <a:ln/>
        </p:spPr>
        <p:txBody>
          <a:bodyPr wrap="square" lIns="0" tIns="0" rIns="0" bIns="0" rtlCol="0" anchor="ctr"/>
          <a:lstStyle/>
          <a:p>
            <a:pPr indent="0" marL="0">
              <a:buNone/>
            </a:pPr>
            <a:r>
              <a:rPr lang="en-US" sz="1000" b="1" dirty="0">
                <a:solidFill>
                  <a:srgbClr val="FFFFFF"/>
                </a:solidFill>
                <a:latin typeface="Arial" pitchFamily="34" charset="0"/>
                <a:ea typeface="Arial" pitchFamily="34" charset="-122"/>
                <a:cs typeface="Arial" pitchFamily="34" charset="-120"/>
              </a:rPr>
              <a:t>Job Scheduling Service</a:t>
            </a:r>
            <a:endParaRPr lang="en-US" sz="1000" dirty="0"/>
          </a:p>
        </p:txBody>
      </p:sp>
      <p:sp>
        <p:nvSpPr>
          <p:cNvPr id="46" name="Text 44"/>
          <p:cNvSpPr txBox="1"/>
          <p:nvPr/>
        </p:nvSpPr>
        <p:spPr>
          <a:xfrm>
            <a:off x="6254496" y="3502152"/>
            <a:ext cx="4617720" cy="182880"/>
          </a:xfrm>
          <a:prstGeom prst="rect">
            <a:avLst/>
          </a:prstGeom>
          <a:noFill/>
          <a:ln/>
        </p:spPr>
        <p:txBody>
          <a:bodyPr wrap="square" lIns="0" tIns="0" rIns="0" bIns="0" rtlCol="0" anchor="ctr"/>
          <a:lstStyle/>
          <a:p>
            <a:pPr indent="0" marL="0">
              <a:buNone/>
            </a:pPr>
            <a:r>
              <a:rPr lang="en-US" sz="840" dirty="0">
                <a:solidFill>
                  <a:srgbClr val="A9C2DA"/>
                </a:solidFill>
                <a:latin typeface="Calibri" pitchFamily="34" charset="0"/>
                <a:ea typeface="Calibri" pitchFamily="34" charset="-122"/>
                <a:cs typeface="Calibri" pitchFamily="34" charset="-120"/>
              </a:rPr>
              <a:t>Nightly expiry scans and scheduled reports</a:t>
            </a:r>
            <a:endParaRPr lang="en-US" sz="840" dirty="0"/>
          </a:p>
        </p:txBody>
      </p:sp>
      <p:sp>
        <p:nvSpPr>
          <p:cNvPr id="47" name="Shape 45"/>
          <p:cNvSpPr/>
          <p:nvPr/>
        </p:nvSpPr>
        <p:spPr>
          <a:xfrm>
            <a:off x="5852160" y="3767328"/>
            <a:ext cx="5138928" cy="448056"/>
          </a:xfrm>
          <a:prstGeom prst="roundRect">
            <a:avLst>
              <a:gd name="adj" fmla="val 10204"/>
            </a:avLst>
          </a:prstGeom>
          <a:solidFill>
            <a:srgbClr val="16304C"/>
          </a:solidFill>
          <a:ln w="7620">
            <a:solidFill>
              <a:srgbClr val="27415C"/>
            </a:solidFill>
            <a:prstDash val="solid"/>
          </a:ln>
        </p:spPr>
      </p:sp>
      <p:sp>
        <p:nvSpPr>
          <p:cNvPr id="48" name="Shape 46"/>
          <p:cNvSpPr/>
          <p:nvPr/>
        </p:nvSpPr>
        <p:spPr>
          <a:xfrm>
            <a:off x="5980176" y="3904488"/>
            <a:ext cx="173736" cy="173736"/>
          </a:xfrm>
          <a:prstGeom prst="roundRect">
            <a:avLst>
              <a:gd name="adj" fmla="val 21053"/>
            </a:avLst>
          </a:prstGeom>
          <a:solidFill>
            <a:srgbClr val="C9A227"/>
          </a:solidFill>
          <a:ln/>
        </p:spPr>
      </p:sp>
      <p:sp>
        <p:nvSpPr>
          <p:cNvPr id="49" name="Text 47"/>
          <p:cNvSpPr txBox="1"/>
          <p:nvPr/>
        </p:nvSpPr>
        <p:spPr>
          <a:xfrm>
            <a:off x="6254496" y="3808476"/>
            <a:ext cx="4617720" cy="201168"/>
          </a:xfrm>
          <a:prstGeom prst="rect">
            <a:avLst/>
          </a:prstGeom>
          <a:noFill/>
          <a:ln/>
        </p:spPr>
        <p:txBody>
          <a:bodyPr wrap="square" lIns="0" tIns="0" rIns="0" bIns="0" rtlCol="0" anchor="ctr"/>
          <a:lstStyle/>
          <a:p>
            <a:pPr indent="0" marL="0">
              <a:buNone/>
            </a:pPr>
            <a:r>
              <a:rPr lang="en-US" sz="1000" b="1" dirty="0">
                <a:solidFill>
                  <a:srgbClr val="FFFFFF"/>
                </a:solidFill>
                <a:latin typeface="Arial" pitchFamily="34" charset="0"/>
                <a:ea typeface="Arial" pitchFamily="34" charset="-122"/>
                <a:cs typeface="Arial" pitchFamily="34" charset="-120"/>
              </a:rPr>
              <a:t>SAP Analytics Cloud</a:t>
            </a:r>
            <a:endParaRPr lang="en-US" sz="1000" dirty="0"/>
          </a:p>
        </p:txBody>
      </p:sp>
      <p:sp>
        <p:nvSpPr>
          <p:cNvPr id="50" name="Text 48"/>
          <p:cNvSpPr txBox="1"/>
          <p:nvPr/>
        </p:nvSpPr>
        <p:spPr>
          <a:xfrm>
            <a:off x="6254496" y="4000500"/>
            <a:ext cx="4617720" cy="182880"/>
          </a:xfrm>
          <a:prstGeom prst="rect">
            <a:avLst/>
          </a:prstGeom>
          <a:noFill/>
          <a:ln/>
        </p:spPr>
        <p:txBody>
          <a:bodyPr wrap="square" lIns="0" tIns="0" rIns="0" bIns="0" rtlCol="0" anchor="ctr"/>
          <a:lstStyle/>
          <a:p>
            <a:pPr indent="0" marL="0">
              <a:buNone/>
            </a:pPr>
            <a:r>
              <a:rPr lang="en-US" sz="840" dirty="0">
                <a:solidFill>
                  <a:srgbClr val="A9C2DA"/>
                </a:solidFill>
                <a:latin typeface="Calibri" pitchFamily="34" charset="0"/>
                <a:ea typeface="Calibri" pitchFamily="34" charset="-122"/>
                <a:cs typeface="Calibri" pitchFamily="34" charset="-120"/>
              </a:rPr>
              <a:t>Executive dashboards and cross-country analytics</a:t>
            </a:r>
            <a:endParaRPr lang="en-US" sz="840" dirty="0"/>
          </a:p>
        </p:txBody>
      </p:sp>
      <p:sp>
        <p:nvSpPr>
          <p:cNvPr id="51" name="Shape 49"/>
          <p:cNvSpPr/>
          <p:nvPr/>
        </p:nvSpPr>
        <p:spPr>
          <a:xfrm>
            <a:off x="5852160" y="4265676"/>
            <a:ext cx="5138928" cy="448056"/>
          </a:xfrm>
          <a:prstGeom prst="roundRect">
            <a:avLst>
              <a:gd name="adj" fmla="val 10204"/>
            </a:avLst>
          </a:prstGeom>
          <a:solidFill>
            <a:srgbClr val="16304C"/>
          </a:solidFill>
          <a:ln w="7620">
            <a:solidFill>
              <a:srgbClr val="27415C"/>
            </a:solidFill>
            <a:prstDash val="solid"/>
          </a:ln>
        </p:spPr>
      </p:sp>
      <p:sp>
        <p:nvSpPr>
          <p:cNvPr id="52" name="Shape 50"/>
          <p:cNvSpPr/>
          <p:nvPr/>
        </p:nvSpPr>
        <p:spPr>
          <a:xfrm>
            <a:off x="5980176" y="4402836"/>
            <a:ext cx="173736" cy="173736"/>
          </a:xfrm>
          <a:prstGeom prst="roundRect">
            <a:avLst>
              <a:gd name="adj" fmla="val 21053"/>
            </a:avLst>
          </a:prstGeom>
          <a:solidFill>
            <a:srgbClr val="C9A227"/>
          </a:solidFill>
          <a:ln/>
        </p:spPr>
      </p:sp>
      <p:sp>
        <p:nvSpPr>
          <p:cNvPr id="53" name="Text 51"/>
          <p:cNvSpPr txBox="1"/>
          <p:nvPr/>
        </p:nvSpPr>
        <p:spPr>
          <a:xfrm>
            <a:off x="6254496" y="4306824"/>
            <a:ext cx="4617720" cy="201168"/>
          </a:xfrm>
          <a:prstGeom prst="rect">
            <a:avLst/>
          </a:prstGeom>
          <a:noFill/>
          <a:ln/>
        </p:spPr>
        <p:txBody>
          <a:bodyPr wrap="square" lIns="0" tIns="0" rIns="0" bIns="0" rtlCol="0" anchor="ctr"/>
          <a:lstStyle/>
          <a:p>
            <a:pPr indent="0" marL="0">
              <a:buNone/>
            </a:pPr>
            <a:r>
              <a:rPr lang="en-US" sz="1000" b="1" dirty="0">
                <a:solidFill>
                  <a:srgbClr val="FFFFFF"/>
                </a:solidFill>
                <a:latin typeface="Arial" pitchFamily="34" charset="0"/>
                <a:ea typeface="Arial" pitchFamily="34" charset="-122"/>
                <a:cs typeface="Arial" pitchFamily="34" charset="-120"/>
              </a:rPr>
              <a:t>Business Application Studio</a:t>
            </a:r>
            <a:endParaRPr lang="en-US" sz="1000" dirty="0"/>
          </a:p>
        </p:txBody>
      </p:sp>
      <p:sp>
        <p:nvSpPr>
          <p:cNvPr id="54" name="Text 52"/>
          <p:cNvSpPr txBox="1"/>
          <p:nvPr/>
        </p:nvSpPr>
        <p:spPr>
          <a:xfrm>
            <a:off x="6254496" y="4498848"/>
            <a:ext cx="4617720" cy="182880"/>
          </a:xfrm>
          <a:prstGeom prst="rect">
            <a:avLst/>
          </a:prstGeom>
          <a:noFill/>
          <a:ln/>
        </p:spPr>
        <p:txBody>
          <a:bodyPr wrap="square" lIns="0" tIns="0" rIns="0" bIns="0" rtlCol="0" anchor="ctr"/>
          <a:lstStyle/>
          <a:p>
            <a:pPr indent="0" marL="0">
              <a:buNone/>
            </a:pPr>
            <a:r>
              <a:rPr lang="en-US" sz="840" dirty="0">
                <a:solidFill>
                  <a:srgbClr val="A9C2DA"/>
                </a:solidFill>
                <a:latin typeface="Calibri" pitchFamily="34" charset="0"/>
                <a:ea typeface="Calibri" pitchFamily="34" charset="-122"/>
                <a:cs typeface="Calibri" pitchFamily="34" charset="-120"/>
              </a:rPr>
              <a:t>Localisation and change-request development</a:t>
            </a:r>
            <a:endParaRPr lang="en-US" sz="840" dirty="0"/>
          </a:p>
        </p:txBody>
      </p:sp>
      <p:sp>
        <p:nvSpPr>
          <p:cNvPr id="55" name="Shape 53"/>
          <p:cNvSpPr/>
          <p:nvPr/>
        </p:nvSpPr>
        <p:spPr>
          <a:xfrm>
            <a:off x="548640" y="4846320"/>
            <a:ext cx="10442448" cy="804672"/>
          </a:xfrm>
          <a:prstGeom prst="roundRect">
            <a:avLst>
              <a:gd name="adj" fmla="val 7955"/>
            </a:avLst>
          </a:prstGeom>
          <a:solidFill>
            <a:srgbClr val="123A4E"/>
          </a:solidFill>
          <a:ln w="12700">
            <a:solidFill>
              <a:srgbClr val="12756F"/>
            </a:solidFill>
            <a:prstDash val="solid"/>
          </a:ln>
        </p:spPr>
      </p:sp>
      <p:sp>
        <p:nvSpPr>
          <p:cNvPr id="56" name="Text 54"/>
          <p:cNvSpPr txBox="1"/>
          <p:nvPr/>
        </p:nvSpPr>
        <p:spPr>
          <a:xfrm>
            <a:off x="749808" y="4956048"/>
            <a:ext cx="3200400" cy="201168"/>
          </a:xfrm>
          <a:prstGeom prst="rect">
            <a:avLst/>
          </a:prstGeom>
          <a:noFill/>
          <a:ln/>
        </p:spPr>
        <p:txBody>
          <a:bodyPr wrap="square" lIns="0" tIns="0" rIns="0" bIns="0" rtlCol="0" anchor="ctr"/>
          <a:lstStyle/>
          <a:p>
            <a:pPr indent="0" marL="0">
              <a:buNone/>
            </a:pPr>
            <a:r>
              <a:rPr lang="en-US" sz="1050" b="1" dirty="0">
                <a:solidFill>
                  <a:srgbClr val="20A098"/>
                </a:solidFill>
                <a:latin typeface="Arial" pitchFamily="34" charset="0"/>
                <a:ea typeface="Arial" pitchFamily="34" charset="-122"/>
                <a:cs typeface="Arial" pitchFamily="34" charset="-120"/>
              </a:rPr>
              <a:t>Two licensing routes</a:t>
            </a:r>
            <a:endParaRPr lang="en-US" sz="1050" dirty="0"/>
          </a:p>
        </p:txBody>
      </p:sp>
      <p:sp>
        <p:nvSpPr>
          <p:cNvPr id="57" name="Text 55"/>
          <p:cNvSpPr txBox="1"/>
          <p:nvPr/>
        </p:nvSpPr>
        <p:spPr>
          <a:xfrm>
            <a:off x="749808" y="5157216"/>
            <a:ext cx="3200400" cy="420624"/>
          </a:xfrm>
          <a:prstGeom prst="rect">
            <a:avLst/>
          </a:prstGeom>
          <a:noFill/>
          <a:ln/>
        </p:spPr>
        <p:txBody>
          <a:bodyPr wrap="square" lIns="0" tIns="0" rIns="0" bIns="0" rtlCol="0" anchor="ctr"/>
          <a:lstStyle/>
          <a:p>
            <a:pPr indent="0" marL="0">
              <a:lnSpc>
                <a:spcPts val="1150"/>
              </a:lnSpc>
              <a:buNone/>
            </a:pPr>
            <a:r>
              <a:rPr lang="en-US" sz="840" dirty="0">
                <a:solidFill>
                  <a:srgbClr val="A9C2DA"/>
                </a:solidFill>
                <a:latin typeface="Calibri" pitchFamily="34" charset="0"/>
                <a:ea typeface="Calibri" pitchFamily="34" charset="-122"/>
                <a:cs typeface="Calibri" pitchFamily="34" charset="-120"/>
              </a:rPr>
              <a:t>Either you subscribe and run the runtime and portal yourself, or we manage the whole thing, which means no separate developer licences.</a:t>
            </a:r>
            <a:endParaRPr lang="en-US" sz="840" dirty="0"/>
          </a:p>
        </p:txBody>
      </p:sp>
      <p:sp>
        <p:nvSpPr>
          <p:cNvPr id="58" name="Text 56"/>
          <p:cNvSpPr txBox="1"/>
          <p:nvPr/>
        </p:nvSpPr>
        <p:spPr>
          <a:xfrm>
            <a:off x="4187952" y="4956048"/>
            <a:ext cx="3200400" cy="201168"/>
          </a:xfrm>
          <a:prstGeom prst="rect">
            <a:avLst/>
          </a:prstGeom>
          <a:noFill/>
          <a:ln/>
        </p:spPr>
        <p:txBody>
          <a:bodyPr wrap="square" lIns="0" tIns="0" rIns="0" bIns="0" rtlCol="0" anchor="ctr"/>
          <a:lstStyle/>
          <a:p>
            <a:pPr indent="0" marL="0">
              <a:buNone/>
            </a:pPr>
            <a:r>
              <a:rPr lang="en-US" sz="1050" b="1" dirty="0">
                <a:solidFill>
                  <a:srgbClr val="20A098"/>
                </a:solidFill>
                <a:latin typeface="Arial" pitchFamily="34" charset="0"/>
                <a:ea typeface="Arial" pitchFamily="34" charset="-122"/>
                <a:cs typeface="Arial" pitchFamily="34" charset="-120"/>
              </a:rPr>
              <a:t>Works without SuccessFactors</a:t>
            </a:r>
            <a:endParaRPr lang="en-US" sz="1050" dirty="0"/>
          </a:p>
        </p:txBody>
      </p:sp>
      <p:sp>
        <p:nvSpPr>
          <p:cNvPr id="59" name="Text 57"/>
          <p:cNvSpPr txBox="1"/>
          <p:nvPr/>
        </p:nvSpPr>
        <p:spPr>
          <a:xfrm>
            <a:off x="4187952" y="5157216"/>
            <a:ext cx="3200400" cy="420624"/>
          </a:xfrm>
          <a:prstGeom prst="rect">
            <a:avLst/>
          </a:prstGeom>
          <a:noFill/>
          <a:ln/>
        </p:spPr>
        <p:txBody>
          <a:bodyPr wrap="square" lIns="0" tIns="0" rIns="0" bIns="0" rtlCol="0" anchor="ctr"/>
          <a:lstStyle/>
          <a:p>
            <a:pPr indent="0" marL="0">
              <a:lnSpc>
                <a:spcPts val="1150"/>
              </a:lnSpc>
              <a:buNone/>
            </a:pPr>
            <a:r>
              <a:rPr lang="en-US" sz="840" dirty="0">
                <a:solidFill>
                  <a:srgbClr val="A9C2DA"/>
                </a:solidFill>
                <a:latin typeface="Calibri" pitchFamily="34" charset="0"/>
                <a:ea typeface="Calibri" pitchFamily="34" charset="-122"/>
                <a:cs typeface="Calibri" pitchFamily="34" charset="-120"/>
              </a:rPr>
              <a:t>If your SuccessFactors modules are not live yet, that is fine. The non-integrated version still gives you full governance from day one.</a:t>
            </a:r>
            <a:endParaRPr lang="en-US" sz="840" dirty="0"/>
          </a:p>
        </p:txBody>
      </p:sp>
      <p:sp>
        <p:nvSpPr>
          <p:cNvPr id="60" name="Text 58"/>
          <p:cNvSpPr txBox="1"/>
          <p:nvPr/>
        </p:nvSpPr>
        <p:spPr>
          <a:xfrm>
            <a:off x="7626096" y="4956048"/>
            <a:ext cx="3200400" cy="201168"/>
          </a:xfrm>
          <a:prstGeom prst="rect">
            <a:avLst/>
          </a:prstGeom>
          <a:noFill/>
          <a:ln/>
        </p:spPr>
        <p:txBody>
          <a:bodyPr wrap="square" lIns="0" tIns="0" rIns="0" bIns="0" rtlCol="0" anchor="ctr"/>
          <a:lstStyle/>
          <a:p>
            <a:pPr indent="0" marL="0">
              <a:buNone/>
            </a:pPr>
            <a:r>
              <a:rPr lang="en-US" sz="1050" b="1" dirty="0">
                <a:solidFill>
                  <a:srgbClr val="20A098"/>
                </a:solidFill>
                <a:latin typeface="Arial" pitchFamily="34" charset="0"/>
                <a:ea typeface="Arial" pitchFamily="34" charset="-122"/>
                <a:cs typeface="Arial" pitchFamily="34" charset="-120"/>
              </a:rPr>
              <a:t>Deployable in weeks</a:t>
            </a:r>
            <a:endParaRPr lang="en-US" sz="1050" dirty="0"/>
          </a:p>
        </p:txBody>
      </p:sp>
      <p:sp>
        <p:nvSpPr>
          <p:cNvPr id="61" name="Text 59"/>
          <p:cNvSpPr txBox="1"/>
          <p:nvPr/>
        </p:nvSpPr>
        <p:spPr>
          <a:xfrm>
            <a:off x="7626096" y="5157216"/>
            <a:ext cx="3200400" cy="420624"/>
          </a:xfrm>
          <a:prstGeom prst="rect">
            <a:avLst/>
          </a:prstGeom>
          <a:noFill/>
          <a:ln/>
        </p:spPr>
        <p:txBody>
          <a:bodyPr wrap="square" lIns="0" tIns="0" rIns="0" bIns="0" rtlCol="0" anchor="ctr"/>
          <a:lstStyle/>
          <a:p>
            <a:pPr indent="0" marL="0">
              <a:lnSpc>
                <a:spcPts val="1150"/>
              </a:lnSpc>
              <a:buNone/>
            </a:pPr>
            <a:r>
              <a:rPr lang="en-US" sz="840" dirty="0">
                <a:solidFill>
                  <a:srgbClr val="A9C2DA"/>
                </a:solidFill>
                <a:latin typeface="Calibri" pitchFamily="34" charset="0"/>
                <a:ea typeface="Calibri" pitchFamily="34" charset="-122"/>
                <a:cs typeface="Calibri" pitchFamily="34" charset="-120"/>
              </a:rPr>
              <a:t>Pre-built and configured rather than written from scratch: environment and configuration, then integration, then localisation.</a:t>
            </a:r>
            <a:endParaRPr lang="en-US" sz="840" dirty="0"/>
          </a:p>
        </p:txBody>
      </p:sp>
      <p:sp>
        <p:nvSpPr>
          <p:cNvPr id="62" name="Text 60"/>
          <p:cNvSpPr txBox="1"/>
          <p:nvPr/>
        </p:nvSpPr>
        <p:spPr>
          <a:xfrm>
            <a:off x="548640" y="5779008"/>
            <a:ext cx="5852160" cy="329184"/>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Ready for the GCC.</a:t>
            </a:r>
            <a:endParaRPr lang="en-US" sz="2000" dirty="0"/>
          </a:p>
        </p:txBody>
      </p:sp>
      <p:sp>
        <p:nvSpPr>
          <p:cNvPr id="63" name="Text 61"/>
          <p:cNvSpPr txBox="1"/>
          <p:nvPr/>
        </p:nvSpPr>
        <p:spPr>
          <a:xfrm>
            <a:off x="548640" y="6126480"/>
            <a:ext cx="7863840" cy="274320"/>
          </a:xfrm>
          <a:prstGeom prst="rect">
            <a:avLst/>
          </a:prstGeom>
          <a:noFill/>
          <a:ln/>
        </p:spPr>
        <p:txBody>
          <a:bodyPr wrap="square" lIns="0" tIns="0" rIns="0" bIns="0" rtlCol="0" anchor="ctr"/>
          <a:lstStyle/>
          <a:p>
            <a:pPr indent="0" marL="0">
              <a:buNone/>
            </a:pPr>
            <a:r>
              <a:rPr lang="en-US" sz="1000" dirty="0">
                <a:solidFill>
                  <a:srgbClr val="A9C2DA"/>
                </a:solidFill>
                <a:latin typeface="Calibri" pitchFamily="34" charset="0"/>
                <a:ea typeface="Calibri" pitchFamily="34" charset="-122"/>
                <a:cs typeface="Calibri" pitchFamily="34" charset="-120"/>
              </a:rPr>
              <a:t>Country packs for the UAE, KSA, Qatar, Kuwait, Oman, Bahrain and Libya  ·  Work permits, healthcare licences and any industry-grade permit</a:t>
            </a:r>
            <a:endParaRPr lang="en-US" sz="1000" dirty="0"/>
          </a:p>
        </p:txBody>
      </p:sp>
      <p:pic>
        <p:nvPicPr>
          <p:cNvPr id="64" name="Image 0" descr="./img/logo-white.png">    </p:cNvPr>
          <p:cNvPicPr>
            <a:picLocks noChangeAspect="1"/>
          </p:cNvPicPr>
          <p:nvPr/>
        </p:nvPicPr>
        <p:blipFill>
          <a:blip r:embed="rId1"/>
          <a:stretch>
            <a:fillRect/>
          </a:stretch>
        </p:blipFill>
        <p:spPr>
          <a:xfrm>
            <a:off x="9464040" y="5797296"/>
            <a:ext cx="1828800" cy="448056"/>
          </a:xfrm>
          <a:prstGeom prst="rect">
            <a:avLst/>
          </a:prstGeom>
        </p:spPr>
      </p:pic>
      <p:sp>
        <p:nvSpPr>
          <p:cNvPr id="65" name="Text 62"/>
          <p:cNvSpPr txBox="1"/>
          <p:nvPr/>
        </p:nvSpPr>
        <p:spPr>
          <a:xfrm>
            <a:off x="8778240" y="6327648"/>
            <a:ext cx="2514600" cy="201168"/>
          </a:xfrm>
          <a:prstGeom prst="rect">
            <a:avLst/>
          </a:prstGeom>
          <a:noFill/>
          <a:ln/>
        </p:spPr>
        <p:txBody>
          <a:bodyPr wrap="square" lIns="0" tIns="0" rIns="0" bIns="0" rtlCol="0" anchor="ctr"/>
          <a:lstStyle/>
          <a:p>
            <a:pPr algn="r" indent="0" marL="0">
              <a:buNone/>
            </a:pPr>
            <a:r>
              <a:rPr lang="en-US" sz="900" dirty="0">
                <a:solidFill>
                  <a:srgbClr val="7E99B4"/>
                </a:solidFill>
                <a:latin typeface="Calibri" pitchFamily="34" charset="0"/>
                <a:ea typeface="Calibri" pitchFamily="34" charset="-122"/>
                <a:cs typeface="Calibri" pitchFamily="34" charset="-120"/>
              </a:rPr>
              <a:t>info@inkitsolutions.com</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INK IT Business Solutions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Visa &amp; Permits Management on SAP BTP</dc:title>
  <dc:subject>PptxGenJS Presentation</dc:subject>
  <dc:creator>INK IT Business Solutions</dc:creator>
  <cp:lastModifiedBy>INK IT Business Solutions</cp:lastModifiedBy>
  <cp:revision>1</cp:revision>
  <dcterms:created xsi:type="dcterms:W3CDTF">2026-09-16T10:24:32Z</dcterms:created>
  <dcterms:modified xsi:type="dcterms:W3CDTF">2026-09-16T10:24:32Z</dcterms:modified>
</cp:coreProperties>
</file>