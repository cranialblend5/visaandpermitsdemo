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band. Saudi Arabia is the one GCC market where a compliance score decides whether you can hire at all, and that is the hook for both the HR buyer and the SAP account team. Everything else in the deck hangs off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which of the six they recognise. In Saudi engagements the answer is usually all of them, and number one is the one that gets a CHRO leaning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 in this deck are the application configured for Saudi Arabia. Say plainly that they are representative KSA screens rather than captures of a live Saudi tenant, and that the engine underneath is the one running in the UAE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with a mixed audience. Business people read the lanes, technical people read the arrows, and both end up at the same conclusion about where the risk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only land one slide with a Saudi customer, land this one. Every HR leader in the Kingdom has a story about someone who could not get back, and this is the slide where they tell it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deal widens. Visa tracking is a PRO-desk purchase; Nitaqat forecasting is a CHRO and CFO purchase, and it ties straight to Vision 2030 localisation commitments. For an SAP account team this is the slide that justifies the platform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 mixed audience, let people find their own row. The GRO row is the operational win; the Head of HR row is the one an SAP account executive should point at when the conversation turns to platform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buyers on one slide. The ladder is for the HR operations lead, the levy box is for the CFO. The levy is usually the number that turns this from a nice-to-have into a budgeted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technical slide. Walk the four sides, then land the dashed arrows. Being straight that government API access belongs to the employer is what earns credibility with a Saudi CIO, and it is the question they will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provisioning and the three questions a Saudi buyer always asks: where does the data sit, is there Arabic, and how long does it take. Have answers ready rather than promises.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E33"/>
        </a:solidFill>
      </p:bgPr>
    </p:bg>
    <p:spTree>
      <p:nvGrpSpPr>
        <p:cNvPr id="1" name=""/>
        <p:cNvGrpSpPr/>
        <p:nvPr/>
      </p:nvGrpSpPr>
      <p:grpSpPr>
        <a:xfrm>
          <a:off x="0" y="0"/>
          <a:ext cx="0" cy="0"/>
          <a:chOff x="0" y="0"/>
          <a:chExt cx="0" cy="0"/>
        </a:xfrm>
      </p:grpSpPr>
      <p:sp>
        <p:nvSpPr>
          <p:cNvPr id="2" name="Shape 0"/>
          <p:cNvSpPr/>
          <p:nvPr/>
        </p:nvSpPr>
        <p:spPr>
          <a:xfrm>
            <a:off x="8686800" y="-2011680"/>
            <a:ext cx="6949440" cy="6949440"/>
          </a:xfrm>
          <a:prstGeom prst="ellipse">
            <a:avLst/>
          </a:prstGeom>
          <a:solidFill>
            <a:srgbClr val="20A098">
              <a:alpha val="12000"/>
            </a:srgbClr>
          </a:solidFill>
          <a:ln/>
        </p:spPr>
      </p:sp>
      <p:sp>
        <p:nvSpPr>
          <p:cNvPr id="3" name="Shape 1"/>
          <p:cNvSpPr/>
          <p:nvPr/>
        </p:nvSpPr>
        <p:spPr>
          <a:xfrm>
            <a:off x="10058400" y="3108960"/>
            <a:ext cx="4754880" cy="4754880"/>
          </a:xfrm>
          <a:prstGeom prst="ellipse">
            <a:avLst/>
          </a:prstGeom>
          <a:solidFill>
            <a:srgbClr val="C9A227">
              <a:alpha val="8000"/>
            </a:srgbClr>
          </a:solidFill>
          <a:ln/>
        </p:spPr>
      </p:sp>
      <p:pic>
        <p:nvPicPr>
          <p:cNvPr id="4" name="Image 0" descr="./img/logo-white.png">    </p:cNvPr>
          <p:cNvPicPr>
            <a:picLocks noChangeAspect="1"/>
          </p:cNvPicPr>
          <p:nvPr/>
        </p:nvPicPr>
        <p:blipFill>
          <a:blip r:embed="rId1"/>
          <a:stretch>
            <a:fillRect/>
          </a:stretch>
        </p:blipFill>
        <p:spPr>
          <a:xfrm>
            <a:off x="658368" y="566928"/>
            <a:ext cx="2240280" cy="548640"/>
          </a:xfrm>
          <a:prstGeom prst="rect">
            <a:avLst/>
          </a:prstGeom>
        </p:spPr>
      </p:pic>
      <p:sp>
        <p:nvSpPr>
          <p:cNvPr id="5" name="Text 2"/>
          <p:cNvSpPr txBox="1"/>
          <p:nvPr/>
        </p:nvSpPr>
        <p:spPr>
          <a:xfrm>
            <a:off x="658368" y="1691640"/>
            <a:ext cx="7863840" cy="1737360"/>
          </a:xfrm>
          <a:prstGeom prst="rect">
            <a:avLst/>
          </a:prstGeom>
          <a:noFill/>
          <a:ln/>
        </p:spPr>
        <p:txBody>
          <a:bodyPr wrap="square" lIns="0" tIns="0" rIns="0" bIns="0" rtlCol="0" anchor="ctr"/>
          <a:lstStyle/>
          <a:p>
            <a:pPr indent="0" marL="0">
              <a:lnSpc>
                <a:spcPts val="5000"/>
              </a:lnSpc>
              <a:buNone/>
            </a:pPr>
            <a:r>
              <a:rPr lang="en-US" sz="4600" b="1" dirty="0">
                <a:solidFill>
                  <a:srgbClr val="FFFFFF"/>
                </a:solidFill>
                <a:latin typeface="Arial" pitchFamily="34" charset="0"/>
                <a:ea typeface="Arial" pitchFamily="34" charset="-122"/>
                <a:cs typeface="Arial" pitchFamily="34" charset="-120"/>
              </a:rPr>
              <a:t>Visa &amp; Permits</a:t>
            </a:r>
            <a:endParaRPr lang="en-US" sz="4600" dirty="0"/>
          </a:p>
          <a:p>
            <a:pPr indent="0" marL="0">
              <a:lnSpc>
                <a:spcPts val="5000"/>
              </a:lnSpc>
              <a:buNone/>
            </a:pPr>
            <a:r>
              <a:rPr lang="en-US" sz="4600" b="1" dirty="0">
                <a:solidFill>
                  <a:srgbClr val="FFFFFF"/>
                </a:solidFill>
                <a:latin typeface="Arial" pitchFamily="34" charset="0"/>
                <a:ea typeface="Arial" pitchFamily="34" charset="-122"/>
                <a:cs typeface="Arial" pitchFamily="34" charset="-120"/>
              </a:rPr>
              <a:t>Management</a:t>
            </a:r>
            <a:endParaRPr lang="en-US" sz="4600" dirty="0"/>
          </a:p>
        </p:txBody>
      </p:sp>
      <p:sp>
        <p:nvSpPr>
          <p:cNvPr id="6" name="Text 3"/>
          <p:cNvSpPr txBox="1"/>
          <p:nvPr/>
        </p:nvSpPr>
        <p:spPr>
          <a:xfrm>
            <a:off x="658368" y="3401568"/>
            <a:ext cx="7863840" cy="457200"/>
          </a:xfrm>
          <a:prstGeom prst="rect">
            <a:avLst/>
          </a:prstGeom>
          <a:noFill/>
          <a:ln/>
        </p:spPr>
        <p:txBody>
          <a:bodyPr wrap="square" lIns="0" tIns="0" rIns="0" bIns="0" rtlCol="0" anchor="ctr"/>
          <a:lstStyle/>
          <a:p>
            <a:pPr indent="0" marL="0">
              <a:buNone/>
            </a:pPr>
            <a:r>
              <a:rPr lang="en-US" sz="2800" b="1" dirty="0">
                <a:solidFill>
                  <a:srgbClr val="20A098"/>
                </a:solidFill>
                <a:latin typeface="Arial" pitchFamily="34" charset="0"/>
                <a:ea typeface="Arial" pitchFamily="34" charset="-122"/>
                <a:cs typeface="Arial" pitchFamily="34" charset="-120"/>
              </a:rPr>
              <a:t>Kingdom of Saudi Arabia</a:t>
            </a:r>
            <a:endParaRPr lang="en-US" sz="2800" dirty="0"/>
          </a:p>
        </p:txBody>
      </p:sp>
      <p:sp>
        <p:nvSpPr>
          <p:cNvPr id="7" name="Text 4"/>
          <p:cNvSpPr txBox="1"/>
          <p:nvPr/>
        </p:nvSpPr>
        <p:spPr>
          <a:xfrm>
            <a:off x="658368" y="3895344"/>
            <a:ext cx="7863840" cy="310896"/>
          </a:xfrm>
          <a:prstGeom prst="rect">
            <a:avLst/>
          </a:prstGeom>
          <a:noFill/>
          <a:ln/>
        </p:spPr>
        <p:txBody>
          <a:bodyPr wrap="square" lIns="0" tIns="0" rIns="0" bIns="0" rtlCol="0" anchor="ctr"/>
          <a:lstStyle/>
          <a:p>
            <a:pPr indent="0" marL="0">
              <a:buNone/>
            </a:pPr>
            <a:r>
              <a:rPr lang="en-US" sz="1600" b="1" dirty="0">
                <a:solidFill>
                  <a:srgbClr val="A9C2DA"/>
                </a:solidFill>
                <a:latin typeface="Calibri" pitchFamily="34" charset="0"/>
                <a:ea typeface="Calibri" pitchFamily="34" charset="-122"/>
                <a:cs typeface="Calibri" pitchFamily="34" charset="-120"/>
              </a:rPr>
              <a:t>Built on SAP BTP  ·  Qiwa, Muqeem and Absher in step</a:t>
            </a:r>
            <a:endParaRPr lang="en-US" sz="1600" dirty="0"/>
          </a:p>
        </p:txBody>
      </p:sp>
      <p:sp>
        <p:nvSpPr>
          <p:cNvPr id="8" name="Text 5"/>
          <p:cNvSpPr txBox="1"/>
          <p:nvPr/>
        </p:nvSpPr>
        <p:spPr>
          <a:xfrm>
            <a:off x="658368" y="4315968"/>
            <a:ext cx="7589520" cy="822960"/>
          </a:xfrm>
          <a:prstGeom prst="rect">
            <a:avLst/>
          </a:prstGeom>
          <a:noFill/>
          <a:ln/>
        </p:spPr>
        <p:txBody>
          <a:bodyPr wrap="square" lIns="0" tIns="0" rIns="0" bIns="0" rtlCol="0" anchor="ctr"/>
          <a:lstStyle/>
          <a:p>
            <a:pPr indent="0" marL="0">
              <a:lnSpc>
                <a:spcPts val="2100"/>
              </a:lnSpc>
              <a:buNone/>
            </a:pPr>
            <a:r>
              <a:rPr lang="en-US" sz="1400" dirty="0">
                <a:solidFill>
                  <a:srgbClr val="A9C2DA"/>
                </a:solidFill>
                <a:latin typeface="Calibri" pitchFamily="34" charset="0"/>
                <a:ea typeface="Calibri" pitchFamily="34" charset="-122"/>
                <a:cs typeface="Calibri" pitchFamily="34" charset="-120"/>
              </a:rPr>
              <a:t>Iqama lifecycle, exit and re-entry tracked to the day, and a live Nitaqat band position, so you know what you can do before Qiwa tells you what you cannot.</a:t>
            </a:r>
            <a:endParaRPr lang="en-US" sz="1400" dirty="0"/>
          </a:p>
        </p:txBody>
      </p:sp>
      <p:sp>
        <p:nvSpPr>
          <p:cNvPr id="9" name="Shape 6"/>
          <p:cNvSpPr/>
          <p:nvPr/>
        </p:nvSpPr>
        <p:spPr>
          <a:xfrm>
            <a:off x="658368" y="5266944"/>
            <a:ext cx="603504" cy="329184"/>
          </a:xfrm>
          <a:prstGeom prst="roundRect">
            <a:avLst>
              <a:gd name="adj" fmla="val 47222"/>
            </a:avLst>
          </a:prstGeom>
          <a:solidFill>
            <a:srgbClr val="16304C"/>
          </a:solidFill>
          <a:ln w="9525">
            <a:solidFill>
              <a:srgbClr val="2C4A6A"/>
            </a:solidFill>
            <a:prstDash val="solid"/>
          </a:ln>
        </p:spPr>
      </p:sp>
      <p:sp>
        <p:nvSpPr>
          <p:cNvPr id="10" name="Text 7"/>
          <p:cNvSpPr txBox="1"/>
          <p:nvPr/>
        </p:nvSpPr>
        <p:spPr>
          <a:xfrm>
            <a:off x="658368" y="5266944"/>
            <a:ext cx="603504" cy="329184"/>
          </a:xfrm>
          <a:prstGeom prst="rect">
            <a:avLst/>
          </a:prstGeom>
          <a:noFill/>
          <a:ln/>
        </p:spPr>
        <p:txBody>
          <a:bodyPr wrap="square" lIns="0" tIns="0" rIns="0" bIns="0" rtlCol="0" anchor="ctr"/>
          <a:lstStyle/>
          <a:p>
            <a:pPr algn="ctr" indent="0" marL="0">
              <a:buNone/>
            </a:pPr>
            <a:r>
              <a:rPr lang="en-US" sz="1150" b="1" dirty="0">
                <a:solidFill>
                  <a:srgbClr val="BFD6EC"/>
                </a:solidFill>
                <a:latin typeface="Calibri" pitchFamily="34" charset="0"/>
                <a:ea typeface="Calibri" pitchFamily="34" charset="-122"/>
                <a:cs typeface="Calibri" pitchFamily="34" charset="-120"/>
              </a:rPr>
              <a:t>Qiwa</a:t>
            </a:r>
            <a:endParaRPr lang="en-US" sz="1150" dirty="0"/>
          </a:p>
        </p:txBody>
      </p:sp>
      <p:sp>
        <p:nvSpPr>
          <p:cNvPr id="11" name="Shape 8"/>
          <p:cNvSpPr/>
          <p:nvPr/>
        </p:nvSpPr>
        <p:spPr>
          <a:xfrm>
            <a:off x="1389888" y="5266944"/>
            <a:ext cx="813816" cy="329184"/>
          </a:xfrm>
          <a:prstGeom prst="roundRect">
            <a:avLst>
              <a:gd name="adj" fmla="val 47222"/>
            </a:avLst>
          </a:prstGeom>
          <a:solidFill>
            <a:srgbClr val="16304C"/>
          </a:solidFill>
          <a:ln w="9525">
            <a:solidFill>
              <a:srgbClr val="2C4A6A"/>
            </a:solidFill>
            <a:prstDash val="solid"/>
          </a:ln>
        </p:spPr>
      </p:sp>
      <p:sp>
        <p:nvSpPr>
          <p:cNvPr id="12" name="Text 9"/>
          <p:cNvSpPr txBox="1"/>
          <p:nvPr/>
        </p:nvSpPr>
        <p:spPr>
          <a:xfrm>
            <a:off x="1389888" y="5266944"/>
            <a:ext cx="813816" cy="329184"/>
          </a:xfrm>
          <a:prstGeom prst="rect">
            <a:avLst/>
          </a:prstGeom>
          <a:noFill/>
          <a:ln/>
        </p:spPr>
        <p:txBody>
          <a:bodyPr wrap="square" lIns="0" tIns="0" rIns="0" bIns="0" rtlCol="0" anchor="ctr"/>
          <a:lstStyle/>
          <a:p>
            <a:pPr algn="ctr" indent="0" marL="0">
              <a:buNone/>
            </a:pPr>
            <a:r>
              <a:rPr lang="en-US" sz="1150" b="1" dirty="0">
                <a:solidFill>
                  <a:srgbClr val="BFD6EC"/>
                </a:solidFill>
                <a:latin typeface="Calibri" pitchFamily="34" charset="0"/>
                <a:ea typeface="Calibri" pitchFamily="34" charset="-122"/>
                <a:cs typeface="Calibri" pitchFamily="34" charset="-120"/>
              </a:rPr>
              <a:t>Muqeem</a:t>
            </a:r>
            <a:endParaRPr lang="en-US" sz="1150" dirty="0"/>
          </a:p>
        </p:txBody>
      </p:sp>
      <p:sp>
        <p:nvSpPr>
          <p:cNvPr id="13" name="Shape 10"/>
          <p:cNvSpPr/>
          <p:nvPr/>
        </p:nvSpPr>
        <p:spPr>
          <a:xfrm>
            <a:off x="2331720" y="5266944"/>
            <a:ext cx="813816" cy="329184"/>
          </a:xfrm>
          <a:prstGeom prst="roundRect">
            <a:avLst>
              <a:gd name="adj" fmla="val 47222"/>
            </a:avLst>
          </a:prstGeom>
          <a:solidFill>
            <a:srgbClr val="16304C"/>
          </a:solidFill>
          <a:ln w="9525">
            <a:solidFill>
              <a:srgbClr val="2C4A6A"/>
            </a:solidFill>
            <a:prstDash val="solid"/>
          </a:ln>
        </p:spPr>
      </p:sp>
      <p:sp>
        <p:nvSpPr>
          <p:cNvPr id="14" name="Text 11"/>
          <p:cNvSpPr txBox="1"/>
          <p:nvPr/>
        </p:nvSpPr>
        <p:spPr>
          <a:xfrm>
            <a:off x="2331720" y="5266944"/>
            <a:ext cx="813816" cy="329184"/>
          </a:xfrm>
          <a:prstGeom prst="rect">
            <a:avLst/>
          </a:prstGeom>
          <a:noFill/>
          <a:ln/>
        </p:spPr>
        <p:txBody>
          <a:bodyPr wrap="square" lIns="0" tIns="0" rIns="0" bIns="0" rtlCol="0" anchor="ctr"/>
          <a:lstStyle/>
          <a:p>
            <a:pPr algn="ctr" indent="0" marL="0">
              <a:buNone/>
            </a:pPr>
            <a:r>
              <a:rPr lang="en-US" sz="1150" b="1" dirty="0">
                <a:solidFill>
                  <a:srgbClr val="BFD6EC"/>
                </a:solidFill>
                <a:latin typeface="Calibri" pitchFamily="34" charset="0"/>
                <a:ea typeface="Calibri" pitchFamily="34" charset="-122"/>
                <a:cs typeface="Calibri" pitchFamily="34" charset="-120"/>
              </a:rPr>
              <a:t>Absher</a:t>
            </a:r>
            <a:endParaRPr lang="en-US" sz="1150" dirty="0"/>
          </a:p>
        </p:txBody>
      </p:sp>
      <p:sp>
        <p:nvSpPr>
          <p:cNvPr id="15" name="Shape 12"/>
          <p:cNvSpPr/>
          <p:nvPr/>
        </p:nvSpPr>
        <p:spPr>
          <a:xfrm>
            <a:off x="3273552" y="5266944"/>
            <a:ext cx="603504" cy="329184"/>
          </a:xfrm>
          <a:prstGeom prst="roundRect">
            <a:avLst>
              <a:gd name="adj" fmla="val 47222"/>
            </a:avLst>
          </a:prstGeom>
          <a:solidFill>
            <a:srgbClr val="16304C"/>
          </a:solidFill>
          <a:ln w="9525">
            <a:solidFill>
              <a:srgbClr val="2C4A6A"/>
            </a:solidFill>
            <a:prstDash val="solid"/>
          </a:ln>
        </p:spPr>
      </p:sp>
      <p:sp>
        <p:nvSpPr>
          <p:cNvPr id="16" name="Text 13"/>
          <p:cNvSpPr txBox="1"/>
          <p:nvPr/>
        </p:nvSpPr>
        <p:spPr>
          <a:xfrm>
            <a:off x="3273552" y="5266944"/>
            <a:ext cx="603504" cy="329184"/>
          </a:xfrm>
          <a:prstGeom prst="rect">
            <a:avLst/>
          </a:prstGeom>
          <a:noFill/>
          <a:ln/>
        </p:spPr>
        <p:txBody>
          <a:bodyPr wrap="square" lIns="0" tIns="0" rIns="0" bIns="0" rtlCol="0" anchor="ctr"/>
          <a:lstStyle/>
          <a:p>
            <a:pPr algn="ctr" indent="0" marL="0">
              <a:buNone/>
            </a:pPr>
            <a:r>
              <a:rPr lang="en-US" sz="1150" b="1" dirty="0">
                <a:solidFill>
                  <a:srgbClr val="BFD6EC"/>
                </a:solidFill>
                <a:latin typeface="Calibri" pitchFamily="34" charset="0"/>
                <a:ea typeface="Calibri" pitchFamily="34" charset="-122"/>
                <a:cs typeface="Calibri" pitchFamily="34" charset="-120"/>
              </a:rPr>
              <a:t>GOSI</a:t>
            </a:r>
            <a:endParaRPr lang="en-US" sz="1150" dirty="0"/>
          </a:p>
        </p:txBody>
      </p:sp>
      <p:sp>
        <p:nvSpPr>
          <p:cNvPr id="17" name="Shape 14"/>
          <p:cNvSpPr/>
          <p:nvPr/>
        </p:nvSpPr>
        <p:spPr>
          <a:xfrm>
            <a:off x="4005072" y="5266944"/>
            <a:ext cx="708660" cy="329184"/>
          </a:xfrm>
          <a:prstGeom prst="roundRect">
            <a:avLst>
              <a:gd name="adj" fmla="val 47222"/>
            </a:avLst>
          </a:prstGeom>
          <a:solidFill>
            <a:srgbClr val="16304C"/>
          </a:solidFill>
          <a:ln w="9525">
            <a:solidFill>
              <a:srgbClr val="2C4A6A"/>
            </a:solidFill>
            <a:prstDash val="solid"/>
          </a:ln>
        </p:spPr>
      </p:sp>
      <p:sp>
        <p:nvSpPr>
          <p:cNvPr id="18" name="Text 15"/>
          <p:cNvSpPr txBox="1"/>
          <p:nvPr/>
        </p:nvSpPr>
        <p:spPr>
          <a:xfrm>
            <a:off x="4005072" y="5266944"/>
            <a:ext cx="708660" cy="329184"/>
          </a:xfrm>
          <a:prstGeom prst="rect">
            <a:avLst/>
          </a:prstGeom>
          <a:noFill/>
          <a:ln/>
        </p:spPr>
        <p:txBody>
          <a:bodyPr wrap="square" lIns="0" tIns="0" rIns="0" bIns="0" rtlCol="0" anchor="ctr"/>
          <a:lstStyle/>
          <a:p>
            <a:pPr algn="ctr" indent="0" marL="0">
              <a:buNone/>
            </a:pPr>
            <a:r>
              <a:rPr lang="en-US" sz="1150" b="1" dirty="0">
                <a:solidFill>
                  <a:srgbClr val="BFD6EC"/>
                </a:solidFill>
                <a:latin typeface="Calibri" pitchFamily="34" charset="0"/>
                <a:ea typeface="Calibri" pitchFamily="34" charset="-122"/>
                <a:cs typeface="Calibri" pitchFamily="34" charset="-120"/>
              </a:rPr>
              <a:t>Mudad</a:t>
            </a:r>
            <a:endParaRPr lang="en-US" sz="1150" dirty="0"/>
          </a:p>
        </p:txBody>
      </p:sp>
      <p:sp>
        <p:nvSpPr>
          <p:cNvPr id="19" name="Shape 16"/>
          <p:cNvSpPr/>
          <p:nvPr/>
        </p:nvSpPr>
        <p:spPr>
          <a:xfrm>
            <a:off x="4841748" y="5266944"/>
            <a:ext cx="708660" cy="329184"/>
          </a:xfrm>
          <a:prstGeom prst="roundRect">
            <a:avLst>
              <a:gd name="adj" fmla="val 47222"/>
            </a:avLst>
          </a:prstGeom>
          <a:solidFill>
            <a:srgbClr val="16304C"/>
          </a:solidFill>
          <a:ln w="9525">
            <a:solidFill>
              <a:srgbClr val="2C4A6A"/>
            </a:solidFill>
            <a:prstDash val="solid"/>
          </a:ln>
        </p:spPr>
      </p:sp>
      <p:sp>
        <p:nvSpPr>
          <p:cNvPr id="20" name="Text 17"/>
          <p:cNvSpPr txBox="1"/>
          <p:nvPr/>
        </p:nvSpPr>
        <p:spPr>
          <a:xfrm>
            <a:off x="4841748" y="5266944"/>
            <a:ext cx="708660" cy="329184"/>
          </a:xfrm>
          <a:prstGeom prst="rect">
            <a:avLst/>
          </a:prstGeom>
          <a:noFill/>
          <a:ln/>
        </p:spPr>
        <p:txBody>
          <a:bodyPr wrap="square" lIns="0" tIns="0" rIns="0" bIns="0" rtlCol="0" anchor="ctr"/>
          <a:lstStyle/>
          <a:p>
            <a:pPr algn="ctr" indent="0" marL="0">
              <a:buNone/>
            </a:pPr>
            <a:r>
              <a:rPr lang="en-US" sz="1150" b="1" dirty="0">
                <a:solidFill>
                  <a:srgbClr val="BFD6EC"/>
                </a:solidFill>
                <a:latin typeface="Calibri" pitchFamily="34" charset="0"/>
                <a:ea typeface="Calibri" pitchFamily="34" charset="-122"/>
                <a:cs typeface="Calibri" pitchFamily="34" charset="-120"/>
              </a:rPr>
              <a:t>SCFHS</a:t>
            </a:r>
            <a:endParaRPr lang="en-US" sz="1150" dirty="0"/>
          </a:p>
        </p:txBody>
      </p:sp>
      <p:sp>
        <p:nvSpPr>
          <p:cNvPr id="21" name="Shape 18"/>
          <p:cNvSpPr/>
          <p:nvPr/>
        </p:nvSpPr>
        <p:spPr>
          <a:xfrm>
            <a:off x="5678424" y="5266944"/>
            <a:ext cx="708660" cy="329184"/>
          </a:xfrm>
          <a:prstGeom prst="roundRect">
            <a:avLst>
              <a:gd name="adj" fmla="val 47222"/>
            </a:avLst>
          </a:prstGeom>
          <a:solidFill>
            <a:srgbClr val="16304C"/>
          </a:solidFill>
          <a:ln w="9525">
            <a:solidFill>
              <a:srgbClr val="2C4A6A"/>
            </a:solidFill>
            <a:prstDash val="solid"/>
          </a:ln>
        </p:spPr>
      </p:sp>
      <p:sp>
        <p:nvSpPr>
          <p:cNvPr id="22" name="Text 19"/>
          <p:cNvSpPr txBox="1"/>
          <p:nvPr/>
        </p:nvSpPr>
        <p:spPr>
          <a:xfrm>
            <a:off x="5678424" y="5266944"/>
            <a:ext cx="708660" cy="329184"/>
          </a:xfrm>
          <a:prstGeom prst="rect">
            <a:avLst/>
          </a:prstGeom>
          <a:noFill/>
          <a:ln/>
        </p:spPr>
        <p:txBody>
          <a:bodyPr wrap="square" lIns="0" tIns="0" rIns="0" bIns="0" rtlCol="0" anchor="ctr"/>
          <a:lstStyle/>
          <a:p>
            <a:pPr algn="ctr" indent="0" marL="0">
              <a:buNone/>
            </a:pPr>
            <a:r>
              <a:rPr lang="en-US" sz="1150" b="1" dirty="0">
                <a:solidFill>
                  <a:srgbClr val="BFD6EC"/>
                </a:solidFill>
                <a:latin typeface="Calibri" pitchFamily="34" charset="0"/>
                <a:ea typeface="Calibri" pitchFamily="34" charset="-122"/>
                <a:cs typeface="Calibri" pitchFamily="34" charset="-120"/>
              </a:rPr>
              <a:t>Enjaz</a:t>
            </a:r>
            <a:endParaRPr lang="en-US" sz="1150" dirty="0"/>
          </a:p>
        </p:txBody>
      </p:sp>
      <p:sp>
        <p:nvSpPr>
          <p:cNvPr id="23" name="Text 20"/>
          <p:cNvSpPr txBox="1"/>
          <p:nvPr/>
        </p:nvSpPr>
        <p:spPr>
          <a:xfrm>
            <a:off x="658368" y="5797296"/>
            <a:ext cx="8229600" cy="274320"/>
          </a:xfrm>
          <a:prstGeom prst="rect">
            <a:avLst/>
          </a:prstGeom>
          <a:noFill/>
          <a:ln/>
        </p:spPr>
        <p:txBody>
          <a:bodyPr wrap="square" lIns="0" tIns="0" rIns="0" bIns="0" rtlCol="0" anchor="ctr"/>
          <a:lstStyle/>
          <a:p>
            <a:pPr indent="0" marL="0">
              <a:buNone/>
            </a:pPr>
            <a:r>
              <a:rPr lang="en-US" sz="1200" dirty="0">
                <a:solidFill>
                  <a:srgbClr val="7E99B4"/>
                </a:solidFill>
                <a:latin typeface="Calibri" pitchFamily="34" charset="0"/>
                <a:ea typeface="Calibri" pitchFamily="34" charset="-122"/>
                <a:cs typeface="Calibri" pitchFamily="34" charset="-120"/>
              </a:rPr>
              <a:t>Saudization  ·  Healthcare licensing  ·  SAP SuccessFactors integrated</a:t>
            </a:r>
            <a:endParaRPr lang="en-US" sz="1200" dirty="0"/>
          </a:p>
        </p:txBody>
      </p:sp>
      <p:sp>
        <p:nvSpPr>
          <p:cNvPr id="24" name="Text 21"/>
          <p:cNvSpPr txBox="1"/>
          <p:nvPr/>
        </p:nvSpPr>
        <p:spPr>
          <a:xfrm>
            <a:off x="658368" y="6236208"/>
            <a:ext cx="8229600" cy="274320"/>
          </a:xfrm>
          <a:prstGeom prst="rect">
            <a:avLst/>
          </a:prstGeom>
          <a:noFill/>
          <a:ln/>
        </p:spPr>
        <p:txBody>
          <a:bodyPr wrap="square" lIns="0" tIns="0" rIns="0" bIns="0" rtlCol="0" anchor="ctr"/>
          <a:lstStyle/>
          <a:p>
            <a:pPr indent="0" marL="0">
              <a:buNone/>
            </a:pPr>
            <a:r>
              <a:rPr lang="en-US" sz="1050" i="1" dirty="0">
                <a:solidFill>
                  <a:srgbClr val="6C87A2"/>
                </a:solidFill>
                <a:latin typeface="Calibri" pitchFamily="34" charset="0"/>
                <a:ea typeface="Calibri" pitchFamily="34" charset="-122"/>
                <a:cs typeface="Calibri" pitchFamily="34" charset="-120"/>
              </a:rPr>
              <a:t>An overview for SAP account teams and enterprise customers in the Kingdom</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02336"/>
            <a:ext cx="11064240" cy="237744"/>
          </a:xfrm>
          <a:prstGeom prst="rect">
            <a:avLst/>
          </a:prstGeom>
          <a:noFill/>
          <a:ln/>
        </p:spPr>
        <p:txBody>
          <a:bodyPr wrap="square" lIns="0" tIns="0" rIns="0" bIns="0" rtlCol="0" anchor="ctr"/>
          <a:lstStyle/>
          <a:p>
            <a:pPr indent="0" marL="0">
              <a:buNone/>
            </a:pPr>
            <a:r>
              <a:rPr lang="en-US" sz="1100" b="1" spc="220" kern="0" dirty="0">
                <a:solidFill>
                  <a:srgbClr val="20A098"/>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0C1E33"/>
                </a:solidFill>
                <a:latin typeface="Arial" pitchFamily="34" charset="0"/>
                <a:ea typeface="Arial" pitchFamily="34" charset="-122"/>
                <a:cs typeface="Arial" pitchFamily="34" charset="-120"/>
              </a:rPr>
              <a:t>Three systems, one employee, nobody joining them up.</a:t>
            </a:r>
            <a:endParaRPr lang="en-US" sz="3000" dirty="0"/>
          </a:p>
        </p:txBody>
      </p:sp>
      <p:sp>
        <p:nvSpPr>
          <p:cNvPr id="4" name="Text 2"/>
          <p:cNvSpPr txBox="1"/>
          <p:nvPr/>
        </p:nvSpPr>
        <p:spPr>
          <a:xfrm>
            <a:off x="548640" y="1243584"/>
            <a:ext cx="10424160" cy="457200"/>
          </a:xfrm>
          <a:prstGeom prst="rect">
            <a:avLst/>
          </a:prstGeom>
          <a:noFill/>
          <a:ln/>
        </p:spPr>
        <p:txBody>
          <a:bodyPr wrap="square" lIns="0" tIns="0" rIns="0" bIns="0" rtlCol="0" anchor="ctr"/>
          <a:lstStyle/>
          <a:p>
            <a:pPr indent="0" marL="0">
              <a:lnSpc>
                <a:spcPts val="1900"/>
              </a:lnSpc>
              <a:buNone/>
            </a:pPr>
            <a:r>
              <a:rPr lang="en-US" sz="1350" dirty="0">
                <a:solidFill>
                  <a:srgbClr val="5A6C82"/>
                </a:solidFill>
                <a:latin typeface="Calibri" pitchFamily="34" charset="0"/>
                <a:ea typeface="Calibri" pitchFamily="34" charset="-122"/>
                <a:cs typeface="Calibri" pitchFamily="34" charset="-120"/>
              </a:rPr>
              <a:t>Saudi Arabia is the hardest GCC market to govern, and not because the rules are unclear. The rules live in three places, each with its own clock, and one of them can switch the others off.</a:t>
            </a:r>
            <a:endParaRPr lang="en-US" sz="1350" dirty="0"/>
          </a:p>
        </p:txBody>
      </p:sp>
      <p:sp>
        <p:nvSpPr>
          <p:cNvPr id="5" name="Shape 3"/>
          <p:cNvSpPr/>
          <p:nvPr/>
        </p:nvSpPr>
        <p:spPr>
          <a:xfrm>
            <a:off x="548640" y="1874520"/>
            <a:ext cx="3502152" cy="1755648"/>
          </a:xfrm>
          <a:prstGeom prst="roundRect">
            <a:avLst>
              <a:gd name="adj" fmla="val 4167"/>
            </a:avLst>
          </a:prstGeom>
          <a:solidFill>
            <a:srgbClr val="F4F6F7"/>
          </a:solidFill>
          <a:ln w="9525">
            <a:solidFill>
              <a:srgbClr val="E3E7EA"/>
            </a:solidFill>
            <a:prstDash val="solid"/>
          </a:ln>
        </p:spPr>
      </p:sp>
      <p:sp>
        <p:nvSpPr>
          <p:cNvPr id="6" name="Shape 4"/>
          <p:cNvSpPr/>
          <p:nvPr/>
        </p:nvSpPr>
        <p:spPr>
          <a:xfrm>
            <a:off x="768096" y="2093976"/>
            <a:ext cx="384048" cy="384048"/>
          </a:xfrm>
          <a:prstGeom prst="ellipse">
            <a:avLst/>
          </a:prstGeom>
          <a:solidFill>
            <a:srgbClr val="20A098"/>
          </a:solidFill>
          <a:ln/>
        </p:spPr>
      </p:sp>
      <p:sp>
        <p:nvSpPr>
          <p:cNvPr id="7" name="Text 5"/>
          <p:cNvSpPr txBox="1"/>
          <p:nvPr/>
        </p:nvSpPr>
        <p:spPr>
          <a:xfrm>
            <a:off x="768096" y="20939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8" name="Text 6"/>
          <p:cNvSpPr txBox="1"/>
          <p:nvPr/>
        </p:nvSpPr>
        <p:spPr>
          <a:xfrm>
            <a:off x="1261872" y="2112264"/>
            <a:ext cx="2569464" cy="384048"/>
          </a:xfrm>
          <a:prstGeom prst="rect">
            <a:avLst/>
          </a:prstGeom>
          <a:noFill/>
          <a:ln/>
        </p:spPr>
        <p:txBody>
          <a:bodyPr wrap="square" lIns="0" tIns="0" rIns="0" bIns="0" rtlCol="0" anchor="t"/>
          <a:lstStyle/>
          <a:p>
            <a:pPr indent="0" marL="0">
              <a:buNone/>
            </a:pPr>
            <a:r>
              <a:rPr lang="en-US" sz="1300" b="1" dirty="0">
                <a:solidFill>
                  <a:srgbClr val="0C1E33"/>
                </a:solidFill>
                <a:latin typeface="Arial" pitchFamily="34" charset="0"/>
                <a:ea typeface="Arial" pitchFamily="34" charset="-122"/>
                <a:cs typeface="Arial" pitchFamily="34" charset="-120"/>
              </a:rPr>
              <a:t>The band gates everything</a:t>
            </a:r>
            <a:endParaRPr lang="en-US" sz="1300" dirty="0"/>
          </a:p>
        </p:txBody>
      </p:sp>
      <p:sp>
        <p:nvSpPr>
          <p:cNvPr id="9" name="Text 7"/>
          <p:cNvSpPr txBox="1"/>
          <p:nvPr/>
        </p:nvSpPr>
        <p:spPr>
          <a:xfrm>
            <a:off x="768096" y="2624328"/>
            <a:ext cx="3063240" cy="877824"/>
          </a:xfrm>
          <a:prstGeom prst="rect">
            <a:avLst/>
          </a:prstGeom>
          <a:noFill/>
          <a:ln/>
        </p:spPr>
        <p:txBody>
          <a:bodyPr wrap="square" lIns="0" tIns="0" rIns="0" bIns="0" rtlCol="0" anchor="ctr"/>
          <a:lstStyle/>
          <a:p>
            <a:pPr indent="0" marL="0">
              <a:lnSpc>
                <a:spcPts val="1500"/>
              </a:lnSpc>
              <a:buNone/>
            </a:pPr>
            <a:r>
              <a:rPr lang="en-US" sz="1050" dirty="0">
                <a:solidFill>
                  <a:srgbClr val="5A6C82"/>
                </a:solidFill>
                <a:latin typeface="Calibri" pitchFamily="34" charset="0"/>
                <a:ea typeface="Calibri" pitchFamily="34" charset="-122"/>
                <a:cs typeface="Calibri" pitchFamily="34" charset="-120"/>
              </a:rPr>
              <a:t>Drop a Nitaqat band and block visas stop, Iqama renewals stop, transfers stop. Most companies find out after it happens, from a rejection in Qiwa.</a:t>
            </a:r>
            <a:endParaRPr lang="en-US" sz="1050" dirty="0"/>
          </a:p>
        </p:txBody>
      </p:sp>
      <p:sp>
        <p:nvSpPr>
          <p:cNvPr id="10" name="Shape 8"/>
          <p:cNvSpPr/>
          <p:nvPr/>
        </p:nvSpPr>
        <p:spPr>
          <a:xfrm>
            <a:off x="4334256" y="1874520"/>
            <a:ext cx="3502152" cy="1755648"/>
          </a:xfrm>
          <a:prstGeom prst="roundRect">
            <a:avLst>
              <a:gd name="adj" fmla="val 4167"/>
            </a:avLst>
          </a:prstGeom>
          <a:solidFill>
            <a:srgbClr val="F4F6F7"/>
          </a:solidFill>
          <a:ln w="9525">
            <a:solidFill>
              <a:srgbClr val="E3E7EA"/>
            </a:solidFill>
            <a:prstDash val="solid"/>
          </a:ln>
        </p:spPr>
      </p:sp>
      <p:sp>
        <p:nvSpPr>
          <p:cNvPr id="11" name="Shape 9"/>
          <p:cNvSpPr/>
          <p:nvPr/>
        </p:nvSpPr>
        <p:spPr>
          <a:xfrm>
            <a:off x="4553712" y="2093976"/>
            <a:ext cx="384048" cy="384048"/>
          </a:xfrm>
          <a:prstGeom prst="ellipse">
            <a:avLst/>
          </a:prstGeom>
          <a:solidFill>
            <a:srgbClr val="20A098"/>
          </a:solidFill>
          <a:ln/>
        </p:spPr>
      </p:sp>
      <p:sp>
        <p:nvSpPr>
          <p:cNvPr id="12" name="Text 10"/>
          <p:cNvSpPr txBox="1"/>
          <p:nvPr/>
        </p:nvSpPr>
        <p:spPr>
          <a:xfrm>
            <a:off x="4553712" y="20939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3" name="Text 11"/>
          <p:cNvSpPr txBox="1"/>
          <p:nvPr/>
        </p:nvSpPr>
        <p:spPr>
          <a:xfrm>
            <a:off x="5047488" y="2112264"/>
            <a:ext cx="2569464" cy="384048"/>
          </a:xfrm>
          <a:prstGeom prst="rect">
            <a:avLst/>
          </a:prstGeom>
          <a:noFill/>
          <a:ln/>
        </p:spPr>
        <p:txBody>
          <a:bodyPr wrap="square" lIns="0" tIns="0" rIns="0" bIns="0" rtlCol="0" anchor="t"/>
          <a:lstStyle/>
          <a:p>
            <a:pPr indent="0" marL="0">
              <a:buNone/>
            </a:pPr>
            <a:r>
              <a:rPr lang="en-US" sz="1300" b="1" dirty="0">
                <a:solidFill>
                  <a:srgbClr val="0C1E33"/>
                </a:solidFill>
                <a:latin typeface="Arial" pitchFamily="34" charset="0"/>
                <a:ea typeface="Arial" pitchFamily="34" charset="-122"/>
                <a:cs typeface="Arial" pitchFamily="34" charset="-120"/>
              </a:rPr>
              <a:t>The 90-day clock starts on arrival</a:t>
            </a:r>
            <a:endParaRPr lang="en-US" sz="1300" dirty="0"/>
          </a:p>
        </p:txBody>
      </p:sp>
      <p:sp>
        <p:nvSpPr>
          <p:cNvPr id="14" name="Text 12"/>
          <p:cNvSpPr txBox="1"/>
          <p:nvPr/>
        </p:nvSpPr>
        <p:spPr>
          <a:xfrm>
            <a:off x="4553712" y="2624328"/>
            <a:ext cx="3063240" cy="877824"/>
          </a:xfrm>
          <a:prstGeom prst="rect">
            <a:avLst/>
          </a:prstGeom>
          <a:noFill/>
          <a:ln/>
        </p:spPr>
        <p:txBody>
          <a:bodyPr wrap="square" lIns="0" tIns="0" rIns="0" bIns="0" rtlCol="0" anchor="ctr"/>
          <a:lstStyle/>
          <a:p>
            <a:pPr indent="0" marL="0">
              <a:lnSpc>
                <a:spcPts val="1500"/>
              </a:lnSpc>
              <a:buNone/>
            </a:pPr>
            <a:r>
              <a:rPr lang="en-US" sz="1050" dirty="0">
                <a:solidFill>
                  <a:srgbClr val="5A6C82"/>
                </a:solidFill>
                <a:latin typeface="Calibri" pitchFamily="34" charset="0"/>
                <a:ea typeface="Calibri" pitchFamily="34" charset="-122"/>
                <a:cs typeface="Calibri" pitchFamily="34" charset="-120"/>
              </a:rPr>
              <a:t>An employee lands and a statutory window opens to issue the Iqama. Nobody is counting it for you, and the penalty is not a warning letter.</a:t>
            </a:r>
            <a:endParaRPr lang="en-US" sz="1050" dirty="0"/>
          </a:p>
        </p:txBody>
      </p:sp>
      <p:sp>
        <p:nvSpPr>
          <p:cNvPr id="15" name="Shape 13"/>
          <p:cNvSpPr/>
          <p:nvPr/>
        </p:nvSpPr>
        <p:spPr>
          <a:xfrm>
            <a:off x="8119872" y="1874520"/>
            <a:ext cx="3502152" cy="1755648"/>
          </a:xfrm>
          <a:prstGeom prst="roundRect">
            <a:avLst>
              <a:gd name="adj" fmla="val 4167"/>
            </a:avLst>
          </a:prstGeom>
          <a:solidFill>
            <a:srgbClr val="F4F6F7"/>
          </a:solidFill>
          <a:ln w="9525">
            <a:solidFill>
              <a:srgbClr val="E3E7EA"/>
            </a:solidFill>
            <a:prstDash val="solid"/>
          </a:ln>
        </p:spPr>
      </p:sp>
      <p:sp>
        <p:nvSpPr>
          <p:cNvPr id="16" name="Shape 14"/>
          <p:cNvSpPr/>
          <p:nvPr/>
        </p:nvSpPr>
        <p:spPr>
          <a:xfrm>
            <a:off x="8339328" y="2093976"/>
            <a:ext cx="384048" cy="384048"/>
          </a:xfrm>
          <a:prstGeom prst="ellipse">
            <a:avLst/>
          </a:prstGeom>
          <a:solidFill>
            <a:srgbClr val="20A098"/>
          </a:solidFill>
          <a:ln/>
        </p:spPr>
      </p:sp>
      <p:sp>
        <p:nvSpPr>
          <p:cNvPr id="17" name="Text 15"/>
          <p:cNvSpPr txBox="1"/>
          <p:nvPr/>
        </p:nvSpPr>
        <p:spPr>
          <a:xfrm>
            <a:off x="8339328" y="20939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8" name="Text 16"/>
          <p:cNvSpPr txBox="1"/>
          <p:nvPr/>
        </p:nvSpPr>
        <p:spPr>
          <a:xfrm>
            <a:off x="8833104" y="2112264"/>
            <a:ext cx="2569464" cy="384048"/>
          </a:xfrm>
          <a:prstGeom prst="rect">
            <a:avLst/>
          </a:prstGeom>
          <a:noFill/>
          <a:ln/>
        </p:spPr>
        <p:txBody>
          <a:bodyPr wrap="square" lIns="0" tIns="0" rIns="0" bIns="0" rtlCol="0" anchor="t"/>
          <a:lstStyle/>
          <a:p>
            <a:pPr indent="0" marL="0">
              <a:buNone/>
            </a:pPr>
            <a:r>
              <a:rPr lang="en-US" sz="1300" b="1" dirty="0">
                <a:solidFill>
                  <a:srgbClr val="0C1E33"/>
                </a:solidFill>
                <a:latin typeface="Arial" pitchFamily="34" charset="0"/>
                <a:ea typeface="Arial" pitchFamily="34" charset="-122"/>
                <a:cs typeface="Arial" pitchFamily="34" charset="-120"/>
              </a:rPr>
              <a:t>Exit re-entry is a trap</a:t>
            </a:r>
            <a:endParaRPr lang="en-US" sz="1300" dirty="0"/>
          </a:p>
        </p:txBody>
      </p:sp>
      <p:sp>
        <p:nvSpPr>
          <p:cNvPr id="19" name="Text 17"/>
          <p:cNvSpPr txBox="1"/>
          <p:nvPr/>
        </p:nvSpPr>
        <p:spPr>
          <a:xfrm>
            <a:off x="8339328" y="2624328"/>
            <a:ext cx="3063240" cy="877824"/>
          </a:xfrm>
          <a:prstGeom prst="rect">
            <a:avLst/>
          </a:prstGeom>
          <a:noFill/>
          <a:ln/>
        </p:spPr>
        <p:txBody>
          <a:bodyPr wrap="square" lIns="0" tIns="0" rIns="0" bIns="0" rtlCol="0" anchor="ctr"/>
          <a:lstStyle/>
          <a:p>
            <a:pPr indent="0" marL="0">
              <a:lnSpc>
                <a:spcPts val="1500"/>
              </a:lnSpc>
              <a:buNone/>
            </a:pPr>
            <a:r>
              <a:rPr lang="en-US" sz="1050" dirty="0">
                <a:solidFill>
                  <a:srgbClr val="5A6C82"/>
                </a:solidFill>
                <a:latin typeface="Calibri" pitchFamily="34" charset="0"/>
                <a:ea typeface="Calibri" pitchFamily="34" charset="-122"/>
                <a:cs typeface="Calibri" pitchFamily="34" charset="-120"/>
              </a:rPr>
              <a:t>Someone travels, the visa expires while they are away, the Iqama is cancelled. They cannot come back. The most expensive admin mistake in the Kingdom.</a:t>
            </a:r>
            <a:endParaRPr lang="en-US" sz="1050" dirty="0"/>
          </a:p>
        </p:txBody>
      </p:sp>
      <p:sp>
        <p:nvSpPr>
          <p:cNvPr id="20" name="Shape 18"/>
          <p:cNvSpPr/>
          <p:nvPr/>
        </p:nvSpPr>
        <p:spPr>
          <a:xfrm>
            <a:off x="548640" y="3886200"/>
            <a:ext cx="3502152" cy="1755648"/>
          </a:xfrm>
          <a:prstGeom prst="roundRect">
            <a:avLst>
              <a:gd name="adj" fmla="val 4167"/>
            </a:avLst>
          </a:prstGeom>
          <a:solidFill>
            <a:srgbClr val="F4F6F7"/>
          </a:solidFill>
          <a:ln w="9525">
            <a:solidFill>
              <a:srgbClr val="E3E7EA"/>
            </a:solidFill>
            <a:prstDash val="solid"/>
          </a:ln>
        </p:spPr>
      </p:sp>
      <p:sp>
        <p:nvSpPr>
          <p:cNvPr id="21" name="Shape 19"/>
          <p:cNvSpPr/>
          <p:nvPr/>
        </p:nvSpPr>
        <p:spPr>
          <a:xfrm>
            <a:off x="768096" y="4105656"/>
            <a:ext cx="384048" cy="384048"/>
          </a:xfrm>
          <a:prstGeom prst="ellipse">
            <a:avLst/>
          </a:prstGeom>
          <a:solidFill>
            <a:srgbClr val="20A098"/>
          </a:solidFill>
          <a:ln/>
        </p:spPr>
      </p:sp>
      <p:sp>
        <p:nvSpPr>
          <p:cNvPr id="22" name="Text 20"/>
          <p:cNvSpPr txBox="1"/>
          <p:nvPr/>
        </p:nvSpPr>
        <p:spPr>
          <a:xfrm>
            <a:off x="768096" y="41056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3" name="Text 21"/>
          <p:cNvSpPr txBox="1"/>
          <p:nvPr/>
        </p:nvSpPr>
        <p:spPr>
          <a:xfrm>
            <a:off x="1261872" y="4123944"/>
            <a:ext cx="2569464" cy="384048"/>
          </a:xfrm>
          <a:prstGeom prst="rect">
            <a:avLst/>
          </a:prstGeom>
          <a:noFill/>
          <a:ln/>
        </p:spPr>
        <p:txBody>
          <a:bodyPr wrap="square" lIns="0" tIns="0" rIns="0" bIns="0" rtlCol="0" anchor="t"/>
          <a:lstStyle/>
          <a:p>
            <a:pPr indent="0" marL="0">
              <a:buNone/>
            </a:pPr>
            <a:r>
              <a:rPr lang="en-US" sz="1300" b="1" dirty="0">
                <a:solidFill>
                  <a:srgbClr val="0C1E33"/>
                </a:solidFill>
                <a:latin typeface="Arial" pitchFamily="34" charset="0"/>
                <a:ea typeface="Arial" pitchFamily="34" charset="-122"/>
                <a:cs typeface="Arial" pitchFamily="34" charset="-120"/>
              </a:rPr>
              <a:t>The levy is a real number</a:t>
            </a:r>
            <a:endParaRPr lang="en-US" sz="1300" dirty="0"/>
          </a:p>
        </p:txBody>
      </p:sp>
      <p:sp>
        <p:nvSpPr>
          <p:cNvPr id="24" name="Text 22"/>
          <p:cNvSpPr txBox="1"/>
          <p:nvPr/>
        </p:nvSpPr>
        <p:spPr>
          <a:xfrm>
            <a:off x="768096" y="4636008"/>
            <a:ext cx="3063240" cy="877824"/>
          </a:xfrm>
          <a:prstGeom prst="rect">
            <a:avLst/>
          </a:prstGeom>
          <a:noFill/>
          <a:ln/>
        </p:spPr>
        <p:txBody>
          <a:bodyPr wrap="square" lIns="0" tIns="0" rIns="0" bIns="0" rtlCol="0" anchor="ctr"/>
          <a:lstStyle/>
          <a:p>
            <a:pPr indent="0" marL="0">
              <a:lnSpc>
                <a:spcPts val="1500"/>
              </a:lnSpc>
              <a:buNone/>
            </a:pPr>
            <a:r>
              <a:rPr lang="en-US" sz="1050" dirty="0">
                <a:solidFill>
                  <a:srgbClr val="5A6C82"/>
                </a:solidFill>
                <a:latin typeface="Calibri" pitchFamily="34" charset="0"/>
                <a:ea typeface="Calibri" pitchFamily="34" charset="-122"/>
                <a:cs typeface="Calibri" pitchFamily="34" charset="-120"/>
              </a:rPr>
              <a:t>The expat levy per employee per year gets budgeted once and forgotten, then lands as a cost nobody forecast in a month nobody planned for.</a:t>
            </a:r>
            <a:endParaRPr lang="en-US" sz="1050" dirty="0"/>
          </a:p>
        </p:txBody>
      </p:sp>
      <p:sp>
        <p:nvSpPr>
          <p:cNvPr id="25" name="Shape 23"/>
          <p:cNvSpPr/>
          <p:nvPr/>
        </p:nvSpPr>
        <p:spPr>
          <a:xfrm>
            <a:off x="4334256" y="3886200"/>
            <a:ext cx="3502152" cy="1755648"/>
          </a:xfrm>
          <a:prstGeom prst="roundRect">
            <a:avLst>
              <a:gd name="adj" fmla="val 4167"/>
            </a:avLst>
          </a:prstGeom>
          <a:solidFill>
            <a:srgbClr val="F4F6F7"/>
          </a:solidFill>
          <a:ln w="9525">
            <a:solidFill>
              <a:srgbClr val="E3E7EA"/>
            </a:solidFill>
            <a:prstDash val="solid"/>
          </a:ln>
        </p:spPr>
      </p:sp>
      <p:sp>
        <p:nvSpPr>
          <p:cNvPr id="26" name="Shape 24"/>
          <p:cNvSpPr/>
          <p:nvPr/>
        </p:nvSpPr>
        <p:spPr>
          <a:xfrm>
            <a:off x="4553712" y="4105656"/>
            <a:ext cx="384048" cy="384048"/>
          </a:xfrm>
          <a:prstGeom prst="ellipse">
            <a:avLst/>
          </a:prstGeom>
          <a:solidFill>
            <a:srgbClr val="20A098"/>
          </a:solidFill>
          <a:ln/>
        </p:spPr>
      </p:sp>
      <p:sp>
        <p:nvSpPr>
          <p:cNvPr id="27" name="Text 25"/>
          <p:cNvSpPr txBox="1"/>
          <p:nvPr/>
        </p:nvSpPr>
        <p:spPr>
          <a:xfrm>
            <a:off x="4553712" y="41056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8" name="Text 26"/>
          <p:cNvSpPr txBox="1"/>
          <p:nvPr/>
        </p:nvSpPr>
        <p:spPr>
          <a:xfrm>
            <a:off x="5047488" y="4123944"/>
            <a:ext cx="2569464" cy="384048"/>
          </a:xfrm>
          <a:prstGeom prst="rect">
            <a:avLst/>
          </a:prstGeom>
          <a:noFill/>
          <a:ln/>
        </p:spPr>
        <p:txBody>
          <a:bodyPr wrap="square" lIns="0" tIns="0" rIns="0" bIns="0" rtlCol="0" anchor="t"/>
          <a:lstStyle/>
          <a:p>
            <a:pPr indent="0" marL="0">
              <a:buNone/>
            </a:pPr>
            <a:r>
              <a:rPr lang="en-US" sz="1300" b="1" dirty="0">
                <a:solidFill>
                  <a:srgbClr val="0C1E33"/>
                </a:solidFill>
                <a:latin typeface="Arial" pitchFamily="34" charset="0"/>
                <a:ea typeface="Arial" pitchFamily="34" charset="-122"/>
                <a:cs typeface="Arial" pitchFamily="34" charset="-120"/>
              </a:rPr>
              <a:t>Renewals cluster</a:t>
            </a:r>
            <a:endParaRPr lang="en-US" sz="1300" dirty="0"/>
          </a:p>
        </p:txBody>
      </p:sp>
      <p:sp>
        <p:nvSpPr>
          <p:cNvPr id="29" name="Text 27"/>
          <p:cNvSpPr txBox="1"/>
          <p:nvPr/>
        </p:nvSpPr>
        <p:spPr>
          <a:xfrm>
            <a:off x="4553712" y="4636008"/>
            <a:ext cx="3063240" cy="877824"/>
          </a:xfrm>
          <a:prstGeom prst="rect">
            <a:avLst/>
          </a:prstGeom>
          <a:noFill/>
          <a:ln/>
        </p:spPr>
        <p:txBody>
          <a:bodyPr wrap="square" lIns="0" tIns="0" rIns="0" bIns="0" rtlCol="0" anchor="ctr"/>
          <a:lstStyle/>
          <a:p>
            <a:pPr indent="0" marL="0">
              <a:lnSpc>
                <a:spcPts val="1500"/>
              </a:lnSpc>
              <a:buNone/>
            </a:pPr>
            <a:r>
              <a:rPr lang="en-US" sz="1050" dirty="0">
                <a:solidFill>
                  <a:srgbClr val="5A6C82"/>
                </a:solidFill>
                <a:latin typeface="Calibri" pitchFamily="34" charset="0"/>
                <a:ea typeface="Calibri" pitchFamily="34" charset="-122"/>
                <a:cs typeface="Calibri" pitchFamily="34" charset="-120"/>
              </a:rPr>
              <a:t>Iqamas bunch around hiring dates. One quarter is quiet, the next carries three hundred renewals and the fees that come with them.</a:t>
            </a:r>
            <a:endParaRPr lang="en-US" sz="1050" dirty="0"/>
          </a:p>
        </p:txBody>
      </p:sp>
      <p:sp>
        <p:nvSpPr>
          <p:cNvPr id="30" name="Shape 28"/>
          <p:cNvSpPr/>
          <p:nvPr/>
        </p:nvSpPr>
        <p:spPr>
          <a:xfrm>
            <a:off x="8119872" y="3886200"/>
            <a:ext cx="3502152" cy="1755648"/>
          </a:xfrm>
          <a:prstGeom prst="roundRect">
            <a:avLst>
              <a:gd name="adj" fmla="val 4167"/>
            </a:avLst>
          </a:prstGeom>
          <a:solidFill>
            <a:srgbClr val="F4F6F7"/>
          </a:solidFill>
          <a:ln w="9525">
            <a:solidFill>
              <a:srgbClr val="E3E7EA"/>
            </a:solidFill>
            <a:prstDash val="solid"/>
          </a:ln>
        </p:spPr>
      </p:sp>
      <p:sp>
        <p:nvSpPr>
          <p:cNvPr id="31" name="Shape 29"/>
          <p:cNvSpPr/>
          <p:nvPr/>
        </p:nvSpPr>
        <p:spPr>
          <a:xfrm>
            <a:off x="8339328" y="4105656"/>
            <a:ext cx="384048" cy="384048"/>
          </a:xfrm>
          <a:prstGeom prst="ellipse">
            <a:avLst/>
          </a:prstGeom>
          <a:solidFill>
            <a:srgbClr val="20A098"/>
          </a:solidFill>
          <a:ln/>
        </p:spPr>
      </p:sp>
      <p:sp>
        <p:nvSpPr>
          <p:cNvPr id="32" name="Text 30"/>
          <p:cNvSpPr txBox="1"/>
          <p:nvPr/>
        </p:nvSpPr>
        <p:spPr>
          <a:xfrm>
            <a:off x="8339328" y="41056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33" name="Text 31"/>
          <p:cNvSpPr txBox="1"/>
          <p:nvPr/>
        </p:nvSpPr>
        <p:spPr>
          <a:xfrm>
            <a:off x="8833104" y="4123944"/>
            <a:ext cx="2569464" cy="384048"/>
          </a:xfrm>
          <a:prstGeom prst="rect">
            <a:avLst/>
          </a:prstGeom>
          <a:noFill/>
          <a:ln/>
        </p:spPr>
        <p:txBody>
          <a:bodyPr wrap="square" lIns="0" tIns="0" rIns="0" bIns="0" rtlCol="0" anchor="t"/>
          <a:lstStyle/>
          <a:p>
            <a:pPr indent="0" marL="0">
              <a:buNone/>
            </a:pPr>
            <a:r>
              <a:rPr lang="en-US" sz="1300" b="1" dirty="0">
                <a:solidFill>
                  <a:srgbClr val="0C1E33"/>
                </a:solidFill>
                <a:latin typeface="Arial" pitchFamily="34" charset="0"/>
                <a:ea typeface="Arial" pitchFamily="34" charset="-122"/>
                <a:cs typeface="Arial" pitchFamily="34" charset="-120"/>
              </a:rPr>
              <a:t>SuccessFactors does not know</a:t>
            </a:r>
            <a:endParaRPr lang="en-US" sz="1300" dirty="0"/>
          </a:p>
        </p:txBody>
      </p:sp>
      <p:sp>
        <p:nvSpPr>
          <p:cNvPr id="34" name="Text 32"/>
          <p:cNvSpPr txBox="1"/>
          <p:nvPr/>
        </p:nvSpPr>
        <p:spPr>
          <a:xfrm>
            <a:off x="8339328" y="4636008"/>
            <a:ext cx="3063240" cy="877824"/>
          </a:xfrm>
          <a:prstGeom prst="rect">
            <a:avLst/>
          </a:prstGeom>
          <a:noFill/>
          <a:ln/>
        </p:spPr>
        <p:txBody>
          <a:bodyPr wrap="square" lIns="0" tIns="0" rIns="0" bIns="0" rtlCol="0" anchor="ctr"/>
          <a:lstStyle/>
          <a:p>
            <a:pPr indent="0" marL="0">
              <a:lnSpc>
                <a:spcPts val="1500"/>
              </a:lnSpc>
              <a:buNone/>
            </a:pPr>
            <a:r>
              <a:rPr lang="en-US" sz="1050" dirty="0">
                <a:solidFill>
                  <a:srgbClr val="5A6C82"/>
                </a:solidFill>
                <a:latin typeface="Calibri" pitchFamily="34" charset="0"/>
                <a:ea typeface="Calibri" pitchFamily="34" charset="-122"/>
                <a:cs typeface="Calibri" pitchFamily="34" charset="-120"/>
              </a:rPr>
              <a:t>Your HR system holds the employee. Qiwa and Muqeem hold the truth about whether they may legally work. Nothing keeps the two in agreement.</a:t>
            </a:r>
            <a:endParaRPr lang="en-US" sz="1050" dirty="0"/>
          </a:p>
        </p:txBody>
      </p:sp>
      <p:sp>
        <p:nvSpPr>
          <p:cNvPr id="35" name="Shape 33"/>
          <p:cNvSpPr/>
          <p:nvPr/>
        </p:nvSpPr>
        <p:spPr>
          <a:xfrm>
            <a:off x="548640" y="5815584"/>
            <a:ext cx="10424160" cy="475488"/>
          </a:xfrm>
          <a:prstGeom prst="roundRect">
            <a:avLst>
              <a:gd name="adj" fmla="val 17308"/>
            </a:avLst>
          </a:prstGeom>
          <a:solidFill>
            <a:srgbClr val="E4F5F3"/>
          </a:solidFill>
          <a:ln w="9525">
            <a:solidFill>
              <a:srgbClr val="20A098"/>
            </a:solidFill>
            <a:prstDash val="solid"/>
          </a:ln>
        </p:spPr>
      </p:sp>
      <p:sp>
        <p:nvSpPr>
          <p:cNvPr id="36" name="Text 34"/>
          <p:cNvSpPr txBox="1"/>
          <p:nvPr/>
        </p:nvSpPr>
        <p:spPr>
          <a:xfrm>
            <a:off x="777240" y="5815584"/>
            <a:ext cx="9966960" cy="475488"/>
          </a:xfrm>
          <a:prstGeom prst="rect">
            <a:avLst/>
          </a:prstGeom>
          <a:noFill/>
          <a:ln/>
        </p:spPr>
        <p:txBody>
          <a:bodyPr wrap="square" lIns="0" tIns="0" rIns="0" bIns="0" rtlCol="0" anchor="ctr"/>
          <a:lstStyle/>
          <a:p>
            <a:pPr indent="0" marL="0">
              <a:buNone/>
            </a:pPr>
            <a:r>
              <a:rPr lang="en-US" sz="1150" b="1" dirty="0">
                <a:solidFill>
                  <a:srgbClr val="12756F"/>
                </a:solidFill>
                <a:latin typeface="Calibri" pitchFamily="34" charset="0"/>
                <a:ea typeface="Calibri" pitchFamily="34" charset="-122"/>
                <a:cs typeface="Calibri" pitchFamily="34" charset="-120"/>
              </a:rPr>
              <a:t>What it costs you:  </a:t>
            </a:r>
            <a:pPr indent="0" marL="0">
              <a:buNone/>
            </a:pPr>
            <a:r>
              <a:rPr lang="en-US" sz="1150" dirty="0">
                <a:solidFill>
                  <a:srgbClr val="0C1E33"/>
                </a:solidFill>
                <a:latin typeface="Calibri" pitchFamily="34" charset="0"/>
                <a:ea typeface="Calibri" pitchFamily="34" charset="-122"/>
                <a:cs typeface="Calibri" pitchFamily="34" charset="-120"/>
              </a:rPr>
              <a:t>a hiring freeze you did not choose, employees stranded outside the Kingdom, levy costs that arrive unplanned, and a compliance position nobody can prove to an inspector.</a:t>
            </a:r>
            <a:endParaRPr lang="en-US" sz="1150" dirty="0"/>
          </a:p>
        </p:txBody>
      </p:sp>
      <p:sp>
        <p:nvSpPr>
          <p:cNvPr id="37" name="Text 35"/>
          <p:cNvSpPr txBox="1"/>
          <p:nvPr/>
        </p:nvSpPr>
        <p:spPr>
          <a:xfrm>
            <a:off x="548640" y="6419088"/>
            <a:ext cx="8595360" cy="237744"/>
          </a:xfrm>
          <a:prstGeom prst="rect">
            <a:avLst/>
          </a:prstGeom>
          <a:noFill/>
          <a:ln/>
        </p:spPr>
        <p:txBody>
          <a:bodyPr wrap="square" lIns="0" tIns="0" rIns="0" bIns="0" rtlCol="0" anchor="ctr"/>
          <a:lstStyle/>
          <a:p>
            <a:pPr indent="0" marL="0">
              <a:buNone/>
            </a:pPr>
            <a:r>
              <a:rPr lang="en-US" sz="900" dirty="0">
                <a:solidFill>
                  <a:srgbClr val="96A3AE"/>
                </a:solidFill>
                <a:latin typeface="Calibri" pitchFamily="34" charset="0"/>
                <a:ea typeface="Calibri" pitchFamily="34" charset="-122"/>
                <a:cs typeface="Calibri" pitchFamily="34" charset="-120"/>
              </a:rPr>
              <a:t>INK IT Business Solutions  ·  Visa &amp; Permits Management  ·  Kingdom of Saudi Arabia</a:t>
            </a:r>
            <a:endParaRPr lang="en-US" sz="900" dirty="0"/>
          </a:p>
        </p:txBody>
      </p:sp>
      <p:sp>
        <p:nvSpPr>
          <p:cNvPr id="38" name="Text 36"/>
          <p:cNvSpPr txBox="1"/>
          <p:nvPr/>
        </p:nvSpPr>
        <p:spPr>
          <a:xfrm>
            <a:off x="11155680" y="6419088"/>
            <a:ext cx="457200" cy="237744"/>
          </a:xfrm>
          <a:prstGeom prst="rect">
            <a:avLst/>
          </a:prstGeom>
          <a:noFill/>
          <a:ln/>
        </p:spPr>
        <p:txBody>
          <a:bodyPr wrap="square" lIns="0" tIns="0" rIns="0" bIns="0" rtlCol="0" anchor="ctr"/>
          <a:lstStyle/>
          <a:p>
            <a:pPr algn="r" indent="0" marL="0">
              <a:buNone/>
            </a:pPr>
            <a:r>
              <a:rPr lang="en-US" sz="900" dirty="0">
                <a:solidFill>
                  <a:srgbClr val="96A3A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02336"/>
            <a:ext cx="11064240" cy="237744"/>
          </a:xfrm>
          <a:prstGeom prst="rect">
            <a:avLst/>
          </a:prstGeom>
          <a:noFill/>
          <a:ln/>
        </p:spPr>
        <p:txBody>
          <a:bodyPr wrap="square" lIns="0" tIns="0" rIns="0" bIns="0" rtlCol="0" anchor="ctr"/>
          <a:lstStyle/>
          <a:p>
            <a:pPr indent="0" marL="0">
              <a:buNone/>
            </a:pPr>
            <a:r>
              <a:rPr lang="en-US" sz="1100" b="1" spc="220" kern="0" dirty="0">
                <a:solidFill>
                  <a:srgbClr val="20A098"/>
                </a:solidFill>
                <a:latin typeface="Calibri" pitchFamily="34" charset="0"/>
                <a:ea typeface="Calibri" pitchFamily="34" charset="-122"/>
                <a:cs typeface="Calibri" pitchFamily="34" charset="-120"/>
              </a:rPr>
              <a:t>THE SOLUTION</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0C1E33"/>
                </a:solidFill>
                <a:latin typeface="Arial" pitchFamily="34" charset="0"/>
                <a:ea typeface="Arial" pitchFamily="34" charset="-122"/>
                <a:cs typeface="Arial" pitchFamily="34" charset="-120"/>
              </a:rPr>
              <a:t>Five Saudi lifecycles on one track.</a:t>
            </a:r>
            <a:endParaRPr lang="en-US" sz="3000" dirty="0"/>
          </a:p>
        </p:txBody>
      </p:sp>
      <p:sp>
        <p:nvSpPr>
          <p:cNvPr id="4" name="Text 2"/>
          <p:cNvSpPr txBox="1"/>
          <p:nvPr/>
        </p:nvSpPr>
        <p:spPr>
          <a:xfrm>
            <a:off x="548640" y="1243584"/>
            <a:ext cx="10424160" cy="310896"/>
          </a:xfrm>
          <a:prstGeom prst="rect">
            <a:avLst/>
          </a:prstGeom>
          <a:noFill/>
          <a:ln/>
        </p:spPr>
        <p:txBody>
          <a:bodyPr wrap="square" lIns="0" tIns="0" rIns="0" bIns="0" rtlCol="0" anchor="ctr"/>
          <a:lstStyle/>
          <a:p>
            <a:pPr indent="0" marL="0">
              <a:buNone/>
            </a:pPr>
            <a:r>
              <a:rPr lang="en-US" sz="1350" dirty="0">
                <a:solidFill>
                  <a:srgbClr val="5A6C82"/>
                </a:solidFill>
                <a:latin typeface="Calibri" pitchFamily="34" charset="0"/>
                <a:ea typeface="Calibri" pitchFamily="34" charset="-122"/>
                <a:cs typeface="Calibri" pitchFamily="34" charset="-120"/>
              </a:rPr>
              <a:t>Pre-built, configured for the Kingdom, and running the authorities as one process instead of three.</a:t>
            </a:r>
            <a:endParaRPr lang="en-US" sz="1350" dirty="0"/>
          </a:p>
        </p:txBody>
      </p:sp>
      <p:sp>
        <p:nvSpPr>
          <p:cNvPr id="5" name="Shape 3"/>
          <p:cNvSpPr/>
          <p:nvPr/>
        </p:nvSpPr>
        <p:spPr>
          <a:xfrm>
            <a:off x="548640" y="1773936"/>
            <a:ext cx="5120640" cy="768096"/>
          </a:xfrm>
          <a:prstGeom prst="roundRect">
            <a:avLst>
              <a:gd name="adj" fmla="val 9524"/>
            </a:avLst>
          </a:prstGeom>
          <a:solidFill>
            <a:srgbClr val="F4F6F7"/>
          </a:solidFill>
          <a:ln w="9525">
            <a:solidFill>
              <a:srgbClr val="E3E7EA"/>
            </a:solidFill>
            <a:prstDash val="solid"/>
          </a:ln>
        </p:spPr>
      </p:sp>
      <p:sp>
        <p:nvSpPr>
          <p:cNvPr id="6" name="Shape 4"/>
          <p:cNvSpPr/>
          <p:nvPr/>
        </p:nvSpPr>
        <p:spPr>
          <a:xfrm>
            <a:off x="548640" y="1773936"/>
            <a:ext cx="68580" cy="768096"/>
          </a:xfrm>
          <a:prstGeom prst="roundRect">
            <a:avLst>
              <a:gd name="adj" fmla="val 40000"/>
            </a:avLst>
          </a:prstGeom>
          <a:solidFill>
            <a:srgbClr val="20A098"/>
          </a:solidFill>
          <a:ln/>
        </p:spPr>
      </p:sp>
      <p:sp>
        <p:nvSpPr>
          <p:cNvPr id="7" name="Text 5"/>
          <p:cNvSpPr txBox="1"/>
          <p:nvPr/>
        </p:nvSpPr>
        <p:spPr>
          <a:xfrm>
            <a:off x="841248" y="1865376"/>
            <a:ext cx="3200400" cy="237744"/>
          </a:xfrm>
          <a:prstGeom prst="rect">
            <a:avLst/>
          </a:prstGeom>
          <a:noFill/>
          <a:ln/>
        </p:spPr>
        <p:txBody>
          <a:bodyPr wrap="square" lIns="0" tIns="0" rIns="0" bIns="0" rtlCol="0" anchor="ctr"/>
          <a:lstStyle/>
          <a:p>
            <a:pPr indent="0" marL="0">
              <a:buNone/>
            </a:pPr>
            <a:r>
              <a:rPr lang="en-US" sz="1350" b="1" dirty="0">
                <a:solidFill>
                  <a:srgbClr val="0C1E33"/>
                </a:solidFill>
                <a:latin typeface="Arial" pitchFamily="34" charset="0"/>
                <a:ea typeface="Arial" pitchFamily="34" charset="-122"/>
                <a:cs typeface="Arial" pitchFamily="34" charset="-120"/>
              </a:rPr>
              <a:t>New Work Visa &amp; Iqama</a:t>
            </a:r>
            <a:endParaRPr lang="en-US" sz="1350" dirty="0"/>
          </a:p>
        </p:txBody>
      </p:sp>
      <p:sp>
        <p:nvSpPr>
          <p:cNvPr id="8" name="Text 6"/>
          <p:cNvSpPr txBox="1"/>
          <p:nvPr/>
        </p:nvSpPr>
        <p:spPr>
          <a:xfrm>
            <a:off x="4041648" y="1883664"/>
            <a:ext cx="1463040" cy="219456"/>
          </a:xfrm>
          <a:prstGeom prst="rect">
            <a:avLst/>
          </a:prstGeom>
          <a:noFill/>
          <a:ln/>
        </p:spPr>
        <p:txBody>
          <a:bodyPr wrap="square" lIns="0" tIns="0" rIns="0" bIns="0" rtlCol="0" anchor="ctr"/>
          <a:lstStyle/>
          <a:p>
            <a:pPr algn="r" indent="0" marL="0">
              <a:buNone/>
            </a:pPr>
            <a:r>
              <a:rPr lang="en-US" sz="1050" b="1" dirty="0">
                <a:solidFill>
                  <a:srgbClr val="20A098"/>
                </a:solidFill>
                <a:latin typeface="Calibri" pitchFamily="34" charset="0"/>
                <a:ea typeface="Calibri" pitchFamily="34" charset="-122"/>
                <a:cs typeface="Calibri" pitchFamily="34" charset="-120"/>
              </a:rPr>
              <a:t>12 steps</a:t>
            </a:r>
            <a:endParaRPr lang="en-US" sz="1050" dirty="0"/>
          </a:p>
        </p:txBody>
      </p:sp>
      <p:sp>
        <p:nvSpPr>
          <p:cNvPr id="9" name="Text 7"/>
          <p:cNvSpPr txBox="1"/>
          <p:nvPr/>
        </p:nvSpPr>
        <p:spPr>
          <a:xfrm>
            <a:off x="841248" y="2121408"/>
            <a:ext cx="4663440" cy="365760"/>
          </a:xfrm>
          <a:prstGeom prst="rect">
            <a:avLst/>
          </a:prstGeom>
          <a:noFill/>
          <a:ln/>
        </p:spPr>
        <p:txBody>
          <a:bodyPr wrap="square" lIns="0" tIns="0" rIns="0" bIns="0" rtlCol="0" anchor="ctr"/>
          <a:lstStyle/>
          <a:p>
            <a:pPr indent="0" marL="0">
              <a:lnSpc>
                <a:spcPts val="1400"/>
              </a:lnSpc>
              <a:buNone/>
            </a:pPr>
            <a:r>
              <a:rPr lang="en-US" sz="1020" dirty="0">
                <a:solidFill>
                  <a:srgbClr val="5A6C82"/>
                </a:solidFill>
                <a:latin typeface="Calibri" pitchFamily="34" charset="0"/>
                <a:ea typeface="Calibri" pitchFamily="34" charset="-122"/>
                <a:cs typeface="Calibri" pitchFamily="34" charset="-120"/>
              </a:rPr>
              <a:t>Block visa through Qiwa contract, arrival, medical, Iqama on Muqeem, GOSI and Mudad.</a:t>
            </a:r>
            <a:endParaRPr lang="en-US" sz="1020" dirty="0"/>
          </a:p>
        </p:txBody>
      </p:sp>
      <p:sp>
        <p:nvSpPr>
          <p:cNvPr id="10" name="Shape 8"/>
          <p:cNvSpPr/>
          <p:nvPr/>
        </p:nvSpPr>
        <p:spPr>
          <a:xfrm>
            <a:off x="548640" y="2651760"/>
            <a:ext cx="5120640" cy="768096"/>
          </a:xfrm>
          <a:prstGeom prst="roundRect">
            <a:avLst>
              <a:gd name="adj" fmla="val 9524"/>
            </a:avLst>
          </a:prstGeom>
          <a:solidFill>
            <a:srgbClr val="FFFFFF"/>
          </a:solidFill>
          <a:ln w="9525">
            <a:solidFill>
              <a:srgbClr val="E3E7EA"/>
            </a:solidFill>
            <a:prstDash val="solid"/>
          </a:ln>
        </p:spPr>
      </p:sp>
      <p:sp>
        <p:nvSpPr>
          <p:cNvPr id="11" name="Shape 9"/>
          <p:cNvSpPr/>
          <p:nvPr/>
        </p:nvSpPr>
        <p:spPr>
          <a:xfrm>
            <a:off x="548640" y="2651760"/>
            <a:ext cx="68580" cy="768096"/>
          </a:xfrm>
          <a:prstGeom prst="roundRect">
            <a:avLst>
              <a:gd name="adj" fmla="val 40000"/>
            </a:avLst>
          </a:prstGeom>
          <a:solidFill>
            <a:srgbClr val="12756F"/>
          </a:solidFill>
          <a:ln/>
        </p:spPr>
      </p:sp>
      <p:sp>
        <p:nvSpPr>
          <p:cNvPr id="12" name="Text 10"/>
          <p:cNvSpPr txBox="1"/>
          <p:nvPr/>
        </p:nvSpPr>
        <p:spPr>
          <a:xfrm>
            <a:off x="841248" y="2743200"/>
            <a:ext cx="3200400" cy="237744"/>
          </a:xfrm>
          <a:prstGeom prst="rect">
            <a:avLst/>
          </a:prstGeom>
          <a:noFill/>
          <a:ln/>
        </p:spPr>
        <p:txBody>
          <a:bodyPr wrap="square" lIns="0" tIns="0" rIns="0" bIns="0" rtlCol="0" anchor="ctr"/>
          <a:lstStyle/>
          <a:p>
            <a:pPr indent="0" marL="0">
              <a:buNone/>
            </a:pPr>
            <a:r>
              <a:rPr lang="en-US" sz="1350" b="1" dirty="0">
                <a:solidFill>
                  <a:srgbClr val="0C1E33"/>
                </a:solidFill>
                <a:latin typeface="Arial" pitchFamily="34" charset="0"/>
                <a:ea typeface="Arial" pitchFamily="34" charset="-122"/>
                <a:cs typeface="Arial" pitchFamily="34" charset="-120"/>
              </a:rPr>
              <a:t>Iqama Renewal</a:t>
            </a:r>
            <a:endParaRPr lang="en-US" sz="1350" dirty="0"/>
          </a:p>
        </p:txBody>
      </p:sp>
      <p:sp>
        <p:nvSpPr>
          <p:cNvPr id="13" name="Text 11"/>
          <p:cNvSpPr txBox="1"/>
          <p:nvPr/>
        </p:nvSpPr>
        <p:spPr>
          <a:xfrm>
            <a:off x="4041648" y="2761488"/>
            <a:ext cx="1463040" cy="219456"/>
          </a:xfrm>
          <a:prstGeom prst="rect">
            <a:avLst/>
          </a:prstGeom>
          <a:noFill/>
          <a:ln/>
        </p:spPr>
        <p:txBody>
          <a:bodyPr wrap="square" lIns="0" tIns="0" rIns="0" bIns="0" rtlCol="0" anchor="ctr"/>
          <a:lstStyle/>
          <a:p>
            <a:pPr algn="r" indent="0" marL="0">
              <a:buNone/>
            </a:pPr>
            <a:r>
              <a:rPr lang="en-US" sz="1050" b="1" dirty="0">
                <a:solidFill>
                  <a:srgbClr val="12756F"/>
                </a:solidFill>
                <a:latin typeface="Calibri" pitchFamily="34" charset="0"/>
                <a:ea typeface="Calibri" pitchFamily="34" charset="-122"/>
                <a:cs typeface="Calibri" pitchFamily="34" charset="-120"/>
              </a:rPr>
              <a:t>8 steps</a:t>
            </a:r>
            <a:endParaRPr lang="en-US" sz="1050" dirty="0"/>
          </a:p>
        </p:txBody>
      </p:sp>
      <p:sp>
        <p:nvSpPr>
          <p:cNvPr id="14" name="Text 12"/>
          <p:cNvSpPr txBox="1"/>
          <p:nvPr/>
        </p:nvSpPr>
        <p:spPr>
          <a:xfrm>
            <a:off x="841248" y="2999232"/>
            <a:ext cx="4663440" cy="365760"/>
          </a:xfrm>
          <a:prstGeom prst="rect">
            <a:avLst/>
          </a:prstGeom>
          <a:noFill/>
          <a:ln/>
        </p:spPr>
        <p:txBody>
          <a:bodyPr wrap="square" lIns="0" tIns="0" rIns="0" bIns="0" rtlCol="0" anchor="ctr"/>
          <a:lstStyle/>
          <a:p>
            <a:pPr indent="0" marL="0">
              <a:lnSpc>
                <a:spcPts val="1400"/>
              </a:lnSpc>
              <a:buNone/>
            </a:pPr>
            <a:r>
              <a:rPr lang="en-US" sz="1020" dirty="0">
                <a:solidFill>
                  <a:srgbClr val="5A6C82"/>
                </a:solidFill>
                <a:latin typeface="Calibri" pitchFamily="34" charset="0"/>
                <a:ea typeface="Calibri" pitchFamily="34" charset="-122"/>
                <a:cs typeface="Calibri" pitchFamily="34" charset="-120"/>
              </a:rPr>
              <a:t>Alert six weeks out, band gate check, levy and fees, Muqeem renewal, write-back.</a:t>
            </a:r>
            <a:endParaRPr lang="en-US" sz="1020" dirty="0"/>
          </a:p>
        </p:txBody>
      </p:sp>
      <p:sp>
        <p:nvSpPr>
          <p:cNvPr id="15" name="Shape 13"/>
          <p:cNvSpPr/>
          <p:nvPr/>
        </p:nvSpPr>
        <p:spPr>
          <a:xfrm>
            <a:off x="548640" y="3529584"/>
            <a:ext cx="5120640" cy="768096"/>
          </a:xfrm>
          <a:prstGeom prst="roundRect">
            <a:avLst>
              <a:gd name="adj" fmla="val 9524"/>
            </a:avLst>
          </a:prstGeom>
          <a:solidFill>
            <a:srgbClr val="F4F6F7"/>
          </a:solidFill>
          <a:ln w="9525">
            <a:solidFill>
              <a:srgbClr val="E3E7EA"/>
            </a:solidFill>
            <a:prstDash val="solid"/>
          </a:ln>
        </p:spPr>
      </p:sp>
      <p:sp>
        <p:nvSpPr>
          <p:cNvPr id="16" name="Shape 14"/>
          <p:cNvSpPr/>
          <p:nvPr/>
        </p:nvSpPr>
        <p:spPr>
          <a:xfrm>
            <a:off x="548640" y="3529584"/>
            <a:ext cx="68580" cy="768096"/>
          </a:xfrm>
          <a:prstGeom prst="roundRect">
            <a:avLst>
              <a:gd name="adj" fmla="val 40000"/>
            </a:avLst>
          </a:prstGeom>
          <a:solidFill>
            <a:srgbClr val="C9821A"/>
          </a:solidFill>
          <a:ln/>
        </p:spPr>
      </p:sp>
      <p:sp>
        <p:nvSpPr>
          <p:cNvPr id="17" name="Text 15"/>
          <p:cNvSpPr txBox="1"/>
          <p:nvPr/>
        </p:nvSpPr>
        <p:spPr>
          <a:xfrm>
            <a:off x="841248" y="3621024"/>
            <a:ext cx="3200400" cy="237744"/>
          </a:xfrm>
          <a:prstGeom prst="rect">
            <a:avLst/>
          </a:prstGeom>
          <a:noFill/>
          <a:ln/>
        </p:spPr>
        <p:txBody>
          <a:bodyPr wrap="square" lIns="0" tIns="0" rIns="0" bIns="0" rtlCol="0" anchor="ctr"/>
          <a:lstStyle/>
          <a:p>
            <a:pPr indent="0" marL="0">
              <a:buNone/>
            </a:pPr>
            <a:r>
              <a:rPr lang="en-US" sz="1350" b="1" dirty="0">
                <a:solidFill>
                  <a:srgbClr val="0C1E33"/>
                </a:solidFill>
                <a:latin typeface="Arial" pitchFamily="34" charset="0"/>
                <a:ea typeface="Arial" pitchFamily="34" charset="-122"/>
                <a:cs typeface="Arial" pitchFamily="34" charset="-120"/>
              </a:rPr>
              <a:t>Exit &amp; Re-entry</a:t>
            </a:r>
            <a:endParaRPr lang="en-US" sz="1350" dirty="0"/>
          </a:p>
        </p:txBody>
      </p:sp>
      <p:sp>
        <p:nvSpPr>
          <p:cNvPr id="18" name="Text 16"/>
          <p:cNvSpPr txBox="1"/>
          <p:nvPr/>
        </p:nvSpPr>
        <p:spPr>
          <a:xfrm>
            <a:off x="4041648" y="3639312"/>
            <a:ext cx="1463040" cy="219456"/>
          </a:xfrm>
          <a:prstGeom prst="rect">
            <a:avLst/>
          </a:prstGeom>
          <a:noFill/>
          <a:ln/>
        </p:spPr>
        <p:txBody>
          <a:bodyPr wrap="square" lIns="0" tIns="0" rIns="0" bIns="0" rtlCol="0" anchor="ctr"/>
          <a:lstStyle/>
          <a:p>
            <a:pPr algn="r" indent="0" marL="0">
              <a:buNone/>
            </a:pPr>
            <a:r>
              <a:rPr lang="en-US" sz="1050" b="1" dirty="0">
                <a:solidFill>
                  <a:srgbClr val="C9821A"/>
                </a:solidFill>
                <a:latin typeface="Calibri" pitchFamily="34" charset="0"/>
                <a:ea typeface="Calibri" pitchFamily="34" charset="-122"/>
                <a:cs typeface="Calibri" pitchFamily="34" charset="-120"/>
              </a:rPr>
              <a:t>9 steps</a:t>
            </a:r>
            <a:endParaRPr lang="en-US" sz="1050" dirty="0"/>
          </a:p>
        </p:txBody>
      </p:sp>
      <p:sp>
        <p:nvSpPr>
          <p:cNvPr id="19" name="Text 17"/>
          <p:cNvSpPr txBox="1"/>
          <p:nvPr/>
        </p:nvSpPr>
        <p:spPr>
          <a:xfrm>
            <a:off x="841248" y="3877056"/>
            <a:ext cx="4663440" cy="365760"/>
          </a:xfrm>
          <a:prstGeom prst="rect">
            <a:avLst/>
          </a:prstGeom>
          <a:noFill/>
          <a:ln/>
        </p:spPr>
        <p:txBody>
          <a:bodyPr wrap="square" lIns="0" tIns="0" rIns="0" bIns="0" rtlCol="0" anchor="ctr"/>
          <a:lstStyle/>
          <a:p>
            <a:pPr indent="0" marL="0">
              <a:lnSpc>
                <a:spcPts val="1400"/>
              </a:lnSpc>
              <a:buNone/>
            </a:pPr>
            <a:r>
              <a:rPr lang="en-US" sz="1020" dirty="0">
                <a:solidFill>
                  <a:srgbClr val="5A6C82"/>
                </a:solidFill>
                <a:latin typeface="Calibri" pitchFamily="34" charset="0"/>
                <a:ea typeface="Calibri" pitchFamily="34" charset="-122"/>
                <a:cs typeface="Calibri" pitchFamily="34" charset="-120"/>
              </a:rPr>
              <a:t>Request, approval, Muqeem visa, and return-by tracked from actual departure.</a:t>
            </a:r>
            <a:endParaRPr lang="en-US" sz="1020" dirty="0"/>
          </a:p>
        </p:txBody>
      </p:sp>
      <p:sp>
        <p:nvSpPr>
          <p:cNvPr id="20" name="Shape 18"/>
          <p:cNvSpPr/>
          <p:nvPr/>
        </p:nvSpPr>
        <p:spPr>
          <a:xfrm>
            <a:off x="548640" y="4407408"/>
            <a:ext cx="5120640" cy="768096"/>
          </a:xfrm>
          <a:prstGeom prst="roundRect">
            <a:avLst>
              <a:gd name="adj" fmla="val 9524"/>
            </a:avLst>
          </a:prstGeom>
          <a:solidFill>
            <a:srgbClr val="FFFFFF"/>
          </a:solidFill>
          <a:ln w="9525">
            <a:solidFill>
              <a:srgbClr val="E3E7EA"/>
            </a:solidFill>
            <a:prstDash val="solid"/>
          </a:ln>
        </p:spPr>
      </p:sp>
      <p:sp>
        <p:nvSpPr>
          <p:cNvPr id="21" name="Shape 19"/>
          <p:cNvSpPr/>
          <p:nvPr/>
        </p:nvSpPr>
        <p:spPr>
          <a:xfrm>
            <a:off x="548640" y="4407408"/>
            <a:ext cx="68580" cy="768096"/>
          </a:xfrm>
          <a:prstGeom prst="roundRect">
            <a:avLst>
              <a:gd name="adj" fmla="val 40000"/>
            </a:avLst>
          </a:prstGeom>
          <a:solidFill>
            <a:srgbClr val="20A098"/>
          </a:solidFill>
          <a:ln/>
        </p:spPr>
      </p:sp>
      <p:sp>
        <p:nvSpPr>
          <p:cNvPr id="22" name="Text 20"/>
          <p:cNvSpPr txBox="1"/>
          <p:nvPr/>
        </p:nvSpPr>
        <p:spPr>
          <a:xfrm>
            <a:off x="841248" y="4498848"/>
            <a:ext cx="3200400" cy="237744"/>
          </a:xfrm>
          <a:prstGeom prst="rect">
            <a:avLst/>
          </a:prstGeom>
          <a:noFill/>
          <a:ln/>
        </p:spPr>
        <p:txBody>
          <a:bodyPr wrap="square" lIns="0" tIns="0" rIns="0" bIns="0" rtlCol="0" anchor="ctr"/>
          <a:lstStyle/>
          <a:p>
            <a:pPr indent="0" marL="0">
              <a:buNone/>
            </a:pPr>
            <a:r>
              <a:rPr lang="en-US" sz="1350" b="1" dirty="0">
                <a:solidFill>
                  <a:srgbClr val="0C1E33"/>
                </a:solidFill>
                <a:latin typeface="Arial" pitchFamily="34" charset="0"/>
                <a:ea typeface="Arial" pitchFamily="34" charset="-122"/>
                <a:cs typeface="Arial" pitchFamily="34" charset="-120"/>
              </a:rPr>
              <a:t>Sponsorship Transfer</a:t>
            </a:r>
            <a:endParaRPr lang="en-US" sz="1350" dirty="0"/>
          </a:p>
        </p:txBody>
      </p:sp>
      <p:sp>
        <p:nvSpPr>
          <p:cNvPr id="23" name="Text 21"/>
          <p:cNvSpPr txBox="1"/>
          <p:nvPr/>
        </p:nvSpPr>
        <p:spPr>
          <a:xfrm>
            <a:off x="4041648" y="4517136"/>
            <a:ext cx="1463040" cy="219456"/>
          </a:xfrm>
          <a:prstGeom prst="rect">
            <a:avLst/>
          </a:prstGeom>
          <a:noFill/>
          <a:ln/>
        </p:spPr>
        <p:txBody>
          <a:bodyPr wrap="square" lIns="0" tIns="0" rIns="0" bIns="0" rtlCol="0" anchor="ctr"/>
          <a:lstStyle/>
          <a:p>
            <a:pPr algn="r" indent="0" marL="0">
              <a:buNone/>
            </a:pPr>
            <a:r>
              <a:rPr lang="en-US" sz="1050" b="1" dirty="0">
                <a:solidFill>
                  <a:srgbClr val="20A098"/>
                </a:solidFill>
                <a:latin typeface="Calibri" pitchFamily="34" charset="0"/>
                <a:ea typeface="Calibri" pitchFamily="34" charset="-122"/>
                <a:cs typeface="Calibri" pitchFamily="34" charset="-120"/>
              </a:rPr>
              <a:t>6 steps</a:t>
            </a:r>
            <a:endParaRPr lang="en-US" sz="1050" dirty="0"/>
          </a:p>
        </p:txBody>
      </p:sp>
      <p:sp>
        <p:nvSpPr>
          <p:cNvPr id="24" name="Text 22"/>
          <p:cNvSpPr txBox="1"/>
          <p:nvPr/>
        </p:nvSpPr>
        <p:spPr>
          <a:xfrm>
            <a:off x="841248" y="4754880"/>
            <a:ext cx="4663440" cy="365760"/>
          </a:xfrm>
          <a:prstGeom prst="rect">
            <a:avLst/>
          </a:prstGeom>
          <a:noFill/>
          <a:ln/>
        </p:spPr>
        <p:txBody>
          <a:bodyPr wrap="square" lIns="0" tIns="0" rIns="0" bIns="0" rtlCol="0" anchor="ctr"/>
          <a:lstStyle/>
          <a:p>
            <a:pPr indent="0" marL="0">
              <a:lnSpc>
                <a:spcPts val="1400"/>
              </a:lnSpc>
              <a:buNone/>
            </a:pPr>
            <a:r>
              <a:rPr lang="en-US" sz="1020" dirty="0">
                <a:solidFill>
                  <a:srgbClr val="5A6C82"/>
                </a:solidFill>
                <a:latin typeface="Calibri" pitchFamily="34" charset="0"/>
                <a:ea typeface="Calibri" pitchFamily="34" charset="-122"/>
                <a:cs typeface="Calibri" pitchFamily="34" charset="-120"/>
              </a:rPr>
              <a:t>Qiwa status check, Nitaqat impact, transfer, new contract, Iqama moved.</a:t>
            </a:r>
            <a:endParaRPr lang="en-US" sz="1020" dirty="0"/>
          </a:p>
        </p:txBody>
      </p:sp>
      <p:sp>
        <p:nvSpPr>
          <p:cNvPr id="25" name="Shape 23"/>
          <p:cNvSpPr/>
          <p:nvPr/>
        </p:nvSpPr>
        <p:spPr>
          <a:xfrm>
            <a:off x="548640" y="5285232"/>
            <a:ext cx="5120640" cy="768096"/>
          </a:xfrm>
          <a:prstGeom prst="roundRect">
            <a:avLst>
              <a:gd name="adj" fmla="val 9524"/>
            </a:avLst>
          </a:prstGeom>
          <a:solidFill>
            <a:srgbClr val="F4F6F7"/>
          </a:solidFill>
          <a:ln w="9525">
            <a:solidFill>
              <a:srgbClr val="E3E7EA"/>
            </a:solidFill>
            <a:prstDash val="solid"/>
          </a:ln>
        </p:spPr>
      </p:sp>
      <p:sp>
        <p:nvSpPr>
          <p:cNvPr id="26" name="Shape 24"/>
          <p:cNvSpPr/>
          <p:nvPr/>
        </p:nvSpPr>
        <p:spPr>
          <a:xfrm>
            <a:off x="548640" y="5285232"/>
            <a:ext cx="68580" cy="768096"/>
          </a:xfrm>
          <a:prstGeom prst="roundRect">
            <a:avLst>
              <a:gd name="adj" fmla="val 40000"/>
            </a:avLst>
          </a:prstGeom>
          <a:solidFill>
            <a:srgbClr val="16304C"/>
          </a:solidFill>
          <a:ln/>
        </p:spPr>
      </p:sp>
      <p:sp>
        <p:nvSpPr>
          <p:cNvPr id="27" name="Text 25"/>
          <p:cNvSpPr txBox="1"/>
          <p:nvPr/>
        </p:nvSpPr>
        <p:spPr>
          <a:xfrm>
            <a:off x="841248" y="5376672"/>
            <a:ext cx="3200400" cy="237744"/>
          </a:xfrm>
          <a:prstGeom prst="rect">
            <a:avLst/>
          </a:prstGeom>
          <a:noFill/>
          <a:ln/>
        </p:spPr>
        <p:txBody>
          <a:bodyPr wrap="square" lIns="0" tIns="0" rIns="0" bIns="0" rtlCol="0" anchor="ctr"/>
          <a:lstStyle/>
          <a:p>
            <a:pPr indent="0" marL="0">
              <a:buNone/>
            </a:pPr>
            <a:r>
              <a:rPr lang="en-US" sz="1350" b="1" dirty="0">
                <a:solidFill>
                  <a:srgbClr val="0C1E33"/>
                </a:solidFill>
                <a:latin typeface="Arial" pitchFamily="34" charset="0"/>
                <a:ea typeface="Arial" pitchFamily="34" charset="-122"/>
                <a:cs typeface="Arial" pitchFamily="34" charset="-120"/>
              </a:rPr>
              <a:t>Final Exit</a:t>
            </a:r>
            <a:endParaRPr lang="en-US" sz="1350" dirty="0"/>
          </a:p>
        </p:txBody>
      </p:sp>
      <p:sp>
        <p:nvSpPr>
          <p:cNvPr id="28" name="Text 26"/>
          <p:cNvSpPr txBox="1"/>
          <p:nvPr/>
        </p:nvSpPr>
        <p:spPr>
          <a:xfrm>
            <a:off x="4041648" y="5394960"/>
            <a:ext cx="1463040" cy="219456"/>
          </a:xfrm>
          <a:prstGeom prst="rect">
            <a:avLst/>
          </a:prstGeom>
          <a:noFill/>
          <a:ln/>
        </p:spPr>
        <p:txBody>
          <a:bodyPr wrap="square" lIns="0" tIns="0" rIns="0" bIns="0" rtlCol="0" anchor="ctr"/>
          <a:lstStyle/>
          <a:p>
            <a:pPr algn="r" indent="0" marL="0">
              <a:buNone/>
            </a:pPr>
            <a:r>
              <a:rPr lang="en-US" sz="1050" b="1" dirty="0">
                <a:solidFill>
                  <a:srgbClr val="16304C"/>
                </a:solidFill>
                <a:latin typeface="Calibri" pitchFamily="34" charset="0"/>
                <a:ea typeface="Calibri" pitchFamily="34" charset="-122"/>
                <a:cs typeface="Calibri" pitchFamily="34" charset="-120"/>
              </a:rPr>
              <a:t>6 steps</a:t>
            </a:r>
            <a:endParaRPr lang="en-US" sz="1050" dirty="0"/>
          </a:p>
        </p:txBody>
      </p:sp>
      <p:sp>
        <p:nvSpPr>
          <p:cNvPr id="29" name="Text 27"/>
          <p:cNvSpPr txBox="1"/>
          <p:nvPr/>
        </p:nvSpPr>
        <p:spPr>
          <a:xfrm>
            <a:off x="841248" y="5632704"/>
            <a:ext cx="4663440" cy="365760"/>
          </a:xfrm>
          <a:prstGeom prst="rect">
            <a:avLst/>
          </a:prstGeom>
          <a:noFill/>
          <a:ln/>
        </p:spPr>
        <p:txBody>
          <a:bodyPr wrap="square" lIns="0" tIns="0" rIns="0" bIns="0" rtlCol="0" anchor="ctr"/>
          <a:lstStyle/>
          <a:p>
            <a:pPr indent="0" marL="0">
              <a:lnSpc>
                <a:spcPts val="1400"/>
              </a:lnSpc>
              <a:buNone/>
            </a:pPr>
            <a:r>
              <a:rPr lang="en-US" sz="1020" dirty="0">
                <a:solidFill>
                  <a:srgbClr val="5A6C82"/>
                </a:solidFill>
                <a:latin typeface="Calibri" pitchFamily="34" charset="0"/>
                <a:ea typeface="Calibri" pitchFamily="34" charset="-122"/>
                <a:cs typeface="Calibri" pitchFamily="34" charset="-120"/>
              </a:rPr>
              <a:t>End of service settled, dues cleared, contract terminated, Iqama cancelled.</a:t>
            </a:r>
            <a:endParaRPr lang="en-US" sz="1020" dirty="0"/>
          </a:p>
        </p:txBody>
      </p:sp>
      <p:pic>
        <p:nvPicPr>
          <p:cNvPr id="30" name="Image 0" descr="./img/home.jpg">    </p:cNvPr>
          <p:cNvPicPr>
            <a:picLocks noChangeAspect="1"/>
          </p:cNvPicPr>
          <p:nvPr/>
        </p:nvPicPr>
        <p:blipFill>
          <a:blip r:embed="rId1"/>
          <a:stretch>
            <a:fillRect/>
          </a:stretch>
        </p:blipFill>
        <p:spPr>
          <a:xfrm>
            <a:off x="5943600" y="1773936"/>
            <a:ext cx="5669280" cy="914400"/>
          </a:xfrm>
          <a:prstGeom prst="rect">
            <a:avLst/>
          </a:prstGeom>
          <a:effectLst>
            <a:outerShdw sx="100000" sy="100000" kx="0" ky="0" algn="bl" rotWithShape="0" blurRad="177800" dist="38100" dir="5400000">
              <a:srgbClr val="000000">
                <a:alpha val="20000"/>
              </a:srgbClr>
            </a:outerShdw>
          </a:effectLst>
        </p:spPr>
      </p:pic>
      <p:sp>
        <p:nvSpPr>
          <p:cNvPr id="31" name="Text 28"/>
          <p:cNvSpPr txBox="1"/>
          <p:nvPr/>
        </p:nvSpPr>
        <p:spPr>
          <a:xfrm>
            <a:off x="5943600" y="5431536"/>
            <a:ext cx="5669280" cy="457200"/>
          </a:xfrm>
          <a:prstGeom prst="rect">
            <a:avLst/>
          </a:prstGeom>
          <a:noFill/>
          <a:ln/>
        </p:spPr>
        <p:txBody>
          <a:bodyPr wrap="square" lIns="0" tIns="0" rIns="0" bIns="0" rtlCol="0" anchor="ctr"/>
          <a:lstStyle/>
          <a:p>
            <a:pPr indent="0" marL="0">
              <a:lnSpc>
                <a:spcPts val="1400"/>
              </a:lnSpc>
              <a:buNone/>
            </a:pPr>
            <a:r>
              <a:rPr lang="en-US" sz="1000" i="1" dirty="0">
                <a:solidFill>
                  <a:srgbClr val="5A6C82"/>
                </a:solidFill>
                <a:latin typeface="Calibri" pitchFamily="34" charset="0"/>
                <a:ea typeface="Calibri" pitchFamily="34" charset="-122"/>
                <a:cs typeface="Calibri" pitchFamily="34" charset="-120"/>
              </a:rPr>
              <a:t>The Saudi home dashboard. Four lifecycles with live counts, over a queue where the overdue exit re-entry sits at the top with a name against it.</a:t>
            </a:r>
            <a:endParaRPr lang="en-US" sz="1000" dirty="0"/>
          </a:p>
        </p:txBody>
      </p:sp>
      <p:sp>
        <p:nvSpPr>
          <p:cNvPr id="32" name="Text 29"/>
          <p:cNvSpPr txBox="1"/>
          <p:nvPr/>
        </p:nvSpPr>
        <p:spPr>
          <a:xfrm>
            <a:off x="548640" y="6419088"/>
            <a:ext cx="8595360" cy="237744"/>
          </a:xfrm>
          <a:prstGeom prst="rect">
            <a:avLst/>
          </a:prstGeom>
          <a:noFill/>
          <a:ln/>
        </p:spPr>
        <p:txBody>
          <a:bodyPr wrap="square" lIns="0" tIns="0" rIns="0" bIns="0" rtlCol="0" anchor="ctr"/>
          <a:lstStyle/>
          <a:p>
            <a:pPr indent="0" marL="0">
              <a:buNone/>
            </a:pPr>
            <a:r>
              <a:rPr lang="en-US" sz="900" dirty="0">
                <a:solidFill>
                  <a:srgbClr val="96A3AE"/>
                </a:solidFill>
                <a:latin typeface="Calibri" pitchFamily="34" charset="0"/>
                <a:ea typeface="Calibri" pitchFamily="34" charset="-122"/>
                <a:cs typeface="Calibri" pitchFamily="34" charset="-120"/>
              </a:rPr>
              <a:t>INK IT Business Solutions  ·  Visa &amp; Permits Management  ·  Kingdom of Saudi Arabia</a:t>
            </a:r>
            <a:endParaRPr lang="en-US" sz="900" dirty="0"/>
          </a:p>
        </p:txBody>
      </p:sp>
      <p:sp>
        <p:nvSpPr>
          <p:cNvPr id="33" name="Text 30"/>
          <p:cNvSpPr txBox="1"/>
          <p:nvPr/>
        </p:nvSpPr>
        <p:spPr>
          <a:xfrm>
            <a:off x="11155680" y="6419088"/>
            <a:ext cx="457200" cy="237744"/>
          </a:xfrm>
          <a:prstGeom prst="rect">
            <a:avLst/>
          </a:prstGeom>
          <a:noFill/>
          <a:ln/>
        </p:spPr>
        <p:txBody>
          <a:bodyPr wrap="square" lIns="0" tIns="0" rIns="0" bIns="0" rtlCol="0" anchor="ctr"/>
          <a:lstStyle/>
          <a:p>
            <a:pPr algn="r" indent="0" marL="0">
              <a:buNone/>
            </a:pPr>
            <a:r>
              <a:rPr lang="en-US" sz="900" dirty="0">
                <a:solidFill>
                  <a:srgbClr val="96A3A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02336"/>
            <a:ext cx="11064240" cy="237744"/>
          </a:xfrm>
          <a:prstGeom prst="rect">
            <a:avLst/>
          </a:prstGeom>
          <a:noFill/>
          <a:ln/>
        </p:spPr>
        <p:txBody>
          <a:bodyPr wrap="square" lIns="0" tIns="0" rIns="0" bIns="0" rtlCol="0" anchor="ctr"/>
          <a:lstStyle/>
          <a:p>
            <a:pPr indent="0" marL="0">
              <a:buNone/>
            </a:pPr>
            <a:r>
              <a:rPr lang="en-US" sz="1100" b="1" spc="220" kern="0" dirty="0">
                <a:solidFill>
                  <a:srgbClr val="20A098"/>
                </a:solidFill>
                <a:latin typeface="Calibri" pitchFamily="34" charset="0"/>
                <a:ea typeface="Calibri" pitchFamily="34" charset="-122"/>
                <a:cs typeface="Calibri" pitchFamily="34" charset="-120"/>
              </a:rPr>
              <a:t>THE JOURNEY MAP</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0C1E33"/>
                </a:solidFill>
                <a:latin typeface="Arial" pitchFamily="34" charset="0"/>
                <a:ea typeface="Arial" pitchFamily="34" charset="-122"/>
                <a:cs typeface="Arial" pitchFamily="34" charset="-120"/>
              </a:rPr>
              <a:t>One Iqama, five people, seven stages.</a:t>
            </a:r>
            <a:endParaRPr lang="en-US" sz="3000" dirty="0"/>
          </a:p>
        </p:txBody>
      </p:sp>
      <p:sp>
        <p:nvSpPr>
          <p:cNvPr id="4" name="Text 2"/>
          <p:cNvSpPr txBox="1"/>
          <p:nvPr/>
        </p:nvSpPr>
        <p:spPr>
          <a:xfrm>
            <a:off x="548640" y="1243584"/>
            <a:ext cx="10424160" cy="420624"/>
          </a:xfrm>
          <a:prstGeom prst="rect">
            <a:avLst/>
          </a:prstGeom>
          <a:noFill/>
          <a:ln/>
        </p:spPr>
        <p:txBody>
          <a:bodyPr wrap="square" lIns="0" tIns="0" rIns="0" bIns="0" rtlCol="0" anchor="ctr"/>
          <a:lstStyle/>
          <a:p>
            <a:pPr indent="0" marL="0">
              <a:buNone/>
            </a:pPr>
            <a:r>
              <a:rPr lang="en-US" sz="1300" dirty="0">
                <a:solidFill>
                  <a:srgbClr val="5A6C82"/>
                </a:solidFill>
                <a:latin typeface="Calibri" pitchFamily="34" charset="0"/>
                <a:ea typeface="Calibri" pitchFamily="34" charset="-122"/>
                <a:cs typeface="Calibri" pitchFamily="34" charset="-120"/>
              </a:rPr>
              <a:t>Stages run left to right in the order they happen. Each lane is a person. Every arrow is a hand-off, and every hand-off is where the process stalls today.</a:t>
            </a:r>
            <a:endParaRPr lang="en-US" sz="1300" dirty="0"/>
          </a:p>
        </p:txBody>
      </p:sp>
      <p:pic>
        <p:nvPicPr>
          <p:cNvPr id="5" name="Image 0" descr="./img/journeymap.png">    </p:cNvPr>
          <p:cNvPicPr>
            <a:picLocks noChangeAspect="1"/>
          </p:cNvPicPr>
          <p:nvPr/>
        </p:nvPicPr>
        <p:blipFill>
          <a:blip r:embed="rId1"/>
          <a:stretch>
            <a:fillRect/>
          </a:stretch>
        </p:blipFill>
        <p:spPr>
          <a:xfrm>
            <a:off x="548640" y="1700784"/>
            <a:ext cx="11091672" cy="4023360"/>
          </a:xfrm>
          <a:prstGeom prst="rect">
            <a:avLst/>
          </a:prstGeom>
        </p:spPr>
      </p:pic>
      <p:sp>
        <p:nvSpPr>
          <p:cNvPr id="6" name="Shape 3"/>
          <p:cNvSpPr/>
          <p:nvPr/>
        </p:nvSpPr>
        <p:spPr>
          <a:xfrm>
            <a:off x="548640" y="5870448"/>
            <a:ext cx="11091672" cy="457200"/>
          </a:xfrm>
          <a:prstGeom prst="roundRect">
            <a:avLst>
              <a:gd name="adj" fmla="val 16000"/>
            </a:avLst>
          </a:prstGeom>
          <a:solidFill>
            <a:srgbClr val="FCF6E4"/>
          </a:solidFill>
          <a:ln w="11430">
            <a:solidFill>
              <a:srgbClr val="C9A227"/>
            </a:solidFill>
            <a:prstDash val="solid"/>
          </a:ln>
        </p:spPr>
      </p:sp>
      <p:sp>
        <p:nvSpPr>
          <p:cNvPr id="7" name="Text 4"/>
          <p:cNvSpPr txBox="1"/>
          <p:nvPr/>
        </p:nvSpPr>
        <p:spPr>
          <a:xfrm>
            <a:off x="777240" y="5870448"/>
            <a:ext cx="10607040" cy="457200"/>
          </a:xfrm>
          <a:prstGeom prst="rect">
            <a:avLst/>
          </a:prstGeom>
          <a:noFill/>
          <a:ln/>
        </p:spPr>
        <p:txBody>
          <a:bodyPr wrap="square" lIns="0" tIns="0" rIns="0" bIns="0" rtlCol="0" anchor="ctr"/>
          <a:lstStyle/>
          <a:p>
            <a:pPr indent="0" marL="0">
              <a:buNone/>
            </a:pPr>
            <a:r>
              <a:rPr lang="en-US" sz="1100" b="1" dirty="0">
                <a:solidFill>
                  <a:srgbClr val="7A6410"/>
                </a:solidFill>
                <a:latin typeface="Calibri" pitchFamily="34" charset="0"/>
                <a:ea typeface="Calibri" pitchFamily="34" charset="-122"/>
                <a:cs typeface="Calibri" pitchFamily="34" charset="-120"/>
              </a:rPr>
              <a:t>Look at stage one.  </a:t>
            </a:r>
            <a:pPr indent="0" marL="0">
              <a:buNone/>
            </a:pPr>
            <a:r>
              <a:rPr lang="en-US" sz="1100" dirty="0">
                <a:solidFill>
                  <a:srgbClr val="0C1E33"/>
                </a:solidFill>
                <a:latin typeface="Calibri" pitchFamily="34" charset="0"/>
                <a:ea typeface="Calibri" pitchFamily="34" charset="-122"/>
                <a:cs typeface="Calibri" pitchFamily="34" charset="-120"/>
              </a:rPr>
              <a:t>In the UAE a permit starts with a quota check. In Saudi Arabia it starts with a Nitaqat check, because the band decides whether a block visa can be requested at all. That is why a KSA rollout is not a UAE rollout with the names changed.</a:t>
            </a:r>
            <a:endParaRPr lang="en-US" sz="1100" dirty="0"/>
          </a:p>
        </p:txBody>
      </p:sp>
      <p:sp>
        <p:nvSpPr>
          <p:cNvPr id="8" name="Text 5"/>
          <p:cNvSpPr txBox="1"/>
          <p:nvPr/>
        </p:nvSpPr>
        <p:spPr>
          <a:xfrm>
            <a:off x="548640" y="6419088"/>
            <a:ext cx="8595360" cy="237744"/>
          </a:xfrm>
          <a:prstGeom prst="rect">
            <a:avLst/>
          </a:prstGeom>
          <a:noFill/>
          <a:ln/>
        </p:spPr>
        <p:txBody>
          <a:bodyPr wrap="square" lIns="0" tIns="0" rIns="0" bIns="0" rtlCol="0" anchor="ctr"/>
          <a:lstStyle/>
          <a:p>
            <a:pPr indent="0" marL="0">
              <a:buNone/>
            </a:pPr>
            <a:r>
              <a:rPr lang="en-US" sz="900" dirty="0">
                <a:solidFill>
                  <a:srgbClr val="96A3AE"/>
                </a:solidFill>
                <a:latin typeface="Calibri" pitchFamily="34" charset="0"/>
                <a:ea typeface="Calibri" pitchFamily="34" charset="-122"/>
                <a:cs typeface="Calibri" pitchFamily="34" charset="-120"/>
              </a:rPr>
              <a:t>INK IT Business Solutions  ·  Visa &amp; Permits Management  ·  Kingdom of Saudi Arabia</a:t>
            </a:r>
            <a:endParaRPr lang="en-US" sz="900" dirty="0"/>
          </a:p>
        </p:txBody>
      </p:sp>
      <p:sp>
        <p:nvSpPr>
          <p:cNvPr id="9" name="Text 6"/>
          <p:cNvSpPr txBox="1"/>
          <p:nvPr/>
        </p:nvSpPr>
        <p:spPr>
          <a:xfrm>
            <a:off x="11155680" y="6419088"/>
            <a:ext cx="457200" cy="237744"/>
          </a:xfrm>
          <a:prstGeom prst="rect">
            <a:avLst/>
          </a:prstGeom>
          <a:noFill/>
          <a:ln/>
        </p:spPr>
        <p:txBody>
          <a:bodyPr wrap="square" lIns="0" tIns="0" rIns="0" bIns="0" rtlCol="0" anchor="ctr"/>
          <a:lstStyle/>
          <a:p>
            <a:pPr algn="r" indent="0" marL="0">
              <a:buNone/>
            </a:pPr>
            <a:r>
              <a:rPr lang="en-US" sz="900" dirty="0">
                <a:solidFill>
                  <a:srgbClr val="96A3A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02336"/>
            <a:ext cx="11064240" cy="237744"/>
          </a:xfrm>
          <a:prstGeom prst="rect">
            <a:avLst/>
          </a:prstGeom>
          <a:noFill/>
          <a:ln/>
        </p:spPr>
        <p:txBody>
          <a:bodyPr wrap="square" lIns="0" tIns="0" rIns="0" bIns="0" rtlCol="0" anchor="ctr"/>
          <a:lstStyle/>
          <a:p>
            <a:pPr indent="0" marL="0">
              <a:buNone/>
            </a:pPr>
            <a:r>
              <a:rPr lang="en-US" sz="1100" b="1" spc="220" kern="0" dirty="0">
                <a:solidFill>
                  <a:srgbClr val="20A098"/>
                </a:solidFill>
                <a:latin typeface="Calibri" pitchFamily="34" charset="0"/>
                <a:ea typeface="Calibri" pitchFamily="34" charset="-122"/>
                <a:cs typeface="Calibri" pitchFamily="34" charset="-120"/>
              </a:rPr>
              <a:t>EXIT &amp; RE-ENTRY</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0C1E33"/>
                </a:solidFill>
                <a:latin typeface="Arial" pitchFamily="34" charset="0"/>
                <a:ea typeface="Arial" pitchFamily="34" charset="-122"/>
                <a:cs typeface="Arial" pitchFamily="34" charset="-120"/>
              </a:rPr>
              <a:t>The process that costs the most when it goes wrong.</a:t>
            </a:r>
            <a:endParaRPr lang="en-US" sz="3000" dirty="0"/>
          </a:p>
        </p:txBody>
      </p:sp>
      <p:sp>
        <p:nvSpPr>
          <p:cNvPr id="4" name="Text 2"/>
          <p:cNvSpPr txBox="1"/>
          <p:nvPr/>
        </p:nvSpPr>
        <p:spPr>
          <a:xfrm>
            <a:off x="548640" y="1243584"/>
            <a:ext cx="10424160" cy="420624"/>
          </a:xfrm>
          <a:prstGeom prst="rect">
            <a:avLst/>
          </a:prstGeom>
          <a:noFill/>
          <a:ln/>
        </p:spPr>
        <p:txBody>
          <a:bodyPr wrap="square" lIns="0" tIns="0" rIns="0" bIns="0" rtlCol="0" anchor="ctr"/>
          <a:lstStyle/>
          <a:p>
            <a:pPr indent="0" marL="0">
              <a:buNone/>
            </a:pPr>
            <a:r>
              <a:rPr lang="en-US" sz="1300" dirty="0">
                <a:solidFill>
                  <a:srgbClr val="5A6C82"/>
                </a:solidFill>
                <a:latin typeface="Calibri" pitchFamily="34" charset="0"/>
                <a:ea typeface="Calibri" pitchFamily="34" charset="-122"/>
                <a:cs typeface="Calibri" pitchFamily="34" charset="-120"/>
              </a:rPr>
              <a:t>Every expatriate leaving the Kingdom and intending to return needs an exit re-entry visa. Miss the return date and the Iqama is cancelled, and they cannot come back.</a:t>
            </a:r>
            <a:endParaRPr lang="en-US" sz="1300" dirty="0"/>
          </a:p>
        </p:txBody>
      </p:sp>
      <p:sp>
        <p:nvSpPr>
          <p:cNvPr id="5" name="Shape 3"/>
          <p:cNvSpPr/>
          <p:nvPr/>
        </p:nvSpPr>
        <p:spPr>
          <a:xfrm>
            <a:off x="548640" y="1810512"/>
            <a:ext cx="5394960" cy="621792"/>
          </a:xfrm>
          <a:prstGeom prst="roundRect">
            <a:avLst>
              <a:gd name="adj" fmla="val 11765"/>
            </a:avLst>
          </a:prstGeom>
          <a:solidFill>
            <a:srgbClr val="F4F6F7"/>
          </a:solidFill>
          <a:ln w="9525">
            <a:solidFill>
              <a:srgbClr val="E3E7EA"/>
            </a:solidFill>
            <a:prstDash val="solid"/>
          </a:ln>
        </p:spPr>
      </p:sp>
      <p:sp>
        <p:nvSpPr>
          <p:cNvPr id="6" name="Shape 4"/>
          <p:cNvSpPr/>
          <p:nvPr/>
        </p:nvSpPr>
        <p:spPr>
          <a:xfrm>
            <a:off x="713232" y="1947672"/>
            <a:ext cx="347472" cy="347472"/>
          </a:xfrm>
          <a:prstGeom prst="ellipse">
            <a:avLst/>
          </a:prstGeom>
          <a:solidFill>
            <a:srgbClr val="20A098"/>
          </a:solidFill>
          <a:ln/>
        </p:spPr>
      </p:sp>
      <p:sp>
        <p:nvSpPr>
          <p:cNvPr id="7" name="Text 5"/>
          <p:cNvSpPr txBox="1"/>
          <p:nvPr/>
        </p:nvSpPr>
        <p:spPr>
          <a:xfrm>
            <a:off x="713232" y="194767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1188720" y="1874520"/>
            <a:ext cx="4480560" cy="219456"/>
          </a:xfrm>
          <a:prstGeom prst="rect">
            <a:avLst/>
          </a:prstGeom>
          <a:noFill/>
          <a:ln/>
        </p:spPr>
        <p:txBody>
          <a:bodyPr wrap="square" lIns="0" tIns="0" rIns="0" bIns="0" rtlCol="0" anchor="ctr"/>
          <a:lstStyle/>
          <a:p>
            <a:pPr indent="0" marL="0">
              <a:buNone/>
            </a:pPr>
            <a:r>
              <a:rPr lang="en-US" sz="1200" b="1" dirty="0">
                <a:solidFill>
                  <a:srgbClr val="0C1E33"/>
                </a:solidFill>
                <a:latin typeface="Arial" pitchFamily="34" charset="0"/>
                <a:ea typeface="Arial" pitchFamily="34" charset="-122"/>
                <a:cs typeface="Arial" pitchFamily="34" charset="-120"/>
              </a:rPr>
              <a:t>Employee requests</a:t>
            </a:r>
            <a:endParaRPr lang="en-US" sz="1200" dirty="0"/>
          </a:p>
        </p:txBody>
      </p:sp>
      <p:sp>
        <p:nvSpPr>
          <p:cNvPr id="9" name="Text 7"/>
          <p:cNvSpPr txBox="1"/>
          <p:nvPr/>
        </p:nvSpPr>
        <p:spPr>
          <a:xfrm>
            <a:off x="1188720" y="2093976"/>
            <a:ext cx="4572000" cy="292608"/>
          </a:xfrm>
          <a:prstGeom prst="rect">
            <a:avLst/>
          </a:prstGeom>
          <a:noFill/>
          <a:ln/>
        </p:spPr>
        <p:txBody>
          <a:bodyPr wrap="square" lIns="0" tIns="0" rIns="0" bIns="0" rtlCol="0" anchor="ctr"/>
          <a:lstStyle/>
          <a:p>
            <a:pPr indent="0" marL="0">
              <a:lnSpc>
                <a:spcPts val="1250"/>
              </a:lnSpc>
              <a:buNone/>
            </a:pPr>
            <a:r>
              <a:rPr lang="en-US" sz="940" dirty="0">
                <a:solidFill>
                  <a:srgbClr val="5A6C82"/>
                </a:solidFill>
                <a:latin typeface="Calibri" pitchFamily="34" charset="0"/>
                <a:ea typeface="Calibri" pitchFamily="34" charset="-122"/>
                <a:cs typeface="Calibri" pitchFamily="34" charset="-120"/>
              </a:rPr>
              <a:t>Travel dates come from the person travelling, in self-service, not second hand.</a:t>
            </a:r>
            <a:endParaRPr lang="en-US" sz="940" dirty="0"/>
          </a:p>
        </p:txBody>
      </p:sp>
      <p:sp>
        <p:nvSpPr>
          <p:cNvPr id="10" name="Shape 8"/>
          <p:cNvSpPr/>
          <p:nvPr/>
        </p:nvSpPr>
        <p:spPr>
          <a:xfrm>
            <a:off x="548640" y="2532888"/>
            <a:ext cx="5394960" cy="621792"/>
          </a:xfrm>
          <a:prstGeom prst="roundRect">
            <a:avLst>
              <a:gd name="adj" fmla="val 11765"/>
            </a:avLst>
          </a:prstGeom>
          <a:solidFill>
            <a:srgbClr val="FFFFFF"/>
          </a:solidFill>
          <a:ln w="9525">
            <a:solidFill>
              <a:srgbClr val="E3E7EA"/>
            </a:solidFill>
            <a:prstDash val="solid"/>
          </a:ln>
        </p:spPr>
      </p:sp>
      <p:sp>
        <p:nvSpPr>
          <p:cNvPr id="11" name="Shape 9"/>
          <p:cNvSpPr/>
          <p:nvPr/>
        </p:nvSpPr>
        <p:spPr>
          <a:xfrm>
            <a:off x="713232" y="2670048"/>
            <a:ext cx="347472" cy="347472"/>
          </a:xfrm>
          <a:prstGeom prst="ellipse">
            <a:avLst/>
          </a:prstGeom>
          <a:solidFill>
            <a:srgbClr val="20A098"/>
          </a:solidFill>
          <a:ln/>
        </p:spPr>
      </p:sp>
      <p:sp>
        <p:nvSpPr>
          <p:cNvPr id="12" name="Text 10"/>
          <p:cNvSpPr txBox="1"/>
          <p:nvPr/>
        </p:nvSpPr>
        <p:spPr>
          <a:xfrm>
            <a:off x="713232" y="267004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1188720" y="2596896"/>
            <a:ext cx="4480560" cy="219456"/>
          </a:xfrm>
          <a:prstGeom prst="rect">
            <a:avLst/>
          </a:prstGeom>
          <a:noFill/>
          <a:ln/>
        </p:spPr>
        <p:txBody>
          <a:bodyPr wrap="square" lIns="0" tIns="0" rIns="0" bIns="0" rtlCol="0" anchor="ctr"/>
          <a:lstStyle/>
          <a:p>
            <a:pPr indent="0" marL="0">
              <a:buNone/>
            </a:pPr>
            <a:r>
              <a:rPr lang="en-US" sz="1200" b="1" dirty="0">
                <a:solidFill>
                  <a:srgbClr val="0C1E33"/>
                </a:solidFill>
                <a:latin typeface="Arial" pitchFamily="34" charset="0"/>
                <a:ea typeface="Arial" pitchFamily="34" charset="-122"/>
                <a:cs typeface="Arial" pitchFamily="34" charset="-120"/>
              </a:rPr>
              <a:t>Manager and HR approve</a:t>
            </a:r>
            <a:endParaRPr lang="en-US" sz="1200" dirty="0"/>
          </a:p>
        </p:txBody>
      </p:sp>
      <p:sp>
        <p:nvSpPr>
          <p:cNvPr id="14" name="Text 12"/>
          <p:cNvSpPr txBox="1"/>
          <p:nvPr/>
        </p:nvSpPr>
        <p:spPr>
          <a:xfrm>
            <a:off x="1188720" y="2816352"/>
            <a:ext cx="4572000" cy="292608"/>
          </a:xfrm>
          <a:prstGeom prst="rect">
            <a:avLst/>
          </a:prstGeom>
          <a:noFill/>
          <a:ln/>
        </p:spPr>
        <p:txBody>
          <a:bodyPr wrap="square" lIns="0" tIns="0" rIns="0" bIns="0" rtlCol="0" anchor="ctr"/>
          <a:lstStyle/>
          <a:p>
            <a:pPr indent="0" marL="0">
              <a:lnSpc>
                <a:spcPts val="1250"/>
              </a:lnSpc>
              <a:buNone/>
            </a:pPr>
            <a:r>
              <a:rPr lang="en-US" sz="940" dirty="0">
                <a:solidFill>
                  <a:srgbClr val="5A6C82"/>
                </a:solidFill>
                <a:latin typeface="Calibri" pitchFamily="34" charset="0"/>
                <a:ea typeface="Calibri" pitchFamily="34" charset="-122"/>
                <a:cs typeface="Calibri" pitchFamily="34" charset="-120"/>
              </a:rPr>
              <a:t>Absence against the leave calendar, then Iqama validity, dues, loans and notice.</a:t>
            </a:r>
            <a:endParaRPr lang="en-US" sz="940" dirty="0"/>
          </a:p>
        </p:txBody>
      </p:sp>
      <p:sp>
        <p:nvSpPr>
          <p:cNvPr id="15" name="Shape 13"/>
          <p:cNvSpPr/>
          <p:nvPr/>
        </p:nvSpPr>
        <p:spPr>
          <a:xfrm>
            <a:off x="548640" y="3255264"/>
            <a:ext cx="5394960" cy="621792"/>
          </a:xfrm>
          <a:prstGeom prst="roundRect">
            <a:avLst>
              <a:gd name="adj" fmla="val 11765"/>
            </a:avLst>
          </a:prstGeom>
          <a:solidFill>
            <a:srgbClr val="F4F6F7"/>
          </a:solidFill>
          <a:ln w="9525">
            <a:solidFill>
              <a:srgbClr val="E3E7EA"/>
            </a:solidFill>
            <a:prstDash val="solid"/>
          </a:ln>
        </p:spPr>
      </p:sp>
      <p:sp>
        <p:nvSpPr>
          <p:cNvPr id="16" name="Shape 14"/>
          <p:cNvSpPr/>
          <p:nvPr/>
        </p:nvSpPr>
        <p:spPr>
          <a:xfrm>
            <a:off x="713232" y="3392424"/>
            <a:ext cx="347472" cy="347472"/>
          </a:xfrm>
          <a:prstGeom prst="ellipse">
            <a:avLst/>
          </a:prstGeom>
          <a:solidFill>
            <a:srgbClr val="20A098"/>
          </a:solidFill>
          <a:ln/>
        </p:spPr>
      </p:sp>
      <p:sp>
        <p:nvSpPr>
          <p:cNvPr id="17" name="Text 15"/>
          <p:cNvSpPr txBox="1"/>
          <p:nvPr/>
        </p:nvSpPr>
        <p:spPr>
          <a:xfrm>
            <a:off x="713232" y="339242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txBox="1"/>
          <p:nvPr/>
        </p:nvSpPr>
        <p:spPr>
          <a:xfrm>
            <a:off x="1188720" y="3319272"/>
            <a:ext cx="4480560" cy="219456"/>
          </a:xfrm>
          <a:prstGeom prst="rect">
            <a:avLst/>
          </a:prstGeom>
          <a:noFill/>
          <a:ln/>
        </p:spPr>
        <p:txBody>
          <a:bodyPr wrap="square" lIns="0" tIns="0" rIns="0" bIns="0" rtlCol="0" anchor="ctr"/>
          <a:lstStyle/>
          <a:p>
            <a:pPr indent="0" marL="0">
              <a:buNone/>
            </a:pPr>
            <a:r>
              <a:rPr lang="en-US" sz="1200" b="1" dirty="0">
                <a:solidFill>
                  <a:srgbClr val="0C1E33"/>
                </a:solidFill>
                <a:latin typeface="Arial" pitchFamily="34" charset="0"/>
                <a:ea typeface="Arial" pitchFamily="34" charset="-122"/>
                <a:cs typeface="Arial" pitchFamily="34" charset="-120"/>
              </a:rPr>
              <a:t>Muqeem visa issued</a:t>
            </a:r>
            <a:endParaRPr lang="en-US" sz="1200" dirty="0"/>
          </a:p>
        </p:txBody>
      </p:sp>
      <p:sp>
        <p:nvSpPr>
          <p:cNvPr id="19" name="Text 17"/>
          <p:cNvSpPr txBox="1"/>
          <p:nvPr/>
        </p:nvSpPr>
        <p:spPr>
          <a:xfrm>
            <a:off x="1188720" y="3538728"/>
            <a:ext cx="4572000" cy="292608"/>
          </a:xfrm>
          <a:prstGeom prst="rect">
            <a:avLst/>
          </a:prstGeom>
          <a:noFill/>
          <a:ln/>
        </p:spPr>
        <p:txBody>
          <a:bodyPr wrap="square" lIns="0" tIns="0" rIns="0" bIns="0" rtlCol="0" anchor="ctr"/>
          <a:lstStyle/>
          <a:p>
            <a:pPr indent="0" marL="0">
              <a:lnSpc>
                <a:spcPts val="1250"/>
              </a:lnSpc>
              <a:buNone/>
            </a:pPr>
            <a:r>
              <a:rPr lang="en-US" sz="940" dirty="0">
                <a:solidFill>
                  <a:srgbClr val="5A6C82"/>
                </a:solidFill>
                <a:latin typeface="Calibri" pitchFamily="34" charset="0"/>
                <a:ea typeface="Calibri" pitchFamily="34" charset="-122"/>
                <a:cs typeface="Calibri" pitchFamily="34" charset="-120"/>
              </a:rPr>
              <a:t>Single or multiple, duration recorded, SADAD fee captured with the receipt.</a:t>
            </a:r>
            <a:endParaRPr lang="en-US" sz="940" dirty="0"/>
          </a:p>
        </p:txBody>
      </p:sp>
      <p:sp>
        <p:nvSpPr>
          <p:cNvPr id="20" name="Shape 18"/>
          <p:cNvSpPr/>
          <p:nvPr/>
        </p:nvSpPr>
        <p:spPr>
          <a:xfrm>
            <a:off x="548640" y="3977640"/>
            <a:ext cx="5394960" cy="621792"/>
          </a:xfrm>
          <a:prstGeom prst="roundRect">
            <a:avLst>
              <a:gd name="adj" fmla="val 11765"/>
            </a:avLst>
          </a:prstGeom>
          <a:solidFill>
            <a:srgbClr val="FFFFFF"/>
          </a:solidFill>
          <a:ln w="9525">
            <a:solidFill>
              <a:srgbClr val="E3E7EA"/>
            </a:solidFill>
            <a:prstDash val="solid"/>
          </a:ln>
        </p:spPr>
      </p:sp>
      <p:sp>
        <p:nvSpPr>
          <p:cNvPr id="21" name="Shape 19"/>
          <p:cNvSpPr/>
          <p:nvPr/>
        </p:nvSpPr>
        <p:spPr>
          <a:xfrm>
            <a:off x="713232" y="4114800"/>
            <a:ext cx="347472" cy="347472"/>
          </a:xfrm>
          <a:prstGeom prst="ellipse">
            <a:avLst/>
          </a:prstGeom>
          <a:solidFill>
            <a:srgbClr val="20A098"/>
          </a:solidFill>
          <a:ln/>
        </p:spPr>
      </p:sp>
      <p:sp>
        <p:nvSpPr>
          <p:cNvPr id="22" name="Text 20"/>
          <p:cNvSpPr txBox="1"/>
          <p:nvPr/>
        </p:nvSpPr>
        <p:spPr>
          <a:xfrm>
            <a:off x="713232" y="411480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1"/>
          <p:cNvSpPr txBox="1"/>
          <p:nvPr/>
        </p:nvSpPr>
        <p:spPr>
          <a:xfrm>
            <a:off x="1188720" y="4041648"/>
            <a:ext cx="4480560" cy="219456"/>
          </a:xfrm>
          <a:prstGeom prst="rect">
            <a:avLst/>
          </a:prstGeom>
          <a:noFill/>
          <a:ln/>
        </p:spPr>
        <p:txBody>
          <a:bodyPr wrap="square" lIns="0" tIns="0" rIns="0" bIns="0" rtlCol="0" anchor="ctr"/>
          <a:lstStyle/>
          <a:p>
            <a:pPr indent="0" marL="0">
              <a:buNone/>
            </a:pPr>
            <a:r>
              <a:rPr lang="en-US" sz="1200" b="1" dirty="0">
                <a:solidFill>
                  <a:srgbClr val="0C1E33"/>
                </a:solidFill>
                <a:latin typeface="Arial" pitchFamily="34" charset="0"/>
                <a:ea typeface="Arial" pitchFamily="34" charset="-122"/>
                <a:cs typeface="Arial" pitchFamily="34" charset="-120"/>
              </a:rPr>
              <a:t>Departure recorded</a:t>
            </a:r>
            <a:endParaRPr lang="en-US" sz="1200" dirty="0"/>
          </a:p>
        </p:txBody>
      </p:sp>
      <p:sp>
        <p:nvSpPr>
          <p:cNvPr id="24" name="Text 22"/>
          <p:cNvSpPr txBox="1"/>
          <p:nvPr/>
        </p:nvSpPr>
        <p:spPr>
          <a:xfrm>
            <a:off x="1188720" y="4261104"/>
            <a:ext cx="4572000" cy="292608"/>
          </a:xfrm>
          <a:prstGeom prst="rect">
            <a:avLst/>
          </a:prstGeom>
          <a:noFill/>
          <a:ln/>
        </p:spPr>
        <p:txBody>
          <a:bodyPr wrap="square" lIns="0" tIns="0" rIns="0" bIns="0" rtlCol="0" anchor="ctr"/>
          <a:lstStyle/>
          <a:p>
            <a:pPr indent="0" marL="0">
              <a:lnSpc>
                <a:spcPts val="1250"/>
              </a:lnSpc>
              <a:buNone/>
            </a:pPr>
            <a:r>
              <a:rPr lang="en-US" sz="940" dirty="0">
                <a:solidFill>
                  <a:srgbClr val="5A6C82"/>
                </a:solidFill>
                <a:latin typeface="Calibri" pitchFamily="34" charset="0"/>
                <a:ea typeface="Calibri" pitchFamily="34" charset="-122"/>
                <a:cs typeface="Calibri" pitchFamily="34" charset="-120"/>
              </a:rPr>
              <a:t>The return-by clock is calculated from the actual departure, not the application.</a:t>
            </a:r>
            <a:endParaRPr lang="en-US" sz="940" dirty="0"/>
          </a:p>
        </p:txBody>
      </p:sp>
      <p:sp>
        <p:nvSpPr>
          <p:cNvPr id="25" name="Shape 23"/>
          <p:cNvSpPr/>
          <p:nvPr/>
        </p:nvSpPr>
        <p:spPr>
          <a:xfrm>
            <a:off x="548640" y="4700016"/>
            <a:ext cx="5394960" cy="621792"/>
          </a:xfrm>
          <a:prstGeom prst="roundRect">
            <a:avLst>
              <a:gd name="adj" fmla="val 11765"/>
            </a:avLst>
          </a:prstGeom>
          <a:solidFill>
            <a:srgbClr val="F4F6F7"/>
          </a:solidFill>
          <a:ln w="9525">
            <a:solidFill>
              <a:srgbClr val="E3E7EA"/>
            </a:solidFill>
            <a:prstDash val="solid"/>
          </a:ln>
        </p:spPr>
      </p:sp>
      <p:sp>
        <p:nvSpPr>
          <p:cNvPr id="26" name="Shape 24"/>
          <p:cNvSpPr/>
          <p:nvPr/>
        </p:nvSpPr>
        <p:spPr>
          <a:xfrm>
            <a:off x="713232" y="4837176"/>
            <a:ext cx="347472" cy="347472"/>
          </a:xfrm>
          <a:prstGeom prst="ellipse">
            <a:avLst/>
          </a:prstGeom>
          <a:solidFill>
            <a:srgbClr val="C9821A"/>
          </a:solidFill>
          <a:ln/>
        </p:spPr>
      </p:sp>
      <p:sp>
        <p:nvSpPr>
          <p:cNvPr id="27" name="Text 25"/>
          <p:cNvSpPr txBox="1"/>
          <p:nvPr/>
        </p:nvSpPr>
        <p:spPr>
          <a:xfrm>
            <a:off x="713232" y="483717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8" name="Text 26"/>
          <p:cNvSpPr txBox="1"/>
          <p:nvPr/>
        </p:nvSpPr>
        <p:spPr>
          <a:xfrm>
            <a:off x="1188720" y="4764024"/>
            <a:ext cx="4480560" cy="219456"/>
          </a:xfrm>
          <a:prstGeom prst="rect">
            <a:avLst/>
          </a:prstGeom>
          <a:noFill/>
          <a:ln/>
        </p:spPr>
        <p:txBody>
          <a:bodyPr wrap="square" lIns="0" tIns="0" rIns="0" bIns="0" rtlCol="0" anchor="ctr"/>
          <a:lstStyle/>
          <a:p>
            <a:pPr indent="0" marL="0">
              <a:buNone/>
            </a:pPr>
            <a:r>
              <a:rPr lang="en-US" sz="1200" b="1" dirty="0">
                <a:solidFill>
                  <a:srgbClr val="0C1E33"/>
                </a:solidFill>
                <a:latin typeface="Arial" pitchFamily="34" charset="0"/>
                <a:ea typeface="Arial" pitchFamily="34" charset="-122"/>
                <a:cs typeface="Arial" pitchFamily="34" charset="-120"/>
              </a:rPr>
              <a:t>Return monitored</a:t>
            </a:r>
            <a:endParaRPr lang="en-US" sz="1200" dirty="0"/>
          </a:p>
        </p:txBody>
      </p:sp>
      <p:sp>
        <p:nvSpPr>
          <p:cNvPr id="29" name="Text 27"/>
          <p:cNvSpPr txBox="1"/>
          <p:nvPr/>
        </p:nvSpPr>
        <p:spPr>
          <a:xfrm>
            <a:off x="1188720" y="4983480"/>
            <a:ext cx="4572000" cy="292608"/>
          </a:xfrm>
          <a:prstGeom prst="rect">
            <a:avLst/>
          </a:prstGeom>
          <a:noFill/>
          <a:ln/>
        </p:spPr>
        <p:txBody>
          <a:bodyPr wrap="square" lIns="0" tIns="0" rIns="0" bIns="0" rtlCol="0" anchor="ctr"/>
          <a:lstStyle/>
          <a:p>
            <a:pPr indent="0" marL="0">
              <a:lnSpc>
                <a:spcPts val="1250"/>
              </a:lnSpc>
              <a:buNone/>
            </a:pPr>
            <a:r>
              <a:rPr lang="en-US" sz="940" dirty="0">
                <a:solidFill>
                  <a:srgbClr val="5A6C82"/>
                </a:solidFill>
                <a:latin typeface="Calibri" pitchFamily="34" charset="0"/>
                <a:ea typeface="Calibri" pitchFamily="34" charset="-122"/>
                <a:cs typeface="Calibri" pitchFamily="34" charset="-120"/>
              </a:rPr>
              <a:t>Alerts at 14, 7 and 2 days to employee, line manager and HRBP.</a:t>
            </a:r>
            <a:endParaRPr lang="en-US" sz="940" dirty="0"/>
          </a:p>
        </p:txBody>
      </p:sp>
      <p:sp>
        <p:nvSpPr>
          <p:cNvPr id="30" name="Shape 28"/>
          <p:cNvSpPr/>
          <p:nvPr/>
        </p:nvSpPr>
        <p:spPr>
          <a:xfrm>
            <a:off x="548640" y="5422392"/>
            <a:ext cx="5394960" cy="621792"/>
          </a:xfrm>
          <a:prstGeom prst="roundRect">
            <a:avLst>
              <a:gd name="adj" fmla="val 11765"/>
            </a:avLst>
          </a:prstGeom>
          <a:solidFill>
            <a:srgbClr val="FFFFFF"/>
          </a:solidFill>
          <a:ln w="9525">
            <a:solidFill>
              <a:srgbClr val="E3E7EA"/>
            </a:solidFill>
            <a:prstDash val="solid"/>
          </a:ln>
        </p:spPr>
      </p:sp>
      <p:sp>
        <p:nvSpPr>
          <p:cNvPr id="31" name="Shape 29"/>
          <p:cNvSpPr/>
          <p:nvPr/>
        </p:nvSpPr>
        <p:spPr>
          <a:xfrm>
            <a:off x="713232" y="5559552"/>
            <a:ext cx="347472" cy="347472"/>
          </a:xfrm>
          <a:prstGeom prst="ellipse">
            <a:avLst/>
          </a:prstGeom>
          <a:solidFill>
            <a:srgbClr val="C9821A"/>
          </a:solidFill>
          <a:ln/>
        </p:spPr>
      </p:sp>
      <p:sp>
        <p:nvSpPr>
          <p:cNvPr id="32" name="Text 30"/>
          <p:cNvSpPr txBox="1"/>
          <p:nvPr/>
        </p:nvSpPr>
        <p:spPr>
          <a:xfrm>
            <a:off x="713232" y="555955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1"/>
          <p:cNvSpPr txBox="1"/>
          <p:nvPr/>
        </p:nvSpPr>
        <p:spPr>
          <a:xfrm>
            <a:off x="1188720" y="5486400"/>
            <a:ext cx="4480560" cy="219456"/>
          </a:xfrm>
          <a:prstGeom prst="rect">
            <a:avLst/>
          </a:prstGeom>
          <a:noFill/>
          <a:ln/>
        </p:spPr>
        <p:txBody>
          <a:bodyPr wrap="square" lIns="0" tIns="0" rIns="0" bIns="0" rtlCol="0" anchor="ctr"/>
          <a:lstStyle/>
          <a:p>
            <a:pPr indent="0" marL="0">
              <a:buNone/>
            </a:pPr>
            <a:r>
              <a:rPr lang="en-US" sz="1200" b="1" dirty="0">
                <a:solidFill>
                  <a:srgbClr val="0C1E33"/>
                </a:solidFill>
                <a:latin typeface="Arial" pitchFamily="34" charset="0"/>
                <a:ea typeface="Arial" pitchFamily="34" charset="-122"/>
                <a:cs typeface="Arial" pitchFamily="34" charset="-120"/>
              </a:rPr>
              <a:t>Re-entry confirmed</a:t>
            </a:r>
            <a:endParaRPr lang="en-US" sz="1200" dirty="0"/>
          </a:p>
        </p:txBody>
      </p:sp>
      <p:sp>
        <p:nvSpPr>
          <p:cNvPr id="34" name="Text 32"/>
          <p:cNvSpPr txBox="1"/>
          <p:nvPr/>
        </p:nvSpPr>
        <p:spPr>
          <a:xfrm>
            <a:off x="1188720" y="5705856"/>
            <a:ext cx="4572000" cy="292608"/>
          </a:xfrm>
          <a:prstGeom prst="rect">
            <a:avLst/>
          </a:prstGeom>
          <a:noFill/>
          <a:ln/>
        </p:spPr>
        <p:txBody>
          <a:bodyPr wrap="square" lIns="0" tIns="0" rIns="0" bIns="0" rtlCol="0" anchor="ctr"/>
          <a:lstStyle/>
          <a:p>
            <a:pPr indent="0" marL="0">
              <a:lnSpc>
                <a:spcPts val="1250"/>
              </a:lnSpc>
              <a:buNone/>
            </a:pPr>
            <a:r>
              <a:rPr lang="en-US" sz="940" dirty="0">
                <a:solidFill>
                  <a:srgbClr val="5A6C82"/>
                </a:solidFill>
                <a:latin typeface="Calibri" pitchFamily="34" charset="0"/>
                <a:ea typeface="Calibri" pitchFamily="34" charset="-122"/>
                <a:cs typeface="Calibri" pitchFamily="34" charset="-120"/>
              </a:rPr>
              <a:t>Arrival recorded, Iqama remains valid, case closes.</a:t>
            </a:r>
            <a:endParaRPr lang="en-US" sz="940" dirty="0"/>
          </a:p>
        </p:txBody>
      </p:sp>
      <p:pic>
        <p:nvPicPr>
          <p:cNvPr id="35" name="Image 0" descr="./img/exit-tracker.jpg">    </p:cNvPr>
          <p:cNvPicPr>
            <a:picLocks noChangeAspect="1"/>
          </p:cNvPicPr>
          <p:nvPr/>
        </p:nvPicPr>
        <p:blipFill>
          <a:blip r:embed="rId1"/>
          <a:stretch>
            <a:fillRect/>
          </a:stretch>
        </p:blipFill>
        <p:spPr>
          <a:xfrm>
            <a:off x="6172200" y="1810512"/>
            <a:ext cx="5440680" cy="914400"/>
          </a:xfrm>
          <a:prstGeom prst="rect">
            <a:avLst/>
          </a:prstGeom>
          <a:effectLst>
            <a:outerShdw sx="100000" sy="100000" kx="0" ky="0" algn="bl" rotWithShape="0" blurRad="177800" dist="38100" dir="5400000">
              <a:srgbClr val="000000">
                <a:alpha val="20000"/>
              </a:srgbClr>
            </a:outerShdw>
          </a:effectLst>
        </p:spPr>
      </p:pic>
      <p:sp>
        <p:nvSpPr>
          <p:cNvPr id="36" name="Shape 33"/>
          <p:cNvSpPr/>
          <p:nvPr/>
        </p:nvSpPr>
        <p:spPr>
          <a:xfrm>
            <a:off x="6172200" y="5230368"/>
            <a:ext cx="5440680" cy="1060704"/>
          </a:xfrm>
          <a:prstGeom prst="roundRect">
            <a:avLst>
              <a:gd name="adj" fmla="val 6897"/>
            </a:avLst>
          </a:prstGeom>
          <a:solidFill>
            <a:srgbClr val="FDECE9"/>
          </a:solidFill>
          <a:ln w="11430">
            <a:solidFill>
              <a:srgbClr val="E0A79D"/>
            </a:solidFill>
            <a:prstDash val="solid"/>
          </a:ln>
        </p:spPr>
      </p:sp>
      <p:sp>
        <p:nvSpPr>
          <p:cNvPr id="37" name="Text 34"/>
          <p:cNvSpPr txBox="1"/>
          <p:nvPr/>
        </p:nvSpPr>
        <p:spPr>
          <a:xfrm>
            <a:off x="6355080" y="5340096"/>
            <a:ext cx="5074920" cy="256032"/>
          </a:xfrm>
          <a:prstGeom prst="rect">
            <a:avLst/>
          </a:prstGeom>
          <a:noFill/>
          <a:ln/>
        </p:spPr>
        <p:txBody>
          <a:bodyPr wrap="square" lIns="0" tIns="0" rIns="0" bIns="0" rtlCol="0" anchor="ctr"/>
          <a:lstStyle/>
          <a:p>
            <a:pPr indent="0" marL="0">
              <a:buNone/>
            </a:pPr>
            <a:r>
              <a:rPr lang="en-US" sz="1150" b="1" dirty="0">
                <a:solidFill>
                  <a:srgbClr val="8E3428"/>
                </a:solidFill>
                <a:latin typeface="Arial" pitchFamily="34" charset="0"/>
                <a:ea typeface="Arial" pitchFamily="34" charset="-122"/>
                <a:cs typeface="Arial" pitchFamily="34" charset="-120"/>
              </a:rPr>
              <a:t>Forty-seven outside the Kingdom. Two already overdue.</a:t>
            </a:r>
            <a:endParaRPr lang="en-US" sz="1150" dirty="0"/>
          </a:p>
        </p:txBody>
      </p:sp>
      <p:sp>
        <p:nvSpPr>
          <p:cNvPr id="38" name="Text 35"/>
          <p:cNvSpPr txBox="1"/>
          <p:nvPr/>
        </p:nvSpPr>
        <p:spPr>
          <a:xfrm>
            <a:off x="6355080" y="5614416"/>
            <a:ext cx="5074920" cy="585216"/>
          </a:xfrm>
          <a:prstGeom prst="rect">
            <a:avLst/>
          </a:prstGeom>
          <a:noFill/>
          <a:ln/>
        </p:spPr>
        <p:txBody>
          <a:bodyPr wrap="square" lIns="0" tIns="0" rIns="0" bIns="0" rtlCol="0" anchor="ctr"/>
          <a:lstStyle/>
          <a:p>
            <a:pPr indent="0" marL="0">
              <a:lnSpc>
                <a:spcPts val="1300"/>
              </a:lnSpc>
              <a:buNone/>
            </a:pPr>
            <a:r>
              <a:rPr lang="en-US" sz="960" dirty="0">
                <a:solidFill>
                  <a:srgbClr val="5A6C82"/>
                </a:solidFill>
                <a:latin typeface="Calibri" pitchFamily="34" charset="0"/>
                <a:ea typeface="Calibri" pitchFamily="34" charset="-122"/>
                <a:cs typeface="Calibri" pitchFamily="34" charset="-120"/>
              </a:rPr>
              <a:t>Twelve more return inside a fortnight. That is a question your HR director cannot answer today. Here it is one screen, and the overdue rows have already escalated to their line managers.</a:t>
            </a:r>
            <a:endParaRPr lang="en-US" sz="960" dirty="0"/>
          </a:p>
        </p:txBody>
      </p:sp>
      <p:sp>
        <p:nvSpPr>
          <p:cNvPr id="39" name="Text 36"/>
          <p:cNvSpPr txBox="1"/>
          <p:nvPr/>
        </p:nvSpPr>
        <p:spPr>
          <a:xfrm>
            <a:off x="548640" y="6419088"/>
            <a:ext cx="8595360" cy="237744"/>
          </a:xfrm>
          <a:prstGeom prst="rect">
            <a:avLst/>
          </a:prstGeom>
          <a:noFill/>
          <a:ln/>
        </p:spPr>
        <p:txBody>
          <a:bodyPr wrap="square" lIns="0" tIns="0" rIns="0" bIns="0" rtlCol="0" anchor="ctr"/>
          <a:lstStyle/>
          <a:p>
            <a:pPr indent="0" marL="0">
              <a:buNone/>
            </a:pPr>
            <a:r>
              <a:rPr lang="en-US" sz="900" dirty="0">
                <a:solidFill>
                  <a:srgbClr val="96A3AE"/>
                </a:solidFill>
                <a:latin typeface="Calibri" pitchFamily="34" charset="0"/>
                <a:ea typeface="Calibri" pitchFamily="34" charset="-122"/>
                <a:cs typeface="Calibri" pitchFamily="34" charset="-120"/>
              </a:rPr>
              <a:t>INK IT Business Solutions  ·  Visa &amp; Permits Management  ·  Kingdom of Saudi Arabia</a:t>
            </a:r>
            <a:endParaRPr lang="en-US" sz="900" dirty="0"/>
          </a:p>
        </p:txBody>
      </p:sp>
      <p:sp>
        <p:nvSpPr>
          <p:cNvPr id="40" name="Text 37"/>
          <p:cNvSpPr txBox="1"/>
          <p:nvPr/>
        </p:nvSpPr>
        <p:spPr>
          <a:xfrm>
            <a:off x="11155680" y="6419088"/>
            <a:ext cx="457200" cy="237744"/>
          </a:xfrm>
          <a:prstGeom prst="rect">
            <a:avLst/>
          </a:prstGeom>
          <a:noFill/>
          <a:ln/>
        </p:spPr>
        <p:txBody>
          <a:bodyPr wrap="square" lIns="0" tIns="0" rIns="0" bIns="0" rtlCol="0" anchor="ctr"/>
          <a:lstStyle/>
          <a:p>
            <a:pPr algn="r" indent="0" marL="0">
              <a:buNone/>
            </a:pPr>
            <a:r>
              <a:rPr lang="en-US" sz="900" dirty="0">
                <a:solidFill>
                  <a:srgbClr val="96A3A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E33"/>
        </a:solidFill>
      </p:bgPr>
    </p:bg>
    <p:spTree>
      <p:nvGrpSpPr>
        <p:cNvPr id="1" name=""/>
        <p:cNvGrpSpPr/>
        <p:nvPr/>
      </p:nvGrpSpPr>
      <p:grpSpPr>
        <a:xfrm>
          <a:off x="0" y="0"/>
          <a:ext cx="0" cy="0"/>
          <a:chOff x="0" y="0"/>
          <a:chExt cx="0" cy="0"/>
        </a:xfrm>
      </p:grpSpPr>
      <p:sp>
        <p:nvSpPr>
          <p:cNvPr id="2" name="Shape 0"/>
          <p:cNvSpPr/>
          <p:nvPr/>
        </p:nvSpPr>
        <p:spPr>
          <a:xfrm>
            <a:off x="9692640" y="-2377440"/>
            <a:ext cx="5852160" cy="5852160"/>
          </a:xfrm>
          <a:prstGeom prst="ellipse">
            <a:avLst/>
          </a:prstGeom>
          <a:solidFill>
            <a:srgbClr val="20A098">
              <a:alpha val="10000"/>
            </a:srgbClr>
          </a:solidFill>
          <a:ln/>
        </p:spPr>
      </p:sp>
      <p:sp>
        <p:nvSpPr>
          <p:cNvPr id="3" name="Text 1"/>
          <p:cNvSpPr txBox="1"/>
          <p:nvPr/>
        </p:nvSpPr>
        <p:spPr>
          <a:xfrm>
            <a:off x="548640" y="402336"/>
            <a:ext cx="11064240" cy="237744"/>
          </a:xfrm>
          <a:prstGeom prst="rect">
            <a:avLst/>
          </a:prstGeom>
          <a:noFill/>
          <a:ln/>
        </p:spPr>
        <p:txBody>
          <a:bodyPr wrap="square" lIns="0" tIns="0" rIns="0" bIns="0" rtlCol="0" anchor="ctr"/>
          <a:lstStyle/>
          <a:p>
            <a:pPr indent="0" marL="0">
              <a:buNone/>
            </a:pPr>
            <a:r>
              <a:rPr lang="en-US" sz="1100" b="1" spc="220" kern="0" dirty="0">
                <a:solidFill>
                  <a:srgbClr val="C9A227"/>
                </a:solidFill>
                <a:latin typeface="Calibri" pitchFamily="34" charset="0"/>
                <a:ea typeface="Calibri" pitchFamily="34" charset="-122"/>
                <a:cs typeface="Calibri" pitchFamily="34" charset="-120"/>
              </a:rPr>
              <a:t>SAUDIZATION &amp; NITAQAT</a:t>
            </a:r>
            <a:endParaRPr lang="en-US" sz="1100" dirty="0"/>
          </a:p>
        </p:txBody>
      </p:sp>
      <p:sp>
        <p:nvSpPr>
          <p:cNvPr id="4" name="Text 2"/>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The number that decides whether you can hire at all.</a:t>
            </a:r>
            <a:endParaRPr lang="en-US" sz="3000" dirty="0"/>
          </a:p>
        </p:txBody>
      </p:sp>
      <p:sp>
        <p:nvSpPr>
          <p:cNvPr id="5" name="Text 3"/>
          <p:cNvSpPr txBox="1"/>
          <p:nvPr/>
        </p:nvSpPr>
        <p:spPr>
          <a:xfrm>
            <a:off x="548640" y="1243584"/>
            <a:ext cx="10424160" cy="329184"/>
          </a:xfrm>
          <a:prstGeom prst="rect">
            <a:avLst/>
          </a:prstGeom>
          <a:noFill/>
          <a:ln/>
        </p:spPr>
        <p:txBody>
          <a:bodyPr wrap="square" lIns="0" tIns="0" rIns="0" bIns="0" rtlCol="0" anchor="ctr"/>
          <a:lstStyle/>
          <a:p>
            <a:pPr indent="0" marL="0">
              <a:buNone/>
            </a:pPr>
            <a:r>
              <a:rPr lang="en-US" sz="1250" dirty="0">
                <a:solidFill>
                  <a:srgbClr val="A9C2DA"/>
                </a:solidFill>
                <a:latin typeface="Calibri" pitchFamily="34" charset="0"/>
                <a:ea typeface="Calibri" pitchFamily="34" charset="-122"/>
                <a:cs typeface="Calibri" pitchFamily="34" charset="-120"/>
              </a:rPr>
              <a:t>Nitaqat scores every establishment on the share of Saudi nationals it employs and puts it in a band. The band is not a report card, it is a switch.</a:t>
            </a:r>
            <a:endParaRPr lang="en-US" sz="1250" dirty="0"/>
          </a:p>
        </p:txBody>
      </p:sp>
      <p:sp>
        <p:nvSpPr>
          <p:cNvPr id="6" name="Shape 4"/>
          <p:cNvSpPr/>
          <p:nvPr/>
        </p:nvSpPr>
        <p:spPr>
          <a:xfrm>
            <a:off x="548640" y="1773936"/>
            <a:ext cx="5394960" cy="640080"/>
          </a:xfrm>
          <a:prstGeom prst="roundRect">
            <a:avLst>
              <a:gd name="adj" fmla="val 10000"/>
            </a:avLst>
          </a:prstGeom>
          <a:solidFill>
            <a:srgbClr val="16304C"/>
          </a:solidFill>
          <a:ln w="10160">
            <a:solidFill>
              <a:srgbClr val="27415C"/>
            </a:solidFill>
            <a:prstDash val="solid"/>
          </a:ln>
        </p:spPr>
      </p:sp>
      <p:sp>
        <p:nvSpPr>
          <p:cNvPr id="7" name="Shape 5"/>
          <p:cNvSpPr/>
          <p:nvPr/>
        </p:nvSpPr>
        <p:spPr>
          <a:xfrm>
            <a:off x="713232" y="1975104"/>
            <a:ext cx="987552" cy="237744"/>
          </a:xfrm>
          <a:prstGeom prst="roundRect">
            <a:avLst>
              <a:gd name="adj" fmla="val 50000"/>
            </a:avLst>
          </a:prstGeom>
          <a:solidFill>
            <a:srgbClr val="17795E"/>
          </a:solidFill>
          <a:ln/>
        </p:spPr>
      </p:sp>
      <p:sp>
        <p:nvSpPr>
          <p:cNvPr id="8" name="Text 6"/>
          <p:cNvSpPr txBox="1"/>
          <p:nvPr/>
        </p:nvSpPr>
        <p:spPr>
          <a:xfrm>
            <a:off x="713232" y="1975104"/>
            <a:ext cx="9875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PLATINUM</a:t>
            </a:r>
            <a:endParaRPr lang="en-US" sz="850" dirty="0"/>
          </a:p>
        </p:txBody>
      </p:sp>
      <p:sp>
        <p:nvSpPr>
          <p:cNvPr id="9" name="Text 7"/>
          <p:cNvSpPr txBox="1"/>
          <p:nvPr/>
        </p:nvSpPr>
        <p:spPr>
          <a:xfrm>
            <a:off x="1847088" y="1856232"/>
            <a:ext cx="3931920" cy="219456"/>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All services open</a:t>
            </a:r>
            <a:endParaRPr lang="en-US" sz="1200" dirty="0"/>
          </a:p>
        </p:txBody>
      </p:sp>
      <p:sp>
        <p:nvSpPr>
          <p:cNvPr id="10" name="Text 8"/>
          <p:cNvSpPr txBox="1"/>
          <p:nvPr/>
        </p:nvSpPr>
        <p:spPr>
          <a:xfrm>
            <a:off x="1847088" y="2084832"/>
            <a:ext cx="3931920" cy="237744"/>
          </a:xfrm>
          <a:prstGeom prst="rect">
            <a:avLst/>
          </a:prstGeom>
          <a:noFill/>
          <a:ln/>
        </p:spPr>
        <p:txBody>
          <a:bodyPr wrap="square" lIns="0" tIns="0" rIns="0" bIns="0" rtlCol="0" anchor="ctr"/>
          <a:lstStyle/>
          <a:p>
            <a:pPr indent="0" marL="0">
              <a:buNone/>
            </a:pPr>
            <a:r>
              <a:rPr lang="en-US" sz="940" dirty="0">
                <a:solidFill>
                  <a:srgbClr val="A9C2DA"/>
                </a:solidFill>
                <a:latin typeface="Calibri" pitchFamily="34" charset="0"/>
                <a:ea typeface="Calibri" pitchFamily="34" charset="-122"/>
                <a:cs typeface="Calibri" pitchFamily="34" charset="-120"/>
              </a:rPr>
              <a:t>Block visas, renewals and transfers all available</a:t>
            </a:r>
            <a:endParaRPr lang="en-US" sz="940" dirty="0"/>
          </a:p>
        </p:txBody>
      </p:sp>
      <p:sp>
        <p:nvSpPr>
          <p:cNvPr id="11" name="Shape 9"/>
          <p:cNvSpPr/>
          <p:nvPr/>
        </p:nvSpPr>
        <p:spPr>
          <a:xfrm>
            <a:off x="548640" y="2523744"/>
            <a:ext cx="5394960" cy="640080"/>
          </a:xfrm>
          <a:prstGeom prst="roundRect">
            <a:avLst>
              <a:gd name="adj" fmla="val 10000"/>
            </a:avLst>
          </a:prstGeom>
          <a:solidFill>
            <a:srgbClr val="16304C"/>
          </a:solidFill>
          <a:ln w="10160">
            <a:solidFill>
              <a:srgbClr val="27415C"/>
            </a:solidFill>
            <a:prstDash val="solid"/>
          </a:ln>
        </p:spPr>
      </p:sp>
      <p:sp>
        <p:nvSpPr>
          <p:cNvPr id="12" name="Shape 10"/>
          <p:cNvSpPr/>
          <p:nvPr/>
        </p:nvSpPr>
        <p:spPr>
          <a:xfrm>
            <a:off x="713232" y="2724912"/>
            <a:ext cx="987552" cy="237744"/>
          </a:xfrm>
          <a:prstGeom prst="roundRect">
            <a:avLst>
              <a:gd name="adj" fmla="val 50000"/>
            </a:avLst>
          </a:prstGeom>
          <a:solidFill>
            <a:srgbClr val="17795E"/>
          </a:solidFill>
          <a:ln/>
        </p:spPr>
      </p:sp>
      <p:sp>
        <p:nvSpPr>
          <p:cNvPr id="13" name="Text 11"/>
          <p:cNvSpPr txBox="1"/>
          <p:nvPr/>
        </p:nvSpPr>
        <p:spPr>
          <a:xfrm>
            <a:off x="713232" y="2724912"/>
            <a:ext cx="9875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GREEN</a:t>
            </a:r>
            <a:endParaRPr lang="en-US" sz="850" dirty="0"/>
          </a:p>
        </p:txBody>
      </p:sp>
      <p:sp>
        <p:nvSpPr>
          <p:cNvPr id="14" name="Text 12"/>
          <p:cNvSpPr txBox="1"/>
          <p:nvPr/>
        </p:nvSpPr>
        <p:spPr>
          <a:xfrm>
            <a:off x="1847088" y="2606040"/>
            <a:ext cx="3931920" cy="219456"/>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Open, with headroom</a:t>
            </a:r>
            <a:endParaRPr lang="en-US" sz="1200" dirty="0"/>
          </a:p>
        </p:txBody>
      </p:sp>
      <p:sp>
        <p:nvSpPr>
          <p:cNvPr id="15" name="Text 13"/>
          <p:cNvSpPr txBox="1"/>
          <p:nvPr/>
        </p:nvSpPr>
        <p:spPr>
          <a:xfrm>
            <a:off x="1847088" y="2834640"/>
            <a:ext cx="3931920" cy="237744"/>
          </a:xfrm>
          <a:prstGeom prst="rect">
            <a:avLst/>
          </a:prstGeom>
          <a:noFill/>
          <a:ln/>
        </p:spPr>
        <p:txBody>
          <a:bodyPr wrap="square" lIns="0" tIns="0" rIns="0" bIns="0" rtlCol="0" anchor="ctr"/>
          <a:lstStyle/>
          <a:p>
            <a:pPr indent="0" marL="0">
              <a:buNone/>
            </a:pPr>
            <a:r>
              <a:rPr lang="en-US" sz="940" dirty="0">
                <a:solidFill>
                  <a:srgbClr val="A9C2DA"/>
                </a:solidFill>
                <a:latin typeface="Calibri" pitchFamily="34" charset="0"/>
                <a:ea typeface="Calibri" pitchFamily="34" charset="-122"/>
                <a:cs typeface="Calibri" pitchFamily="34" charset="-120"/>
              </a:rPr>
              <a:t>Services available while the ratio holds</a:t>
            </a:r>
            <a:endParaRPr lang="en-US" sz="940" dirty="0"/>
          </a:p>
        </p:txBody>
      </p:sp>
      <p:sp>
        <p:nvSpPr>
          <p:cNvPr id="16" name="Shape 14"/>
          <p:cNvSpPr/>
          <p:nvPr/>
        </p:nvSpPr>
        <p:spPr>
          <a:xfrm>
            <a:off x="548640" y="3273552"/>
            <a:ext cx="5394960" cy="640080"/>
          </a:xfrm>
          <a:prstGeom prst="roundRect">
            <a:avLst>
              <a:gd name="adj" fmla="val 10000"/>
            </a:avLst>
          </a:prstGeom>
          <a:solidFill>
            <a:srgbClr val="16304C"/>
          </a:solidFill>
          <a:ln w="10160">
            <a:solidFill>
              <a:srgbClr val="27415C"/>
            </a:solidFill>
            <a:prstDash val="solid"/>
          </a:ln>
        </p:spPr>
      </p:sp>
      <p:sp>
        <p:nvSpPr>
          <p:cNvPr id="17" name="Shape 15"/>
          <p:cNvSpPr/>
          <p:nvPr/>
        </p:nvSpPr>
        <p:spPr>
          <a:xfrm>
            <a:off x="713232" y="3474720"/>
            <a:ext cx="987552" cy="237744"/>
          </a:xfrm>
          <a:prstGeom prst="roundRect">
            <a:avLst>
              <a:gd name="adj" fmla="val 50000"/>
            </a:avLst>
          </a:prstGeom>
          <a:solidFill>
            <a:srgbClr val="B5730F"/>
          </a:solidFill>
          <a:ln/>
        </p:spPr>
      </p:sp>
      <p:sp>
        <p:nvSpPr>
          <p:cNvPr id="18" name="Text 16"/>
          <p:cNvSpPr txBox="1"/>
          <p:nvPr/>
        </p:nvSpPr>
        <p:spPr>
          <a:xfrm>
            <a:off x="713232" y="3474720"/>
            <a:ext cx="9875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YELLOW</a:t>
            </a:r>
            <a:endParaRPr lang="en-US" sz="850" dirty="0"/>
          </a:p>
        </p:txBody>
      </p:sp>
      <p:sp>
        <p:nvSpPr>
          <p:cNvPr id="19" name="Text 17"/>
          <p:cNvSpPr txBox="1"/>
          <p:nvPr/>
        </p:nvSpPr>
        <p:spPr>
          <a:xfrm>
            <a:off x="1847088" y="3355848"/>
            <a:ext cx="3931920" cy="219456"/>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Restricted</a:t>
            </a:r>
            <a:endParaRPr lang="en-US" sz="1200" dirty="0"/>
          </a:p>
        </p:txBody>
      </p:sp>
      <p:sp>
        <p:nvSpPr>
          <p:cNvPr id="20" name="Text 18"/>
          <p:cNvSpPr txBox="1"/>
          <p:nvPr/>
        </p:nvSpPr>
        <p:spPr>
          <a:xfrm>
            <a:off x="1847088" y="3584448"/>
            <a:ext cx="3931920" cy="237744"/>
          </a:xfrm>
          <a:prstGeom prst="rect">
            <a:avLst/>
          </a:prstGeom>
          <a:noFill/>
          <a:ln/>
        </p:spPr>
        <p:txBody>
          <a:bodyPr wrap="square" lIns="0" tIns="0" rIns="0" bIns="0" rtlCol="0" anchor="ctr"/>
          <a:lstStyle/>
          <a:p>
            <a:pPr indent="0" marL="0">
              <a:buNone/>
            </a:pPr>
            <a:r>
              <a:rPr lang="en-US" sz="940" dirty="0">
                <a:solidFill>
                  <a:srgbClr val="A9C2DA"/>
                </a:solidFill>
                <a:latin typeface="Calibri" pitchFamily="34" charset="0"/>
                <a:ea typeface="Calibri" pitchFamily="34" charset="-122"/>
                <a:cs typeface="Calibri" pitchFamily="34" charset="-120"/>
              </a:rPr>
              <a:t>Renewals limited, transfers constrained</a:t>
            </a:r>
            <a:endParaRPr lang="en-US" sz="940" dirty="0"/>
          </a:p>
        </p:txBody>
      </p:sp>
      <p:sp>
        <p:nvSpPr>
          <p:cNvPr id="21" name="Shape 19"/>
          <p:cNvSpPr/>
          <p:nvPr/>
        </p:nvSpPr>
        <p:spPr>
          <a:xfrm>
            <a:off x="548640" y="4023360"/>
            <a:ext cx="5394960" cy="640080"/>
          </a:xfrm>
          <a:prstGeom prst="roundRect">
            <a:avLst>
              <a:gd name="adj" fmla="val 10000"/>
            </a:avLst>
          </a:prstGeom>
          <a:solidFill>
            <a:srgbClr val="16304C"/>
          </a:solidFill>
          <a:ln w="10160">
            <a:solidFill>
              <a:srgbClr val="27415C"/>
            </a:solidFill>
            <a:prstDash val="solid"/>
          </a:ln>
        </p:spPr>
      </p:sp>
      <p:sp>
        <p:nvSpPr>
          <p:cNvPr id="22" name="Shape 20"/>
          <p:cNvSpPr/>
          <p:nvPr/>
        </p:nvSpPr>
        <p:spPr>
          <a:xfrm>
            <a:off x="713232" y="4224528"/>
            <a:ext cx="987552" cy="237744"/>
          </a:xfrm>
          <a:prstGeom prst="roundRect">
            <a:avLst>
              <a:gd name="adj" fmla="val 50000"/>
            </a:avLst>
          </a:prstGeom>
          <a:solidFill>
            <a:srgbClr val="B23A2F"/>
          </a:solidFill>
          <a:ln/>
        </p:spPr>
      </p:sp>
      <p:sp>
        <p:nvSpPr>
          <p:cNvPr id="23" name="Text 21"/>
          <p:cNvSpPr txBox="1"/>
          <p:nvPr/>
        </p:nvSpPr>
        <p:spPr>
          <a:xfrm>
            <a:off x="713232" y="4224528"/>
            <a:ext cx="9875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RED</a:t>
            </a:r>
            <a:endParaRPr lang="en-US" sz="850" dirty="0"/>
          </a:p>
        </p:txBody>
      </p:sp>
      <p:sp>
        <p:nvSpPr>
          <p:cNvPr id="24" name="Text 22"/>
          <p:cNvSpPr txBox="1"/>
          <p:nvPr/>
        </p:nvSpPr>
        <p:spPr>
          <a:xfrm>
            <a:off x="1847088" y="4105656"/>
            <a:ext cx="3931920" cy="219456"/>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Suspended</a:t>
            </a:r>
            <a:endParaRPr lang="en-US" sz="1200" dirty="0"/>
          </a:p>
        </p:txBody>
      </p:sp>
      <p:sp>
        <p:nvSpPr>
          <p:cNvPr id="25" name="Text 23"/>
          <p:cNvSpPr txBox="1"/>
          <p:nvPr/>
        </p:nvSpPr>
        <p:spPr>
          <a:xfrm>
            <a:off x="1847088" y="4334256"/>
            <a:ext cx="3931920" cy="237744"/>
          </a:xfrm>
          <a:prstGeom prst="rect">
            <a:avLst/>
          </a:prstGeom>
          <a:noFill/>
          <a:ln/>
        </p:spPr>
        <p:txBody>
          <a:bodyPr wrap="square" lIns="0" tIns="0" rIns="0" bIns="0" rtlCol="0" anchor="ctr"/>
          <a:lstStyle/>
          <a:p>
            <a:pPr indent="0" marL="0">
              <a:buNone/>
            </a:pPr>
            <a:r>
              <a:rPr lang="en-US" sz="940" dirty="0">
                <a:solidFill>
                  <a:srgbClr val="A9C2DA"/>
                </a:solidFill>
                <a:latin typeface="Calibri" pitchFamily="34" charset="0"/>
                <a:ea typeface="Calibri" pitchFamily="34" charset="-122"/>
                <a:cs typeface="Calibri" pitchFamily="34" charset="-120"/>
              </a:rPr>
              <a:t>No block visas, no renewals, no transfers in</a:t>
            </a:r>
            <a:endParaRPr lang="en-US" sz="940" dirty="0"/>
          </a:p>
        </p:txBody>
      </p:sp>
      <p:sp>
        <p:nvSpPr>
          <p:cNvPr id="26" name="Shape 24"/>
          <p:cNvSpPr/>
          <p:nvPr/>
        </p:nvSpPr>
        <p:spPr>
          <a:xfrm>
            <a:off x="548640" y="4809744"/>
            <a:ext cx="5394960" cy="1481328"/>
          </a:xfrm>
          <a:prstGeom prst="roundRect">
            <a:avLst>
              <a:gd name="adj" fmla="val 4938"/>
            </a:avLst>
          </a:prstGeom>
          <a:solidFill>
            <a:srgbClr val="123A4E"/>
          </a:solidFill>
          <a:ln w="12700">
            <a:solidFill>
              <a:srgbClr val="12756F"/>
            </a:solidFill>
            <a:prstDash val="solid"/>
          </a:ln>
        </p:spPr>
      </p:sp>
      <p:sp>
        <p:nvSpPr>
          <p:cNvPr id="27" name="Text 25"/>
          <p:cNvSpPr txBox="1"/>
          <p:nvPr/>
        </p:nvSpPr>
        <p:spPr>
          <a:xfrm>
            <a:off x="749808" y="4919472"/>
            <a:ext cx="5029200" cy="219456"/>
          </a:xfrm>
          <a:prstGeom prst="rect">
            <a:avLst/>
          </a:prstGeom>
          <a:noFill/>
          <a:ln/>
        </p:spPr>
        <p:txBody>
          <a:bodyPr wrap="square" lIns="0" tIns="0" rIns="0" bIns="0" rtlCol="0" anchor="ctr"/>
          <a:lstStyle/>
          <a:p>
            <a:pPr indent="0" marL="0">
              <a:buNone/>
            </a:pPr>
            <a:r>
              <a:rPr lang="en-US" sz="1200" b="1" dirty="0">
                <a:solidFill>
                  <a:srgbClr val="20A098"/>
                </a:solidFill>
                <a:latin typeface="Arial" pitchFamily="34" charset="0"/>
                <a:ea typeface="Arial" pitchFamily="34" charset="-122"/>
                <a:cs typeface="Arial" pitchFamily="34" charset="-120"/>
              </a:rPr>
              <a:t>What we do that Qiwa does not</a:t>
            </a:r>
            <a:endParaRPr lang="en-US" sz="1200" dirty="0"/>
          </a:p>
        </p:txBody>
      </p:sp>
      <p:sp>
        <p:nvSpPr>
          <p:cNvPr id="28" name="Text 26"/>
          <p:cNvSpPr txBox="1"/>
          <p:nvPr/>
        </p:nvSpPr>
        <p:spPr>
          <a:xfrm>
            <a:off x="749808" y="5175504"/>
            <a:ext cx="5029200" cy="1005840"/>
          </a:xfrm>
          <a:prstGeom prst="rect">
            <a:avLst/>
          </a:prstGeom>
          <a:noFill/>
          <a:ln/>
        </p:spPr>
        <p:txBody>
          <a:bodyPr wrap="square" lIns="0" tIns="0" rIns="0" bIns="0" rtlCol="0" anchor="ctr"/>
          <a:lstStyle/>
          <a:p>
            <a:pPr marL="342900" indent="-342900">
              <a:lnSpc>
                <a:spcPts val="1350"/>
              </a:lnSpc>
              <a:spcAft>
                <a:spcPts val="300"/>
              </a:spcAft>
              <a:buSzPct val="100000"/>
              <a:buChar char="•"/>
            </a:pPr>
            <a:r>
              <a:rPr lang="en-US" sz="980" dirty="0">
                <a:solidFill>
                  <a:srgbClr val="A9C2DA"/>
                </a:solidFill>
                <a:latin typeface="Calibri" pitchFamily="34" charset="0"/>
                <a:ea typeface="Calibri" pitchFamily="34" charset="-122"/>
                <a:cs typeface="Calibri" pitchFamily="34" charset="-120"/>
              </a:rPr>
              <a:t>Calculate the band continuously, not at the next Qiwa cycle</a:t>
            </a:r>
            <a:endParaRPr lang="en-US" sz="980" dirty="0"/>
          </a:p>
          <a:p>
            <a:pPr marL="342900" indent="-342900">
              <a:lnSpc>
                <a:spcPts val="1350"/>
              </a:lnSpc>
              <a:spcAft>
                <a:spcPts val="300"/>
              </a:spcAft>
              <a:buSzPct val="100000"/>
              <a:buChar char="•"/>
            </a:pPr>
            <a:r>
              <a:rPr lang="en-US" sz="980" dirty="0">
                <a:solidFill>
                  <a:srgbClr val="A9C2DA"/>
                </a:solidFill>
                <a:latin typeface="Calibri" pitchFamily="34" charset="0"/>
                <a:ea typeface="Calibri" pitchFamily="34" charset="-122"/>
                <a:cs typeface="Calibri" pitchFamily="34" charset="-120"/>
              </a:rPr>
              <a:t>Show the headroom: how many leavers would drop you</a:t>
            </a:r>
            <a:endParaRPr lang="en-US" sz="980" dirty="0"/>
          </a:p>
          <a:p>
            <a:pPr marL="342900" indent="-342900">
              <a:lnSpc>
                <a:spcPts val="1350"/>
              </a:lnSpc>
              <a:spcAft>
                <a:spcPts val="300"/>
              </a:spcAft>
              <a:buSzPct val="100000"/>
              <a:buChar char="•"/>
            </a:pPr>
            <a:r>
              <a:rPr lang="en-US" sz="980" dirty="0">
                <a:solidFill>
                  <a:srgbClr val="A9C2DA"/>
                </a:solidFill>
                <a:latin typeface="Calibri" pitchFamily="34" charset="0"/>
                <a:ea typeface="Calibri" pitchFamily="34" charset="-122"/>
                <a:cs typeface="Calibri" pitchFamily="34" charset="-120"/>
              </a:rPr>
              <a:t>Simulate a restructure or a bulk hire before you commit</a:t>
            </a:r>
            <a:endParaRPr lang="en-US" sz="980" dirty="0"/>
          </a:p>
          <a:p>
            <a:pPr marL="342900" indent="-342900">
              <a:lnSpc>
                <a:spcPts val="1350"/>
              </a:lnSpc>
              <a:spcAft>
                <a:spcPts val="300"/>
              </a:spcAft>
              <a:buSzPct val="100000"/>
              <a:buChar char="•"/>
            </a:pPr>
            <a:r>
              <a:rPr lang="en-US" sz="980" dirty="0">
                <a:solidFill>
                  <a:srgbClr val="A9C2DA"/>
                </a:solidFill>
                <a:latin typeface="Calibri" pitchFamily="34" charset="0"/>
                <a:ea typeface="Calibri" pitchFamily="34" charset="-122"/>
                <a:cs typeface="Calibri" pitchFamily="34" charset="-120"/>
              </a:rPr>
              <a:t>Alert before the band moves, with the cause named</a:t>
            </a:r>
            <a:endParaRPr lang="en-US" sz="980" dirty="0"/>
          </a:p>
        </p:txBody>
      </p:sp>
      <p:pic>
        <p:nvPicPr>
          <p:cNvPr id="29" name="Image 0" descr="./img/nitaqat.jpg">    </p:cNvPr>
          <p:cNvPicPr>
            <a:picLocks noChangeAspect="1"/>
          </p:cNvPicPr>
          <p:nvPr/>
        </p:nvPicPr>
        <p:blipFill>
          <a:blip r:embed="rId1"/>
          <a:stretch>
            <a:fillRect/>
          </a:stretch>
        </p:blipFill>
        <p:spPr>
          <a:xfrm>
            <a:off x="6172200" y="1773936"/>
            <a:ext cx="5440680" cy="914400"/>
          </a:xfrm>
          <a:prstGeom prst="rect">
            <a:avLst/>
          </a:prstGeom>
          <a:effectLst>
            <a:outerShdw sx="100000" sy="100000" kx="0" ky="0" algn="bl" rotWithShape="0" blurRad="177800" dist="38100" dir="5400000">
              <a:srgbClr val="000000">
                <a:alpha val="20000"/>
              </a:srgbClr>
            </a:outerShdw>
          </a:effectLst>
        </p:spPr>
      </p:pic>
      <p:sp>
        <p:nvSpPr>
          <p:cNvPr id="30" name="Text 27"/>
          <p:cNvSpPr txBox="1"/>
          <p:nvPr/>
        </p:nvSpPr>
        <p:spPr>
          <a:xfrm>
            <a:off x="6172200" y="5193792"/>
            <a:ext cx="5440680" cy="475488"/>
          </a:xfrm>
          <a:prstGeom prst="rect">
            <a:avLst/>
          </a:prstGeom>
          <a:noFill/>
          <a:ln/>
        </p:spPr>
        <p:txBody>
          <a:bodyPr wrap="square" lIns="0" tIns="0" rIns="0" bIns="0" rtlCol="0" anchor="ctr"/>
          <a:lstStyle/>
          <a:p>
            <a:pPr indent="0" marL="0">
              <a:lnSpc>
                <a:spcPts val="1350"/>
              </a:lnSpc>
              <a:buNone/>
            </a:pPr>
            <a:r>
              <a:rPr lang="en-US" sz="1000" i="1" dirty="0">
                <a:solidFill>
                  <a:srgbClr val="A9C2DA"/>
                </a:solidFill>
                <a:latin typeface="Calibri" pitchFamily="34" charset="0"/>
                <a:ea typeface="Calibri" pitchFamily="34" charset="-122"/>
                <a:cs typeface="Calibri" pitchFamily="34" charset="-120"/>
              </a:rPr>
              <a:t>The right-hand panel is the point. Not a compliance score, but the four things you cannot do this week because one establishment fell into the red band.</a:t>
            </a:r>
            <a:endParaRPr lang="en-US" sz="1000" dirty="0"/>
          </a:p>
        </p:txBody>
      </p:sp>
      <p:sp>
        <p:nvSpPr>
          <p:cNvPr id="31" name="Text 28"/>
          <p:cNvSpPr txBox="1"/>
          <p:nvPr/>
        </p:nvSpPr>
        <p:spPr>
          <a:xfrm>
            <a:off x="548640" y="6419088"/>
            <a:ext cx="8595360" cy="237744"/>
          </a:xfrm>
          <a:prstGeom prst="rect">
            <a:avLst/>
          </a:prstGeom>
          <a:noFill/>
          <a:ln/>
        </p:spPr>
        <p:txBody>
          <a:bodyPr wrap="square" lIns="0" tIns="0" rIns="0" bIns="0" rtlCol="0" anchor="ctr"/>
          <a:lstStyle/>
          <a:p>
            <a:pPr indent="0" marL="0">
              <a:buNone/>
            </a:pPr>
            <a:r>
              <a:rPr lang="en-US" sz="900" dirty="0">
                <a:solidFill>
                  <a:srgbClr val="7E99B4"/>
                </a:solidFill>
                <a:latin typeface="Calibri" pitchFamily="34" charset="0"/>
                <a:ea typeface="Calibri" pitchFamily="34" charset="-122"/>
                <a:cs typeface="Calibri" pitchFamily="34" charset="-120"/>
              </a:rPr>
              <a:t>INK IT Business Solutions  ·  Visa &amp; Permits Management  ·  Kingdom of Saudi Arabia</a:t>
            </a:r>
            <a:endParaRPr lang="en-US" sz="900" dirty="0"/>
          </a:p>
        </p:txBody>
      </p:sp>
      <p:sp>
        <p:nvSpPr>
          <p:cNvPr id="32" name="Text 29"/>
          <p:cNvSpPr txBox="1"/>
          <p:nvPr/>
        </p:nvSpPr>
        <p:spPr>
          <a:xfrm>
            <a:off x="11155680" y="6419088"/>
            <a:ext cx="457200" cy="237744"/>
          </a:xfrm>
          <a:prstGeom prst="rect">
            <a:avLst/>
          </a:prstGeom>
          <a:noFill/>
          <a:ln/>
        </p:spPr>
        <p:txBody>
          <a:bodyPr wrap="square" lIns="0" tIns="0" rIns="0" bIns="0" rtlCol="0" anchor="ctr"/>
          <a:lstStyle/>
          <a:p>
            <a:pPr algn="r" indent="0" marL="0">
              <a:buNone/>
            </a:pPr>
            <a:r>
              <a:rPr lang="en-US" sz="900" dirty="0">
                <a:solidFill>
                  <a:srgbClr val="7E99B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02336"/>
            <a:ext cx="11064240" cy="237744"/>
          </a:xfrm>
          <a:prstGeom prst="rect">
            <a:avLst/>
          </a:prstGeom>
          <a:noFill/>
          <a:ln/>
        </p:spPr>
        <p:txBody>
          <a:bodyPr wrap="square" lIns="0" tIns="0" rIns="0" bIns="0" rtlCol="0" anchor="ctr"/>
          <a:lstStyle/>
          <a:p>
            <a:pPr indent="0" marL="0">
              <a:buNone/>
            </a:pPr>
            <a:r>
              <a:rPr lang="en-US" sz="1100" b="1" spc="220" kern="0" dirty="0">
                <a:solidFill>
                  <a:srgbClr val="20A098"/>
                </a:solidFill>
                <a:latin typeface="Calibri" pitchFamily="34" charset="0"/>
                <a:ea typeface="Calibri" pitchFamily="34" charset="-122"/>
                <a:cs typeface="Calibri" pitchFamily="34" charset="-120"/>
              </a:rPr>
              <a:t>PERSONA VIEW</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0C1E33"/>
                </a:solidFill>
                <a:latin typeface="Arial" pitchFamily="34" charset="0"/>
                <a:ea typeface="Arial" pitchFamily="34" charset="-122"/>
                <a:cs typeface="Arial" pitchFamily="34" charset="-120"/>
              </a:rPr>
              <a:t>Everyone gets their own to-do list.</a:t>
            </a:r>
            <a:endParaRPr lang="en-US" sz="3000" dirty="0"/>
          </a:p>
        </p:txBody>
      </p:sp>
      <p:sp>
        <p:nvSpPr>
          <p:cNvPr id="4" name="Text 2"/>
          <p:cNvSpPr txBox="1"/>
          <p:nvPr/>
        </p:nvSpPr>
        <p:spPr>
          <a:xfrm>
            <a:off x="548640" y="1243584"/>
            <a:ext cx="10424160" cy="420624"/>
          </a:xfrm>
          <a:prstGeom prst="rect">
            <a:avLst/>
          </a:prstGeom>
          <a:noFill/>
          <a:ln/>
        </p:spPr>
        <p:txBody>
          <a:bodyPr wrap="square" lIns="0" tIns="0" rIns="0" bIns="0" rtlCol="0" anchor="ctr"/>
          <a:lstStyle/>
          <a:p>
            <a:pPr indent="0" marL="0">
              <a:buNone/>
            </a:pPr>
            <a:r>
              <a:rPr lang="en-US" sz="1300" dirty="0">
                <a:solidFill>
                  <a:srgbClr val="5A6C82"/>
                </a:solidFill>
                <a:latin typeface="Calibri" pitchFamily="34" charset="0"/>
                <a:ea typeface="Calibri" pitchFamily="34" charset="-122"/>
                <a:cs typeface="Calibri" pitchFamily="34" charset="-120"/>
              </a:rPr>
              <a:t>Each role only sees what is actually theirs, with a due date on it, and the system already knows which Saudi authority each step belongs to.</a:t>
            </a:r>
            <a:endParaRPr lang="en-US" sz="1300" dirty="0"/>
          </a:p>
        </p:txBody>
      </p:sp>
      <p:sp>
        <p:nvSpPr>
          <p:cNvPr id="5" name="Shape 3"/>
          <p:cNvSpPr/>
          <p:nvPr/>
        </p:nvSpPr>
        <p:spPr>
          <a:xfrm>
            <a:off x="548640" y="1828800"/>
            <a:ext cx="10424160" cy="548640"/>
          </a:xfrm>
          <a:prstGeom prst="roundRect">
            <a:avLst>
              <a:gd name="adj" fmla="val 10000"/>
            </a:avLst>
          </a:prstGeom>
          <a:solidFill>
            <a:srgbClr val="F4F6F7"/>
          </a:solidFill>
          <a:ln w="7620">
            <a:solidFill>
              <a:srgbClr val="E3E7EA"/>
            </a:solidFill>
            <a:prstDash val="solid"/>
          </a:ln>
        </p:spPr>
      </p:sp>
      <p:sp>
        <p:nvSpPr>
          <p:cNvPr id="6" name="Shape 4"/>
          <p:cNvSpPr/>
          <p:nvPr/>
        </p:nvSpPr>
        <p:spPr>
          <a:xfrm>
            <a:off x="694944" y="1929384"/>
            <a:ext cx="347472" cy="347472"/>
          </a:xfrm>
          <a:prstGeom prst="ellipse">
            <a:avLst/>
          </a:prstGeom>
          <a:solidFill>
            <a:srgbClr val="20A098"/>
          </a:solidFill>
          <a:ln/>
        </p:spPr>
      </p:sp>
      <p:sp>
        <p:nvSpPr>
          <p:cNvPr id="7" name="Text 5"/>
          <p:cNvSpPr txBox="1"/>
          <p:nvPr/>
        </p:nvSpPr>
        <p:spPr>
          <a:xfrm>
            <a:off x="694944" y="1929384"/>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GRO</a:t>
            </a:r>
            <a:endParaRPr lang="en-US" sz="1050" dirty="0"/>
          </a:p>
        </p:txBody>
      </p:sp>
      <p:sp>
        <p:nvSpPr>
          <p:cNvPr id="8" name="Text 6"/>
          <p:cNvSpPr txBox="1"/>
          <p:nvPr/>
        </p:nvSpPr>
        <p:spPr>
          <a:xfrm>
            <a:off x="1152144" y="1883664"/>
            <a:ext cx="1965960" cy="219456"/>
          </a:xfrm>
          <a:prstGeom prst="rect">
            <a:avLst/>
          </a:prstGeom>
          <a:noFill/>
          <a:ln/>
        </p:spPr>
        <p:txBody>
          <a:bodyPr wrap="square" lIns="0" tIns="0" rIns="0" bIns="0" rtlCol="0" anchor="ctr"/>
          <a:lstStyle/>
          <a:p>
            <a:pPr indent="0" marL="0">
              <a:buNone/>
            </a:pPr>
            <a:r>
              <a:rPr lang="en-US" sz="1100" b="1" dirty="0">
                <a:solidFill>
                  <a:srgbClr val="0C1E33"/>
                </a:solidFill>
                <a:latin typeface="Arial" pitchFamily="34" charset="0"/>
                <a:ea typeface="Arial" pitchFamily="34" charset="-122"/>
                <a:cs typeface="Arial" pitchFamily="34" charset="-120"/>
              </a:rPr>
              <a:t>Government Relations</a:t>
            </a:r>
            <a:endParaRPr lang="en-US" sz="1100" dirty="0"/>
          </a:p>
        </p:txBody>
      </p:sp>
      <p:sp>
        <p:nvSpPr>
          <p:cNvPr id="9" name="Text 7"/>
          <p:cNvSpPr txBox="1"/>
          <p:nvPr/>
        </p:nvSpPr>
        <p:spPr>
          <a:xfrm>
            <a:off x="1152144" y="2103120"/>
            <a:ext cx="1965960" cy="182880"/>
          </a:xfrm>
          <a:prstGeom prst="rect">
            <a:avLst/>
          </a:prstGeom>
          <a:noFill/>
          <a:ln/>
        </p:spPr>
        <p:txBody>
          <a:bodyPr wrap="square" lIns="0" tIns="0" rIns="0" bIns="0" rtlCol="0" anchor="ctr"/>
          <a:lstStyle/>
          <a:p>
            <a:pPr indent="0" marL="0">
              <a:buNone/>
            </a:pPr>
            <a:r>
              <a:rPr lang="en-US" sz="900" dirty="0">
                <a:solidFill>
                  <a:srgbClr val="12756F"/>
                </a:solidFill>
                <a:latin typeface="Calibri" pitchFamily="34" charset="0"/>
                <a:ea typeface="Calibri" pitchFamily="34" charset="-122"/>
                <a:cs typeface="Calibri" pitchFamily="34" charset="-120"/>
              </a:rPr>
              <a:t>PRO desk · Riyadh</a:t>
            </a:r>
            <a:endParaRPr lang="en-US" sz="900" dirty="0"/>
          </a:p>
        </p:txBody>
      </p:sp>
      <p:sp>
        <p:nvSpPr>
          <p:cNvPr id="10" name="Text 8"/>
          <p:cNvSpPr txBox="1"/>
          <p:nvPr/>
        </p:nvSpPr>
        <p:spPr>
          <a:xfrm>
            <a:off x="3246120" y="1883664"/>
            <a:ext cx="4846320" cy="438912"/>
          </a:xfrm>
          <a:prstGeom prst="rect">
            <a:avLst/>
          </a:prstGeom>
          <a:noFill/>
          <a:ln/>
        </p:spPr>
        <p:txBody>
          <a:bodyPr wrap="square" lIns="0" tIns="0" rIns="0" bIns="0" rtlCol="0" anchor="ctr"/>
          <a:lstStyle/>
          <a:p>
            <a:pPr indent="0" marL="0">
              <a:lnSpc>
                <a:spcPts val="1240"/>
              </a:lnSpc>
              <a:buNone/>
            </a:pPr>
            <a:r>
              <a:rPr lang="en-US" sz="930" dirty="0">
                <a:solidFill>
                  <a:srgbClr val="5A6C82"/>
                </a:solidFill>
                <a:latin typeface="Calibri" pitchFamily="34" charset="0"/>
                <a:ea typeface="Calibri" pitchFamily="34" charset="-122"/>
                <a:cs typeface="Calibri" pitchFamily="34" charset="-120"/>
              </a:rPr>
              <a:t>Requests block visas once the band allows it; authenticates Qiwa contracts; issues Iqamas on Muqeem inside the statutory window; applies for exit re-entry and watches every return-by date.</a:t>
            </a:r>
            <a:endParaRPr lang="en-US" sz="930" dirty="0"/>
          </a:p>
        </p:txBody>
      </p:sp>
      <p:sp>
        <p:nvSpPr>
          <p:cNvPr id="11" name="Text 9"/>
          <p:cNvSpPr txBox="1"/>
          <p:nvPr/>
        </p:nvSpPr>
        <p:spPr>
          <a:xfrm>
            <a:off x="8229600" y="1883664"/>
            <a:ext cx="2615184" cy="438912"/>
          </a:xfrm>
          <a:prstGeom prst="rect">
            <a:avLst/>
          </a:prstGeom>
          <a:noFill/>
          <a:ln/>
        </p:spPr>
        <p:txBody>
          <a:bodyPr wrap="square" lIns="0" tIns="0" rIns="0" bIns="0" rtlCol="0" anchor="ctr"/>
          <a:lstStyle/>
          <a:p>
            <a:pPr indent="0" marL="0">
              <a:lnSpc>
                <a:spcPts val="1240"/>
              </a:lnSpc>
              <a:buNone/>
            </a:pPr>
            <a:r>
              <a:rPr lang="en-US" sz="930" b="1" i="1" dirty="0">
                <a:solidFill>
                  <a:srgbClr val="17795E"/>
                </a:solidFill>
                <a:latin typeface="Calibri" pitchFamily="34" charset="0"/>
                <a:ea typeface="Calibri" pitchFamily="34" charset="-122"/>
                <a:cs typeface="Calibri" pitchFamily="34" charset="-120"/>
              </a:rPr>
              <a:t>One queue that already knows which authority each step belongs to.</a:t>
            </a:r>
            <a:endParaRPr lang="en-US" sz="930" dirty="0"/>
          </a:p>
        </p:txBody>
      </p:sp>
      <p:sp>
        <p:nvSpPr>
          <p:cNvPr id="12" name="Shape 10"/>
          <p:cNvSpPr/>
          <p:nvPr/>
        </p:nvSpPr>
        <p:spPr>
          <a:xfrm>
            <a:off x="548640" y="2414016"/>
            <a:ext cx="10424160" cy="548640"/>
          </a:xfrm>
          <a:prstGeom prst="roundRect">
            <a:avLst>
              <a:gd name="adj" fmla="val 10000"/>
            </a:avLst>
          </a:prstGeom>
          <a:solidFill>
            <a:srgbClr val="FFFFFF"/>
          </a:solidFill>
          <a:ln w="7620">
            <a:solidFill>
              <a:srgbClr val="E3E7EA"/>
            </a:solidFill>
            <a:prstDash val="solid"/>
          </a:ln>
        </p:spPr>
      </p:sp>
      <p:sp>
        <p:nvSpPr>
          <p:cNvPr id="13" name="Shape 11"/>
          <p:cNvSpPr/>
          <p:nvPr/>
        </p:nvSpPr>
        <p:spPr>
          <a:xfrm>
            <a:off x="694944" y="2514600"/>
            <a:ext cx="347472" cy="347472"/>
          </a:xfrm>
          <a:prstGeom prst="ellipse">
            <a:avLst/>
          </a:prstGeom>
          <a:solidFill>
            <a:srgbClr val="12756F"/>
          </a:solidFill>
          <a:ln/>
        </p:spPr>
      </p:sp>
      <p:sp>
        <p:nvSpPr>
          <p:cNvPr id="14" name="Text 12"/>
          <p:cNvSpPr txBox="1"/>
          <p:nvPr/>
        </p:nvSpPr>
        <p:spPr>
          <a:xfrm>
            <a:off x="694944" y="2514600"/>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TA</a:t>
            </a:r>
            <a:endParaRPr lang="en-US" sz="1050" dirty="0"/>
          </a:p>
        </p:txBody>
      </p:sp>
      <p:sp>
        <p:nvSpPr>
          <p:cNvPr id="15" name="Text 13"/>
          <p:cNvSpPr txBox="1"/>
          <p:nvPr/>
        </p:nvSpPr>
        <p:spPr>
          <a:xfrm>
            <a:off x="1152144" y="2468880"/>
            <a:ext cx="1965960" cy="219456"/>
          </a:xfrm>
          <a:prstGeom prst="rect">
            <a:avLst/>
          </a:prstGeom>
          <a:noFill/>
          <a:ln/>
        </p:spPr>
        <p:txBody>
          <a:bodyPr wrap="square" lIns="0" tIns="0" rIns="0" bIns="0" rtlCol="0" anchor="ctr"/>
          <a:lstStyle/>
          <a:p>
            <a:pPr indent="0" marL="0">
              <a:buNone/>
            </a:pPr>
            <a:r>
              <a:rPr lang="en-US" sz="1100" b="1" dirty="0">
                <a:solidFill>
                  <a:srgbClr val="0C1E33"/>
                </a:solidFill>
                <a:latin typeface="Arial" pitchFamily="34" charset="0"/>
                <a:ea typeface="Arial" pitchFamily="34" charset="-122"/>
                <a:cs typeface="Arial" pitchFamily="34" charset="-120"/>
              </a:rPr>
              <a:t>Recruiter</a:t>
            </a:r>
            <a:endParaRPr lang="en-US" sz="1100" dirty="0"/>
          </a:p>
        </p:txBody>
      </p:sp>
      <p:sp>
        <p:nvSpPr>
          <p:cNvPr id="16" name="Text 14"/>
          <p:cNvSpPr txBox="1"/>
          <p:nvPr/>
        </p:nvSpPr>
        <p:spPr>
          <a:xfrm>
            <a:off x="1152144" y="2688336"/>
            <a:ext cx="1965960" cy="182880"/>
          </a:xfrm>
          <a:prstGeom prst="rect">
            <a:avLst/>
          </a:prstGeom>
          <a:noFill/>
          <a:ln/>
        </p:spPr>
        <p:txBody>
          <a:bodyPr wrap="square" lIns="0" tIns="0" rIns="0" bIns="0" rtlCol="0" anchor="ctr"/>
          <a:lstStyle/>
          <a:p>
            <a:pPr indent="0" marL="0">
              <a:buNone/>
            </a:pPr>
            <a:r>
              <a:rPr lang="en-US" sz="900" dirty="0">
                <a:solidFill>
                  <a:srgbClr val="12756F"/>
                </a:solidFill>
                <a:latin typeface="Calibri" pitchFamily="34" charset="0"/>
                <a:ea typeface="Calibri" pitchFamily="34" charset="-122"/>
                <a:cs typeface="Calibri" pitchFamily="34" charset="-120"/>
              </a:rPr>
              <a:t>Talent acquisition</a:t>
            </a:r>
            <a:endParaRPr lang="en-US" sz="900" dirty="0"/>
          </a:p>
        </p:txBody>
      </p:sp>
      <p:sp>
        <p:nvSpPr>
          <p:cNvPr id="17" name="Text 15"/>
          <p:cNvSpPr txBox="1"/>
          <p:nvPr/>
        </p:nvSpPr>
        <p:spPr>
          <a:xfrm>
            <a:off x="3246120" y="2468880"/>
            <a:ext cx="4846320" cy="438912"/>
          </a:xfrm>
          <a:prstGeom prst="rect">
            <a:avLst/>
          </a:prstGeom>
          <a:noFill/>
          <a:ln/>
        </p:spPr>
        <p:txBody>
          <a:bodyPr wrap="square" lIns="0" tIns="0" rIns="0" bIns="0" rtlCol="0" anchor="ctr"/>
          <a:lstStyle/>
          <a:p>
            <a:pPr indent="0" marL="0">
              <a:lnSpc>
                <a:spcPts val="1240"/>
              </a:lnSpc>
              <a:buNone/>
            </a:pPr>
            <a:r>
              <a:rPr lang="en-US" sz="930" dirty="0">
                <a:solidFill>
                  <a:srgbClr val="5A6C82"/>
                </a:solidFill>
                <a:latin typeface="Calibri" pitchFamily="34" charset="0"/>
                <a:ea typeface="Calibri" pitchFamily="34" charset="-122"/>
                <a:cs typeface="Calibri" pitchFamily="34" charset="-120"/>
              </a:rPr>
              <a:t>Checks block visa availability before making an offer; releases candidates from SF Recruiting; agrees the Qiwa profession code with the PRO before submission.</a:t>
            </a:r>
            <a:endParaRPr lang="en-US" sz="930" dirty="0"/>
          </a:p>
        </p:txBody>
      </p:sp>
      <p:sp>
        <p:nvSpPr>
          <p:cNvPr id="18" name="Text 16"/>
          <p:cNvSpPr txBox="1"/>
          <p:nvPr/>
        </p:nvSpPr>
        <p:spPr>
          <a:xfrm>
            <a:off x="8229600" y="2468880"/>
            <a:ext cx="2615184" cy="438912"/>
          </a:xfrm>
          <a:prstGeom prst="rect">
            <a:avLst/>
          </a:prstGeom>
          <a:noFill/>
          <a:ln/>
        </p:spPr>
        <p:txBody>
          <a:bodyPr wrap="square" lIns="0" tIns="0" rIns="0" bIns="0" rtlCol="0" anchor="ctr"/>
          <a:lstStyle/>
          <a:p>
            <a:pPr indent="0" marL="0">
              <a:lnSpc>
                <a:spcPts val="1240"/>
              </a:lnSpc>
              <a:buNone/>
            </a:pPr>
            <a:r>
              <a:rPr lang="en-US" sz="930" b="1" i="1" dirty="0">
                <a:solidFill>
                  <a:srgbClr val="17795E"/>
                </a:solidFill>
                <a:latin typeface="Calibri" pitchFamily="34" charset="0"/>
                <a:ea typeface="Calibri" pitchFamily="34" charset="-122"/>
                <a:cs typeface="Calibri" pitchFamily="34" charset="-120"/>
              </a:rPr>
              <a:t>Offers made against visas that actually exist.</a:t>
            </a:r>
            <a:endParaRPr lang="en-US" sz="930" dirty="0"/>
          </a:p>
        </p:txBody>
      </p:sp>
      <p:sp>
        <p:nvSpPr>
          <p:cNvPr id="19" name="Shape 17"/>
          <p:cNvSpPr/>
          <p:nvPr/>
        </p:nvSpPr>
        <p:spPr>
          <a:xfrm>
            <a:off x="548640" y="2999232"/>
            <a:ext cx="10424160" cy="548640"/>
          </a:xfrm>
          <a:prstGeom prst="roundRect">
            <a:avLst>
              <a:gd name="adj" fmla="val 10000"/>
            </a:avLst>
          </a:prstGeom>
          <a:solidFill>
            <a:srgbClr val="F4F6F7"/>
          </a:solidFill>
          <a:ln w="7620">
            <a:solidFill>
              <a:srgbClr val="E3E7EA"/>
            </a:solidFill>
            <a:prstDash val="solid"/>
          </a:ln>
        </p:spPr>
      </p:sp>
      <p:sp>
        <p:nvSpPr>
          <p:cNvPr id="20" name="Shape 18"/>
          <p:cNvSpPr/>
          <p:nvPr/>
        </p:nvSpPr>
        <p:spPr>
          <a:xfrm>
            <a:off x="694944" y="3099816"/>
            <a:ext cx="347472" cy="347472"/>
          </a:xfrm>
          <a:prstGeom prst="ellipse">
            <a:avLst/>
          </a:prstGeom>
          <a:solidFill>
            <a:srgbClr val="20A098"/>
          </a:solidFill>
          <a:ln/>
        </p:spPr>
      </p:sp>
      <p:sp>
        <p:nvSpPr>
          <p:cNvPr id="21" name="Text 19"/>
          <p:cNvSpPr txBox="1"/>
          <p:nvPr/>
        </p:nvSpPr>
        <p:spPr>
          <a:xfrm>
            <a:off x="694944" y="3099816"/>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OB</a:t>
            </a:r>
            <a:endParaRPr lang="en-US" sz="1050" dirty="0"/>
          </a:p>
        </p:txBody>
      </p:sp>
      <p:sp>
        <p:nvSpPr>
          <p:cNvPr id="22" name="Text 20"/>
          <p:cNvSpPr txBox="1"/>
          <p:nvPr/>
        </p:nvSpPr>
        <p:spPr>
          <a:xfrm>
            <a:off x="1152144" y="3054096"/>
            <a:ext cx="1965960" cy="219456"/>
          </a:xfrm>
          <a:prstGeom prst="rect">
            <a:avLst/>
          </a:prstGeom>
          <a:noFill/>
          <a:ln/>
        </p:spPr>
        <p:txBody>
          <a:bodyPr wrap="square" lIns="0" tIns="0" rIns="0" bIns="0" rtlCol="0" anchor="ctr"/>
          <a:lstStyle/>
          <a:p>
            <a:pPr indent="0" marL="0">
              <a:buNone/>
            </a:pPr>
            <a:r>
              <a:rPr lang="en-US" sz="1100" b="1" dirty="0">
                <a:solidFill>
                  <a:srgbClr val="0C1E33"/>
                </a:solidFill>
                <a:latin typeface="Arial" pitchFamily="34" charset="0"/>
                <a:ea typeface="Arial" pitchFamily="34" charset="-122"/>
                <a:cs typeface="Arial" pitchFamily="34" charset="-120"/>
              </a:rPr>
              <a:t>Onboarding</a:t>
            </a:r>
            <a:endParaRPr lang="en-US" sz="1100" dirty="0"/>
          </a:p>
        </p:txBody>
      </p:sp>
      <p:sp>
        <p:nvSpPr>
          <p:cNvPr id="23" name="Text 21"/>
          <p:cNvSpPr txBox="1"/>
          <p:nvPr/>
        </p:nvSpPr>
        <p:spPr>
          <a:xfrm>
            <a:off x="1152144" y="3273552"/>
            <a:ext cx="1965960" cy="182880"/>
          </a:xfrm>
          <a:prstGeom prst="rect">
            <a:avLst/>
          </a:prstGeom>
          <a:noFill/>
          <a:ln/>
        </p:spPr>
        <p:txBody>
          <a:bodyPr wrap="square" lIns="0" tIns="0" rIns="0" bIns="0" rtlCol="0" anchor="ctr"/>
          <a:lstStyle/>
          <a:p>
            <a:pPr indent="0" marL="0">
              <a:buNone/>
            </a:pPr>
            <a:r>
              <a:rPr lang="en-US" sz="900" dirty="0">
                <a:solidFill>
                  <a:srgbClr val="12756F"/>
                </a:solidFill>
                <a:latin typeface="Calibri" pitchFamily="34" charset="0"/>
                <a:ea typeface="Calibri" pitchFamily="34" charset="-122"/>
                <a:cs typeface="Calibri" pitchFamily="34" charset="-120"/>
              </a:rPr>
              <a:t>Employee relations</a:t>
            </a:r>
            <a:endParaRPr lang="en-US" sz="900" dirty="0"/>
          </a:p>
        </p:txBody>
      </p:sp>
      <p:sp>
        <p:nvSpPr>
          <p:cNvPr id="24" name="Text 22"/>
          <p:cNvSpPr txBox="1"/>
          <p:nvPr/>
        </p:nvSpPr>
        <p:spPr>
          <a:xfrm>
            <a:off x="3246120" y="3054096"/>
            <a:ext cx="4846320" cy="438912"/>
          </a:xfrm>
          <a:prstGeom prst="rect">
            <a:avLst/>
          </a:prstGeom>
          <a:noFill/>
          <a:ln/>
        </p:spPr>
        <p:txBody>
          <a:bodyPr wrap="square" lIns="0" tIns="0" rIns="0" bIns="0" rtlCol="0" anchor="ctr"/>
          <a:lstStyle/>
          <a:p>
            <a:pPr indent="0" marL="0">
              <a:lnSpc>
                <a:spcPts val="1240"/>
              </a:lnSpc>
              <a:buNone/>
            </a:pPr>
            <a:r>
              <a:rPr lang="en-US" sz="930" dirty="0">
                <a:solidFill>
                  <a:srgbClr val="5A6C82"/>
                </a:solidFill>
                <a:latin typeface="Calibri" pitchFamily="34" charset="0"/>
                <a:ea typeface="Calibri" pitchFamily="34" charset="-122"/>
                <a:cs typeface="Calibri" pitchFamily="34" charset="-120"/>
              </a:rPr>
              <a:t>Records the arrival date that starts the statutory Iqama clock; chases medicals and biometrics; registers Saudi hires with GOSI and Mudad.</a:t>
            </a:r>
            <a:endParaRPr lang="en-US" sz="930" dirty="0"/>
          </a:p>
        </p:txBody>
      </p:sp>
      <p:sp>
        <p:nvSpPr>
          <p:cNvPr id="25" name="Text 23"/>
          <p:cNvSpPr txBox="1"/>
          <p:nvPr/>
        </p:nvSpPr>
        <p:spPr>
          <a:xfrm>
            <a:off x="8229600" y="3054096"/>
            <a:ext cx="2615184" cy="438912"/>
          </a:xfrm>
          <a:prstGeom prst="rect">
            <a:avLst/>
          </a:prstGeom>
          <a:noFill/>
          <a:ln/>
        </p:spPr>
        <p:txBody>
          <a:bodyPr wrap="square" lIns="0" tIns="0" rIns="0" bIns="0" rtlCol="0" anchor="ctr"/>
          <a:lstStyle/>
          <a:p>
            <a:pPr indent="0" marL="0">
              <a:lnSpc>
                <a:spcPts val="1240"/>
              </a:lnSpc>
              <a:buNone/>
            </a:pPr>
            <a:r>
              <a:rPr lang="en-US" sz="930" b="1" i="1" dirty="0">
                <a:solidFill>
                  <a:srgbClr val="17795E"/>
                </a:solidFill>
                <a:latin typeface="Calibri" pitchFamily="34" charset="0"/>
                <a:ea typeface="Calibri" pitchFamily="34" charset="-122"/>
                <a:cs typeface="Calibri" pitchFamily="34" charset="-120"/>
              </a:rPr>
              <a:t>Nobody works without the paperwork that makes it legal.</a:t>
            </a:r>
            <a:endParaRPr lang="en-US" sz="930" dirty="0"/>
          </a:p>
        </p:txBody>
      </p:sp>
      <p:sp>
        <p:nvSpPr>
          <p:cNvPr id="26" name="Shape 24"/>
          <p:cNvSpPr/>
          <p:nvPr/>
        </p:nvSpPr>
        <p:spPr>
          <a:xfrm>
            <a:off x="548640" y="3584448"/>
            <a:ext cx="10424160" cy="548640"/>
          </a:xfrm>
          <a:prstGeom prst="roundRect">
            <a:avLst>
              <a:gd name="adj" fmla="val 10000"/>
            </a:avLst>
          </a:prstGeom>
          <a:solidFill>
            <a:srgbClr val="FFFFFF"/>
          </a:solidFill>
          <a:ln w="7620">
            <a:solidFill>
              <a:srgbClr val="E3E7EA"/>
            </a:solidFill>
            <a:prstDash val="solid"/>
          </a:ln>
        </p:spPr>
      </p:sp>
      <p:sp>
        <p:nvSpPr>
          <p:cNvPr id="27" name="Shape 25"/>
          <p:cNvSpPr/>
          <p:nvPr/>
        </p:nvSpPr>
        <p:spPr>
          <a:xfrm>
            <a:off x="694944" y="3685032"/>
            <a:ext cx="347472" cy="347472"/>
          </a:xfrm>
          <a:prstGeom prst="ellipse">
            <a:avLst/>
          </a:prstGeom>
          <a:solidFill>
            <a:srgbClr val="12756F"/>
          </a:solidFill>
          <a:ln/>
        </p:spPr>
      </p:sp>
      <p:sp>
        <p:nvSpPr>
          <p:cNvPr id="28" name="Text 26"/>
          <p:cNvSpPr txBox="1"/>
          <p:nvPr/>
        </p:nvSpPr>
        <p:spPr>
          <a:xfrm>
            <a:off x="694944" y="3685032"/>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BP</a:t>
            </a:r>
            <a:endParaRPr lang="en-US" sz="1050" dirty="0"/>
          </a:p>
        </p:txBody>
      </p:sp>
      <p:sp>
        <p:nvSpPr>
          <p:cNvPr id="29" name="Text 27"/>
          <p:cNvSpPr txBox="1"/>
          <p:nvPr/>
        </p:nvSpPr>
        <p:spPr>
          <a:xfrm>
            <a:off x="1152144" y="3639312"/>
            <a:ext cx="1965960" cy="219456"/>
          </a:xfrm>
          <a:prstGeom prst="rect">
            <a:avLst/>
          </a:prstGeom>
          <a:noFill/>
          <a:ln/>
        </p:spPr>
        <p:txBody>
          <a:bodyPr wrap="square" lIns="0" tIns="0" rIns="0" bIns="0" rtlCol="0" anchor="ctr"/>
          <a:lstStyle/>
          <a:p>
            <a:pPr indent="0" marL="0">
              <a:buNone/>
            </a:pPr>
            <a:r>
              <a:rPr lang="en-US" sz="1100" b="1" dirty="0">
                <a:solidFill>
                  <a:srgbClr val="0C1E33"/>
                </a:solidFill>
                <a:latin typeface="Arial" pitchFamily="34" charset="0"/>
                <a:ea typeface="Arial" pitchFamily="34" charset="-122"/>
                <a:cs typeface="Arial" pitchFamily="34" charset="-120"/>
              </a:rPr>
              <a:t>HR Business Partner</a:t>
            </a:r>
            <a:endParaRPr lang="en-US" sz="1100" dirty="0"/>
          </a:p>
        </p:txBody>
      </p:sp>
      <p:sp>
        <p:nvSpPr>
          <p:cNvPr id="30" name="Text 28"/>
          <p:cNvSpPr txBox="1"/>
          <p:nvPr/>
        </p:nvSpPr>
        <p:spPr>
          <a:xfrm>
            <a:off x="1152144" y="3858768"/>
            <a:ext cx="1965960" cy="182880"/>
          </a:xfrm>
          <a:prstGeom prst="rect">
            <a:avLst/>
          </a:prstGeom>
          <a:noFill/>
          <a:ln/>
        </p:spPr>
        <p:txBody>
          <a:bodyPr wrap="square" lIns="0" tIns="0" rIns="0" bIns="0" rtlCol="0" anchor="ctr"/>
          <a:lstStyle/>
          <a:p>
            <a:pPr indent="0" marL="0">
              <a:buNone/>
            </a:pPr>
            <a:r>
              <a:rPr lang="en-US" sz="900" dirty="0">
                <a:solidFill>
                  <a:srgbClr val="12756F"/>
                </a:solidFill>
                <a:latin typeface="Calibri" pitchFamily="34" charset="0"/>
                <a:ea typeface="Calibri" pitchFamily="34" charset="-122"/>
                <a:cs typeface="Calibri" pitchFamily="34" charset="-120"/>
              </a:rPr>
              <a:t>Employee relations</a:t>
            </a:r>
            <a:endParaRPr lang="en-US" sz="900" dirty="0"/>
          </a:p>
        </p:txBody>
      </p:sp>
      <p:sp>
        <p:nvSpPr>
          <p:cNvPr id="31" name="Text 29"/>
          <p:cNvSpPr txBox="1"/>
          <p:nvPr/>
        </p:nvSpPr>
        <p:spPr>
          <a:xfrm>
            <a:off x="3246120" y="3639312"/>
            <a:ext cx="4846320" cy="438912"/>
          </a:xfrm>
          <a:prstGeom prst="rect">
            <a:avLst/>
          </a:prstGeom>
          <a:noFill/>
          <a:ln/>
        </p:spPr>
        <p:txBody>
          <a:bodyPr wrap="square" lIns="0" tIns="0" rIns="0" bIns="0" rtlCol="0" anchor="ctr"/>
          <a:lstStyle/>
          <a:p>
            <a:pPr indent="0" marL="0">
              <a:lnSpc>
                <a:spcPts val="1240"/>
              </a:lnSpc>
              <a:buNone/>
            </a:pPr>
            <a:r>
              <a:rPr lang="en-US" sz="930" dirty="0">
                <a:solidFill>
                  <a:srgbClr val="5A6C82"/>
                </a:solidFill>
                <a:latin typeface="Calibri" pitchFamily="34" charset="0"/>
                <a:ea typeface="Calibri" pitchFamily="34" charset="-122"/>
                <a:cs typeface="Calibri" pitchFamily="34" charset="-120"/>
              </a:rPr>
              <a:t>Approves exit re-entry against dues and notice; reviews the Nitaqat impact of a resignation before it is actioned; starts final exit once settlement is agreed.</a:t>
            </a:r>
            <a:endParaRPr lang="en-US" sz="930" dirty="0"/>
          </a:p>
        </p:txBody>
      </p:sp>
      <p:sp>
        <p:nvSpPr>
          <p:cNvPr id="32" name="Text 30"/>
          <p:cNvSpPr txBox="1"/>
          <p:nvPr/>
        </p:nvSpPr>
        <p:spPr>
          <a:xfrm>
            <a:off x="8229600" y="3639312"/>
            <a:ext cx="2615184" cy="438912"/>
          </a:xfrm>
          <a:prstGeom prst="rect">
            <a:avLst/>
          </a:prstGeom>
          <a:noFill/>
          <a:ln/>
        </p:spPr>
        <p:txBody>
          <a:bodyPr wrap="square" lIns="0" tIns="0" rIns="0" bIns="0" rtlCol="0" anchor="ctr"/>
          <a:lstStyle/>
          <a:p>
            <a:pPr indent="0" marL="0">
              <a:lnSpc>
                <a:spcPts val="1240"/>
              </a:lnSpc>
              <a:buNone/>
            </a:pPr>
            <a:r>
              <a:rPr lang="en-US" sz="930" b="1" i="1" dirty="0">
                <a:solidFill>
                  <a:srgbClr val="17795E"/>
                </a:solidFill>
                <a:latin typeface="Calibri" pitchFamily="34" charset="0"/>
                <a:ea typeface="Calibri" pitchFamily="34" charset="-122"/>
                <a:cs typeface="Calibri" pitchFamily="34" charset="-120"/>
              </a:rPr>
              <a:t>Told before a resignation moves the band, not after.</a:t>
            </a:r>
            <a:endParaRPr lang="en-US" sz="930" dirty="0"/>
          </a:p>
        </p:txBody>
      </p:sp>
      <p:sp>
        <p:nvSpPr>
          <p:cNvPr id="33" name="Shape 31"/>
          <p:cNvSpPr/>
          <p:nvPr/>
        </p:nvSpPr>
        <p:spPr>
          <a:xfrm>
            <a:off x="548640" y="4169664"/>
            <a:ext cx="10424160" cy="548640"/>
          </a:xfrm>
          <a:prstGeom prst="roundRect">
            <a:avLst>
              <a:gd name="adj" fmla="val 10000"/>
            </a:avLst>
          </a:prstGeom>
          <a:solidFill>
            <a:srgbClr val="F4F6F7"/>
          </a:solidFill>
          <a:ln w="7620">
            <a:solidFill>
              <a:srgbClr val="E3E7EA"/>
            </a:solidFill>
            <a:prstDash val="solid"/>
          </a:ln>
        </p:spPr>
      </p:sp>
      <p:sp>
        <p:nvSpPr>
          <p:cNvPr id="34" name="Shape 32"/>
          <p:cNvSpPr/>
          <p:nvPr/>
        </p:nvSpPr>
        <p:spPr>
          <a:xfrm>
            <a:off x="694944" y="4270248"/>
            <a:ext cx="347472" cy="347472"/>
          </a:xfrm>
          <a:prstGeom prst="ellipse">
            <a:avLst/>
          </a:prstGeom>
          <a:solidFill>
            <a:srgbClr val="20A098"/>
          </a:solidFill>
          <a:ln/>
        </p:spPr>
      </p:sp>
      <p:sp>
        <p:nvSpPr>
          <p:cNvPr id="35" name="Text 33"/>
          <p:cNvSpPr txBox="1"/>
          <p:nvPr/>
        </p:nvSpPr>
        <p:spPr>
          <a:xfrm>
            <a:off x="694944" y="4270248"/>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EM</a:t>
            </a:r>
            <a:endParaRPr lang="en-US" sz="1050" dirty="0"/>
          </a:p>
        </p:txBody>
      </p:sp>
      <p:sp>
        <p:nvSpPr>
          <p:cNvPr id="36" name="Text 34"/>
          <p:cNvSpPr txBox="1"/>
          <p:nvPr/>
        </p:nvSpPr>
        <p:spPr>
          <a:xfrm>
            <a:off x="1152144" y="4224528"/>
            <a:ext cx="1965960" cy="219456"/>
          </a:xfrm>
          <a:prstGeom prst="rect">
            <a:avLst/>
          </a:prstGeom>
          <a:noFill/>
          <a:ln/>
        </p:spPr>
        <p:txBody>
          <a:bodyPr wrap="square" lIns="0" tIns="0" rIns="0" bIns="0" rtlCol="0" anchor="ctr"/>
          <a:lstStyle/>
          <a:p>
            <a:pPr indent="0" marL="0">
              <a:buNone/>
            </a:pPr>
            <a:r>
              <a:rPr lang="en-US" sz="1100" b="1" dirty="0">
                <a:solidFill>
                  <a:srgbClr val="0C1E33"/>
                </a:solidFill>
                <a:latin typeface="Arial" pitchFamily="34" charset="0"/>
                <a:ea typeface="Arial" pitchFamily="34" charset="-122"/>
                <a:cs typeface="Arial" pitchFamily="34" charset="-120"/>
              </a:rPr>
              <a:t>Employee</a:t>
            </a:r>
            <a:endParaRPr lang="en-US" sz="1100" dirty="0"/>
          </a:p>
        </p:txBody>
      </p:sp>
      <p:sp>
        <p:nvSpPr>
          <p:cNvPr id="37" name="Text 35"/>
          <p:cNvSpPr txBox="1"/>
          <p:nvPr/>
        </p:nvSpPr>
        <p:spPr>
          <a:xfrm>
            <a:off x="1152144" y="4443984"/>
            <a:ext cx="1965960" cy="182880"/>
          </a:xfrm>
          <a:prstGeom prst="rect">
            <a:avLst/>
          </a:prstGeom>
          <a:noFill/>
          <a:ln/>
        </p:spPr>
        <p:txBody>
          <a:bodyPr wrap="square" lIns="0" tIns="0" rIns="0" bIns="0" rtlCol="0" anchor="ctr"/>
          <a:lstStyle/>
          <a:p>
            <a:pPr indent="0" marL="0">
              <a:buNone/>
            </a:pPr>
            <a:r>
              <a:rPr lang="en-US" sz="900" dirty="0">
                <a:solidFill>
                  <a:srgbClr val="12756F"/>
                </a:solidFill>
                <a:latin typeface="Calibri" pitchFamily="34" charset="0"/>
                <a:ea typeface="Calibri" pitchFamily="34" charset="-122"/>
                <a:cs typeface="Calibri" pitchFamily="34" charset="-120"/>
              </a:rPr>
              <a:t>Self-service</a:t>
            </a:r>
            <a:endParaRPr lang="en-US" sz="900" dirty="0"/>
          </a:p>
        </p:txBody>
      </p:sp>
      <p:sp>
        <p:nvSpPr>
          <p:cNvPr id="38" name="Text 36"/>
          <p:cNvSpPr txBox="1"/>
          <p:nvPr/>
        </p:nvSpPr>
        <p:spPr>
          <a:xfrm>
            <a:off x="3246120" y="4224528"/>
            <a:ext cx="4846320" cy="438912"/>
          </a:xfrm>
          <a:prstGeom prst="rect">
            <a:avLst/>
          </a:prstGeom>
          <a:noFill/>
          <a:ln/>
        </p:spPr>
        <p:txBody>
          <a:bodyPr wrap="square" lIns="0" tIns="0" rIns="0" bIns="0" rtlCol="0" anchor="ctr"/>
          <a:lstStyle/>
          <a:p>
            <a:pPr indent="0" marL="0">
              <a:lnSpc>
                <a:spcPts val="1240"/>
              </a:lnSpc>
              <a:buNone/>
            </a:pPr>
            <a:r>
              <a:rPr lang="en-US" sz="930" dirty="0">
                <a:solidFill>
                  <a:srgbClr val="5A6C82"/>
                </a:solidFill>
                <a:latin typeface="Calibri" pitchFamily="34" charset="0"/>
                <a:ea typeface="Calibri" pitchFamily="34" charset="-122"/>
                <a:cs typeface="Calibri" pitchFamily="34" charset="-120"/>
              </a:rPr>
              <a:t>Requests exit re-entry with travel dates; confirms medical and biometrics; signs the Qiwa contract; confirms receipt of the renewed Iqama.</a:t>
            </a:r>
            <a:endParaRPr lang="en-US" sz="930" dirty="0"/>
          </a:p>
        </p:txBody>
      </p:sp>
      <p:sp>
        <p:nvSpPr>
          <p:cNvPr id="39" name="Text 37"/>
          <p:cNvSpPr txBox="1"/>
          <p:nvPr/>
        </p:nvSpPr>
        <p:spPr>
          <a:xfrm>
            <a:off x="8229600" y="4224528"/>
            <a:ext cx="2615184" cy="438912"/>
          </a:xfrm>
          <a:prstGeom prst="rect">
            <a:avLst/>
          </a:prstGeom>
          <a:noFill/>
          <a:ln/>
        </p:spPr>
        <p:txBody>
          <a:bodyPr wrap="square" lIns="0" tIns="0" rIns="0" bIns="0" rtlCol="0" anchor="ctr"/>
          <a:lstStyle/>
          <a:p>
            <a:pPr indent="0" marL="0">
              <a:lnSpc>
                <a:spcPts val="1240"/>
              </a:lnSpc>
              <a:buNone/>
            </a:pPr>
            <a:r>
              <a:rPr lang="en-US" sz="930" b="1" i="1" dirty="0">
                <a:solidFill>
                  <a:srgbClr val="17795E"/>
                </a:solidFill>
                <a:latin typeface="Calibri" pitchFamily="34" charset="0"/>
                <a:ea typeface="Calibri" pitchFamily="34" charset="-122"/>
                <a:cs typeface="Calibri" pitchFamily="34" charset="-120"/>
              </a:rPr>
              <a:t>Sees their own Iqama expiry and their return-by date.</a:t>
            </a:r>
            <a:endParaRPr lang="en-US" sz="930" dirty="0"/>
          </a:p>
        </p:txBody>
      </p:sp>
      <p:sp>
        <p:nvSpPr>
          <p:cNvPr id="40" name="Shape 38"/>
          <p:cNvSpPr/>
          <p:nvPr/>
        </p:nvSpPr>
        <p:spPr>
          <a:xfrm>
            <a:off x="548640" y="4754880"/>
            <a:ext cx="10424160" cy="548640"/>
          </a:xfrm>
          <a:prstGeom prst="roundRect">
            <a:avLst>
              <a:gd name="adj" fmla="val 10000"/>
            </a:avLst>
          </a:prstGeom>
          <a:solidFill>
            <a:srgbClr val="FFFFFF"/>
          </a:solidFill>
          <a:ln w="7620">
            <a:solidFill>
              <a:srgbClr val="E3E7EA"/>
            </a:solidFill>
            <a:prstDash val="solid"/>
          </a:ln>
        </p:spPr>
      </p:sp>
      <p:sp>
        <p:nvSpPr>
          <p:cNvPr id="41" name="Shape 39"/>
          <p:cNvSpPr/>
          <p:nvPr/>
        </p:nvSpPr>
        <p:spPr>
          <a:xfrm>
            <a:off x="694944" y="4855464"/>
            <a:ext cx="347472" cy="347472"/>
          </a:xfrm>
          <a:prstGeom prst="ellipse">
            <a:avLst/>
          </a:prstGeom>
          <a:solidFill>
            <a:srgbClr val="12756F"/>
          </a:solidFill>
          <a:ln/>
        </p:spPr>
      </p:sp>
      <p:sp>
        <p:nvSpPr>
          <p:cNvPr id="42" name="Text 40"/>
          <p:cNvSpPr txBox="1"/>
          <p:nvPr/>
        </p:nvSpPr>
        <p:spPr>
          <a:xfrm>
            <a:off x="694944" y="4855464"/>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FI</a:t>
            </a:r>
            <a:endParaRPr lang="en-US" sz="1050" dirty="0"/>
          </a:p>
        </p:txBody>
      </p:sp>
      <p:sp>
        <p:nvSpPr>
          <p:cNvPr id="43" name="Text 41"/>
          <p:cNvSpPr txBox="1"/>
          <p:nvPr/>
        </p:nvSpPr>
        <p:spPr>
          <a:xfrm>
            <a:off x="1152144" y="4809744"/>
            <a:ext cx="1965960" cy="219456"/>
          </a:xfrm>
          <a:prstGeom prst="rect">
            <a:avLst/>
          </a:prstGeom>
          <a:noFill/>
          <a:ln/>
        </p:spPr>
        <p:txBody>
          <a:bodyPr wrap="square" lIns="0" tIns="0" rIns="0" bIns="0" rtlCol="0" anchor="ctr"/>
          <a:lstStyle/>
          <a:p>
            <a:pPr indent="0" marL="0">
              <a:buNone/>
            </a:pPr>
            <a:r>
              <a:rPr lang="en-US" sz="1100" b="1" dirty="0">
                <a:solidFill>
                  <a:srgbClr val="0C1E33"/>
                </a:solidFill>
                <a:latin typeface="Arial" pitchFamily="34" charset="0"/>
                <a:ea typeface="Arial" pitchFamily="34" charset="-122"/>
                <a:cs typeface="Arial" pitchFamily="34" charset="-120"/>
              </a:rPr>
              <a:t>Finance Controller</a:t>
            </a:r>
            <a:endParaRPr lang="en-US" sz="1100" dirty="0"/>
          </a:p>
        </p:txBody>
      </p:sp>
      <p:sp>
        <p:nvSpPr>
          <p:cNvPr id="44" name="Text 42"/>
          <p:cNvSpPr txBox="1"/>
          <p:nvPr/>
        </p:nvSpPr>
        <p:spPr>
          <a:xfrm>
            <a:off x="1152144" y="5029200"/>
            <a:ext cx="1965960" cy="182880"/>
          </a:xfrm>
          <a:prstGeom prst="rect">
            <a:avLst/>
          </a:prstGeom>
          <a:noFill/>
          <a:ln/>
        </p:spPr>
        <p:txBody>
          <a:bodyPr wrap="square" lIns="0" tIns="0" rIns="0" bIns="0" rtlCol="0" anchor="ctr"/>
          <a:lstStyle/>
          <a:p>
            <a:pPr indent="0" marL="0">
              <a:buNone/>
            </a:pPr>
            <a:r>
              <a:rPr lang="en-US" sz="900" dirty="0">
                <a:solidFill>
                  <a:srgbClr val="12756F"/>
                </a:solidFill>
                <a:latin typeface="Calibri" pitchFamily="34" charset="0"/>
                <a:ea typeface="Calibri" pitchFamily="34" charset="-122"/>
                <a:cs typeface="Calibri" pitchFamily="34" charset="-120"/>
              </a:rPr>
              <a:t>Payments and GL</a:t>
            </a:r>
            <a:endParaRPr lang="en-US" sz="900" dirty="0"/>
          </a:p>
        </p:txBody>
      </p:sp>
      <p:sp>
        <p:nvSpPr>
          <p:cNvPr id="45" name="Text 43"/>
          <p:cNvSpPr txBox="1"/>
          <p:nvPr/>
        </p:nvSpPr>
        <p:spPr>
          <a:xfrm>
            <a:off x="3246120" y="4809744"/>
            <a:ext cx="4846320" cy="438912"/>
          </a:xfrm>
          <a:prstGeom prst="rect">
            <a:avLst/>
          </a:prstGeom>
          <a:noFill/>
          <a:ln/>
        </p:spPr>
        <p:txBody>
          <a:bodyPr wrap="square" lIns="0" tIns="0" rIns="0" bIns="0" rtlCol="0" anchor="ctr"/>
          <a:lstStyle/>
          <a:p>
            <a:pPr indent="0" marL="0">
              <a:lnSpc>
                <a:spcPts val="1240"/>
              </a:lnSpc>
              <a:buNone/>
            </a:pPr>
            <a:r>
              <a:rPr lang="en-US" sz="930" dirty="0">
                <a:solidFill>
                  <a:srgbClr val="5A6C82"/>
                </a:solidFill>
                <a:latin typeface="Calibri" pitchFamily="34" charset="0"/>
                <a:ea typeface="Calibri" pitchFamily="34" charset="-122"/>
                <a:cs typeface="Calibri" pitchFamily="34" charset="-120"/>
              </a:rPr>
              <a:t>Reconciles SADAD payments against receipts; posts to GL; forecasts expat levy against the renewal calendar.</a:t>
            </a:r>
            <a:endParaRPr lang="en-US" sz="930" dirty="0"/>
          </a:p>
        </p:txBody>
      </p:sp>
      <p:sp>
        <p:nvSpPr>
          <p:cNvPr id="46" name="Text 44"/>
          <p:cNvSpPr txBox="1"/>
          <p:nvPr/>
        </p:nvSpPr>
        <p:spPr>
          <a:xfrm>
            <a:off x="8229600" y="4809744"/>
            <a:ext cx="2615184" cy="438912"/>
          </a:xfrm>
          <a:prstGeom prst="rect">
            <a:avLst/>
          </a:prstGeom>
          <a:noFill/>
          <a:ln/>
        </p:spPr>
        <p:txBody>
          <a:bodyPr wrap="square" lIns="0" tIns="0" rIns="0" bIns="0" rtlCol="0" anchor="ctr"/>
          <a:lstStyle/>
          <a:p>
            <a:pPr indent="0" marL="0">
              <a:lnSpc>
                <a:spcPts val="1240"/>
              </a:lnSpc>
              <a:buNone/>
            </a:pPr>
            <a:r>
              <a:rPr lang="en-US" sz="930" b="1" i="1" dirty="0">
                <a:solidFill>
                  <a:srgbClr val="17795E"/>
                </a:solidFill>
                <a:latin typeface="Calibri" pitchFamily="34" charset="0"/>
                <a:ea typeface="Calibri" pitchFamily="34" charset="-122"/>
                <a:cs typeface="Calibri" pitchFamily="34" charset="-120"/>
              </a:rPr>
              <a:t>The levy stops being a surprise.</a:t>
            </a:r>
            <a:endParaRPr lang="en-US" sz="930" dirty="0"/>
          </a:p>
        </p:txBody>
      </p:sp>
      <p:sp>
        <p:nvSpPr>
          <p:cNvPr id="47" name="Shape 45"/>
          <p:cNvSpPr/>
          <p:nvPr/>
        </p:nvSpPr>
        <p:spPr>
          <a:xfrm>
            <a:off x="548640" y="5340096"/>
            <a:ext cx="10424160" cy="548640"/>
          </a:xfrm>
          <a:prstGeom prst="roundRect">
            <a:avLst>
              <a:gd name="adj" fmla="val 10000"/>
            </a:avLst>
          </a:prstGeom>
          <a:solidFill>
            <a:srgbClr val="F4F6F7"/>
          </a:solidFill>
          <a:ln w="7620">
            <a:solidFill>
              <a:srgbClr val="E3E7EA"/>
            </a:solidFill>
            <a:prstDash val="solid"/>
          </a:ln>
        </p:spPr>
      </p:sp>
      <p:sp>
        <p:nvSpPr>
          <p:cNvPr id="48" name="Shape 46"/>
          <p:cNvSpPr/>
          <p:nvPr/>
        </p:nvSpPr>
        <p:spPr>
          <a:xfrm>
            <a:off x="694944" y="5440680"/>
            <a:ext cx="347472" cy="347472"/>
          </a:xfrm>
          <a:prstGeom prst="ellipse">
            <a:avLst/>
          </a:prstGeom>
          <a:solidFill>
            <a:srgbClr val="16304C"/>
          </a:solidFill>
          <a:ln/>
        </p:spPr>
      </p:sp>
      <p:sp>
        <p:nvSpPr>
          <p:cNvPr id="49" name="Text 47"/>
          <p:cNvSpPr txBox="1"/>
          <p:nvPr/>
        </p:nvSpPr>
        <p:spPr>
          <a:xfrm>
            <a:off x="694944" y="5440680"/>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HR</a:t>
            </a:r>
            <a:endParaRPr lang="en-US" sz="1050" dirty="0"/>
          </a:p>
        </p:txBody>
      </p:sp>
      <p:sp>
        <p:nvSpPr>
          <p:cNvPr id="50" name="Text 48"/>
          <p:cNvSpPr txBox="1"/>
          <p:nvPr/>
        </p:nvSpPr>
        <p:spPr>
          <a:xfrm>
            <a:off x="1152144" y="5394960"/>
            <a:ext cx="1965960" cy="219456"/>
          </a:xfrm>
          <a:prstGeom prst="rect">
            <a:avLst/>
          </a:prstGeom>
          <a:noFill/>
          <a:ln/>
        </p:spPr>
        <p:txBody>
          <a:bodyPr wrap="square" lIns="0" tIns="0" rIns="0" bIns="0" rtlCol="0" anchor="ctr"/>
          <a:lstStyle/>
          <a:p>
            <a:pPr indent="0" marL="0">
              <a:buNone/>
            </a:pPr>
            <a:r>
              <a:rPr lang="en-US" sz="1100" b="1" dirty="0">
                <a:solidFill>
                  <a:srgbClr val="0C1E33"/>
                </a:solidFill>
                <a:latin typeface="Arial" pitchFamily="34" charset="0"/>
                <a:ea typeface="Arial" pitchFamily="34" charset="-122"/>
                <a:cs typeface="Arial" pitchFamily="34" charset="-120"/>
              </a:rPr>
              <a:t>Head of HR</a:t>
            </a:r>
            <a:endParaRPr lang="en-US" sz="1100" dirty="0"/>
          </a:p>
        </p:txBody>
      </p:sp>
      <p:sp>
        <p:nvSpPr>
          <p:cNvPr id="51" name="Text 49"/>
          <p:cNvSpPr txBox="1"/>
          <p:nvPr/>
        </p:nvSpPr>
        <p:spPr>
          <a:xfrm>
            <a:off x="1152144" y="5614416"/>
            <a:ext cx="1965960" cy="182880"/>
          </a:xfrm>
          <a:prstGeom prst="rect">
            <a:avLst/>
          </a:prstGeom>
          <a:noFill/>
          <a:ln/>
        </p:spPr>
        <p:txBody>
          <a:bodyPr wrap="square" lIns="0" tIns="0" rIns="0" bIns="0" rtlCol="0" anchor="ctr"/>
          <a:lstStyle/>
          <a:p>
            <a:pPr indent="0" marL="0">
              <a:buNone/>
            </a:pPr>
            <a:r>
              <a:rPr lang="en-US" sz="900" dirty="0">
                <a:solidFill>
                  <a:srgbClr val="12756F"/>
                </a:solidFill>
                <a:latin typeface="Calibri" pitchFamily="34" charset="0"/>
                <a:ea typeface="Calibri" pitchFamily="34" charset="-122"/>
                <a:cs typeface="Calibri" pitchFamily="34" charset="-120"/>
              </a:rPr>
              <a:t>Governance and risk</a:t>
            </a:r>
            <a:endParaRPr lang="en-US" sz="900" dirty="0"/>
          </a:p>
        </p:txBody>
      </p:sp>
      <p:sp>
        <p:nvSpPr>
          <p:cNvPr id="52" name="Text 50"/>
          <p:cNvSpPr txBox="1"/>
          <p:nvPr/>
        </p:nvSpPr>
        <p:spPr>
          <a:xfrm>
            <a:off x="3246120" y="5394960"/>
            <a:ext cx="4846320" cy="438912"/>
          </a:xfrm>
          <a:prstGeom prst="rect">
            <a:avLst/>
          </a:prstGeom>
          <a:noFill/>
          <a:ln/>
        </p:spPr>
        <p:txBody>
          <a:bodyPr wrap="square" lIns="0" tIns="0" rIns="0" bIns="0" rtlCol="0" anchor="ctr"/>
          <a:lstStyle/>
          <a:p>
            <a:pPr indent="0" marL="0">
              <a:lnSpc>
                <a:spcPts val="1240"/>
              </a:lnSpc>
              <a:buNone/>
            </a:pPr>
            <a:r>
              <a:rPr lang="en-US" sz="930" dirty="0">
                <a:solidFill>
                  <a:srgbClr val="5A6C82"/>
                </a:solidFill>
                <a:latin typeface="Calibri" pitchFamily="34" charset="0"/>
                <a:ea typeface="Calibri" pitchFamily="34" charset="-122"/>
                <a:cs typeface="Calibri" pitchFamily="34" charset="-120"/>
              </a:rPr>
              <a:t>Watches band position per establishment; reviews Saudization against Vision 2030 commitments; signs off the localisation hiring plan.</a:t>
            </a:r>
            <a:endParaRPr lang="en-US" sz="930" dirty="0"/>
          </a:p>
        </p:txBody>
      </p:sp>
      <p:sp>
        <p:nvSpPr>
          <p:cNvPr id="53" name="Text 51"/>
          <p:cNvSpPr txBox="1"/>
          <p:nvPr/>
        </p:nvSpPr>
        <p:spPr>
          <a:xfrm>
            <a:off x="8229600" y="5394960"/>
            <a:ext cx="2615184" cy="438912"/>
          </a:xfrm>
          <a:prstGeom prst="rect">
            <a:avLst/>
          </a:prstGeom>
          <a:noFill/>
          <a:ln/>
        </p:spPr>
        <p:txBody>
          <a:bodyPr wrap="square" lIns="0" tIns="0" rIns="0" bIns="0" rtlCol="0" anchor="ctr"/>
          <a:lstStyle/>
          <a:p>
            <a:pPr indent="0" marL="0">
              <a:lnSpc>
                <a:spcPts val="1240"/>
              </a:lnSpc>
              <a:buNone/>
            </a:pPr>
            <a:r>
              <a:rPr lang="en-US" sz="930" b="1" i="1" dirty="0">
                <a:solidFill>
                  <a:srgbClr val="17795E"/>
                </a:solidFill>
                <a:latin typeface="Calibri" pitchFamily="34" charset="0"/>
                <a:ea typeface="Calibri" pitchFamily="34" charset="-122"/>
                <a:cs typeface="Calibri" pitchFamily="34" charset="-120"/>
              </a:rPr>
              <a:t>Nitaqat exposure answerable from one screen.</a:t>
            </a:r>
            <a:endParaRPr lang="en-US" sz="930" dirty="0"/>
          </a:p>
        </p:txBody>
      </p:sp>
      <p:sp>
        <p:nvSpPr>
          <p:cNvPr id="54" name="Text 52"/>
          <p:cNvSpPr txBox="1"/>
          <p:nvPr/>
        </p:nvSpPr>
        <p:spPr>
          <a:xfrm>
            <a:off x="1152144" y="1609344"/>
            <a:ext cx="1920240" cy="182880"/>
          </a:xfrm>
          <a:prstGeom prst="rect">
            <a:avLst/>
          </a:prstGeom>
          <a:noFill/>
          <a:ln/>
        </p:spPr>
        <p:txBody>
          <a:bodyPr wrap="square" lIns="0" tIns="0" rIns="0" bIns="0" rtlCol="0" anchor="ctr"/>
          <a:lstStyle/>
          <a:p>
            <a:pPr indent="0" marL="0">
              <a:buNone/>
            </a:pPr>
            <a:r>
              <a:rPr lang="en-US" sz="850" b="1" spc="140" kern="0" dirty="0">
                <a:solidFill>
                  <a:srgbClr val="96A3AE"/>
                </a:solidFill>
                <a:latin typeface="Calibri" pitchFamily="34" charset="0"/>
                <a:ea typeface="Calibri" pitchFamily="34" charset="-122"/>
                <a:cs typeface="Calibri" pitchFamily="34" charset="-120"/>
              </a:rPr>
              <a:t>ROLE</a:t>
            </a:r>
            <a:endParaRPr lang="en-US" sz="850" dirty="0"/>
          </a:p>
        </p:txBody>
      </p:sp>
      <p:sp>
        <p:nvSpPr>
          <p:cNvPr id="55" name="Text 53"/>
          <p:cNvSpPr txBox="1"/>
          <p:nvPr/>
        </p:nvSpPr>
        <p:spPr>
          <a:xfrm>
            <a:off x="3246120" y="1609344"/>
            <a:ext cx="4846320" cy="182880"/>
          </a:xfrm>
          <a:prstGeom prst="rect">
            <a:avLst/>
          </a:prstGeom>
          <a:noFill/>
          <a:ln/>
        </p:spPr>
        <p:txBody>
          <a:bodyPr wrap="square" lIns="0" tIns="0" rIns="0" bIns="0" rtlCol="0" anchor="ctr"/>
          <a:lstStyle/>
          <a:p>
            <a:pPr indent="0" marL="0">
              <a:buNone/>
            </a:pPr>
            <a:r>
              <a:rPr lang="en-US" sz="850" b="1" spc="140" kern="0" dirty="0">
                <a:solidFill>
                  <a:srgbClr val="96A3AE"/>
                </a:solidFill>
                <a:latin typeface="Calibri" pitchFamily="34" charset="0"/>
                <a:ea typeface="Calibri" pitchFamily="34" charset="-122"/>
                <a:cs typeface="Calibri" pitchFamily="34" charset="-120"/>
              </a:rPr>
              <a:t>WHAT THEY DO IN THE SYSTEM</a:t>
            </a:r>
            <a:endParaRPr lang="en-US" sz="850" dirty="0"/>
          </a:p>
        </p:txBody>
      </p:sp>
      <p:sp>
        <p:nvSpPr>
          <p:cNvPr id="56" name="Text 54"/>
          <p:cNvSpPr txBox="1"/>
          <p:nvPr/>
        </p:nvSpPr>
        <p:spPr>
          <a:xfrm>
            <a:off x="8229600" y="1609344"/>
            <a:ext cx="2615184" cy="182880"/>
          </a:xfrm>
          <a:prstGeom prst="rect">
            <a:avLst/>
          </a:prstGeom>
          <a:noFill/>
          <a:ln/>
        </p:spPr>
        <p:txBody>
          <a:bodyPr wrap="square" lIns="0" tIns="0" rIns="0" bIns="0" rtlCol="0" anchor="ctr"/>
          <a:lstStyle/>
          <a:p>
            <a:pPr indent="0" marL="0">
              <a:buNone/>
            </a:pPr>
            <a:r>
              <a:rPr lang="en-US" sz="850" b="1" spc="140" kern="0" dirty="0">
                <a:solidFill>
                  <a:srgbClr val="96A3AE"/>
                </a:solidFill>
                <a:latin typeface="Calibri" pitchFamily="34" charset="0"/>
                <a:ea typeface="Calibri" pitchFamily="34" charset="-122"/>
                <a:cs typeface="Calibri" pitchFamily="34" charset="-120"/>
              </a:rPr>
              <a:t>WHAT THEY GET</a:t>
            </a:r>
            <a:endParaRPr lang="en-US" sz="850" dirty="0"/>
          </a:p>
        </p:txBody>
      </p:sp>
      <p:sp>
        <p:nvSpPr>
          <p:cNvPr id="57" name="Text 55"/>
          <p:cNvSpPr txBox="1"/>
          <p:nvPr/>
        </p:nvSpPr>
        <p:spPr>
          <a:xfrm>
            <a:off x="548640" y="6419088"/>
            <a:ext cx="8595360" cy="237744"/>
          </a:xfrm>
          <a:prstGeom prst="rect">
            <a:avLst/>
          </a:prstGeom>
          <a:noFill/>
          <a:ln/>
        </p:spPr>
        <p:txBody>
          <a:bodyPr wrap="square" lIns="0" tIns="0" rIns="0" bIns="0" rtlCol="0" anchor="ctr"/>
          <a:lstStyle/>
          <a:p>
            <a:pPr indent="0" marL="0">
              <a:buNone/>
            </a:pPr>
            <a:r>
              <a:rPr lang="en-US" sz="900" dirty="0">
                <a:solidFill>
                  <a:srgbClr val="96A3AE"/>
                </a:solidFill>
                <a:latin typeface="Calibri" pitchFamily="34" charset="0"/>
                <a:ea typeface="Calibri" pitchFamily="34" charset="-122"/>
                <a:cs typeface="Calibri" pitchFamily="34" charset="-120"/>
              </a:rPr>
              <a:t>INK IT Business Solutions  ·  Visa &amp; Permits Management  ·  Kingdom of Saudi Arabia</a:t>
            </a:r>
            <a:endParaRPr lang="en-US" sz="900" dirty="0"/>
          </a:p>
        </p:txBody>
      </p:sp>
      <p:sp>
        <p:nvSpPr>
          <p:cNvPr id="58" name="Text 56"/>
          <p:cNvSpPr txBox="1"/>
          <p:nvPr/>
        </p:nvSpPr>
        <p:spPr>
          <a:xfrm>
            <a:off x="11155680" y="6419088"/>
            <a:ext cx="457200" cy="237744"/>
          </a:xfrm>
          <a:prstGeom prst="rect">
            <a:avLst/>
          </a:prstGeom>
          <a:noFill/>
          <a:ln/>
        </p:spPr>
        <p:txBody>
          <a:bodyPr wrap="square" lIns="0" tIns="0" rIns="0" bIns="0" rtlCol="0" anchor="ctr"/>
          <a:lstStyle/>
          <a:p>
            <a:pPr algn="r" indent="0" marL="0">
              <a:buNone/>
            </a:pPr>
            <a:r>
              <a:rPr lang="en-US" sz="900" dirty="0">
                <a:solidFill>
                  <a:srgbClr val="96A3A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02336"/>
            <a:ext cx="11064240" cy="237744"/>
          </a:xfrm>
          <a:prstGeom prst="rect">
            <a:avLst/>
          </a:prstGeom>
          <a:noFill/>
          <a:ln/>
        </p:spPr>
        <p:txBody>
          <a:bodyPr wrap="square" lIns="0" tIns="0" rIns="0" bIns="0" rtlCol="0" anchor="ctr"/>
          <a:lstStyle/>
          <a:p>
            <a:pPr indent="0" marL="0">
              <a:buNone/>
            </a:pPr>
            <a:r>
              <a:rPr lang="en-US" sz="1100" b="1" spc="220" kern="0" dirty="0">
                <a:solidFill>
                  <a:srgbClr val="20A098"/>
                </a:solidFill>
                <a:latin typeface="Calibri" pitchFamily="34" charset="0"/>
                <a:ea typeface="Calibri" pitchFamily="34" charset="-122"/>
                <a:cs typeface="Calibri" pitchFamily="34" charset="-120"/>
              </a:rPr>
              <a:t>ACCOUNTABILITY &amp; COST CONTROL</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0C1E33"/>
                </a:solidFill>
                <a:latin typeface="Arial" pitchFamily="34" charset="0"/>
                <a:ea typeface="Arial" pitchFamily="34" charset="-122"/>
                <a:cs typeface="Arial" pitchFamily="34" charset="-120"/>
              </a:rPr>
              <a:t>Every step owned. Every riyal accounted for.</a:t>
            </a:r>
            <a:endParaRPr lang="en-US" sz="3000" dirty="0"/>
          </a:p>
        </p:txBody>
      </p:sp>
      <p:sp>
        <p:nvSpPr>
          <p:cNvPr id="4" name="Text 2"/>
          <p:cNvSpPr txBox="1"/>
          <p:nvPr/>
        </p:nvSpPr>
        <p:spPr>
          <a:xfrm>
            <a:off x="548640" y="1243584"/>
            <a:ext cx="10424160" cy="310896"/>
          </a:xfrm>
          <a:prstGeom prst="rect">
            <a:avLst/>
          </a:prstGeom>
          <a:noFill/>
          <a:ln/>
        </p:spPr>
        <p:txBody>
          <a:bodyPr wrap="square" lIns="0" tIns="0" rIns="0" bIns="0" rtlCol="0" anchor="ctr"/>
          <a:lstStyle/>
          <a:p>
            <a:pPr indent="0" marL="0">
              <a:buNone/>
            </a:pPr>
            <a:r>
              <a:rPr lang="en-US" sz="1300" dirty="0">
                <a:solidFill>
                  <a:srgbClr val="5A6C82"/>
                </a:solidFill>
                <a:latin typeface="Calibri" pitchFamily="34" charset="0"/>
                <a:ea typeface="Calibri" pitchFamily="34" charset="-122"/>
                <a:cs typeface="Calibri" pitchFamily="34" charset="-120"/>
              </a:rPr>
              <a:t>Statutory deadlines need named owners, and Saudi permit costs are large enough that finance has to see them coming.</a:t>
            </a:r>
            <a:endParaRPr lang="en-US" sz="1300" dirty="0"/>
          </a:p>
        </p:txBody>
      </p:sp>
      <p:sp>
        <p:nvSpPr>
          <p:cNvPr id="5" name="Shape 3"/>
          <p:cNvSpPr/>
          <p:nvPr/>
        </p:nvSpPr>
        <p:spPr>
          <a:xfrm>
            <a:off x="548640" y="1792224"/>
            <a:ext cx="5394960" cy="676656"/>
          </a:xfrm>
          <a:prstGeom prst="roundRect">
            <a:avLst>
              <a:gd name="adj" fmla="val 10811"/>
            </a:avLst>
          </a:prstGeom>
          <a:solidFill>
            <a:srgbClr val="F4F6F7"/>
          </a:solidFill>
          <a:ln w="9525">
            <a:solidFill>
              <a:srgbClr val="E3E7EA"/>
            </a:solidFill>
            <a:prstDash val="solid"/>
          </a:ln>
        </p:spPr>
      </p:sp>
      <p:sp>
        <p:nvSpPr>
          <p:cNvPr id="6" name="Shape 4"/>
          <p:cNvSpPr/>
          <p:nvPr/>
        </p:nvSpPr>
        <p:spPr>
          <a:xfrm>
            <a:off x="731520" y="1956816"/>
            <a:ext cx="365760" cy="365760"/>
          </a:xfrm>
          <a:prstGeom prst="ellipse">
            <a:avLst/>
          </a:prstGeom>
          <a:solidFill>
            <a:srgbClr val="20A098"/>
          </a:solidFill>
          <a:ln/>
        </p:spPr>
      </p:sp>
      <p:sp>
        <p:nvSpPr>
          <p:cNvPr id="7" name="Text 5"/>
          <p:cNvSpPr txBox="1"/>
          <p:nvPr/>
        </p:nvSpPr>
        <p:spPr>
          <a:xfrm>
            <a:off x="731520" y="195681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225296" y="1874520"/>
            <a:ext cx="4480560" cy="219456"/>
          </a:xfrm>
          <a:prstGeom prst="rect">
            <a:avLst/>
          </a:prstGeom>
          <a:noFill/>
          <a:ln/>
        </p:spPr>
        <p:txBody>
          <a:bodyPr wrap="square" lIns="0" tIns="0" rIns="0" bIns="0" rtlCol="0" anchor="ctr"/>
          <a:lstStyle/>
          <a:p>
            <a:pPr indent="0" marL="0">
              <a:buNone/>
            </a:pPr>
            <a:r>
              <a:rPr lang="en-US" sz="1250" b="1" dirty="0">
                <a:solidFill>
                  <a:srgbClr val="0C1E33"/>
                </a:solidFill>
                <a:latin typeface="Arial" pitchFamily="34" charset="0"/>
                <a:ea typeface="Arial" pitchFamily="34" charset="-122"/>
                <a:cs typeface="Arial" pitchFamily="34" charset="-120"/>
              </a:rPr>
              <a:t>Assign</a:t>
            </a:r>
            <a:endParaRPr lang="en-US" sz="1250" dirty="0"/>
          </a:p>
        </p:txBody>
      </p:sp>
      <p:sp>
        <p:nvSpPr>
          <p:cNvPr id="9" name="Text 7"/>
          <p:cNvSpPr txBox="1"/>
          <p:nvPr/>
        </p:nvSpPr>
        <p:spPr>
          <a:xfrm>
            <a:off x="1225296" y="2103120"/>
            <a:ext cx="4526280" cy="310896"/>
          </a:xfrm>
          <a:prstGeom prst="rect">
            <a:avLst/>
          </a:prstGeom>
          <a:noFill/>
          <a:ln/>
        </p:spPr>
        <p:txBody>
          <a:bodyPr wrap="square" lIns="0" tIns="0" rIns="0" bIns="0" rtlCol="0" anchor="ctr"/>
          <a:lstStyle/>
          <a:p>
            <a:pPr indent="0" marL="0">
              <a:lnSpc>
                <a:spcPts val="1250"/>
              </a:lnSpc>
              <a:buNone/>
            </a:pPr>
            <a:r>
              <a:rPr lang="en-US" sz="940" dirty="0">
                <a:solidFill>
                  <a:srgbClr val="5A6C82"/>
                </a:solidFill>
                <a:latin typeface="Calibri" pitchFamily="34" charset="0"/>
                <a:ea typeface="Calibri" pitchFamily="34" charset="-122"/>
                <a:cs typeface="Calibri" pitchFamily="34" charset="-120"/>
              </a:rPr>
              <a:t>Routed to a role, claimed by a named officer. Due dates come from the statutory deadline, not a guess.</a:t>
            </a:r>
            <a:endParaRPr lang="en-US" sz="940" dirty="0"/>
          </a:p>
        </p:txBody>
      </p:sp>
      <p:sp>
        <p:nvSpPr>
          <p:cNvPr id="10" name="Shape 8"/>
          <p:cNvSpPr/>
          <p:nvPr/>
        </p:nvSpPr>
        <p:spPr>
          <a:xfrm>
            <a:off x="548640" y="2569464"/>
            <a:ext cx="5394960" cy="676656"/>
          </a:xfrm>
          <a:prstGeom prst="roundRect">
            <a:avLst>
              <a:gd name="adj" fmla="val 10811"/>
            </a:avLst>
          </a:prstGeom>
          <a:solidFill>
            <a:srgbClr val="FFFFFF"/>
          </a:solidFill>
          <a:ln w="9525">
            <a:solidFill>
              <a:srgbClr val="E3E7EA"/>
            </a:solidFill>
            <a:prstDash val="solid"/>
          </a:ln>
        </p:spPr>
      </p:sp>
      <p:sp>
        <p:nvSpPr>
          <p:cNvPr id="11" name="Shape 9"/>
          <p:cNvSpPr/>
          <p:nvPr/>
        </p:nvSpPr>
        <p:spPr>
          <a:xfrm>
            <a:off x="731520" y="2734056"/>
            <a:ext cx="365760" cy="365760"/>
          </a:xfrm>
          <a:prstGeom prst="ellipse">
            <a:avLst/>
          </a:prstGeom>
          <a:solidFill>
            <a:srgbClr val="B5730F"/>
          </a:solidFill>
          <a:ln/>
        </p:spPr>
      </p:sp>
      <p:sp>
        <p:nvSpPr>
          <p:cNvPr id="12" name="Text 10"/>
          <p:cNvSpPr txBox="1"/>
          <p:nvPr/>
        </p:nvSpPr>
        <p:spPr>
          <a:xfrm>
            <a:off x="731520" y="273405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225296" y="2651760"/>
            <a:ext cx="4480560" cy="219456"/>
          </a:xfrm>
          <a:prstGeom prst="rect">
            <a:avLst/>
          </a:prstGeom>
          <a:noFill/>
          <a:ln/>
        </p:spPr>
        <p:txBody>
          <a:bodyPr wrap="square" lIns="0" tIns="0" rIns="0" bIns="0" rtlCol="0" anchor="ctr"/>
          <a:lstStyle/>
          <a:p>
            <a:pPr indent="0" marL="0">
              <a:buNone/>
            </a:pPr>
            <a:r>
              <a:rPr lang="en-US" sz="1250" b="1" dirty="0">
                <a:solidFill>
                  <a:srgbClr val="0C1E33"/>
                </a:solidFill>
                <a:latin typeface="Arial" pitchFamily="34" charset="0"/>
                <a:ea typeface="Arial" pitchFamily="34" charset="-122"/>
                <a:cs typeface="Arial" pitchFamily="34" charset="-120"/>
              </a:rPr>
              <a:t>Nudge</a:t>
            </a:r>
            <a:endParaRPr lang="en-US" sz="1250" dirty="0"/>
          </a:p>
        </p:txBody>
      </p:sp>
      <p:sp>
        <p:nvSpPr>
          <p:cNvPr id="14" name="Text 12"/>
          <p:cNvSpPr txBox="1"/>
          <p:nvPr/>
        </p:nvSpPr>
        <p:spPr>
          <a:xfrm>
            <a:off x="1225296" y="2880360"/>
            <a:ext cx="4526280" cy="310896"/>
          </a:xfrm>
          <a:prstGeom prst="rect">
            <a:avLst/>
          </a:prstGeom>
          <a:noFill/>
          <a:ln/>
        </p:spPr>
        <p:txBody>
          <a:bodyPr wrap="square" lIns="0" tIns="0" rIns="0" bIns="0" rtlCol="0" anchor="ctr"/>
          <a:lstStyle/>
          <a:p>
            <a:pPr indent="0" marL="0">
              <a:lnSpc>
                <a:spcPts val="1250"/>
              </a:lnSpc>
              <a:buNone/>
            </a:pPr>
            <a:r>
              <a:rPr lang="en-US" sz="940" dirty="0">
                <a:solidFill>
                  <a:srgbClr val="5A6C82"/>
                </a:solidFill>
                <a:latin typeface="Calibri" pitchFamily="34" charset="0"/>
                <a:ea typeface="Calibri" pitchFamily="34" charset="-122"/>
                <a:cs typeface="Calibri" pitchFamily="34" charset="-120"/>
              </a:rPr>
              <a:t>Every 2 days while open. Iqama expiries six weeks out, exit re-entry returns at 14, 7 and 2 days.</a:t>
            </a:r>
            <a:endParaRPr lang="en-US" sz="940" dirty="0"/>
          </a:p>
        </p:txBody>
      </p:sp>
      <p:sp>
        <p:nvSpPr>
          <p:cNvPr id="15" name="Shape 13"/>
          <p:cNvSpPr/>
          <p:nvPr/>
        </p:nvSpPr>
        <p:spPr>
          <a:xfrm>
            <a:off x="548640" y="3346704"/>
            <a:ext cx="5394960" cy="676656"/>
          </a:xfrm>
          <a:prstGeom prst="roundRect">
            <a:avLst>
              <a:gd name="adj" fmla="val 10811"/>
            </a:avLst>
          </a:prstGeom>
          <a:solidFill>
            <a:srgbClr val="F4F6F7"/>
          </a:solidFill>
          <a:ln w="9525">
            <a:solidFill>
              <a:srgbClr val="E3E7EA"/>
            </a:solidFill>
            <a:prstDash val="solid"/>
          </a:ln>
        </p:spPr>
      </p:sp>
      <p:sp>
        <p:nvSpPr>
          <p:cNvPr id="16" name="Shape 14"/>
          <p:cNvSpPr/>
          <p:nvPr/>
        </p:nvSpPr>
        <p:spPr>
          <a:xfrm>
            <a:off x="731520" y="3511296"/>
            <a:ext cx="365760" cy="365760"/>
          </a:xfrm>
          <a:prstGeom prst="ellipse">
            <a:avLst/>
          </a:prstGeom>
          <a:solidFill>
            <a:srgbClr val="B23A2F"/>
          </a:solidFill>
          <a:ln/>
        </p:spPr>
      </p:sp>
      <p:sp>
        <p:nvSpPr>
          <p:cNvPr id="17" name="Text 15"/>
          <p:cNvSpPr txBox="1"/>
          <p:nvPr/>
        </p:nvSpPr>
        <p:spPr>
          <a:xfrm>
            <a:off x="731520" y="351129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1225296" y="3429000"/>
            <a:ext cx="4480560" cy="219456"/>
          </a:xfrm>
          <a:prstGeom prst="rect">
            <a:avLst/>
          </a:prstGeom>
          <a:noFill/>
          <a:ln/>
        </p:spPr>
        <p:txBody>
          <a:bodyPr wrap="square" lIns="0" tIns="0" rIns="0" bIns="0" rtlCol="0" anchor="ctr"/>
          <a:lstStyle/>
          <a:p>
            <a:pPr indent="0" marL="0">
              <a:buNone/>
            </a:pPr>
            <a:r>
              <a:rPr lang="en-US" sz="1250" b="1" dirty="0">
                <a:solidFill>
                  <a:srgbClr val="0C1E33"/>
                </a:solidFill>
                <a:latin typeface="Arial" pitchFamily="34" charset="0"/>
                <a:ea typeface="Arial" pitchFamily="34" charset="-122"/>
                <a:cs typeface="Arial" pitchFamily="34" charset="-120"/>
              </a:rPr>
              <a:t>Escalate</a:t>
            </a:r>
            <a:endParaRPr lang="en-US" sz="1250" dirty="0"/>
          </a:p>
        </p:txBody>
      </p:sp>
      <p:sp>
        <p:nvSpPr>
          <p:cNvPr id="19" name="Text 17"/>
          <p:cNvSpPr txBox="1"/>
          <p:nvPr/>
        </p:nvSpPr>
        <p:spPr>
          <a:xfrm>
            <a:off x="1225296" y="3657600"/>
            <a:ext cx="4526280" cy="310896"/>
          </a:xfrm>
          <a:prstGeom prst="rect">
            <a:avLst/>
          </a:prstGeom>
          <a:noFill/>
          <a:ln/>
        </p:spPr>
        <p:txBody>
          <a:bodyPr wrap="square" lIns="0" tIns="0" rIns="0" bIns="0" rtlCol="0" anchor="ctr"/>
          <a:lstStyle/>
          <a:p>
            <a:pPr indent="0" marL="0">
              <a:lnSpc>
                <a:spcPts val="1250"/>
              </a:lnSpc>
              <a:buNone/>
            </a:pPr>
            <a:r>
              <a:rPr lang="en-US" sz="940" dirty="0">
                <a:solidFill>
                  <a:srgbClr val="5A6C82"/>
                </a:solidFill>
                <a:latin typeface="Calibri" pitchFamily="34" charset="0"/>
                <a:ea typeface="Calibri" pitchFamily="34" charset="-122"/>
                <a:cs typeface="Calibri" pitchFamily="34" charset="-120"/>
              </a:rPr>
              <a:t>Past the due date it reaches the line manager and HRBP on its own, while something can still be done.</a:t>
            </a:r>
            <a:endParaRPr lang="en-US" sz="940" dirty="0"/>
          </a:p>
        </p:txBody>
      </p:sp>
      <p:sp>
        <p:nvSpPr>
          <p:cNvPr id="20" name="Shape 18"/>
          <p:cNvSpPr/>
          <p:nvPr/>
        </p:nvSpPr>
        <p:spPr>
          <a:xfrm>
            <a:off x="548640" y="4123944"/>
            <a:ext cx="5394960" cy="676656"/>
          </a:xfrm>
          <a:prstGeom prst="roundRect">
            <a:avLst>
              <a:gd name="adj" fmla="val 10811"/>
            </a:avLst>
          </a:prstGeom>
          <a:solidFill>
            <a:srgbClr val="FFFFFF"/>
          </a:solidFill>
          <a:ln w="9525">
            <a:solidFill>
              <a:srgbClr val="E3E7EA"/>
            </a:solidFill>
            <a:prstDash val="solid"/>
          </a:ln>
        </p:spPr>
      </p:sp>
      <p:sp>
        <p:nvSpPr>
          <p:cNvPr id="21" name="Shape 19"/>
          <p:cNvSpPr/>
          <p:nvPr/>
        </p:nvSpPr>
        <p:spPr>
          <a:xfrm>
            <a:off x="731520" y="4288536"/>
            <a:ext cx="365760" cy="365760"/>
          </a:xfrm>
          <a:prstGeom prst="ellipse">
            <a:avLst/>
          </a:prstGeom>
          <a:solidFill>
            <a:srgbClr val="17795E"/>
          </a:solidFill>
          <a:ln/>
        </p:spPr>
      </p:sp>
      <p:sp>
        <p:nvSpPr>
          <p:cNvPr id="22" name="Text 20"/>
          <p:cNvSpPr txBox="1"/>
          <p:nvPr/>
        </p:nvSpPr>
        <p:spPr>
          <a:xfrm>
            <a:off x="731520" y="428853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1225296" y="4206240"/>
            <a:ext cx="4480560" cy="219456"/>
          </a:xfrm>
          <a:prstGeom prst="rect">
            <a:avLst/>
          </a:prstGeom>
          <a:noFill/>
          <a:ln/>
        </p:spPr>
        <p:txBody>
          <a:bodyPr wrap="square" lIns="0" tIns="0" rIns="0" bIns="0" rtlCol="0" anchor="ctr"/>
          <a:lstStyle/>
          <a:p>
            <a:pPr indent="0" marL="0">
              <a:buNone/>
            </a:pPr>
            <a:r>
              <a:rPr lang="en-US" sz="1250" b="1" dirty="0">
                <a:solidFill>
                  <a:srgbClr val="0C1E33"/>
                </a:solidFill>
                <a:latin typeface="Arial" pitchFamily="34" charset="0"/>
                <a:ea typeface="Arial" pitchFamily="34" charset="-122"/>
                <a:cs typeface="Arial" pitchFamily="34" charset="-120"/>
              </a:rPr>
              <a:t>Prove</a:t>
            </a:r>
            <a:endParaRPr lang="en-US" sz="1250" dirty="0"/>
          </a:p>
        </p:txBody>
      </p:sp>
      <p:sp>
        <p:nvSpPr>
          <p:cNvPr id="24" name="Text 22"/>
          <p:cNvSpPr txBox="1"/>
          <p:nvPr/>
        </p:nvSpPr>
        <p:spPr>
          <a:xfrm>
            <a:off x="1225296" y="4434840"/>
            <a:ext cx="4526280" cy="310896"/>
          </a:xfrm>
          <a:prstGeom prst="rect">
            <a:avLst/>
          </a:prstGeom>
          <a:noFill/>
          <a:ln/>
        </p:spPr>
        <p:txBody>
          <a:bodyPr wrap="square" lIns="0" tIns="0" rIns="0" bIns="0" rtlCol="0" anchor="ctr"/>
          <a:lstStyle/>
          <a:p>
            <a:pPr indent="0" marL="0">
              <a:lnSpc>
                <a:spcPts val="1250"/>
              </a:lnSpc>
              <a:buNone/>
            </a:pPr>
            <a:r>
              <a:rPr lang="en-US" sz="940" dirty="0">
                <a:solidFill>
                  <a:srgbClr val="5A6C82"/>
                </a:solidFill>
                <a:latin typeface="Calibri" pitchFamily="34" charset="0"/>
                <a:ea typeface="Calibri" pitchFamily="34" charset="-122"/>
                <a:cs typeface="Calibri" pitchFamily="34" charset="-120"/>
              </a:rPr>
              <a:t>Who had it, when they were reminded, what they uploaded. A Qiwa or GOSI inspection becomes a report.</a:t>
            </a:r>
            <a:endParaRPr lang="en-US" sz="940" dirty="0"/>
          </a:p>
        </p:txBody>
      </p:sp>
      <p:sp>
        <p:nvSpPr>
          <p:cNvPr id="25" name="Shape 23"/>
          <p:cNvSpPr/>
          <p:nvPr/>
        </p:nvSpPr>
        <p:spPr>
          <a:xfrm>
            <a:off x="548640" y="4956048"/>
            <a:ext cx="5394960" cy="1335024"/>
          </a:xfrm>
          <a:prstGeom prst="roundRect">
            <a:avLst>
              <a:gd name="adj" fmla="val 5479"/>
            </a:avLst>
          </a:prstGeom>
          <a:solidFill>
            <a:srgbClr val="E4F5F3"/>
          </a:solidFill>
          <a:ln w="11430">
            <a:solidFill>
              <a:srgbClr val="20A098"/>
            </a:solidFill>
            <a:prstDash val="solid"/>
          </a:ln>
        </p:spPr>
      </p:sp>
      <p:sp>
        <p:nvSpPr>
          <p:cNvPr id="26" name="Text 24"/>
          <p:cNvSpPr txBox="1"/>
          <p:nvPr/>
        </p:nvSpPr>
        <p:spPr>
          <a:xfrm>
            <a:off x="749808" y="5065776"/>
            <a:ext cx="5029200" cy="219456"/>
          </a:xfrm>
          <a:prstGeom prst="rect">
            <a:avLst/>
          </a:prstGeom>
          <a:noFill/>
          <a:ln/>
        </p:spPr>
        <p:txBody>
          <a:bodyPr wrap="square" lIns="0" tIns="0" rIns="0" bIns="0" rtlCol="0" anchor="ctr"/>
          <a:lstStyle/>
          <a:p>
            <a:pPr indent="0" marL="0">
              <a:buNone/>
            </a:pPr>
            <a:r>
              <a:rPr lang="en-US" sz="1150" b="1" dirty="0">
                <a:solidFill>
                  <a:srgbClr val="12756F"/>
                </a:solidFill>
                <a:latin typeface="Arial" pitchFamily="34" charset="0"/>
                <a:ea typeface="Arial" pitchFamily="34" charset="-122"/>
                <a:cs typeface="Arial" pitchFamily="34" charset="-120"/>
              </a:rPr>
              <a:t>The Saudi cost line finance actually worries about</a:t>
            </a:r>
            <a:endParaRPr lang="en-US" sz="1150" dirty="0"/>
          </a:p>
        </p:txBody>
      </p:sp>
      <p:sp>
        <p:nvSpPr>
          <p:cNvPr id="27" name="Text 25"/>
          <p:cNvSpPr txBox="1"/>
          <p:nvPr/>
        </p:nvSpPr>
        <p:spPr>
          <a:xfrm>
            <a:off x="749808" y="5321808"/>
            <a:ext cx="5029200" cy="859536"/>
          </a:xfrm>
          <a:prstGeom prst="rect">
            <a:avLst/>
          </a:prstGeom>
          <a:noFill/>
          <a:ln/>
        </p:spPr>
        <p:txBody>
          <a:bodyPr wrap="square" lIns="0" tIns="0" rIns="0" bIns="0" rtlCol="0" anchor="ctr"/>
          <a:lstStyle/>
          <a:p>
            <a:pPr indent="0" marL="0">
              <a:lnSpc>
                <a:spcPts val="1300"/>
              </a:lnSpc>
              <a:buNone/>
            </a:pPr>
            <a:r>
              <a:rPr lang="en-US" sz="960" dirty="0">
                <a:solidFill>
                  <a:srgbClr val="0C1E33"/>
                </a:solidFill>
                <a:latin typeface="Calibri" pitchFamily="34" charset="0"/>
                <a:ea typeface="Calibri" pitchFamily="34" charset="-122"/>
                <a:cs typeface="Calibri" pitchFamily="34" charset="-120"/>
              </a:rPr>
              <a:t>The expat levy is charged per employee per year and renewals cluster around hiring dates. We forecast levy and fees against the renewal calendar, so a heavy quarter is budgeted rather than absorbed. Every payment carries a SADAD reference, a receipt and a GL account.</a:t>
            </a:r>
            <a:endParaRPr lang="en-US" sz="960" dirty="0"/>
          </a:p>
        </p:txBody>
      </p:sp>
      <p:pic>
        <p:nvPicPr>
          <p:cNvPr id="28" name="Image 0" descr="./img/report-payment.jpg">    </p:cNvPr>
          <p:cNvPicPr>
            <a:picLocks noChangeAspect="1"/>
          </p:cNvPicPr>
          <p:nvPr/>
        </p:nvPicPr>
        <p:blipFill>
          <a:blip r:embed="rId1"/>
          <a:stretch>
            <a:fillRect/>
          </a:stretch>
        </p:blipFill>
        <p:spPr>
          <a:xfrm>
            <a:off x="6172200" y="1792224"/>
            <a:ext cx="5440680" cy="914400"/>
          </a:xfrm>
          <a:prstGeom prst="rect">
            <a:avLst/>
          </a:prstGeom>
          <a:effectLst>
            <a:outerShdw sx="100000" sy="100000" kx="0" ky="0" algn="bl" rotWithShape="0" blurRad="177800" dist="38100" dir="5400000">
              <a:srgbClr val="000000">
                <a:alpha val="20000"/>
              </a:srgbClr>
            </a:outerShdw>
          </a:effectLst>
        </p:spPr>
      </p:pic>
      <p:sp>
        <p:nvSpPr>
          <p:cNvPr id="29" name="Text 26"/>
          <p:cNvSpPr txBox="1"/>
          <p:nvPr/>
        </p:nvSpPr>
        <p:spPr>
          <a:xfrm>
            <a:off x="6172200" y="5230368"/>
            <a:ext cx="5440680" cy="457200"/>
          </a:xfrm>
          <a:prstGeom prst="rect">
            <a:avLst/>
          </a:prstGeom>
          <a:noFill/>
          <a:ln/>
        </p:spPr>
        <p:txBody>
          <a:bodyPr wrap="square" lIns="0" tIns="0" rIns="0" bIns="0" rtlCol="0" anchor="ctr"/>
          <a:lstStyle/>
          <a:p>
            <a:pPr indent="0" marL="0">
              <a:lnSpc>
                <a:spcPts val="1350"/>
              </a:lnSpc>
              <a:buNone/>
            </a:pPr>
            <a:r>
              <a:rPr lang="en-US" sz="1000" i="1" dirty="0">
                <a:solidFill>
                  <a:srgbClr val="5A6C82"/>
                </a:solidFill>
                <a:latin typeface="Calibri" pitchFamily="34" charset="0"/>
                <a:ea typeface="Calibri" pitchFamily="34" charset="-122"/>
                <a:cs typeface="Calibri" pitchFamily="34" charset="-120"/>
              </a:rPr>
              <a:t>Qiwa contract fee, expat levy, Iqama issue fee, exit re-entry, transfer fee, medical insurance. Each with its own GL account and its own receipt, one click away.</a:t>
            </a:r>
            <a:endParaRPr lang="en-US" sz="1000" dirty="0"/>
          </a:p>
        </p:txBody>
      </p:sp>
      <p:sp>
        <p:nvSpPr>
          <p:cNvPr id="30" name="Text 27"/>
          <p:cNvSpPr txBox="1"/>
          <p:nvPr/>
        </p:nvSpPr>
        <p:spPr>
          <a:xfrm>
            <a:off x="548640" y="6419088"/>
            <a:ext cx="8595360" cy="237744"/>
          </a:xfrm>
          <a:prstGeom prst="rect">
            <a:avLst/>
          </a:prstGeom>
          <a:noFill/>
          <a:ln/>
        </p:spPr>
        <p:txBody>
          <a:bodyPr wrap="square" lIns="0" tIns="0" rIns="0" bIns="0" rtlCol="0" anchor="ctr"/>
          <a:lstStyle/>
          <a:p>
            <a:pPr indent="0" marL="0">
              <a:buNone/>
            </a:pPr>
            <a:r>
              <a:rPr lang="en-US" sz="900" dirty="0">
                <a:solidFill>
                  <a:srgbClr val="96A3AE"/>
                </a:solidFill>
                <a:latin typeface="Calibri" pitchFamily="34" charset="0"/>
                <a:ea typeface="Calibri" pitchFamily="34" charset="-122"/>
                <a:cs typeface="Calibri" pitchFamily="34" charset="-120"/>
              </a:rPr>
              <a:t>INK IT Business Solutions  ·  Visa &amp; Permits Management  ·  Kingdom of Saudi Arabia</a:t>
            </a:r>
            <a:endParaRPr lang="en-US" sz="900" dirty="0"/>
          </a:p>
        </p:txBody>
      </p:sp>
      <p:sp>
        <p:nvSpPr>
          <p:cNvPr id="31" name="Text 28"/>
          <p:cNvSpPr txBox="1"/>
          <p:nvPr/>
        </p:nvSpPr>
        <p:spPr>
          <a:xfrm>
            <a:off x="11155680" y="6419088"/>
            <a:ext cx="457200" cy="237744"/>
          </a:xfrm>
          <a:prstGeom prst="rect">
            <a:avLst/>
          </a:prstGeom>
          <a:noFill/>
          <a:ln/>
        </p:spPr>
        <p:txBody>
          <a:bodyPr wrap="square" lIns="0" tIns="0" rIns="0" bIns="0" rtlCol="0" anchor="ctr"/>
          <a:lstStyle/>
          <a:p>
            <a:pPr algn="r" indent="0" marL="0">
              <a:buNone/>
            </a:pPr>
            <a:r>
              <a:rPr lang="en-US" sz="900" dirty="0">
                <a:solidFill>
                  <a:srgbClr val="96A3A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02336"/>
            <a:ext cx="11064240" cy="237744"/>
          </a:xfrm>
          <a:prstGeom prst="rect">
            <a:avLst/>
          </a:prstGeom>
          <a:noFill/>
          <a:ln/>
        </p:spPr>
        <p:txBody>
          <a:bodyPr wrap="square" lIns="0" tIns="0" rIns="0" bIns="0" rtlCol="0" anchor="ctr"/>
          <a:lstStyle/>
          <a:p>
            <a:pPr indent="0" marL="0">
              <a:buNone/>
            </a:pPr>
            <a:r>
              <a:rPr lang="en-US" sz="1100" b="1" spc="220" kern="0" dirty="0">
                <a:solidFill>
                  <a:srgbClr val="20A098"/>
                </a:solidFill>
                <a:latin typeface="Calibri" pitchFamily="34" charset="0"/>
                <a:ea typeface="Calibri" pitchFamily="34" charset="-122"/>
                <a:cs typeface="Calibri" pitchFamily="34" charset="-120"/>
              </a:rPr>
              <a:t>SOLUTION ARCHITECTURE</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0C1E33"/>
                </a:solidFill>
                <a:latin typeface="Arial" pitchFamily="34" charset="0"/>
                <a:ea typeface="Arial" pitchFamily="34" charset="-122"/>
                <a:cs typeface="Arial" pitchFamily="34" charset="-120"/>
              </a:rPr>
              <a:t>Every system, and what moves between them.</a:t>
            </a:r>
            <a:endParaRPr lang="en-US" sz="3000" dirty="0"/>
          </a:p>
        </p:txBody>
      </p:sp>
      <p:pic>
        <p:nvPicPr>
          <p:cNvPr id="4" name="Image 0" descr="./img/architecture.png">    </p:cNvPr>
          <p:cNvPicPr>
            <a:picLocks noChangeAspect="1"/>
          </p:cNvPicPr>
          <p:nvPr/>
        </p:nvPicPr>
        <p:blipFill>
          <a:blip r:embed="rId1"/>
          <a:stretch>
            <a:fillRect/>
          </a:stretch>
        </p:blipFill>
        <p:spPr>
          <a:xfrm>
            <a:off x="548640" y="1152144"/>
            <a:ext cx="7543800" cy="5120640"/>
          </a:xfrm>
          <a:prstGeom prst="rect">
            <a:avLst/>
          </a:prstGeom>
        </p:spPr>
      </p:pic>
      <p:sp>
        <p:nvSpPr>
          <p:cNvPr id="5" name="Shape 2"/>
          <p:cNvSpPr/>
          <p:nvPr/>
        </p:nvSpPr>
        <p:spPr>
          <a:xfrm>
            <a:off x="8275320" y="1152144"/>
            <a:ext cx="3364992" cy="1188720"/>
          </a:xfrm>
          <a:prstGeom prst="roundRect">
            <a:avLst>
              <a:gd name="adj" fmla="val 5385"/>
            </a:avLst>
          </a:prstGeom>
          <a:solidFill>
            <a:srgbClr val="F4F6F7"/>
          </a:solidFill>
          <a:ln w="11430">
            <a:solidFill>
              <a:srgbClr val="E3E7EA"/>
            </a:solidFill>
            <a:prstDash val="solid"/>
          </a:ln>
        </p:spPr>
      </p:sp>
      <p:sp>
        <p:nvSpPr>
          <p:cNvPr id="6" name="Text 3"/>
          <p:cNvSpPr txBox="1"/>
          <p:nvPr/>
        </p:nvSpPr>
        <p:spPr>
          <a:xfrm>
            <a:off x="8449056" y="1252728"/>
            <a:ext cx="3017520" cy="219456"/>
          </a:xfrm>
          <a:prstGeom prst="rect">
            <a:avLst/>
          </a:prstGeom>
          <a:noFill/>
          <a:ln/>
        </p:spPr>
        <p:txBody>
          <a:bodyPr wrap="square" lIns="0" tIns="0" rIns="0" bIns="0" rtlCol="0" anchor="ctr"/>
          <a:lstStyle/>
          <a:p>
            <a:pPr indent="0" marL="0">
              <a:buNone/>
            </a:pPr>
            <a:r>
              <a:rPr lang="en-US" sz="1150" b="1" dirty="0">
                <a:solidFill>
                  <a:srgbClr val="0C1E33"/>
                </a:solidFill>
                <a:latin typeface="Arial" pitchFamily="34" charset="0"/>
                <a:ea typeface="Arial" pitchFamily="34" charset="-122"/>
                <a:cs typeface="Arial" pitchFamily="34" charset="-120"/>
              </a:rPr>
              <a:t>What flows in</a:t>
            </a:r>
            <a:endParaRPr lang="en-US" sz="1150" dirty="0"/>
          </a:p>
        </p:txBody>
      </p:sp>
      <p:sp>
        <p:nvSpPr>
          <p:cNvPr id="7" name="Text 4"/>
          <p:cNvSpPr txBox="1"/>
          <p:nvPr/>
        </p:nvSpPr>
        <p:spPr>
          <a:xfrm>
            <a:off x="8449056" y="1481328"/>
            <a:ext cx="3035808" cy="786384"/>
          </a:xfrm>
          <a:prstGeom prst="rect">
            <a:avLst/>
          </a:prstGeom>
          <a:noFill/>
          <a:ln/>
        </p:spPr>
        <p:txBody>
          <a:bodyPr wrap="square" lIns="0" tIns="0" rIns="0" bIns="0" rtlCol="0" anchor="ctr"/>
          <a:lstStyle/>
          <a:p>
            <a:pPr indent="0" marL="0">
              <a:lnSpc>
                <a:spcPts val="1140"/>
              </a:lnSpc>
              <a:buNone/>
            </a:pPr>
            <a:r>
              <a:rPr lang="en-US" sz="850" dirty="0">
                <a:solidFill>
                  <a:srgbClr val="5A6C82"/>
                </a:solidFill>
                <a:latin typeface="Calibri" pitchFamily="34" charset="0"/>
                <a:ea typeface="Calibri" pitchFamily="34" charset="-122"/>
                <a:cs typeface="Calibri" pitchFamily="34" charset="-120"/>
              </a:rPr>
              <a:t>Candidates who accepted an offer, the employee master, separations and the Iqama expiry dates that start a renewal. All through SAP Integration Suite, monitored and retried like any other SAP integration.</a:t>
            </a:r>
            <a:endParaRPr lang="en-US" sz="850" dirty="0"/>
          </a:p>
        </p:txBody>
      </p:sp>
      <p:sp>
        <p:nvSpPr>
          <p:cNvPr id="8" name="Shape 5"/>
          <p:cNvSpPr/>
          <p:nvPr/>
        </p:nvSpPr>
        <p:spPr>
          <a:xfrm>
            <a:off x="8275320" y="2450592"/>
            <a:ext cx="3364992" cy="1188720"/>
          </a:xfrm>
          <a:prstGeom prst="roundRect">
            <a:avLst>
              <a:gd name="adj" fmla="val 5385"/>
            </a:avLst>
          </a:prstGeom>
          <a:solidFill>
            <a:srgbClr val="F4F6F7"/>
          </a:solidFill>
          <a:ln w="11430">
            <a:solidFill>
              <a:srgbClr val="E3E7EA"/>
            </a:solidFill>
            <a:prstDash val="solid"/>
          </a:ln>
        </p:spPr>
      </p:sp>
      <p:sp>
        <p:nvSpPr>
          <p:cNvPr id="9" name="Text 6"/>
          <p:cNvSpPr txBox="1"/>
          <p:nvPr/>
        </p:nvSpPr>
        <p:spPr>
          <a:xfrm>
            <a:off x="8449056" y="2551176"/>
            <a:ext cx="3017520" cy="219456"/>
          </a:xfrm>
          <a:prstGeom prst="rect">
            <a:avLst/>
          </a:prstGeom>
          <a:noFill/>
          <a:ln/>
        </p:spPr>
        <p:txBody>
          <a:bodyPr wrap="square" lIns="0" tIns="0" rIns="0" bIns="0" rtlCol="0" anchor="ctr"/>
          <a:lstStyle/>
          <a:p>
            <a:pPr indent="0" marL="0">
              <a:buNone/>
            </a:pPr>
            <a:r>
              <a:rPr lang="en-US" sz="1150" b="1" dirty="0">
                <a:solidFill>
                  <a:srgbClr val="0C1E33"/>
                </a:solidFill>
                <a:latin typeface="Arial" pitchFamily="34" charset="0"/>
                <a:ea typeface="Arial" pitchFamily="34" charset="-122"/>
                <a:cs typeface="Arial" pitchFamily="34" charset="-120"/>
              </a:rPr>
              <a:t>What flows back</a:t>
            </a:r>
            <a:endParaRPr lang="en-US" sz="1150" dirty="0"/>
          </a:p>
        </p:txBody>
      </p:sp>
      <p:sp>
        <p:nvSpPr>
          <p:cNvPr id="10" name="Text 7"/>
          <p:cNvSpPr txBox="1"/>
          <p:nvPr/>
        </p:nvSpPr>
        <p:spPr>
          <a:xfrm>
            <a:off x="8449056" y="2779776"/>
            <a:ext cx="3035808" cy="786384"/>
          </a:xfrm>
          <a:prstGeom prst="rect">
            <a:avLst/>
          </a:prstGeom>
          <a:noFill/>
          <a:ln/>
        </p:spPr>
        <p:txBody>
          <a:bodyPr wrap="square" lIns="0" tIns="0" rIns="0" bIns="0" rtlCol="0" anchor="ctr"/>
          <a:lstStyle/>
          <a:p>
            <a:pPr indent="0" marL="0">
              <a:lnSpc>
                <a:spcPts val="1140"/>
              </a:lnSpc>
              <a:buNone/>
            </a:pPr>
            <a:r>
              <a:rPr lang="en-US" sz="850" dirty="0">
                <a:solidFill>
                  <a:srgbClr val="5A6C82"/>
                </a:solidFill>
                <a:latin typeface="Calibri" pitchFamily="34" charset="0"/>
                <a:ea typeface="Calibri" pitchFamily="34" charset="-122"/>
                <a:cs typeface="Calibri" pitchFamily="34" charset="-120"/>
              </a:rPr>
              <a:t>Iqama number, expiry, profession as registered in Qiwa and work permit status, straight into Employee Central. Nobody re-types anything.</a:t>
            </a:r>
            <a:endParaRPr lang="en-US" sz="850" dirty="0"/>
          </a:p>
        </p:txBody>
      </p:sp>
      <p:sp>
        <p:nvSpPr>
          <p:cNvPr id="11" name="Shape 8"/>
          <p:cNvSpPr/>
          <p:nvPr/>
        </p:nvSpPr>
        <p:spPr>
          <a:xfrm>
            <a:off x="8275320" y="3749040"/>
            <a:ext cx="3364992" cy="1188720"/>
          </a:xfrm>
          <a:prstGeom prst="roundRect">
            <a:avLst>
              <a:gd name="adj" fmla="val 5385"/>
            </a:avLst>
          </a:prstGeom>
          <a:solidFill>
            <a:srgbClr val="F4F6F7"/>
          </a:solidFill>
          <a:ln w="11430">
            <a:solidFill>
              <a:srgbClr val="E3E7EA"/>
            </a:solidFill>
            <a:prstDash val="solid"/>
          </a:ln>
        </p:spPr>
      </p:sp>
      <p:sp>
        <p:nvSpPr>
          <p:cNvPr id="12" name="Text 9"/>
          <p:cNvSpPr txBox="1"/>
          <p:nvPr/>
        </p:nvSpPr>
        <p:spPr>
          <a:xfrm>
            <a:off x="8449056" y="3849624"/>
            <a:ext cx="3017520" cy="219456"/>
          </a:xfrm>
          <a:prstGeom prst="rect">
            <a:avLst/>
          </a:prstGeom>
          <a:noFill/>
          <a:ln/>
        </p:spPr>
        <p:txBody>
          <a:bodyPr wrap="square" lIns="0" tIns="0" rIns="0" bIns="0" rtlCol="0" anchor="ctr"/>
          <a:lstStyle/>
          <a:p>
            <a:pPr indent="0" marL="0">
              <a:buNone/>
            </a:pPr>
            <a:r>
              <a:rPr lang="en-US" sz="1150" b="1" dirty="0">
                <a:solidFill>
                  <a:srgbClr val="0C1E33"/>
                </a:solidFill>
                <a:latin typeface="Arial" pitchFamily="34" charset="0"/>
                <a:ea typeface="Arial" pitchFamily="34" charset="-122"/>
                <a:cs typeface="Arial" pitchFamily="34" charset="-120"/>
              </a:rPr>
              <a:t>What flows down</a:t>
            </a:r>
            <a:endParaRPr lang="en-US" sz="1150" dirty="0"/>
          </a:p>
        </p:txBody>
      </p:sp>
      <p:sp>
        <p:nvSpPr>
          <p:cNvPr id="13" name="Text 10"/>
          <p:cNvSpPr txBox="1"/>
          <p:nvPr/>
        </p:nvSpPr>
        <p:spPr>
          <a:xfrm>
            <a:off x="8449056" y="4078224"/>
            <a:ext cx="3035808" cy="786384"/>
          </a:xfrm>
          <a:prstGeom prst="rect">
            <a:avLst/>
          </a:prstGeom>
          <a:noFill/>
          <a:ln/>
        </p:spPr>
        <p:txBody>
          <a:bodyPr wrap="square" lIns="0" tIns="0" rIns="0" bIns="0" rtlCol="0" anchor="ctr"/>
          <a:lstStyle/>
          <a:p>
            <a:pPr indent="0" marL="0">
              <a:lnSpc>
                <a:spcPts val="1140"/>
              </a:lnSpc>
              <a:buNone/>
            </a:pPr>
            <a:r>
              <a:rPr lang="en-US" sz="850" dirty="0">
                <a:solidFill>
                  <a:srgbClr val="5A6C82"/>
                </a:solidFill>
                <a:latin typeface="Calibri" pitchFamily="34" charset="0"/>
                <a:ea typeface="Calibri" pitchFamily="34" charset="-122"/>
                <a:cs typeface="Calibri" pitchFamily="34" charset="-120"/>
              </a:rPr>
              <a:t>Every payment with its amount, VAT, SADAD reference, receipt and GL account, posted to S/4HANA as a journal. Levy accruals included.</a:t>
            </a:r>
            <a:endParaRPr lang="en-US" sz="850" dirty="0"/>
          </a:p>
        </p:txBody>
      </p:sp>
      <p:sp>
        <p:nvSpPr>
          <p:cNvPr id="14" name="Shape 11"/>
          <p:cNvSpPr/>
          <p:nvPr/>
        </p:nvSpPr>
        <p:spPr>
          <a:xfrm>
            <a:off x="8275320" y="5047488"/>
            <a:ext cx="3364992" cy="1188720"/>
          </a:xfrm>
          <a:prstGeom prst="roundRect">
            <a:avLst>
              <a:gd name="adj" fmla="val 5385"/>
            </a:avLst>
          </a:prstGeom>
          <a:solidFill>
            <a:srgbClr val="FCF6E4"/>
          </a:solidFill>
          <a:ln w="11430">
            <a:solidFill>
              <a:srgbClr val="C9A227"/>
            </a:solidFill>
            <a:prstDash val="solid"/>
          </a:ln>
        </p:spPr>
      </p:sp>
      <p:sp>
        <p:nvSpPr>
          <p:cNvPr id="15" name="Text 12"/>
          <p:cNvSpPr txBox="1"/>
          <p:nvPr/>
        </p:nvSpPr>
        <p:spPr>
          <a:xfrm>
            <a:off x="8449056" y="5148072"/>
            <a:ext cx="3017520" cy="219456"/>
          </a:xfrm>
          <a:prstGeom prst="rect">
            <a:avLst/>
          </a:prstGeom>
          <a:noFill/>
          <a:ln/>
        </p:spPr>
        <p:txBody>
          <a:bodyPr wrap="square" lIns="0" tIns="0" rIns="0" bIns="0" rtlCol="0" anchor="ctr"/>
          <a:lstStyle/>
          <a:p>
            <a:pPr indent="0" marL="0">
              <a:buNone/>
            </a:pPr>
            <a:r>
              <a:rPr lang="en-US" sz="1150" b="1" dirty="0">
                <a:solidFill>
                  <a:srgbClr val="7A6410"/>
                </a:solidFill>
                <a:latin typeface="Arial" pitchFamily="34" charset="0"/>
                <a:ea typeface="Arial" pitchFamily="34" charset="-122"/>
                <a:cs typeface="Arial" pitchFamily="34" charset="-120"/>
              </a:rPr>
              <a:t>The dashed arrows</a:t>
            </a:r>
            <a:endParaRPr lang="en-US" sz="1150" dirty="0"/>
          </a:p>
        </p:txBody>
      </p:sp>
      <p:sp>
        <p:nvSpPr>
          <p:cNvPr id="16" name="Text 13"/>
          <p:cNvSpPr txBox="1"/>
          <p:nvPr/>
        </p:nvSpPr>
        <p:spPr>
          <a:xfrm>
            <a:off x="8449056" y="5376672"/>
            <a:ext cx="3035808" cy="786384"/>
          </a:xfrm>
          <a:prstGeom prst="rect">
            <a:avLst/>
          </a:prstGeom>
          <a:noFill/>
          <a:ln/>
        </p:spPr>
        <p:txBody>
          <a:bodyPr wrap="square" lIns="0" tIns="0" rIns="0" bIns="0" rtlCol="0" anchor="ctr"/>
          <a:lstStyle/>
          <a:p>
            <a:pPr indent="0" marL="0">
              <a:lnSpc>
                <a:spcPts val="1140"/>
              </a:lnSpc>
              <a:buNone/>
            </a:pPr>
            <a:r>
              <a:rPr lang="en-US" sz="850" dirty="0">
                <a:solidFill>
                  <a:srgbClr val="5A6C82"/>
                </a:solidFill>
                <a:latin typeface="Calibri" pitchFamily="34" charset="0"/>
                <a:ea typeface="Calibri" pitchFamily="34" charset="-122"/>
                <a:cs typeface="Calibri" pitchFamily="34" charset="-120"/>
              </a:rPr>
              <a:t>Qiwa and Muqeem grant API access to the employer under their own establishment registration, never to a software vendor. Those credentials come from you. The connectors are already built.</a:t>
            </a:r>
            <a:endParaRPr lang="en-US" sz="850" dirty="0"/>
          </a:p>
        </p:txBody>
      </p:sp>
      <p:sp>
        <p:nvSpPr>
          <p:cNvPr id="17" name="Text 14"/>
          <p:cNvSpPr txBox="1"/>
          <p:nvPr/>
        </p:nvSpPr>
        <p:spPr>
          <a:xfrm>
            <a:off x="548640" y="6419088"/>
            <a:ext cx="8595360" cy="237744"/>
          </a:xfrm>
          <a:prstGeom prst="rect">
            <a:avLst/>
          </a:prstGeom>
          <a:noFill/>
          <a:ln/>
        </p:spPr>
        <p:txBody>
          <a:bodyPr wrap="square" lIns="0" tIns="0" rIns="0" bIns="0" rtlCol="0" anchor="ctr"/>
          <a:lstStyle/>
          <a:p>
            <a:pPr indent="0" marL="0">
              <a:buNone/>
            </a:pPr>
            <a:r>
              <a:rPr lang="en-US" sz="900" dirty="0">
                <a:solidFill>
                  <a:srgbClr val="96A3AE"/>
                </a:solidFill>
                <a:latin typeface="Calibri" pitchFamily="34" charset="0"/>
                <a:ea typeface="Calibri" pitchFamily="34" charset="-122"/>
                <a:cs typeface="Calibri" pitchFamily="34" charset="-120"/>
              </a:rPr>
              <a:t>INK IT Business Solutions  ·  Visa &amp; Permits Management  ·  Kingdom of Saudi Arabia</a:t>
            </a:r>
            <a:endParaRPr lang="en-US" sz="900" dirty="0"/>
          </a:p>
        </p:txBody>
      </p:sp>
      <p:sp>
        <p:nvSpPr>
          <p:cNvPr id="18" name="Text 15"/>
          <p:cNvSpPr txBox="1"/>
          <p:nvPr/>
        </p:nvSpPr>
        <p:spPr>
          <a:xfrm>
            <a:off x="11155680" y="6419088"/>
            <a:ext cx="457200" cy="237744"/>
          </a:xfrm>
          <a:prstGeom prst="rect">
            <a:avLst/>
          </a:prstGeom>
          <a:noFill/>
          <a:ln/>
        </p:spPr>
        <p:txBody>
          <a:bodyPr wrap="square" lIns="0" tIns="0" rIns="0" bIns="0" rtlCol="0" anchor="ctr"/>
          <a:lstStyle/>
          <a:p>
            <a:pPr algn="r" indent="0" marL="0">
              <a:buNone/>
            </a:pPr>
            <a:r>
              <a:rPr lang="en-US" sz="900" dirty="0">
                <a:solidFill>
                  <a:srgbClr val="96A3A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1E33"/>
        </a:solidFill>
      </p:bgPr>
    </p:bg>
    <p:spTree>
      <p:nvGrpSpPr>
        <p:cNvPr id="1" name=""/>
        <p:cNvGrpSpPr/>
        <p:nvPr/>
      </p:nvGrpSpPr>
      <p:grpSpPr>
        <a:xfrm>
          <a:off x="0" y="0"/>
          <a:ext cx="0" cy="0"/>
          <a:chOff x="0" y="0"/>
          <a:chExt cx="0" cy="0"/>
        </a:xfrm>
      </p:grpSpPr>
      <p:sp>
        <p:nvSpPr>
          <p:cNvPr id="2" name="Shape 0"/>
          <p:cNvSpPr/>
          <p:nvPr/>
        </p:nvSpPr>
        <p:spPr>
          <a:xfrm>
            <a:off x="-2194560" y="3840480"/>
            <a:ext cx="6035040" cy="6035040"/>
          </a:xfrm>
          <a:prstGeom prst="ellipse">
            <a:avLst/>
          </a:prstGeom>
          <a:solidFill>
            <a:srgbClr val="20A098">
              <a:alpha val="9000"/>
            </a:srgbClr>
          </a:solidFill>
          <a:ln/>
        </p:spPr>
      </p:sp>
      <p:sp>
        <p:nvSpPr>
          <p:cNvPr id="3" name="Text 1"/>
          <p:cNvSpPr txBox="1"/>
          <p:nvPr/>
        </p:nvSpPr>
        <p:spPr>
          <a:xfrm>
            <a:off x="548640" y="402336"/>
            <a:ext cx="11064240" cy="237744"/>
          </a:xfrm>
          <a:prstGeom prst="rect">
            <a:avLst/>
          </a:prstGeom>
          <a:noFill/>
          <a:ln/>
        </p:spPr>
        <p:txBody>
          <a:bodyPr wrap="square" lIns="0" tIns="0" rIns="0" bIns="0" rtlCol="0" anchor="ctr"/>
          <a:lstStyle/>
          <a:p>
            <a:pPr indent="0" marL="0">
              <a:buNone/>
            </a:pPr>
            <a:r>
              <a:rPr lang="en-US" sz="1100" b="1" spc="220" kern="0" dirty="0">
                <a:solidFill>
                  <a:srgbClr val="C9A227"/>
                </a:solidFill>
                <a:latin typeface="Calibri" pitchFamily="34" charset="0"/>
                <a:ea typeface="Calibri" pitchFamily="34" charset="-122"/>
                <a:cs typeface="Calibri" pitchFamily="34" charset="-120"/>
              </a:rPr>
              <a:t>WHAT IT RUNS ON</a:t>
            </a:r>
            <a:endParaRPr lang="en-US" sz="1100" dirty="0"/>
          </a:p>
        </p:txBody>
      </p:sp>
      <p:sp>
        <p:nvSpPr>
          <p:cNvPr id="4" name="Text 2"/>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SAP BTP services, and what it takes to deploy.</a:t>
            </a:r>
            <a:endParaRPr lang="en-US" sz="3000" dirty="0"/>
          </a:p>
        </p:txBody>
      </p:sp>
      <p:sp>
        <p:nvSpPr>
          <p:cNvPr id="5" name="Text 3"/>
          <p:cNvSpPr txBox="1"/>
          <p:nvPr/>
        </p:nvSpPr>
        <p:spPr>
          <a:xfrm>
            <a:off x="548640" y="1481328"/>
            <a:ext cx="5120640" cy="219456"/>
          </a:xfrm>
          <a:prstGeom prst="rect">
            <a:avLst/>
          </a:prstGeom>
          <a:noFill/>
          <a:ln/>
        </p:spPr>
        <p:txBody>
          <a:bodyPr wrap="square" lIns="0" tIns="0" rIns="0" bIns="0" rtlCol="0" anchor="ctr"/>
          <a:lstStyle/>
          <a:p>
            <a:pPr indent="0" marL="0">
              <a:buNone/>
            </a:pPr>
            <a:r>
              <a:rPr lang="en-US" sz="900" b="1" spc="150" kern="0" dirty="0">
                <a:solidFill>
                  <a:srgbClr val="20A098"/>
                </a:solidFill>
                <a:latin typeface="Calibri" pitchFamily="34" charset="0"/>
                <a:ea typeface="Calibri" pitchFamily="34" charset="-122"/>
                <a:cs typeface="Calibri" pitchFamily="34" charset="-120"/>
              </a:rPr>
              <a:t>CORE — REQUIRED FOR ANY DEPLOYMENT</a:t>
            </a:r>
            <a:endParaRPr lang="en-US" sz="900" dirty="0"/>
          </a:p>
        </p:txBody>
      </p:sp>
      <p:sp>
        <p:nvSpPr>
          <p:cNvPr id="6" name="Shape 4"/>
          <p:cNvSpPr/>
          <p:nvPr/>
        </p:nvSpPr>
        <p:spPr>
          <a:xfrm>
            <a:off x="548640" y="1773936"/>
            <a:ext cx="5138928" cy="448056"/>
          </a:xfrm>
          <a:prstGeom prst="roundRect">
            <a:avLst>
              <a:gd name="adj" fmla="val 10204"/>
            </a:avLst>
          </a:prstGeom>
          <a:solidFill>
            <a:srgbClr val="16304C"/>
          </a:solidFill>
          <a:ln w="7620">
            <a:solidFill>
              <a:srgbClr val="27415C"/>
            </a:solidFill>
            <a:prstDash val="solid"/>
          </a:ln>
        </p:spPr>
      </p:sp>
      <p:sp>
        <p:nvSpPr>
          <p:cNvPr id="7" name="Shape 5"/>
          <p:cNvSpPr/>
          <p:nvPr/>
        </p:nvSpPr>
        <p:spPr>
          <a:xfrm>
            <a:off x="676656" y="1911096"/>
            <a:ext cx="173736" cy="173736"/>
          </a:xfrm>
          <a:prstGeom prst="roundRect">
            <a:avLst>
              <a:gd name="adj" fmla="val 21053"/>
            </a:avLst>
          </a:prstGeom>
          <a:solidFill>
            <a:srgbClr val="20A098"/>
          </a:solidFill>
          <a:ln/>
        </p:spPr>
      </p:sp>
      <p:sp>
        <p:nvSpPr>
          <p:cNvPr id="8" name="Text 6"/>
          <p:cNvSpPr txBox="1"/>
          <p:nvPr/>
        </p:nvSpPr>
        <p:spPr>
          <a:xfrm>
            <a:off x="950976" y="1815084"/>
            <a:ext cx="4617720" cy="20116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Cloud Foundry Runtime</a:t>
            </a:r>
            <a:endParaRPr lang="en-US" sz="1000" dirty="0"/>
          </a:p>
        </p:txBody>
      </p:sp>
      <p:sp>
        <p:nvSpPr>
          <p:cNvPr id="9" name="Text 7"/>
          <p:cNvSpPr txBox="1"/>
          <p:nvPr/>
        </p:nvSpPr>
        <p:spPr>
          <a:xfrm>
            <a:off x="950976" y="2007108"/>
            <a:ext cx="4617720" cy="182880"/>
          </a:xfrm>
          <a:prstGeom prst="rect">
            <a:avLst/>
          </a:prstGeom>
          <a:noFill/>
          <a:ln/>
        </p:spPr>
        <p:txBody>
          <a:bodyPr wrap="square" lIns="0" tIns="0" rIns="0" bIns="0" rtlCol="0" anchor="ctr"/>
          <a:lstStyle/>
          <a:p>
            <a:pPr indent="0" marL="0">
              <a:buNone/>
            </a:pPr>
            <a:r>
              <a:rPr lang="en-US" sz="840" dirty="0">
                <a:solidFill>
                  <a:srgbClr val="A9C2DA"/>
                </a:solidFill>
                <a:latin typeface="Calibri" pitchFamily="34" charset="0"/>
                <a:ea typeface="Calibri" pitchFamily="34" charset="-122"/>
                <a:cs typeface="Calibri" pitchFamily="34" charset="-120"/>
              </a:rPr>
              <a:t>Hosts the application, workflow engine and APIs</a:t>
            </a:r>
            <a:endParaRPr lang="en-US" sz="840" dirty="0"/>
          </a:p>
        </p:txBody>
      </p:sp>
      <p:sp>
        <p:nvSpPr>
          <p:cNvPr id="10" name="Shape 8"/>
          <p:cNvSpPr/>
          <p:nvPr/>
        </p:nvSpPr>
        <p:spPr>
          <a:xfrm>
            <a:off x="548640" y="2272284"/>
            <a:ext cx="5138928" cy="448056"/>
          </a:xfrm>
          <a:prstGeom prst="roundRect">
            <a:avLst>
              <a:gd name="adj" fmla="val 10204"/>
            </a:avLst>
          </a:prstGeom>
          <a:solidFill>
            <a:srgbClr val="16304C"/>
          </a:solidFill>
          <a:ln w="7620">
            <a:solidFill>
              <a:srgbClr val="27415C"/>
            </a:solidFill>
            <a:prstDash val="solid"/>
          </a:ln>
        </p:spPr>
      </p:sp>
      <p:sp>
        <p:nvSpPr>
          <p:cNvPr id="11" name="Shape 9"/>
          <p:cNvSpPr/>
          <p:nvPr/>
        </p:nvSpPr>
        <p:spPr>
          <a:xfrm>
            <a:off x="676656" y="2409444"/>
            <a:ext cx="173736" cy="173736"/>
          </a:xfrm>
          <a:prstGeom prst="roundRect">
            <a:avLst>
              <a:gd name="adj" fmla="val 21053"/>
            </a:avLst>
          </a:prstGeom>
          <a:solidFill>
            <a:srgbClr val="20A098"/>
          </a:solidFill>
          <a:ln/>
        </p:spPr>
      </p:sp>
      <p:sp>
        <p:nvSpPr>
          <p:cNvPr id="12" name="Text 10"/>
          <p:cNvSpPr txBox="1"/>
          <p:nvPr/>
        </p:nvSpPr>
        <p:spPr>
          <a:xfrm>
            <a:off x="950976" y="2313432"/>
            <a:ext cx="4617720" cy="20116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SAP HANA Cloud</a:t>
            </a:r>
            <a:endParaRPr lang="en-US" sz="1000" dirty="0"/>
          </a:p>
        </p:txBody>
      </p:sp>
      <p:sp>
        <p:nvSpPr>
          <p:cNvPr id="13" name="Text 11"/>
          <p:cNvSpPr txBox="1"/>
          <p:nvPr/>
        </p:nvSpPr>
        <p:spPr>
          <a:xfrm>
            <a:off x="950976" y="2505456"/>
            <a:ext cx="4617720" cy="182880"/>
          </a:xfrm>
          <a:prstGeom prst="rect">
            <a:avLst/>
          </a:prstGeom>
          <a:noFill/>
          <a:ln/>
        </p:spPr>
        <p:txBody>
          <a:bodyPr wrap="square" lIns="0" tIns="0" rIns="0" bIns="0" rtlCol="0" anchor="ctr"/>
          <a:lstStyle/>
          <a:p>
            <a:pPr indent="0" marL="0">
              <a:buNone/>
            </a:pPr>
            <a:r>
              <a:rPr lang="en-US" sz="840" dirty="0">
                <a:solidFill>
                  <a:srgbClr val="A9C2DA"/>
                </a:solidFill>
                <a:latin typeface="Calibri" pitchFamily="34" charset="0"/>
                <a:ea typeface="Calibri" pitchFamily="34" charset="-122"/>
                <a:cs typeface="Calibri" pitchFamily="34" charset="-120"/>
              </a:rPr>
              <a:t>Iqama records, Nitaqat headcount, payments, audit trail</a:t>
            </a:r>
            <a:endParaRPr lang="en-US" sz="840" dirty="0"/>
          </a:p>
        </p:txBody>
      </p:sp>
      <p:sp>
        <p:nvSpPr>
          <p:cNvPr id="14" name="Shape 12"/>
          <p:cNvSpPr/>
          <p:nvPr/>
        </p:nvSpPr>
        <p:spPr>
          <a:xfrm>
            <a:off x="548640" y="2770632"/>
            <a:ext cx="5138928" cy="448056"/>
          </a:xfrm>
          <a:prstGeom prst="roundRect">
            <a:avLst>
              <a:gd name="adj" fmla="val 10204"/>
            </a:avLst>
          </a:prstGeom>
          <a:solidFill>
            <a:srgbClr val="16304C"/>
          </a:solidFill>
          <a:ln w="7620">
            <a:solidFill>
              <a:srgbClr val="27415C"/>
            </a:solidFill>
            <a:prstDash val="solid"/>
          </a:ln>
        </p:spPr>
      </p:sp>
      <p:sp>
        <p:nvSpPr>
          <p:cNvPr id="15" name="Shape 13"/>
          <p:cNvSpPr/>
          <p:nvPr/>
        </p:nvSpPr>
        <p:spPr>
          <a:xfrm>
            <a:off x="676656" y="2907792"/>
            <a:ext cx="173736" cy="173736"/>
          </a:xfrm>
          <a:prstGeom prst="roundRect">
            <a:avLst>
              <a:gd name="adj" fmla="val 21053"/>
            </a:avLst>
          </a:prstGeom>
          <a:solidFill>
            <a:srgbClr val="20A098"/>
          </a:solidFill>
          <a:ln/>
        </p:spPr>
      </p:sp>
      <p:sp>
        <p:nvSpPr>
          <p:cNvPr id="16" name="Text 14"/>
          <p:cNvSpPr txBox="1"/>
          <p:nvPr/>
        </p:nvSpPr>
        <p:spPr>
          <a:xfrm>
            <a:off x="950976" y="2811780"/>
            <a:ext cx="4617720" cy="20116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SAP Build Work Zone</a:t>
            </a:r>
            <a:endParaRPr lang="en-US" sz="1000" dirty="0"/>
          </a:p>
        </p:txBody>
      </p:sp>
      <p:sp>
        <p:nvSpPr>
          <p:cNvPr id="17" name="Text 15"/>
          <p:cNvSpPr txBox="1"/>
          <p:nvPr/>
        </p:nvSpPr>
        <p:spPr>
          <a:xfrm>
            <a:off x="950976" y="3003804"/>
            <a:ext cx="4617720" cy="182880"/>
          </a:xfrm>
          <a:prstGeom prst="rect">
            <a:avLst/>
          </a:prstGeom>
          <a:noFill/>
          <a:ln/>
        </p:spPr>
        <p:txBody>
          <a:bodyPr wrap="square" lIns="0" tIns="0" rIns="0" bIns="0" rtlCol="0" anchor="ctr"/>
          <a:lstStyle/>
          <a:p>
            <a:pPr indent="0" marL="0">
              <a:buNone/>
            </a:pPr>
            <a:r>
              <a:rPr lang="en-US" sz="840" dirty="0">
                <a:solidFill>
                  <a:srgbClr val="A9C2DA"/>
                </a:solidFill>
                <a:latin typeface="Calibri" pitchFamily="34" charset="0"/>
                <a:ea typeface="Calibri" pitchFamily="34" charset="-122"/>
                <a:cs typeface="Calibri" pitchFamily="34" charset="-120"/>
              </a:rPr>
              <a:t>Role-based portal for PRO, HR, finance and employees</a:t>
            </a:r>
            <a:endParaRPr lang="en-US" sz="840" dirty="0"/>
          </a:p>
        </p:txBody>
      </p:sp>
      <p:sp>
        <p:nvSpPr>
          <p:cNvPr id="18" name="Shape 16"/>
          <p:cNvSpPr/>
          <p:nvPr/>
        </p:nvSpPr>
        <p:spPr>
          <a:xfrm>
            <a:off x="548640" y="3268980"/>
            <a:ext cx="5138928" cy="448056"/>
          </a:xfrm>
          <a:prstGeom prst="roundRect">
            <a:avLst>
              <a:gd name="adj" fmla="val 10204"/>
            </a:avLst>
          </a:prstGeom>
          <a:solidFill>
            <a:srgbClr val="16304C"/>
          </a:solidFill>
          <a:ln w="7620">
            <a:solidFill>
              <a:srgbClr val="27415C"/>
            </a:solidFill>
            <a:prstDash val="solid"/>
          </a:ln>
        </p:spPr>
      </p:sp>
      <p:sp>
        <p:nvSpPr>
          <p:cNvPr id="19" name="Shape 17"/>
          <p:cNvSpPr/>
          <p:nvPr/>
        </p:nvSpPr>
        <p:spPr>
          <a:xfrm>
            <a:off x="676656" y="3406140"/>
            <a:ext cx="173736" cy="173736"/>
          </a:xfrm>
          <a:prstGeom prst="roundRect">
            <a:avLst>
              <a:gd name="adj" fmla="val 21053"/>
            </a:avLst>
          </a:prstGeom>
          <a:solidFill>
            <a:srgbClr val="20A098"/>
          </a:solidFill>
          <a:ln/>
        </p:spPr>
      </p:sp>
      <p:sp>
        <p:nvSpPr>
          <p:cNvPr id="20" name="Text 18"/>
          <p:cNvSpPr txBox="1"/>
          <p:nvPr/>
        </p:nvSpPr>
        <p:spPr>
          <a:xfrm>
            <a:off x="950976" y="3310128"/>
            <a:ext cx="4617720" cy="20116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SAP Build Process Automation</a:t>
            </a:r>
            <a:endParaRPr lang="en-US" sz="1000" dirty="0"/>
          </a:p>
        </p:txBody>
      </p:sp>
      <p:sp>
        <p:nvSpPr>
          <p:cNvPr id="21" name="Text 19"/>
          <p:cNvSpPr txBox="1"/>
          <p:nvPr/>
        </p:nvSpPr>
        <p:spPr>
          <a:xfrm>
            <a:off x="950976" y="3502152"/>
            <a:ext cx="4617720" cy="182880"/>
          </a:xfrm>
          <a:prstGeom prst="rect">
            <a:avLst/>
          </a:prstGeom>
          <a:noFill/>
          <a:ln/>
        </p:spPr>
        <p:txBody>
          <a:bodyPr wrap="square" lIns="0" tIns="0" rIns="0" bIns="0" rtlCol="0" anchor="ctr"/>
          <a:lstStyle/>
          <a:p>
            <a:pPr indent="0" marL="0">
              <a:buNone/>
            </a:pPr>
            <a:r>
              <a:rPr lang="en-US" sz="840" dirty="0">
                <a:solidFill>
                  <a:srgbClr val="A9C2DA"/>
                </a:solidFill>
                <a:latin typeface="Calibri" pitchFamily="34" charset="0"/>
                <a:ea typeface="Calibri" pitchFamily="34" charset="-122"/>
                <a:cs typeface="Calibri" pitchFamily="34" charset="-120"/>
              </a:rPr>
              <a:t>Steps, statutory due dates, reminders, escalation</a:t>
            </a:r>
            <a:endParaRPr lang="en-US" sz="840" dirty="0"/>
          </a:p>
        </p:txBody>
      </p:sp>
      <p:sp>
        <p:nvSpPr>
          <p:cNvPr id="22" name="Shape 20"/>
          <p:cNvSpPr/>
          <p:nvPr/>
        </p:nvSpPr>
        <p:spPr>
          <a:xfrm>
            <a:off x="548640" y="3767328"/>
            <a:ext cx="5138928" cy="448056"/>
          </a:xfrm>
          <a:prstGeom prst="roundRect">
            <a:avLst>
              <a:gd name="adj" fmla="val 10204"/>
            </a:avLst>
          </a:prstGeom>
          <a:solidFill>
            <a:srgbClr val="16304C"/>
          </a:solidFill>
          <a:ln w="7620">
            <a:solidFill>
              <a:srgbClr val="27415C"/>
            </a:solidFill>
            <a:prstDash val="solid"/>
          </a:ln>
        </p:spPr>
      </p:sp>
      <p:sp>
        <p:nvSpPr>
          <p:cNvPr id="23" name="Shape 21"/>
          <p:cNvSpPr/>
          <p:nvPr/>
        </p:nvSpPr>
        <p:spPr>
          <a:xfrm>
            <a:off x="676656" y="3904488"/>
            <a:ext cx="173736" cy="173736"/>
          </a:xfrm>
          <a:prstGeom prst="roundRect">
            <a:avLst>
              <a:gd name="adj" fmla="val 21053"/>
            </a:avLst>
          </a:prstGeom>
          <a:solidFill>
            <a:srgbClr val="20A098"/>
          </a:solidFill>
          <a:ln/>
        </p:spPr>
      </p:sp>
      <p:sp>
        <p:nvSpPr>
          <p:cNvPr id="24" name="Text 22"/>
          <p:cNvSpPr txBox="1"/>
          <p:nvPr/>
        </p:nvSpPr>
        <p:spPr>
          <a:xfrm>
            <a:off x="950976" y="3808476"/>
            <a:ext cx="4617720" cy="20116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SAP Identity Authentication</a:t>
            </a:r>
            <a:endParaRPr lang="en-US" sz="1000" dirty="0"/>
          </a:p>
        </p:txBody>
      </p:sp>
      <p:sp>
        <p:nvSpPr>
          <p:cNvPr id="25" name="Text 23"/>
          <p:cNvSpPr txBox="1"/>
          <p:nvPr/>
        </p:nvSpPr>
        <p:spPr>
          <a:xfrm>
            <a:off x="950976" y="4000500"/>
            <a:ext cx="4617720" cy="182880"/>
          </a:xfrm>
          <a:prstGeom prst="rect">
            <a:avLst/>
          </a:prstGeom>
          <a:noFill/>
          <a:ln/>
        </p:spPr>
        <p:txBody>
          <a:bodyPr wrap="square" lIns="0" tIns="0" rIns="0" bIns="0" rtlCol="0" anchor="ctr"/>
          <a:lstStyle/>
          <a:p>
            <a:pPr indent="0" marL="0">
              <a:buNone/>
            </a:pPr>
            <a:r>
              <a:rPr lang="en-US" sz="840" dirty="0">
                <a:solidFill>
                  <a:srgbClr val="A9C2DA"/>
                </a:solidFill>
                <a:latin typeface="Calibri" pitchFamily="34" charset="0"/>
                <a:ea typeface="Calibri" pitchFamily="34" charset="-122"/>
                <a:cs typeface="Calibri" pitchFamily="34" charset="-120"/>
              </a:rPr>
              <a:t>Single sign-on and directory federation</a:t>
            </a:r>
            <a:endParaRPr lang="en-US" sz="840" dirty="0"/>
          </a:p>
        </p:txBody>
      </p:sp>
      <p:sp>
        <p:nvSpPr>
          <p:cNvPr id="26" name="Shape 24"/>
          <p:cNvSpPr/>
          <p:nvPr/>
        </p:nvSpPr>
        <p:spPr>
          <a:xfrm>
            <a:off x="548640" y="4265676"/>
            <a:ext cx="5138928" cy="448056"/>
          </a:xfrm>
          <a:prstGeom prst="roundRect">
            <a:avLst>
              <a:gd name="adj" fmla="val 10204"/>
            </a:avLst>
          </a:prstGeom>
          <a:solidFill>
            <a:srgbClr val="16304C"/>
          </a:solidFill>
          <a:ln w="7620">
            <a:solidFill>
              <a:srgbClr val="27415C"/>
            </a:solidFill>
            <a:prstDash val="solid"/>
          </a:ln>
        </p:spPr>
      </p:sp>
      <p:sp>
        <p:nvSpPr>
          <p:cNvPr id="27" name="Shape 25"/>
          <p:cNvSpPr/>
          <p:nvPr/>
        </p:nvSpPr>
        <p:spPr>
          <a:xfrm>
            <a:off x="676656" y="4402836"/>
            <a:ext cx="173736" cy="173736"/>
          </a:xfrm>
          <a:prstGeom prst="roundRect">
            <a:avLst>
              <a:gd name="adj" fmla="val 21053"/>
            </a:avLst>
          </a:prstGeom>
          <a:solidFill>
            <a:srgbClr val="20A098"/>
          </a:solidFill>
          <a:ln/>
        </p:spPr>
      </p:sp>
      <p:sp>
        <p:nvSpPr>
          <p:cNvPr id="28" name="Text 26"/>
          <p:cNvSpPr txBox="1"/>
          <p:nvPr/>
        </p:nvSpPr>
        <p:spPr>
          <a:xfrm>
            <a:off x="950976" y="4306824"/>
            <a:ext cx="4617720" cy="20116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Destination &amp; Connectivity</a:t>
            </a:r>
            <a:endParaRPr lang="en-US" sz="1000" dirty="0"/>
          </a:p>
        </p:txBody>
      </p:sp>
      <p:sp>
        <p:nvSpPr>
          <p:cNvPr id="29" name="Text 27"/>
          <p:cNvSpPr txBox="1"/>
          <p:nvPr/>
        </p:nvSpPr>
        <p:spPr>
          <a:xfrm>
            <a:off x="950976" y="4498848"/>
            <a:ext cx="4617720" cy="182880"/>
          </a:xfrm>
          <a:prstGeom prst="rect">
            <a:avLst/>
          </a:prstGeom>
          <a:noFill/>
          <a:ln/>
        </p:spPr>
        <p:txBody>
          <a:bodyPr wrap="square" lIns="0" tIns="0" rIns="0" bIns="0" rtlCol="0" anchor="ctr"/>
          <a:lstStyle/>
          <a:p>
            <a:pPr indent="0" marL="0">
              <a:buNone/>
            </a:pPr>
            <a:r>
              <a:rPr lang="en-US" sz="840" dirty="0">
                <a:solidFill>
                  <a:srgbClr val="A9C2DA"/>
                </a:solidFill>
                <a:latin typeface="Calibri" pitchFamily="34" charset="0"/>
                <a:ea typeface="Calibri" pitchFamily="34" charset="-122"/>
                <a:cs typeface="Calibri" pitchFamily="34" charset="-120"/>
              </a:rPr>
              <a:t>Secure outbound to SF, S/4HANA and Saudi endpoints</a:t>
            </a:r>
            <a:endParaRPr lang="en-US" sz="840" dirty="0"/>
          </a:p>
        </p:txBody>
      </p:sp>
      <p:sp>
        <p:nvSpPr>
          <p:cNvPr id="30" name="Text 28"/>
          <p:cNvSpPr txBox="1"/>
          <p:nvPr/>
        </p:nvSpPr>
        <p:spPr>
          <a:xfrm>
            <a:off x="5852160" y="1481328"/>
            <a:ext cx="5120640" cy="219456"/>
          </a:xfrm>
          <a:prstGeom prst="rect">
            <a:avLst/>
          </a:prstGeom>
          <a:noFill/>
          <a:ln/>
        </p:spPr>
        <p:txBody>
          <a:bodyPr wrap="square" lIns="0" tIns="0" rIns="0" bIns="0" rtlCol="0" anchor="ctr"/>
          <a:lstStyle/>
          <a:p>
            <a:pPr indent="0" marL="0">
              <a:buNone/>
            </a:pPr>
            <a:r>
              <a:rPr lang="en-US" sz="900" b="1" spc="150" kern="0" dirty="0">
                <a:solidFill>
                  <a:srgbClr val="C9A227"/>
                </a:solidFill>
                <a:latin typeface="Calibri" pitchFamily="34" charset="0"/>
                <a:ea typeface="Calibri" pitchFamily="34" charset="-122"/>
                <a:cs typeface="Calibri" pitchFamily="34" charset="-120"/>
              </a:rPr>
              <a:t>INTEGRATION &amp; SCALE — AS REQUIRED</a:t>
            </a:r>
            <a:endParaRPr lang="en-US" sz="900" dirty="0"/>
          </a:p>
        </p:txBody>
      </p:sp>
      <p:sp>
        <p:nvSpPr>
          <p:cNvPr id="31" name="Shape 29"/>
          <p:cNvSpPr/>
          <p:nvPr/>
        </p:nvSpPr>
        <p:spPr>
          <a:xfrm>
            <a:off x="5852160" y="1773936"/>
            <a:ext cx="5138928" cy="448056"/>
          </a:xfrm>
          <a:prstGeom prst="roundRect">
            <a:avLst>
              <a:gd name="adj" fmla="val 10204"/>
            </a:avLst>
          </a:prstGeom>
          <a:solidFill>
            <a:srgbClr val="16304C"/>
          </a:solidFill>
          <a:ln w="7620">
            <a:solidFill>
              <a:srgbClr val="27415C"/>
            </a:solidFill>
            <a:prstDash val="solid"/>
          </a:ln>
        </p:spPr>
      </p:sp>
      <p:sp>
        <p:nvSpPr>
          <p:cNvPr id="32" name="Shape 30"/>
          <p:cNvSpPr/>
          <p:nvPr/>
        </p:nvSpPr>
        <p:spPr>
          <a:xfrm>
            <a:off x="5980176" y="1911096"/>
            <a:ext cx="173736" cy="173736"/>
          </a:xfrm>
          <a:prstGeom prst="roundRect">
            <a:avLst>
              <a:gd name="adj" fmla="val 21053"/>
            </a:avLst>
          </a:prstGeom>
          <a:solidFill>
            <a:srgbClr val="C9A227"/>
          </a:solidFill>
          <a:ln/>
        </p:spPr>
      </p:sp>
      <p:sp>
        <p:nvSpPr>
          <p:cNvPr id="33" name="Text 31"/>
          <p:cNvSpPr txBox="1"/>
          <p:nvPr/>
        </p:nvSpPr>
        <p:spPr>
          <a:xfrm>
            <a:off x="6254496" y="1815084"/>
            <a:ext cx="4617720" cy="20116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SAP Integration Suite (CPI)</a:t>
            </a:r>
            <a:endParaRPr lang="en-US" sz="1000" dirty="0"/>
          </a:p>
        </p:txBody>
      </p:sp>
      <p:sp>
        <p:nvSpPr>
          <p:cNvPr id="34" name="Text 32"/>
          <p:cNvSpPr txBox="1"/>
          <p:nvPr/>
        </p:nvSpPr>
        <p:spPr>
          <a:xfrm>
            <a:off x="6254496" y="2007108"/>
            <a:ext cx="4617720" cy="182880"/>
          </a:xfrm>
          <a:prstGeom prst="rect">
            <a:avLst/>
          </a:prstGeom>
          <a:noFill/>
          <a:ln/>
        </p:spPr>
        <p:txBody>
          <a:bodyPr wrap="square" lIns="0" tIns="0" rIns="0" bIns="0" rtlCol="0" anchor="ctr"/>
          <a:lstStyle/>
          <a:p>
            <a:pPr indent="0" marL="0">
              <a:buNone/>
            </a:pPr>
            <a:r>
              <a:rPr lang="en-US" sz="840" dirty="0">
                <a:solidFill>
                  <a:srgbClr val="A9C2DA"/>
                </a:solidFill>
                <a:latin typeface="Calibri" pitchFamily="34" charset="0"/>
                <a:ea typeface="Calibri" pitchFamily="34" charset="-122"/>
                <a:cs typeface="Calibri" pitchFamily="34" charset="-120"/>
              </a:rPr>
              <a:t>Flows to SF Recruiting, Onboarding, EC and S/4HANA</a:t>
            </a:r>
            <a:endParaRPr lang="en-US" sz="840" dirty="0"/>
          </a:p>
        </p:txBody>
      </p:sp>
      <p:sp>
        <p:nvSpPr>
          <p:cNvPr id="35" name="Shape 33"/>
          <p:cNvSpPr/>
          <p:nvPr/>
        </p:nvSpPr>
        <p:spPr>
          <a:xfrm>
            <a:off x="5852160" y="2272284"/>
            <a:ext cx="5138928" cy="448056"/>
          </a:xfrm>
          <a:prstGeom prst="roundRect">
            <a:avLst>
              <a:gd name="adj" fmla="val 10204"/>
            </a:avLst>
          </a:prstGeom>
          <a:solidFill>
            <a:srgbClr val="16304C"/>
          </a:solidFill>
          <a:ln w="7620">
            <a:solidFill>
              <a:srgbClr val="27415C"/>
            </a:solidFill>
            <a:prstDash val="solid"/>
          </a:ln>
        </p:spPr>
      </p:sp>
      <p:sp>
        <p:nvSpPr>
          <p:cNvPr id="36" name="Shape 34"/>
          <p:cNvSpPr/>
          <p:nvPr/>
        </p:nvSpPr>
        <p:spPr>
          <a:xfrm>
            <a:off x="5980176" y="2409444"/>
            <a:ext cx="173736" cy="173736"/>
          </a:xfrm>
          <a:prstGeom prst="roundRect">
            <a:avLst>
              <a:gd name="adj" fmla="val 21053"/>
            </a:avLst>
          </a:prstGeom>
          <a:solidFill>
            <a:srgbClr val="C9A227"/>
          </a:solidFill>
          <a:ln/>
        </p:spPr>
      </p:sp>
      <p:sp>
        <p:nvSpPr>
          <p:cNvPr id="37" name="Text 35"/>
          <p:cNvSpPr txBox="1"/>
          <p:nvPr/>
        </p:nvSpPr>
        <p:spPr>
          <a:xfrm>
            <a:off x="6254496" y="2313432"/>
            <a:ext cx="4617720" cy="20116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Document Management</a:t>
            </a:r>
            <a:endParaRPr lang="en-US" sz="1000" dirty="0"/>
          </a:p>
        </p:txBody>
      </p:sp>
      <p:sp>
        <p:nvSpPr>
          <p:cNvPr id="38" name="Text 36"/>
          <p:cNvSpPr txBox="1"/>
          <p:nvPr/>
        </p:nvSpPr>
        <p:spPr>
          <a:xfrm>
            <a:off x="6254496" y="2505456"/>
            <a:ext cx="4617720" cy="182880"/>
          </a:xfrm>
          <a:prstGeom prst="rect">
            <a:avLst/>
          </a:prstGeom>
          <a:noFill/>
          <a:ln/>
        </p:spPr>
        <p:txBody>
          <a:bodyPr wrap="square" lIns="0" tIns="0" rIns="0" bIns="0" rtlCol="0" anchor="ctr"/>
          <a:lstStyle/>
          <a:p>
            <a:pPr indent="0" marL="0">
              <a:buNone/>
            </a:pPr>
            <a:r>
              <a:rPr lang="en-US" sz="840" dirty="0">
                <a:solidFill>
                  <a:srgbClr val="A9C2DA"/>
                </a:solidFill>
                <a:latin typeface="Calibri" pitchFamily="34" charset="0"/>
                <a:ea typeface="Calibri" pitchFamily="34" charset="-122"/>
                <a:cs typeface="Calibri" pitchFamily="34" charset="-120"/>
              </a:rPr>
              <a:t>Qiwa contracts, SADAD receipts, SCFHS certificates</a:t>
            </a:r>
            <a:endParaRPr lang="en-US" sz="840" dirty="0"/>
          </a:p>
        </p:txBody>
      </p:sp>
      <p:sp>
        <p:nvSpPr>
          <p:cNvPr id="39" name="Shape 37"/>
          <p:cNvSpPr/>
          <p:nvPr/>
        </p:nvSpPr>
        <p:spPr>
          <a:xfrm>
            <a:off x="5852160" y="2770632"/>
            <a:ext cx="5138928" cy="448056"/>
          </a:xfrm>
          <a:prstGeom prst="roundRect">
            <a:avLst>
              <a:gd name="adj" fmla="val 10204"/>
            </a:avLst>
          </a:prstGeom>
          <a:solidFill>
            <a:srgbClr val="16304C"/>
          </a:solidFill>
          <a:ln w="7620">
            <a:solidFill>
              <a:srgbClr val="27415C"/>
            </a:solidFill>
            <a:prstDash val="solid"/>
          </a:ln>
        </p:spPr>
      </p:sp>
      <p:sp>
        <p:nvSpPr>
          <p:cNvPr id="40" name="Shape 38"/>
          <p:cNvSpPr/>
          <p:nvPr/>
        </p:nvSpPr>
        <p:spPr>
          <a:xfrm>
            <a:off x="5980176" y="2907792"/>
            <a:ext cx="173736" cy="173736"/>
          </a:xfrm>
          <a:prstGeom prst="roundRect">
            <a:avLst>
              <a:gd name="adj" fmla="val 21053"/>
            </a:avLst>
          </a:prstGeom>
          <a:solidFill>
            <a:srgbClr val="C9A227"/>
          </a:solidFill>
          <a:ln/>
        </p:spPr>
      </p:sp>
      <p:sp>
        <p:nvSpPr>
          <p:cNvPr id="41" name="Text 39"/>
          <p:cNvSpPr txBox="1"/>
          <p:nvPr/>
        </p:nvSpPr>
        <p:spPr>
          <a:xfrm>
            <a:off x="6254496" y="2811780"/>
            <a:ext cx="4617720" cy="20116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Alert Notification / Email</a:t>
            </a:r>
            <a:endParaRPr lang="en-US" sz="1000" dirty="0"/>
          </a:p>
        </p:txBody>
      </p:sp>
      <p:sp>
        <p:nvSpPr>
          <p:cNvPr id="42" name="Text 40"/>
          <p:cNvSpPr txBox="1"/>
          <p:nvPr/>
        </p:nvSpPr>
        <p:spPr>
          <a:xfrm>
            <a:off x="6254496" y="3003804"/>
            <a:ext cx="4617720" cy="182880"/>
          </a:xfrm>
          <a:prstGeom prst="rect">
            <a:avLst/>
          </a:prstGeom>
          <a:noFill/>
          <a:ln/>
        </p:spPr>
        <p:txBody>
          <a:bodyPr wrap="square" lIns="0" tIns="0" rIns="0" bIns="0" rtlCol="0" anchor="ctr"/>
          <a:lstStyle/>
          <a:p>
            <a:pPr indent="0" marL="0">
              <a:buNone/>
            </a:pPr>
            <a:r>
              <a:rPr lang="en-US" sz="840" dirty="0">
                <a:solidFill>
                  <a:srgbClr val="A9C2DA"/>
                </a:solidFill>
                <a:latin typeface="Calibri" pitchFamily="34" charset="0"/>
                <a:ea typeface="Calibri" pitchFamily="34" charset="-122"/>
                <a:cs typeface="Calibri" pitchFamily="34" charset="-120"/>
              </a:rPr>
              <a:t>Iqama expiry, return-by alerts, escalation mail</a:t>
            </a:r>
            <a:endParaRPr lang="en-US" sz="840" dirty="0"/>
          </a:p>
        </p:txBody>
      </p:sp>
      <p:sp>
        <p:nvSpPr>
          <p:cNvPr id="43" name="Shape 41"/>
          <p:cNvSpPr/>
          <p:nvPr/>
        </p:nvSpPr>
        <p:spPr>
          <a:xfrm>
            <a:off x="5852160" y="3268980"/>
            <a:ext cx="5138928" cy="448056"/>
          </a:xfrm>
          <a:prstGeom prst="roundRect">
            <a:avLst>
              <a:gd name="adj" fmla="val 10204"/>
            </a:avLst>
          </a:prstGeom>
          <a:solidFill>
            <a:srgbClr val="16304C"/>
          </a:solidFill>
          <a:ln w="7620">
            <a:solidFill>
              <a:srgbClr val="27415C"/>
            </a:solidFill>
            <a:prstDash val="solid"/>
          </a:ln>
        </p:spPr>
      </p:sp>
      <p:sp>
        <p:nvSpPr>
          <p:cNvPr id="44" name="Shape 42"/>
          <p:cNvSpPr/>
          <p:nvPr/>
        </p:nvSpPr>
        <p:spPr>
          <a:xfrm>
            <a:off x="5980176" y="3406140"/>
            <a:ext cx="173736" cy="173736"/>
          </a:xfrm>
          <a:prstGeom prst="roundRect">
            <a:avLst>
              <a:gd name="adj" fmla="val 21053"/>
            </a:avLst>
          </a:prstGeom>
          <a:solidFill>
            <a:srgbClr val="C9A227"/>
          </a:solidFill>
          <a:ln/>
        </p:spPr>
      </p:sp>
      <p:sp>
        <p:nvSpPr>
          <p:cNvPr id="45" name="Text 43"/>
          <p:cNvSpPr txBox="1"/>
          <p:nvPr/>
        </p:nvSpPr>
        <p:spPr>
          <a:xfrm>
            <a:off x="6254496" y="3310128"/>
            <a:ext cx="4617720" cy="20116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Job Scheduling</a:t>
            </a:r>
            <a:endParaRPr lang="en-US" sz="1000" dirty="0"/>
          </a:p>
        </p:txBody>
      </p:sp>
      <p:sp>
        <p:nvSpPr>
          <p:cNvPr id="46" name="Text 44"/>
          <p:cNvSpPr txBox="1"/>
          <p:nvPr/>
        </p:nvSpPr>
        <p:spPr>
          <a:xfrm>
            <a:off x="6254496" y="3502152"/>
            <a:ext cx="4617720" cy="182880"/>
          </a:xfrm>
          <a:prstGeom prst="rect">
            <a:avLst/>
          </a:prstGeom>
          <a:noFill/>
          <a:ln/>
        </p:spPr>
        <p:txBody>
          <a:bodyPr wrap="square" lIns="0" tIns="0" rIns="0" bIns="0" rtlCol="0" anchor="ctr"/>
          <a:lstStyle/>
          <a:p>
            <a:pPr indent="0" marL="0">
              <a:buNone/>
            </a:pPr>
            <a:r>
              <a:rPr lang="en-US" sz="840" dirty="0">
                <a:solidFill>
                  <a:srgbClr val="A9C2DA"/>
                </a:solidFill>
                <a:latin typeface="Calibri" pitchFamily="34" charset="0"/>
                <a:ea typeface="Calibri" pitchFamily="34" charset="-122"/>
                <a:cs typeface="Calibri" pitchFamily="34" charset="-120"/>
              </a:rPr>
              <a:t>Nightly expiry and return-by scans, Nitaqat recalculation</a:t>
            </a:r>
            <a:endParaRPr lang="en-US" sz="840" dirty="0"/>
          </a:p>
        </p:txBody>
      </p:sp>
      <p:sp>
        <p:nvSpPr>
          <p:cNvPr id="47" name="Shape 45"/>
          <p:cNvSpPr/>
          <p:nvPr/>
        </p:nvSpPr>
        <p:spPr>
          <a:xfrm>
            <a:off x="5852160" y="3767328"/>
            <a:ext cx="5138928" cy="448056"/>
          </a:xfrm>
          <a:prstGeom prst="roundRect">
            <a:avLst>
              <a:gd name="adj" fmla="val 10204"/>
            </a:avLst>
          </a:prstGeom>
          <a:solidFill>
            <a:srgbClr val="16304C"/>
          </a:solidFill>
          <a:ln w="7620">
            <a:solidFill>
              <a:srgbClr val="27415C"/>
            </a:solidFill>
            <a:prstDash val="solid"/>
          </a:ln>
        </p:spPr>
      </p:sp>
      <p:sp>
        <p:nvSpPr>
          <p:cNvPr id="48" name="Shape 46"/>
          <p:cNvSpPr/>
          <p:nvPr/>
        </p:nvSpPr>
        <p:spPr>
          <a:xfrm>
            <a:off x="5980176" y="3904488"/>
            <a:ext cx="173736" cy="173736"/>
          </a:xfrm>
          <a:prstGeom prst="roundRect">
            <a:avLst>
              <a:gd name="adj" fmla="val 21053"/>
            </a:avLst>
          </a:prstGeom>
          <a:solidFill>
            <a:srgbClr val="C9A227"/>
          </a:solidFill>
          <a:ln/>
        </p:spPr>
      </p:sp>
      <p:sp>
        <p:nvSpPr>
          <p:cNvPr id="49" name="Text 47"/>
          <p:cNvSpPr txBox="1"/>
          <p:nvPr/>
        </p:nvSpPr>
        <p:spPr>
          <a:xfrm>
            <a:off x="6254496" y="3808476"/>
            <a:ext cx="4617720" cy="20116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SAP Analytics Cloud</a:t>
            </a:r>
            <a:endParaRPr lang="en-US" sz="1000" dirty="0"/>
          </a:p>
        </p:txBody>
      </p:sp>
      <p:sp>
        <p:nvSpPr>
          <p:cNvPr id="50" name="Text 48"/>
          <p:cNvSpPr txBox="1"/>
          <p:nvPr/>
        </p:nvSpPr>
        <p:spPr>
          <a:xfrm>
            <a:off x="6254496" y="4000500"/>
            <a:ext cx="4617720" cy="182880"/>
          </a:xfrm>
          <a:prstGeom prst="rect">
            <a:avLst/>
          </a:prstGeom>
          <a:noFill/>
          <a:ln/>
        </p:spPr>
        <p:txBody>
          <a:bodyPr wrap="square" lIns="0" tIns="0" rIns="0" bIns="0" rtlCol="0" anchor="ctr"/>
          <a:lstStyle/>
          <a:p>
            <a:pPr indent="0" marL="0">
              <a:buNone/>
            </a:pPr>
            <a:r>
              <a:rPr lang="en-US" sz="840" dirty="0">
                <a:solidFill>
                  <a:srgbClr val="A9C2DA"/>
                </a:solidFill>
                <a:latin typeface="Calibri" pitchFamily="34" charset="0"/>
                <a:ea typeface="Calibri" pitchFamily="34" charset="-122"/>
                <a:cs typeface="Calibri" pitchFamily="34" charset="-120"/>
              </a:rPr>
              <a:t>Nitaqat forecasting, levy budgeting, exec dashboards</a:t>
            </a:r>
            <a:endParaRPr lang="en-US" sz="840" dirty="0"/>
          </a:p>
        </p:txBody>
      </p:sp>
      <p:sp>
        <p:nvSpPr>
          <p:cNvPr id="51" name="Shape 49"/>
          <p:cNvSpPr/>
          <p:nvPr/>
        </p:nvSpPr>
        <p:spPr>
          <a:xfrm>
            <a:off x="5852160" y="4265676"/>
            <a:ext cx="5138928" cy="448056"/>
          </a:xfrm>
          <a:prstGeom prst="roundRect">
            <a:avLst>
              <a:gd name="adj" fmla="val 10204"/>
            </a:avLst>
          </a:prstGeom>
          <a:solidFill>
            <a:srgbClr val="16304C"/>
          </a:solidFill>
          <a:ln w="7620">
            <a:solidFill>
              <a:srgbClr val="27415C"/>
            </a:solidFill>
            <a:prstDash val="solid"/>
          </a:ln>
        </p:spPr>
      </p:sp>
      <p:sp>
        <p:nvSpPr>
          <p:cNvPr id="52" name="Shape 50"/>
          <p:cNvSpPr/>
          <p:nvPr/>
        </p:nvSpPr>
        <p:spPr>
          <a:xfrm>
            <a:off x="5980176" y="4402836"/>
            <a:ext cx="173736" cy="173736"/>
          </a:xfrm>
          <a:prstGeom prst="roundRect">
            <a:avLst>
              <a:gd name="adj" fmla="val 21053"/>
            </a:avLst>
          </a:prstGeom>
          <a:solidFill>
            <a:srgbClr val="C9A227"/>
          </a:solidFill>
          <a:ln/>
        </p:spPr>
      </p:sp>
      <p:sp>
        <p:nvSpPr>
          <p:cNvPr id="53" name="Text 51"/>
          <p:cNvSpPr txBox="1"/>
          <p:nvPr/>
        </p:nvSpPr>
        <p:spPr>
          <a:xfrm>
            <a:off x="6254496" y="4306824"/>
            <a:ext cx="4617720" cy="20116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Business Application Studio</a:t>
            </a:r>
            <a:endParaRPr lang="en-US" sz="1000" dirty="0"/>
          </a:p>
        </p:txBody>
      </p:sp>
      <p:sp>
        <p:nvSpPr>
          <p:cNvPr id="54" name="Text 52"/>
          <p:cNvSpPr txBox="1"/>
          <p:nvPr/>
        </p:nvSpPr>
        <p:spPr>
          <a:xfrm>
            <a:off x="6254496" y="4498848"/>
            <a:ext cx="4617720" cy="182880"/>
          </a:xfrm>
          <a:prstGeom prst="rect">
            <a:avLst/>
          </a:prstGeom>
          <a:noFill/>
          <a:ln/>
        </p:spPr>
        <p:txBody>
          <a:bodyPr wrap="square" lIns="0" tIns="0" rIns="0" bIns="0" rtlCol="0" anchor="ctr"/>
          <a:lstStyle/>
          <a:p>
            <a:pPr indent="0" marL="0">
              <a:buNone/>
            </a:pPr>
            <a:r>
              <a:rPr lang="en-US" sz="840" dirty="0">
                <a:solidFill>
                  <a:srgbClr val="A9C2DA"/>
                </a:solidFill>
                <a:latin typeface="Calibri" pitchFamily="34" charset="0"/>
                <a:ea typeface="Calibri" pitchFamily="34" charset="-122"/>
                <a:cs typeface="Calibri" pitchFamily="34" charset="-120"/>
              </a:rPr>
              <a:t>Localisation, Arabic package, change requests</a:t>
            </a:r>
            <a:endParaRPr lang="en-US" sz="840" dirty="0"/>
          </a:p>
        </p:txBody>
      </p:sp>
      <p:sp>
        <p:nvSpPr>
          <p:cNvPr id="55" name="Shape 53"/>
          <p:cNvSpPr/>
          <p:nvPr/>
        </p:nvSpPr>
        <p:spPr>
          <a:xfrm>
            <a:off x="548640" y="4846320"/>
            <a:ext cx="10442448" cy="804672"/>
          </a:xfrm>
          <a:prstGeom prst="roundRect">
            <a:avLst>
              <a:gd name="adj" fmla="val 7955"/>
            </a:avLst>
          </a:prstGeom>
          <a:solidFill>
            <a:srgbClr val="123A4E"/>
          </a:solidFill>
          <a:ln w="12700">
            <a:solidFill>
              <a:srgbClr val="12756F"/>
            </a:solidFill>
            <a:prstDash val="solid"/>
          </a:ln>
        </p:spPr>
      </p:sp>
      <p:sp>
        <p:nvSpPr>
          <p:cNvPr id="56" name="Text 54"/>
          <p:cNvSpPr txBox="1"/>
          <p:nvPr/>
        </p:nvSpPr>
        <p:spPr>
          <a:xfrm>
            <a:off x="749808" y="4956048"/>
            <a:ext cx="3200400" cy="201168"/>
          </a:xfrm>
          <a:prstGeom prst="rect">
            <a:avLst/>
          </a:prstGeom>
          <a:noFill/>
          <a:ln/>
        </p:spPr>
        <p:txBody>
          <a:bodyPr wrap="square" lIns="0" tIns="0" rIns="0" bIns="0" rtlCol="0" anchor="ctr"/>
          <a:lstStyle/>
          <a:p>
            <a:pPr indent="0" marL="0">
              <a:buNone/>
            </a:pPr>
            <a:r>
              <a:rPr lang="en-US" sz="1050" b="1" dirty="0">
                <a:solidFill>
                  <a:srgbClr val="20A098"/>
                </a:solidFill>
                <a:latin typeface="Arial" pitchFamily="34" charset="0"/>
                <a:ea typeface="Arial" pitchFamily="34" charset="-122"/>
                <a:cs typeface="Arial" pitchFamily="34" charset="-120"/>
              </a:rPr>
              <a:t>Data residency</a:t>
            </a:r>
            <a:endParaRPr lang="en-US" sz="1050" dirty="0"/>
          </a:p>
        </p:txBody>
      </p:sp>
      <p:sp>
        <p:nvSpPr>
          <p:cNvPr id="57" name="Text 55"/>
          <p:cNvSpPr txBox="1"/>
          <p:nvPr/>
        </p:nvSpPr>
        <p:spPr>
          <a:xfrm>
            <a:off x="749808" y="5157216"/>
            <a:ext cx="3200400" cy="420624"/>
          </a:xfrm>
          <a:prstGeom prst="rect">
            <a:avLst/>
          </a:prstGeom>
          <a:noFill/>
          <a:ln/>
        </p:spPr>
        <p:txBody>
          <a:bodyPr wrap="square" lIns="0" tIns="0" rIns="0" bIns="0" rtlCol="0" anchor="ctr"/>
          <a:lstStyle/>
          <a:p>
            <a:pPr indent="0" marL="0">
              <a:lnSpc>
                <a:spcPts val="1150"/>
              </a:lnSpc>
              <a:buNone/>
            </a:pPr>
            <a:r>
              <a:rPr lang="en-US" sz="840" dirty="0">
                <a:solidFill>
                  <a:srgbClr val="A9C2DA"/>
                </a:solidFill>
                <a:latin typeface="Calibri" pitchFamily="34" charset="0"/>
                <a:ea typeface="Calibri" pitchFamily="34" charset="-122"/>
                <a:cs typeface="Calibri" pitchFamily="34" charset="-120"/>
              </a:rPr>
              <a:t>Deployable in an SAP BTP region that meets Saudi data residency expectations, which is usually the first question a Saudi CIO asks.</a:t>
            </a:r>
            <a:endParaRPr lang="en-US" sz="840" dirty="0"/>
          </a:p>
        </p:txBody>
      </p:sp>
      <p:sp>
        <p:nvSpPr>
          <p:cNvPr id="58" name="Text 56"/>
          <p:cNvSpPr txBox="1"/>
          <p:nvPr/>
        </p:nvSpPr>
        <p:spPr>
          <a:xfrm>
            <a:off x="4187952" y="4956048"/>
            <a:ext cx="3200400" cy="201168"/>
          </a:xfrm>
          <a:prstGeom prst="rect">
            <a:avLst/>
          </a:prstGeom>
          <a:noFill/>
          <a:ln/>
        </p:spPr>
        <p:txBody>
          <a:bodyPr wrap="square" lIns="0" tIns="0" rIns="0" bIns="0" rtlCol="0" anchor="ctr"/>
          <a:lstStyle/>
          <a:p>
            <a:pPr indent="0" marL="0">
              <a:buNone/>
            </a:pPr>
            <a:r>
              <a:rPr lang="en-US" sz="1050" b="1" dirty="0">
                <a:solidFill>
                  <a:srgbClr val="20A098"/>
                </a:solidFill>
                <a:latin typeface="Arial" pitchFamily="34" charset="0"/>
                <a:ea typeface="Arial" pitchFamily="34" charset="-122"/>
                <a:cs typeface="Arial" pitchFamily="34" charset="-120"/>
              </a:rPr>
              <a:t>Arabic when you need it</a:t>
            </a:r>
            <a:endParaRPr lang="en-US" sz="1050" dirty="0"/>
          </a:p>
        </p:txBody>
      </p:sp>
      <p:sp>
        <p:nvSpPr>
          <p:cNvPr id="59" name="Text 57"/>
          <p:cNvSpPr txBox="1"/>
          <p:nvPr/>
        </p:nvSpPr>
        <p:spPr>
          <a:xfrm>
            <a:off x="4187952" y="5157216"/>
            <a:ext cx="3200400" cy="420624"/>
          </a:xfrm>
          <a:prstGeom prst="rect">
            <a:avLst/>
          </a:prstGeom>
          <a:noFill/>
          <a:ln/>
        </p:spPr>
        <p:txBody>
          <a:bodyPr wrap="square" lIns="0" tIns="0" rIns="0" bIns="0" rtlCol="0" anchor="ctr"/>
          <a:lstStyle/>
          <a:p>
            <a:pPr indent="0" marL="0">
              <a:lnSpc>
                <a:spcPts val="1150"/>
              </a:lnSpc>
              <a:buNone/>
            </a:pPr>
            <a:r>
              <a:rPr lang="en-US" sz="840" dirty="0">
                <a:solidFill>
                  <a:srgbClr val="A9C2DA"/>
                </a:solidFill>
                <a:latin typeface="Calibri" pitchFamily="34" charset="0"/>
                <a:ea typeface="Calibri" pitchFamily="34" charset="-122"/>
                <a:cs typeface="Calibri" pitchFamily="34" charset="-120"/>
              </a:rPr>
              <a:t>The interface ships in English. Arabic and right-to-left layout are a defined localisation package, not a rebuild.</a:t>
            </a:r>
            <a:endParaRPr lang="en-US" sz="840" dirty="0"/>
          </a:p>
        </p:txBody>
      </p:sp>
      <p:sp>
        <p:nvSpPr>
          <p:cNvPr id="60" name="Text 58"/>
          <p:cNvSpPr txBox="1"/>
          <p:nvPr/>
        </p:nvSpPr>
        <p:spPr>
          <a:xfrm>
            <a:off x="7626096" y="4956048"/>
            <a:ext cx="3200400" cy="201168"/>
          </a:xfrm>
          <a:prstGeom prst="rect">
            <a:avLst/>
          </a:prstGeom>
          <a:noFill/>
          <a:ln/>
        </p:spPr>
        <p:txBody>
          <a:bodyPr wrap="square" lIns="0" tIns="0" rIns="0" bIns="0" rtlCol="0" anchor="ctr"/>
          <a:lstStyle/>
          <a:p>
            <a:pPr indent="0" marL="0">
              <a:buNone/>
            </a:pPr>
            <a:r>
              <a:rPr lang="en-US" sz="1050" b="1" dirty="0">
                <a:solidFill>
                  <a:srgbClr val="20A098"/>
                </a:solidFill>
                <a:latin typeface="Arial" pitchFamily="34" charset="0"/>
                <a:ea typeface="Arial" pitchFamily="34" charset="-122"/>
                <a:cs typeface="Arial" pitchFamily="34" charset="-120"/>
              </a:rPr>
              <a:t>Weeks, not quarters</a:t>
            </a:r>
            <a:endParaRPr lang="en-US" sz="1050" dirty="0"/>
          </a:p>
        </p:txBody>
      </p:sp>
      <p:sp>
        <p:nvSpPr>
          <p:cNvPr id="61" name="Text 59"/>
          <p:cNvSpPr txBox="1"/>
          <p:nvPr/>
        </p:nvSpPr>
        <p:spPr>
          <a:xfrm>
            <a:off x="7626096" y="5157216"/>
            <a:ext cx="3200400" cy="420624"/>
          </a:xfrm>
          <a:prstGeom prst="rect">
            <a:avLst/>
          </a:prstGeom>
          <a:noFill/>
          <a:ln/>
        </p:spPr>
        <p:txBody>
          <a:bodyPr wrap="square" lIns="0" tIns="0" rIns="0" bIns="0" rtlCol="0" anchor="ctr"/>
          <a:lstStyle/>
          <a:p>
            <a:pPr indent="0" marL="0">
              <a:lnSpc>
                <a:spcPts val="1150"/>
              </a:lnSpc>
              <a:buNone/>
            </a:pPr>
            <a:r>
              <a:rPr lang="en-US" sz="840" dirty="0">
                <a:solidFill>
                  <a:srgbClr val="A9C2DA"/>
                </a:solidFill>
                <a:latin typeface="Calibri" pitchFamily="34" charset="0"/>
                <a:ea typeface="Calibri" pitchFamily="34" charset="-122"/>
                <a:cs typeface="Calibri" pitchFamily="34" charset="-120"/>
              </a:rPr>
              <a:t>Pre-built and configured rather than written from scratch. Environment and configuration, then integration, then localisation.</a:t>
            </a:r>
            <a:endParaRPr lang="en-US" sz="840" dirty="0"/>
          </a:p>
        </p:txBody>
      </p:sp>
      <p:sp>
        <p:nvSpPr>
          <p:cNvPr id="62" name="Text 60"/>
          <p:cNvSpPr txBox="1"/>
          <p:nvPr/>
        </p:nvSpPr>
        <p:spPr>
          <a:xfrm>
            <a:off x="548640" y="5779008"/>
            <a:ext cx="5852160" cy="329184"/>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Built for the Kingdom.</a:t>
            </a:r>
            <a:endParaRPr lang="en-US" sz="2000" dirty="0"/>
          </a:p>
        </p:txBody>
      </p:sp>
      <p:sp>
        <p:nvSpPr>
          <p:cNvPr id="63" name="Text 61"/>
          <p:cNvSpPr txBox="1"/>
          <p:nvPr/>
        </p:nvSpPr>
        <p:spPr>
          <a:xfrm>
            <a:off x="548640" y="6126480"/>
            <a:ext cx="8046720" cy="274320"/>
          </a:xfrm>
          <a:prstGeom prst="rect">
            <a:avLst/>
          </a:prstGeom>
          <a:noFill/>
          <a:ln/>
        </p:spPr>
        <p:txBody>
          <a:bodyPr wrap="square" lIns="0" tIns="0" rIns="0" bIns="0" rtlCol="0" anchor="ctr"/>
          <a:lstStyle/>
          <a:p>
            <a:pPr indent="0" marL="0">
              <a:buNone/>
            </a:pPr>
            <a:r>
              <a:rPr lang="en-US" sz="1000" dirty="0">
                <a:solidFill>
                  <a:srgbClr val="A9C2DA"/>
                </a:solidFill>
                <a:latin typeface="Calibri" pitchFamily="34" charset="0"/>
                <a:ea typeface="Calibri" pitchFamily="34" charset="-122"/>
                <a:cs typeface="Calibri" pitchFamily="34" charset="-120"/>
              </a:rPr>
              <a:t>Qiwa, Muqeem and Absher in step  ·  Nitaqat calculated before it bites  ·  Exit and re-entry tracked to the day</a:t>
            </a:r>
            <a:endParaRPr lang="en-US" sz="1000" dirty="0"/>
          </a:p>
        </p:txBody>
      </p:sp>
      <p:pic>
        <p:nvPicPr>
          <p:cNvPr id="64" name="Image 0" descr="./img/logo-white.png">    </p:cNvPr>
          <p:cNvPicPr>
            <a:picLocks noChangeAspect="1"/>
          </p:cNvPicPr>
          <p:nvPr/>
        </p:nvPicPr>
        <p:blipFill>
          <a:blip r:embed="rId1"/>
          <a:stretch>
            <a:fillRect/>
          </a:stretch>
        </p:blipFill>
        <p:spPr>
          <a:xfrm>
            <a:off x="9464040" y="5797296"/>
            <a:ext cx="1828800" cy="448056"/>
          </a:xfrm>
          <a:prstGeom prst="rect">
            <a:avLst/>
          </a:prstGeom>
        </p:spPr>
      </p:pic>
      <p:sp>
        <p:nvSpPr>
          <p:cNvPr id="65" name="Text 62"/>
          <p:cNvSpPr txBox="1"/>
          <p:nvPr/>
        </p:nvSpPr>
        <p:spPr>
          <a:xfrm>
            <a:off x="8778240" y="6327648"/>
            <a:ext cx="2514600" cy="201168"/>
          </a:xfrm>
          <a:prstGeom prst="rect">
            <a:avLst/>
          </a:prstGeom>
          <a:noFill/>
          <a:ln/>
        </p:spPr>
        <p:txBody>
          <a:bodyPr wrap="square" lIns="0" tIns="0" rIns="0" bIns="0" rtlCol="0" anchor="ctr"/>
          <a:lstStyle/>
          <a:p>
            <a:pPr algn="r" indent="0" marL="0">
              <a:buNone/>
            </a:pPr>
            <a:r>
              <a:rPr lang="en-US" sz="900" dirty="0">
                <a:solidFill>
                  <a:srgbClr val="7E99B4"/>
                </a:solidFill>
                <a:latin typeface="Calibri" pitchFamily="34" charset="0"/>
                <a:ea typeface="Calibri" pitchFamily="34" charset="-122"/>
                <a:cs typeface="Calibri" pitchFamily="34" charset="-120"/>
              </a:rPr>
              <a:t>info@inkitsolutions.com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INK IT Business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Visa &amp; Permits Management — Saudi Arabia</dc:title>
  <dc:subject>PptxGenJS Presentation</dc:subject>
  <dc:creator>INK IT Business Solutions</dc:creator>
  <cp:lastModifiedBy>INK IT Business Solutions</cp:lastModifiedBy>
  <cp:revision>1</cp:revision>
  <dcterms:created xsi:type="dcterms:W3CDTF">2026-09-21T14:41:51Z</dcterms:created>
  <dcterms:modified xsi:type="dcterms:W3CDTF">2026-09-21T14:41:51Z</dcterms:modified>
</cp:coreProperties>
</file>