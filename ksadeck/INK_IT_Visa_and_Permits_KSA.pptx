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media/image-11-1.jpg" ContentType="image/jpg"/>
  <Override PartName="/ppt/media/image-3-1.jpg" ContentType="image/jpg"/>
  <Override PartName="/ppt/media/image-6-1.jpg" ContentType="image/jpg"/>
  <Override PartName="/ppt/media/image-7-1.jpg" ContentType="image/jpg"/>
  <Override PartName="/ppt/media/image-8-1.jpg" ContentType="image/jpg"/>
  <Override PartName="/ppt/media/image-9-1.jpg" ContentType="image/jpg"/>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notesMasterIdLst>
    <p:notesMasterId r:id="rId1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notesMaster" Target="notesMasters/notesMaster1.xml"/><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[40s · Open · cumulative 0:40 of 20:00]</a:t>
            </a:r>
          </a:p>
          <a:p/>
          <a:p>
            <a:r>
              <a:t>Open on the band. Saudi Arabia is the one GCC market where a compliance score decides whether you can hire at all, and that is the hook for both the HR buyer and the SAP account team. Everything else in the deck hangs off it.</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[80s · Set the problem · cumulative 2:00 of 20:00]</a:t>
            </a:r>
          </a:p>
          <a:p/>
          <a:p>
            <a:r>
              <a:t>Ask the room which of the six they recognise. In Saudi engagements the answer is usually all of them, and number one is the one that gets a CHRO leaning forward.</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[70s · What it is · cumulative 3:10 of 20:00]</a:t>
            </a:r>
          </a:p>
          <a:p/>
          <a:p>
            <a:r>
              <a:t>Screens in this deck are the application configured for Saudi Arabia. Say plainly that they are representative KSA screens rather than captures of a live Saudi tenant, and that the engine underneath is the one running in the UAE today.</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[85s · Permit types · cumulative 4:35 of 20:00]</a:t>
            </a:r>
          </a:p>
          <a:p/>
          <a:p>
            <a:r>
              <a:t>90 seconds. Do not read the grid. Point at three: the standard hire, Premium Residency where you are not the sponsor, and Saudi national where there is no visa at all but the ratio moves. Then land the four block visa gates, because that is the slide people photograph.</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[95s · The map · cumulative 6:10 of 20:00]</a:t>
            </a:r>
          </a:p>
          <a:p/>
          <a:p>
            <a:r>
              <a:t>This is the slide to slow down on with a mixed audience. Business people read the lanes, technical people read the arrows, and both end up at the same conclusion about where the risk sits.</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[140s · Walk the permit that hurts · cumulative 8:30 of 20:00]</a:t>
            </a:r>
          </a:p>
          <a:p/>
          <a:p>
            <a:r>
              <a:t>If you only land one slide with a Saudi customer, land this one. Every HR leader in the Kingdom has a story about someone who could not get back, and this is the slide where they tell it to you.</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[115s · Where the deal widens · cumulative 10:25 of 20:00]</a:t>
            </a:r>
          </a:p>
          <a:p/>
          <a:p>
            <a:r>
              <a:t>This is where the deal widens. Visa tracking is a PRO-desk purchase; Nitaqat forecasting is a CHRO and CFO purchase, and it ties straight to Vision 2030 localisation commitments. For an SAP account team this is the slide that justifies the platform conversation.</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[145s · Integration answer · cumulative 12:50 of 20:00]</a:t>
            </a:r>
          </a:p>
          <a:p/>
          <a:p>
            <a:r>
              <a:t>The integration slide a Saudi CIO is waiting for. Be precise: access is granted to the employer under their establishment registration, not to a software vendor, so the credentials have to come from the customer. Saying that plainly earns more trust than promising automation you cannot deliver.</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[80s · Risk reframe · cumulative 14:10 of 20:00]</a:t>
            </a:r>
          </a:p>
          <a:p/>
          <a:p>
            <a:r>
              <a:t>75 seconds. The eight are context, the red box is the message. Say it plainly: repeat findings do not just cost money, they switch off your ability to hire. That reframes compliance from a cost centre into an operational risk, which is the language a CFO and an SAP account team both work in.</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[70s · Who uses it · cumulative 15:20 of 20:00]</a:t>
            </a:r>
          </a:p>
          <a:p/>
          <a:p>
            <a:r>
              <a:t>With a mixed audience, let people find their own row. The GRO row is the operational win; the Head of HR row is the one an SAP account executive should point at when the conversation turns to platform value.</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[65s · Accountability and cost · cumulative 16:25 of 20:00]</a:t>
            </a:r>
          </a:p>
          <a:p/>
          <a:p>
            <a:r>
              <a:t>Two buyers on one slide. The ladder is for the HR operations lead, the levy box is for the CFO. The levy is usually the number that turns this from a nice-to-have into a budgeted project.</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[70s · Technical credibility · cumulative 17:35 of 20:00]</a:t>
            </a:r>
          </a:p>
          <a:p/>
          <a:p>
            <a:r>
              <a:t>The technical slide. Walk the four sides, then land the dashed arrows. Being straight that government API access belongs to the employer is what earns credibility with a Saudi CIO, and it is the question they will ask.</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[85s · What you provision · cumulative 19:00 of 20:00]</a:t>
            </a:r>
          </a:p>
          <a:p/>
          <a:p>
            <a:r>
              <a:t>Close on provisioning and the three questions a Saudi buyer always asks: where does the data sit, is there Arabic, and how long does it take. Have answers ready rather than promises.</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[60s · Close wide · cumulative 20:00 of 20:00]</a:t>
            </a:r>
          </a:p>
          <a:p/>
          <a:p>
            <a:r>
              <a:t>Close by widening. The Saudi deal is the entry point; the platform argument is that the second and third country cost configuration rather than another project. For an SAP account executive this is the slide that turns one country into a regional account plan.</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jp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jp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jp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jp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jp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jp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C1E33"/>
        </a:solidFill>
      </p:bgPr>
    </p:bg>
    <p:spTree>
      <p:nvGrpSpPr>
        <p:cNvPr id="1" name=""/>
        <p:cNvGrpSpPr/>
        <p:nvPr/>
      </p:nvGrpSpPr>
      <p:grpSpPr>
        <a:xfrm>
          <a:off x="0" y="0"/>
          <a:ext cx="0" cy="0"/>
          <a:chOff x="0" y="0"/>
          <a:chExt cx="0" cy="0"/>
        </a:xfrm>
      </p:grpSpPr>
      <p:sp>
        <p:nvSpPr>
          <p:cNvPr id="2" name="Shape 0"/>
          <p:cNvSpPr/>
          <p:nvPr/>
        </p:nvSpPr>
        <p:spPr>
          <a:xfrm>
            <a:off x="8686800" y="-2011680"/>
            <a:ext cx="6949440" cy="6949440"/>
          </a:xfrm>
          <a:prstGeom prst="ellipse">
            <a:avLst/>
          </a:prstGeom>
          <a:solidFill>
            <a:srgbClr val="20A098">
              <a:alpha val="12000"/>
            </a:srgbClr>
          </a:solidFill>
          <a:ln/>
        </p:spPr>
      </p:sp>
      <p:sp>
        <p:nvSpPr>
          <p:cNvPr id="3" name="Shape 1"/>
          <p:cNvSpPr/>
          <p:nvPr/>
        </p:nvSpPr>
        <p:spPr>
          <a:xfrm>
            <a:off x="10058400" y="3108960"/>
            <a:ext cx="4754880" cy="4754880"/>
          </a:xfrm>
          <a:prstGeom prst="ellipse">
            <a:avLst/>
          </a:prstGeom>
          <a:solidFill>
            <a:srgbClr val="C9A227">
              <a:alpha val="8000"/>
            </a:srgbClr>
          </a:solidFill>
          <a:ln/>
        </p:spPr>
      </p:sp>
      <p:pic>
        <p:nvPicPr>
          <p:cNvPr id="4" name="Image 0" descr="./img/logo-white.png">    </p:cNvPr>
          <p:cNvPicPr>
            <a:picLocks noChangeAspect="1"/>
          </p:cNvPicPr>
          <p:nvPr/>
        </p:nvPicPr>
        <p:blipFill>
          <a:blip r:embed="rId1"/>
          <a:stretch>
            <a:fillRect/>
          </a:stretch>
        </p:blipFill>
        <p:spPr>
          <a:xfrm>
            <a:off x="658368" y="566928"/>
            <a:ext cx="2240280" cy="548640"/>
          </a:xfrm>
          <a:prstGeom prst="rect">
            <a:avLst/>
          </a:prstGeom>
        </p:spPr>
      </p:pic>
      <p:sp>
        <p:nvSpPr>
          <p:cNvPr id="5" name="Text 2"/>
          <p:cNvSpPr txBox="1"/>
          <p:nvPr/>
        </p:nvSpPr>
        <p:spPr>
          <a:xfrm>
            <a:off x="658368" y="1691640"/>
            <a:ext cx="7863840" cy="1737360"/>
          </a:xfrm>
          <a:prstGeom prst="rect">
            <a:avLst/>
          </a:prstGeom>
          <a:noFill/>
          <a:ln/>
        </p:spPr>
        <p:txBody>
          <a:bodyPr wrap="square" lIns="0" tIns="0" rIns="0" bIns="0" rtlCol="0" anchor="ctr"/>
          <a:lstStyle/>
          <a:p>
            <a:pPr indent="0" marL="0">
              <a:lnSpc>
                <a:spcPts val="5000"/>
              </a:lnSpc>
              <a:buNone/>
            </a:pPr>
            <a:r>
              <a:rPr lang="en-US" sz="4600" b="1" dirty="0">
                <a:solidFill>
                  <a:srgbClr val="FFFFFF"/>
                </a:solidFill>
                <a:latin typeface="Arial" pitchFamily="34" charset="0"/>
                <a:ea typeface="Arial" pitchFamily="34" charset="-122"/>
                <a:cs typeface="Arial" pitchFamily="34" charset="-120"/>
              </a:rPr>
              <a:t>Visa &amp; Permits</a:t>
            </a:r>
            <a:endParaRPr lang="en-US" sz="4600" dirty="0"/>
          </a:p>
          <a:p>
            <a:pPr indent="0" marL="0">
              <a:lnSpc>
                <a:spcPts val="5000"/>
              </a:lnSpc>
              <a:buNone/>
            </a:pPr>
            <a:r>
              <a:rPr lang="en-US" sz="4600" b="1" dirty="0">
                <a:solidFill>
                  <a:srgbClr val="FFFFFF"/>
                </a:solidFill>
                <a:latin typeface="Arial" pitchFamily="34" charset="0"/>
                <a:ea typeface="Arial" pitchFamily="34" charset="-122"/>
                <a:cs typeface="Arial" pitchFamily="34" charset="-120"/>
              </a:rPr>
              <a:t>Management</a:t>
            </a:r>
            <a:endParaRPr lang="en-US" sz="4600" dirty="0"/>
          </a:p>
        </p:txBody>
      </p:sp>
      <p:sp>
        <p:nvSpPr>
          <p:cNvPr id="6" name="Text 3"/>
          <p:cNvSpPr txBox="1"/>
          <p:nvPr/>
        </p:nvSpPr>
        <p:spPr>
          <a:xfrm>
            <a:off x="658368" y="3401568"/>
            <a:ext cx="7863840" cy="457200"/>
          </a:xfrm>
          <a:prstGeom prst="rect">
            <a:avLst/>
          </a:prstGeom>
          <a:noFill/>
          <a:ln/>
        </p:spPr>
        <p:txBody>
          <a:bodyPr wrap="square" lIns="0" tIns="0" rIns="0" bIns="0" rtlCol="0" anchor="ctr"/>
          <a:lstStyle/>
          <a:p>
            <a:pPr indent="0" marL="0">
              <a:buNone/>
            </a:pPr>
            <a:r>
              <a:rPr lang="en-US" sz="2800" b="1" dirty="0">
                <a:solidFill>
                  <a:srgbClr val="20A098"/>
                </a:solidFill>
                <a:latin typeface="Arial" pitchFamily="34" charset="0"/>
                <a:ea typeface="Arial" pitchFamily="34" charset="-122"/>
                <a:cs typeface="Arial" pitchFamily="34" charset="-120"/>
              </a:rPr>
              <a:t>Kingdom of Saudi Arabia</a:t>
            </a:r>
            <a:endParaRPr lang="en-US" sz="2800" dirty="0"/>
          </a:p>
        </p:txBody>
      </p:sp>
      <p:sp>
        <p:nvSpPr>
          <p:cNvPr id="7" name="Text 4"/>
          <p:cNvSpPr txBox="1"/>
          <p:nvPr/>
        </p:nvSpPr>
        <p:spPr>
          <a:xfrm>
            <a:off x="658368" y="3895344"/>
            <a:ext cx="7863840" cy="310896"/>
          </a:xfrm>
          <a:prstGeom prst="rect">
            <a:avLst/>
          </a:prstGeom>
          <a:noFill/>
          <a:ln/>
        </p:spPr>
        <p:txBody>
          <a:bodyPr wrap="square" lIns="0" tIns="0" rIns="0" bIns="0" rtlCol="0" anchor="ctr"/>
          <a:lstStyle/>
          <a:p>
            <a:pPr indent="0" marL="0">
              <a:buNone/>
            </a:pPr>
            <a:r>
              <a:rPr lang="en-US" sz="1600" b="1" dirty="0">
                <a:solidFill>
                  <a:srgbClr val="A9C2DA"/>
                </a:solidFill>
                <a:latin typeface="Calibri" pitchFamily="34" charset="0"/>
                <a:ea typeface="Calibri" pitchFamily="34" charset="-122"/>
                <a:cs typeface="Calibri" pitchFamily="34" charset="-120"/>
              </a:rPr>
              <a:t>Built on SAP BTP  ·  Qiwa, Muqeem and Absher in step</a:t>
            </a:r>
            <a:endParaRPr lang="en-US" sz="1600" dirty="0"/>
          </a:p>
        </p:txBody>
      </p:sp>
      <p:sp>
        <p:nvSpPr>
          <p:cNvPr id="8" name="Text 5"/>
          <p:cNvSpPr txBox="1"/>
          <p:nvPr/>
        </p:nvSpPr>
        <p:spPr>
          <a:xfrm>
            <a:off x="658368" y="4315968"/>
            <a:ext cx="7589520" cy="822960"/>
          </a:xfrm>
          <a:prstGeom prst="rect">
            <a:avLst/>
          </a:prstGeom>
          <a:noFill/>
          <a:ln/>
        </p:spPr>
        <p:txBody>
          <a:bodyPr wrap="square" lIns="0" tIns="0" rIns="0" bIns="0" rtlCol="0" anchor="ctr"/>
          <a:lstStyle/>
          <a:p>
            <a:pPr indent="0" marL="0">
              <a:lnSpc>
                <a:spcPts val="2100"/>
              </a:lnSpc>
              <a:buNone/>
            </a:pPr>
            <a:r>
              <a:rPr lang="en-US" sz="1400" dirty="0">
                <a:solidFill>
                  <a:srgbClr val="A9C2DA"/>
                </a:solidFill>
                <a:latin typeface="Calibri" pitchFamily="34" charset="0"/>
                <a:ea typeface="Calibri" pitchFamily="34" charset="-122"/>
                <a:cs typeface="Calibri" pitchFamily="34" charset="-120"/>
              </a:rPr>
              <a:t>Iqama lifecycle, exit and re-entry tracked to the day, and a live Nitaqat band position, so you know what you can do before Qiwa tells you what you cannot.</a:t>
            </a:r>
            <a:endParaRPr lang="en-US" sz="1400" dirty="0"/>
          </a:p>
        </p:txBody>
      </p:sp>
      <p:sp>
        <p:nvSpPr>
          <p:cNvPr id="9" name="Shape 6"/>
          <p:cNvSpPr/>
          <p:nvPr/>
        </p:nvSpPr>
        <p:spPr>
          <a:xfrm>
            <a:off x="658368" y="5266944"/>
            <a:ext cx="603504" cy="329184"/>
          </a:xfrm>
          <a:prstGeom prst="roundRect">
            <a:avLst>
              <a:gd name="adj" fmla="val 47222"/>
            </a:avLst>
          </a:prstGeom>
          <a:solidFill>
            <a:srgbClr val="16304C"/>
          </a:solidFill>
          <a:ln w="9525">
            <a:solidFill>
              <a:srgbClr val="2C4A6A"/>
            </a:solidFill>
            <a:prstDash val="solid"/>
          </a:ln>
        </p:spPr>
      </p:sp>
      <p:sp>
        <p:nvSpPr>
          <p:cNvPr id="10" name="Text 7"/>
          <p:cNvSpPr txBox="1"/>
          <p:nvPr/>
        </p:nvSpPr>
        <p:spPr>
          <a:xfrm>
            <a:off x="658368" y="5266944"/>
            <a:ext cx="603504" cy="329184"/>
          </a:xfrm>
          <a:prstGeom prst="rect">
            <a:avLst/>
          </a:prstGeom>
          <a:noFill/>
          <a:ln/>
        </p:spPr>
        <p:txBody>
          <a:bodyPr wrap="square" lIns="0" tIns="0" rIns="0" bIns="0" rtlCol="0" anchor="ctr"/>
          <a:lstStyle/>
          <a:p>
            <a:pPr algn="ctr" indent="0" marL="0">
              <a:buNone/>
            </a:pPr>
            <a:r>
              <a:rPr lang="en-US" sz="1150" b="1" dirty="0">
                <a:solidFill>
                  <a:srgbClr val="BFD6EC"/>
                </a:solidFill>
                <a:latin typeface="Calibri" pitchFamily="34" charset="0"/>
                <a:ea typeface="Calibri" pitchFamily="34" charset="-122"/>
                <a:cs typeface="Calibri" pitchFamily="34" charset="-120"/>
              </a:rPr>
              <a:t>Qiwa</a:t>
            </a:r>
            <a:endParaRPr lang="en-US" sz="1150" dirty="0"/>
          </a:p>
        </p:txBody>
      </p:sp>
      <p:sp>
        <p:nvSpPr>
          <p:cNvPr id="11" name="Shape 8"/>
          <p:cNvSpPr/>
          <p:nvPr/>
        </p:nvSpPr>
        <p:spPr>
          <a:xfrm>
            <a:off x="1389888" y="5266944"/>
            <a:ext cx="813816" cy="329184"/>
          </a:xfrm>
          <a:prstGeom prst="roundRect">
            <a:avLst>
              <a:gd name="adj" fmla="val 47222"/>
            </a:avLst>
          </a:prstGeom>
          <a:solidFill>
            <a:srgbClr val="16304C"/>
          </a:solidFill>
          <a:ln w="9525">
            <a:solidFill>
              <a:srgbClr val="2C4A6A"/>
            </a:solidFill>
            <a:prstDash val="solid"/>
          </a:ln>
        </p:spPr>
      </p:sp>
      <p:sp>
        <p:nvSpPr>
          <p:cNvPr id="12" name="Text 9"/>
          <p:cNvSpPr txBox="1"/>
          <p:nvPr/>
        </p:nvSpPr>
        <p:spPr>
          <a:xfrm>
            <a:off x="1389888" y="5266944"/>
            <a:ext cx="813816" cy="329184"/>
          </a:xfrm>
          <a:prstGeom prst="rect">
            <a:avLst/>
          </a:prstGeom>
          <a:noFill/>
          <a:ln/>
        </p:spPr>
        <p:txBody>
          <a:bodyPr wrap="square" lIns="0" tIns="0" rIns="0" bIns="0" rtlCol="0" anchor="ctr"/>
          <a:lstStyle/>
          <a:p>
            <a:pPr algn="ctr" indent="0" marL="0">
              <a:buNone/>
            </a:pPr>
            <a:r>
              <a:rPr lang="en-US" sz="1150" b="1" dirty="0">
                <a:solidFill>
                  <a:srgbClr val="BFD6EC"/>
                </a:solidFill>
                <a:latin typeface="Calibri" pitchFamily="34" charset="0"/>
                <a:ea typeface="Calibri" pitchFamily="34" charset="-122"/>
                <a:cs typeface="Calibri" pitchFamily="34" charset="-120"/>
              </a:rPr>
              <a:t>Muqeem</a:t>
            </a:r>
            <a:endParaRPr lang="en-US" sz="1150" dirty="0"/>
          </a:p>
        </p:txBody>
      </p:sp>
      <p:sp>
        <p:nvSpPr>
          <p:cNvPr id="13" name="Shape 10"/>
          <p:cNvSpPr/>
          <p:nvPr/>
        </p:nvSpPr>
        <p:spPr>
          <a:xfrm>
            <a:off x="2331720" y="5266944"/>
            <a:ext cx="813816" cy="329184"/>
          </a:xfrm>
          <a:prstGeom prst="roundRect">
            <a:avLst>
              <a:gd name="adj" fmla="val 47222"/>
            </a:avLst>
          </a:prstGeom>
          <a:solidFill>
            <a:srgbClr val="16304C"/>
          </a:solidFill>
          <a:ln w="9525">
            <a:solidFill>
              <a:srgbClr val="2C4A6A"/>
            </a:solidFill>
            <a:prstDash val="solid"/>
          </a:ln>
        </p:spPr>
      </p:sp>
      <p:sp>
        <p:nvSpPr>
          <p:cNvPr id="14" name="Text 11"/>
          <p:cNvSpPr txBox="1"/>
          <p:nvPr/>
        </p:nvSpPr>
        <p:spPr>
          <a:xfrm>
            <a:off x="2331720" y="5266944"/>
            <a:ext cx="813816" cy="329184"/>
          </a:xfrm>
          <a:prstGeom prst="rect">
            <a:avLst/>
          </a:prstGeom>
          <a:noFill/>
          <a:ln/>
        </p:spPr>
        <p:txBody>
          <a:bodyPr wrap="square" lIns="0" tIns="0" rIns="0" bIns="0" rtlCol="0" anchor="ctr"/>
          <a:lstStyle/>
          <a:p>
            <a:pPr algn="ctr" indent="0" marL="0">
              <a:buNone/>
            </a:pPr>
            <a:r>
              <a:rPr lang="en-US" sz="1150" b="1" dirty="0">
                <a:solidFill>
                  <a:srgbClr val="BFD6EC"/>
                </a:solidFill>
                <a:latin typeface="Calibri" pitchFamily="34" charset="0"/>
                <a:ea typeface="Calibri" pitchFamily="34" charset="-122"/>
                <a:cs typeface="Calibri" pitchFamily="34" charset="-120"/>
              </a:rPr>
              <a:t>Absher</a:t>
            </a:r>
            <a:endParaRPr lang="en-US" sz="1150" dirty="0"/>
          </a:p>
        </p:txBody>
      </p:sp>
      <p:sp>
        <p:nvSpPr>
          <p:cNvPr id="15" name="Shape 12"/>
          <p:cNvSpPr/>
          <p:nvPr/>
        </p:nvSpPr>
        <p:spPr>
          <a:xfrm>
            <a:off x="3273552" y="5266944"/>
            <a:ext cx="603504" cy="329184"/>
          </a:xfrm>
          <a:prstGeom prst="roundRect">
            <a:avLst>
              <a:gd name="adj" fmla="val 47222"/>
            </a:avLst>
          </a:prstGeom>
          <a:solidFill>
            <a:srgbClr val="16304C"/>
          </a:solidFill>
          <a:ln w="9525">
            <a:solidFill>
              <a:srgbClr val="2C4A6A"/>
            </a:solidFill>
            <a:prstDash val="solid"/>
          </a:ln>
        </p:spPr>
      </p:sp>
      <p:sp>
        <p:nvSpPr>
          <p:cNvPr id="16" name="Text 13"/>
          <p:cNvSpPr txBox="1"/>
          <p:nvPr/>
        </p:nvSpPr>
        <p:spPr>
          <a:xfrm>
            <a:off x="3273552" y="5266944"/>
            <a:ext cx="603504" cy="329184"/>
          </a:xfrm>
          <a:prstGeom prst="rect">
            <a:avLst/>
          </a:prstGeom>
          <a:noFill/>
          <a:ln/>
        </p:spPr>
        <p:txBody>
          <a:bodyPr wrap="square" lIns="0" tIns="0" rIns="0" bIns="0" rtlCol="0" anchor="ctr"/>
          <a:lstStyle/>
          <a:p>
            <a:pPr algn="ctr" indent="0" marL="0">
              <a:buNone/>
            </a:pPr>
            <a:r>
              <a:rPr lang="en-US" sz="1150" b="1" dirty="0">
                <a:solidFill>
                  <a:srgbClr val="BFD6EC"/>
                </a:solidFill>
                <a:latin typeface="Calibri" pitchFamily="34" charset="0"/>
                <a:ea typeface="Calibri" pitchFamily="34" charset="-122"/>
                <a:cs typeface="Calibri" pitchFamily="34" charset="-120"/>
              </a:rPr>
              <a:t>GOSI</a:t>
            </a:r>
            <a:endParaRPr lang="en-US" sz="1150" dirty="0"/>
          </a:p>
        </p:txBody>
      </p:sp>
      <p:sp>
        <p:nvSpPr>
          <p:cNvPr id="17" name="Shape 14"/>
          <p:cNvSpPr/>
          <p:nvPr/>
        </p:nvSpPr>
        <p:spPr>
          <a:xfrm>
            <a:off x="4005072" y="5266944"/>
            <a:ext cx="708660" cy="329184"/>
          </a:xfrm>
          <a:prstGeom prst="roundRect">
            <a:avLst>
              <a:gd name="adj" fmla="val 47222"/>
            </a:avLst>
          </a:prstGeom>
          <a:solidFill>
            <a:srgbClr val="16304C"/>
          </a:solidFill>
          <a:ln w="9525">
            <a:solidFill>
              <a:srgbClr val="2C4A6A"/>
            </a:solidFill>
            <a:prstDash val="solid"/>
          </a:ln>
        </p:spPr>
      </p:sp>
      <p:sp>
        <p:nvSpPr>
          <p:cNvPr id="18" name="Text 15"/>
          <p:cNvSpPr txBox="1"/>
          <p:nvPr/>
        </p:nvSpPr>
        <p:spPr>
          <a:xfrm>
            <a:off x="4005072" y="5266944"/>
            <a:ext cx="708660" cy="329184"/>
          </a:xfrm>
          <a:prstGeom prst="rect">
            <a:avLst/>
          </a:prstGeom>
          <a:noFill/>
          <a:ln/>
        </p:spPr>
        <p:txBody>
          <a:bodyPr wrap="square" lIns="0" tIns="0" rIns="0" bIns="0" rtlCol="0" anchor="ctr"/>
          <a:lstStyle/>
          <a:p>
            <a:pPr algn="ctr" indent="0" marL="0">
              <a:buNone/>
            </a:pPr>
            <a:r>
              <a:rPr lang="en-US" sz="1150" b="1" dirty="0">
                <a:solidFill>
                  <a:srgbClr val="BFD6EC"/>
                </a:solidFill>
                <a:latin typeface="Calibri" pitchFamily="34" charset="0"/>
                <a:ea typeface="Calibri" pitchFamily="34" charset="-122"/>
                <a:cs typeface="Calibri" pitchFamily="34" charset="-120"/>
              </a:rPr>
              <a:t>Mudad</a:t>
            </a:r>
            <a:endParaRPr lang="en-US" sz="1150" dirty="0"/>
          </a:p>
        </p:txBody>
      </p:sp>
      <p:sp>
        <p:nvSpPr>
          <p:cNvPr id="19" name="Shape 16"/>
          <p:cNvSpPr/>
          <p:nvPr/>
        </p:nvSpPr>
        <p:spPr>
          <a:xfrm>
            <a:off x="4841748" y="5266944"/>
            <a:ext cx="708660" cy="329184"/>
          </a:xfrm>
          <a:prstGeom prst="roundRect">
            <a:avLst>
              <a:gd name="adj" fmla="val 47222"/>
            </a:avLst>
          </a:prstGeom>
          <a:solidFill>
            <a:srgbClr val="16304C"/>
          </a:solidFill>
          <a:ln w="9525">
            <a:solidFill>
              <a:srgbClr val="2C4A6A"/>
            </a:solidFill>
            <a:prstDash val="solid"/>
          </a:ln>
        </p:spPr>
      </p:sp>
      <p:sp>
        <p:nvSpPr>
          <p:cNvPr id="20" name="Text 17"/>
          <p:cNvSpPr txBox="1"/>
          <p:nvPr/>
        </p:nvSpPr>
        <p:spPr>
          <a:xfrm>
            <a:off x="4841748" y="5266944"/>
            <a:ext cx="708660" cy="329184"/>
          </a:xfrm>
          <a:prstGeom prst="rect">
            <a:avLst/>
          </a:prstGeom>
          <a:noFill/>
          <a:ln/>
        </p:spPr>
        <p:txBody>
          <a:bodyPr wrap="square" lIns="0" tIns="0" rIns="0" bIns="0" rtlCol="0" anchor="ctr"/>
          <a:lstStyle/>
          <a:p>
            <a:pPr algn="ctr" indent="0" marL="0">
              <a:buNone/>
            </a:pPr>
            <a:r>
              <a:rPr lang="en-US" sz="1150" b="1" dirty="0">
                <a:solidFill>
                  <a:srgbClr val="BFD6EC"/>
                </a:solidFill>
                <a:latin typeface="Calibri" pitchFamily="34" charset="0"/>
                <a:ea typeface="Calibri" pitchFamily="34" charset="-122"/>
                <a:cs typeface="Calibri" pitchFamily="34" charset="-120"/>
              </a:rPr>
              <a:t>SCFHS</a:t>
            </a:r>
            <a:endParaRPr lang="en-US" sz="1150" dirty="0"/>
          </a:p>
        </p:txBody>
      </p:sp>
      <p:sp>
        <p:nvSpPr>
          <p:cNvPr id="21" name="Shape 18"/>
          <p:cNvSpPr/>
          <p:nvPr/>
        </p:nvSpPr>
        <p:spPr>
          <a:xfrm>
            <a:off x="5678424" y="5266944"/>
            <a:ext cx="708660" cy="329184"/>
          </a:xfrm>
          <a:prstGeom prst="roundRect">
            <a:avLst>
              <a:gd name="adj" fmla="val 47222"/>
            </a:avLst>
          </a:prstGeom>
          <a:solidFill>
            <a:srgbClr val="16304C"/>
          </a:solidFill>
          <a:ln w="9525">
            <a:solidFill>
              <a:srgbClr val="2C4A6A"/>
            </a:solidFill>
            <a:prstDash val="solid"/>
          </a:ln>
        </p:spPr>
      </p:sp>
      <p:sp>
        <p:nvSpPr>
          <p:cNvPr id="22" name="Text 19"/>
          <p:cNvSpPr txBox="1"/>
          <p:nvPr/>
        </p:nvSpPr>
        <p:spPr>
          <a:xfrm>
            <a:off x="5678424" y="5266944"/>
            <a:ext cx="708660" cy="329184"/>
          </a:xfrm>
          <a:prstGeom prst="rect">
            <a:avLst/>
          </a:prstGeom>
          <a:noFill/>
          <a:ln/>
        </p:spPr>
        <p:txBody>
          <a:bodyPr wrap="square" lIns="0" tIns="0" rIns="0" bIns="0" rtlCol="0" anchor="ctr"/>
          <a:lstStyle/>
          <a:p>
            <a:pPr algn="ctr" indent="0" marL="0">
              <a:buNone/>
            </a:pPr>
            <a:r>
              <a:rPr lang="en-US" sz="1150" b="1" dirty="0">
                <a:solidFill>
                  <a:srgbClr val="BFD6EC"/>
                </a:solidFill>
                <a:latin typeface="Calibri" pitchFamily="34" charset="0"/>
                <a:ea typeface="Calibri" pitchFamily="34" charset="-122"/>
                <a:cs typeface="Calibri" pitchFamily="34" charset="-120"/>
              </a:rPr>
              <a:t>Enjaz</a:t>
            </a:r>
            <a:endParaRPr lang="en-US" sz="1150" dirty="0"/>
          </a:p>
        </p:txBody>
      </p:sp>
      <p:sp>
        <p:nvSpPr>
          <p:cNvPr id="23" name="Text 20"/>
          <p:cNvSpPr txBox="1"/>
          <p:nvPr/>
        </p:nvSpPr>
        <p:spPr>
          <a:xfrm>
            <a:off x="658368" y="5797296"/>
            <a:ext cx="8229600" cy="274320"/>
          </a:xfrm>
          <a:prstGeom prst="rect">
            <a:avLst/>
          </a:prstGeom>
          <a:noFill/>
          <a:ln/>
        </p:spPr>
        <p:txBody>
          <a:bodyPr wrap="square" lIns="0" tIns="0" rIns="0" bIns="0" rtlCol="0" anchor="ctr"/>
          <a:lstStyle/>
          <a:p>
            <a:pPr indent="0" marL="0">
              <a:buNone/>
            </a:pPr>
            <a:r>
              <a:rPr lang="en-US" sz="1200" dirty="0">
                <a:solidFill>
                  <a:srgbClr val="7E99B4"/>
                </a:solidFill>
                <a:latin typeface="Calibri" pitchFamily="34" charset="0"/>
                <a:ea typeface="Calibri" pitchFamily="34" charset="-122"/>
                <a:cs typeface="Calibri" pitchFamily="34" charset="-120"/>
              </a:rPr>
              <a:t>Saudization  ·  Healthcare licensing  ·  SAP SuccessFactors integrated</a:t>
            </a:r>
            <a:endParaRPr lang="en-US" sz="1200" dirty="0"/>
          </a:p>
        </p:txBody>
      </p:sp>
      <p:sp>
        <p:nvSpPr>
          <p:cNvPr id="24" name="Text 21"/>
          <p:cNvSpPr txBox="1"/>
          <p:nvPr/>
        </p:nvSpPr>
        <p:spPr>
          <a:xfrm>
            <a:off x="658368" y="6236208"/>
            <a:ext cx="8229600" cy="274320"/>
          </a:xfrm>
          <a:prstGeom prst="rect">
            <a:avLst/>
          </a:prstGeom>
          <a:noFill/>
          <a:ln/>
        </p:spPr>
        <p:txBody>
          <a:bodyPr wrap="square" lIns="0" tIns="0" rIns="0" bIns="0" rtlCol="0" anchor="ctr"/>
          <a:lstStyle/>
          <a:p>
            <a:pPr indent="0" marL="0">
              <a:buNone/>
            </a:pPr>
            <a:r>
              <a:rPr lang="en-US" sz="1050" i="1" dirty="0">
                <a:solidFill>
                  <a:srgbClr val="6C87A2"/>
                </a:solidFill>
                <a:latin typeface="Calibri" pitchFamily="34" charset="0"/>
                <a:ea typeface="Calibri" pitchFamily="34" charset="-122"/>
                <a:cs typeface="Calibri" pitchFamily="34" charset="-120"/>
              </a:rPr>
              <a:t>An overview for SAP account teams and enterprise customers in the Kingdom</a:t>
            </a:r>
            <a:endParaRPr lang="en-US" sz="10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02336"/>
            <a:ext cx="11064240" cy="237744"/>
          </a:xfrm>
          <a:prstGeom prst="rect">
            <a:avLst/>
          </a:prstGeom>
          <a:noFill/>
          <a:ln/>
        </p:spPr>
        <p:txBody>
          <a:bodyPr wrap="square" lIns="0" tIns="0" rIns="0" bIns="0" rtlCol="0" anchor="ctr"/>
          <a:lstStyle/>
          <a:p>
            <a:pPr indent="0" marL="0">
              <a:buNone/>
            </a:pPr>
            <a:r>
              <a:rPr lang="en-US" sz="1100" b="1" spc="220" kern="0" dirty="0">
                <a:solidFill>
                  <a:srgbClr val="20A098"/>
                </a:solidFill>
                <a:latin typeface="Calibri" pitchFamily="34" charset="0"/>
                <a:ea typeface="Calibri" pitchFamily="34" charset="-122"/>
                <a:cs typeface="Calibri" pitchFamily="34" charset="-120"/>
              </a:rPr>
              <a:t>THE PROBLEM</a:t>
            </a:r>
            <a:endParaRPr lang="en-US" sz="1100" dirty="0"/>
          </a:p>
        </p:txBody>
      </p:sp>
      <p:sp>
        <p:nvSpPr>
          <p:cNvPr id="3" name="Text 1"/>
          <p:cNvSpPr txBox="1"/>
          <p:nvPr/>
        </p:nvSpPr>
        <p:spPr>
          <a:xfrm>
            <a:off x="548640" y="658368"/>
            <a:ext cx="11064240" cy="566928"/>
          </a:xfrm>
          <a:prstGeom prst="rect">
            <a:avLst/>
          </a:prstGeom>
          <a:noFill/>
          <a:ln/>
        </p:spPr>
        <p:txBody>
          <a:bodyPr wrap="square" lIns="0" tIns="0" rIns="0" bIns="0" rtlCol="0" anchor="ctr"/>
          <a:lstStyle/>
          <a:p>
            <a:pPr indent="0" marL="0">
              <a:buNone/>
            </a:pPr>
            <a:r>
              <a:rPr lang="en-US" sz="3000" b="1" dirty="0">
                <a:solidFill>
                  <a:srgbClr val="0C1E33"/>
                </a:solidFill>
                <a:latin typeface="Arial" pitchFamily="34" charset="0"/>
                <a:ea typeface="Arial" pitchFamily="34" charset="-122"/>
                <a:cs typeface="Arial" pitchFamily="34" charset="-120"/>
              </a:rPr>
              <a:t>Three systems, one employee, nobody joining them up.</a:t>
            </a:r>
            <a:endParaRPr lang="en-US" sz="3000" dirty="0"/>
          </a:p>
        </p:txBody>
      </p:sp>
      <p:sp>
        <p:nvSpPr>
          <p:cNvPr id="4" name="Text 2"/>
          <p:cNvSpPr txBox="1"/>
          <p:nvPr/>
        </p:nvSpPr>
        <p:spPr>
          <a:xfrm>
            <a:off x="548640" y="1243584"/>
            <a:ext cx="10424160" cy="457200"/>
          </a:xfrm>
          <a:prstGeom prst="rect">
            <a:avLst/>
          </a:prstGeom>
          <a:noFill/>
          <a:ln/>
        </p:spPr>
        <p:txBody>
          <a:bodyPr wrap="square" lIns="0" tIns="0" rIns="0" bIns="0" rtlCol="0" anchor="ctr"/>
          <a:lstStyle/>
          <a:p>
            <a:pPr indent="0" marL="0">
              <a:lnSpc>
                <a:spcPts val="1900"/>
              </a:lnSpc>
              <a:buNone/>
            </a:pPr>
            <a:r>
              <a:rPr lang="en-US" sz="1350" dirty="0">
                <a:solidFill>
                  <a:srgbClr val="5A6C82"/>
                </a:solidFill>
                <a:latin typeface="Calibri" pitchFamily="34" charset="0"/>
                <a:ea typeface="Calibri" pitchFamily="34" charset="-122"/>
                <a:cs typeface="Calibri" pitchFamily="34" charset="-120"/>
              </a:rPr>
              <a:t>Saudi Arabia is the hardest GCC market to govern, and not because the rules are unclear. The rules live in three places, each with its own clock, and one of them can switch the others off.</a:t>
            </a:r>
            <a:endParaRPr lang="en-US" sz="1350" dirty="0"/>
          </a:p>
        </p:txBody>
      </p:sp>
      <p:sp>
        <p:nvSpPr>
          <p:cNvPr id="5" name="Shape 3"/>
          <p:cNvSpPr/>
          <p:nvPr/>
        </p:nvSpPr>
        <p:spPr>
          <a:xfrm>
            <a:off x="548640" y="1874520"/>
            <a:ext cx="3502152" cy="1755648"/>
          </a:xfrm>
          <a:prstGeom prst="roundRect">
            <a:avLst>
              <a:gd name="adj" fmla="val 4167"/>
            </a:avLst>
          </a:prstGeom>
          <a:solidFill>
            <a:srgbClr val="F4F6F7"/>
          </a:solidFill>
          <a:ln w="9525">
            <a:solidFill>
              <a:srgbClr val="E3E7EA"/>
            </a:solidFill>
            <a:prstDash val="solid"/>
          </a:ln>
        </p:spPr>
      </p:sp>
      <p:sp>
        <p:nvSpPr>
          <p:cNvPr id="6" name="Shape 4"/>
          <p:cNvSpPr/>
          <p:nvPr/>
        </p:nvSpPr>
        <p:spPr>
          <a:xfrm>
            <a:off x="768096" y="2093976"/>
            <a:ext cx="384048" cy="384048"/>
          </a:xfrm>
          <a:prstGeom prst="ellipse">
            <a:avLst/>
          </a:prstGeom>
          <a:solidFill>
            <a:srgbClr val="20A098"/>
          </a:solidFill>
          <a:ln/>
        </p:spPr>
      </p:sp>
      <p:sp>
        <p:nvSpPr>
          <p:cNvPr id="7" name="Text 5"/>
          <p:cNvSpPr txBox="1"/>
          <p:nvPr/>
        </p:nvSpPr>
        <p:spPr>
          <a:xfrm>
            <a:off x="768096" y="2093976"/>
            <a:ext cx="384048"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01</a:t>
            </a:r>
            <a:endParaRPr lang="en-US" sz="1200" dirty="0"/>
          </a:p>
        </p:txBody>
      </p:sp>
      <p:sp>
        <p:nvSpPr>
          <p:cNvPr id="8" name="Text 6"/>
          <p:cNvSpPr txBox="1"/>
          <p:nvPr/>
        </p:nvSpPr>
        <p:spPr>
          <a:xfrm>
            <a:off x="1261872" y="2112264"/>
            <a:ext cx="2569464" cy="384048"/>
          </a:xfrm>
          <a:prstGeom prst="rect">
            <a:avLst/>
          </a:prstGeom>
          <a:noFill/>
          <a:ln/>
        </p:spPr>
        <p:txBody>
          <a:bodyPr wrap="square" lIns="0" tIns="0" rIns="0" bIns="0" rtlCol="0" anchor="t"/>
          <a:lstStyle/>
          <a:p>
            <a:pPr indent="0" marL="0">
              <a:buNone/>
            </a:pPr>
            <a:r>
              <a:rPr lang="en-US" sz="1300" b="1" dirty="0">
                <a:solidFill>
                  <a:srgbClr val="0C1E33"/>
                </a:solidFill>
                <a:latin typeface="Arial" pitchFamily="34" charset="0"/>
                <a:ea typeface="Arial" pitchFamily="34" charset="-122"/>
                <a:cs typeface="Arial" pitchFamily="34" charset="-120"/>
              </a:rPr>
              <a:t>The band gates everything</a:t>
            </a:r>
            <a:endParaRPr lang="en-US" sz="1300" dirty="0"/>
          </a:p>
        </p:txBody>
      </p:sp>
      <p:sp>
        <p:nvSpPr>
          <p:cNvPr id="9" name="Text 7"/>
          <p:cNvSpPr txBox="1"/>
          <p:nvPr/>
        </p:nvSpPr>
        <p:spPr>
          <a:xfrm>
            <a:off x="768096" y="2624328"/>
            <a:ext cx="3063240" cy="877824"/>
          </a:xfrm>
          <a:prstGeom prst="rect">
            <a:avLst/>
          </a:prstGeom>
          <a:noFill/>
          <a:ln/>
        </p:spPr>
        <p:txBody>
          <a:bodyPr wrap="square" lIns="0" tIns="0" rIns="0" bIns="0" rtlCol="0" anchor="ctr"/>
          <a:lstStyle/>
          <a:p>
            <a:pPr indent="0" marL="0">
              <a:lnSpc>
                <a:spcPts val="1500"/>
              </a:lnSpc>
              <a:buNone/>
            </a:pPr>
            <a:r>
              <a:rPr lang="en-US" sz="1050" dirty="0">
                <a:solidFill>
                  <a:srgbClr val="5A6C82"/>
                </a:solidFill>
                <a:latin typeface="Calibri" pitchFamily="34" charset="0"/>
                <a:ea typeface="Calibri" pitchFamily="34" charset="-122"/>
                <a:cs typeface="Calibri" pitchFamily="34" charset="-120"/>
              </a:rPr>
              <a:t>Drop a Nitaqat band and block visas stop, Iqama renewals stop, transfers stop. Most companies find out after it happens, from a rejection in Qiwa.</a:t>
            </a:r>
            <a:endParaRPr lang="en-US" sz="1050" dirty="0"/>
          </a:p>
        </p:txBody>
      </p:sp>
      <p:sp>
        <p:nvSpPr>
          <p:cNvPr id="10" name="Shape 8"/>
          <p:cNvSpPr/>
          <p:nvPr/>
        </p:nvSpPr>
        <p:spPr>
          <a:xfrm>
            <a:off x="4334256" y="1874520"/>
            <a:ext cx="3502152" cy="1755648"/>
          </a:xfrm>
          <a:prstGeom prst="roundRect">
            <a:avLst>
              <a:gd name="adj" fmla="val 4167"/>
            </a:avLst>
          </a:prstGeom>
          <a:solidFill>
            <a:srgbClr val="F4F6F7"/>
          </a:solidFill>
          <a:ln w="9525">
            <a:solidFill>
              <a:srgbClr val="E3E7EA"/>
            </a:solidFill>
            <a:prstDash val="solid"/>
          </a:ln>
        </p:spPr>
      </p:sp>
      <p:sp>
        <p:nvSpPr>
          <p:cNvPr id="11" name="Shape 9"/>
          <p:cNvSpPr/>
          <p:nvPr/>
        </p:nvSpPr>
        <p:spPr>
          <a:xfrm>
            <a:off x="4553712" y="2093976"/>
            <a:ext cx="384048" cy="384048"/>
          </a:xfrm>
          <a:prstGeom prst="ellipse">
            <a:avLst/>
          </a:prstGeom>
          <a:solidFill>
            <a:srgbClr val="20A098"/>
          </a:solidFill>
          <a:ln/>
        </p:spPr>
      </p:sp>
      <p:sp>
        <p:nvSpPr>
          <p:cNvPr id="12" name="Text 10"/>
          <p:cNvSpPr txBox="1"/>
          <p:nvPr/>
        </p:nvSpPr>
        <p:spPr>
          <a:xfrm>
            <a:off x="4553712" y="2093976"/>
            <a:ext cx="384048"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02</a:t>
            </a:r>
            <a:endParaRPr lang="en-US" sz="1200" dirty="0"/>
          </a:p>
        </p:txBody>
      </p:sp>
      <p:sp>
        <p:nvSpPr>
          <p:cNvPr id="13" name="Text 11"/>
          <p:cNvSpPr txBox="1"/>
          <p:nvPr/>
        </p:nvSpPr>
        <p:spPr>
          <a:xfrm>
            <a:off x="5047488" y="2112264"/>
            <a:ext cx="2569464" cy="384048"/>
          </a:xfrm>
          <a:prstGeom prst="rect">
            <a:avLst/>
          </a:prstGeom>
          <a:noFill/>
          <a:ln/>
        </p:spPr>
        <p:txBody>
          <a:bodyPr wrap="square" lIns="0" tIns="0" rIns="0" bIns="0" rtlCol="0" anchor="t"/>
          <a:lstStyle/>
          <a:p>
            <a:pPr indent="0" marL="0">
              <a:buNone/>
            </a:pPr>
            <a:r>
              <a:rPr lang="en-US" sz="1300" b="1" dirty="0">
                <a:solidFill>
                  <a:srgbClr val="0C1E33"/>
                </a:solidFill>
                <a:latin typeface="Arial" pitchFamily="34" charset="0"/>
                <a:ea typeface="Arial" pitchFamily="34" charset="-122"/>
                <a:cs typeface="Arial" pitchFamily="34" charset="-120"/>
              </a:rPr>
              <a:t>The 90-day clock starts on arrival</a:t>
            </a:r>
            <a:endParaRPr lang="en-US" sz="1300" dirty="0"/>
          </a:p>
        </p:txBody>
      </p:sp>
      <p:sp>
        <p:nvSpPr>
          <p:cNvPr id="14" name="Text 12"/>
          <p:cNvSpPr txBox="1"/>
          <p:nvPr/>
        </p:nvSpPr>
        <p:spPr>
          <a:xfrm>
            <a:off x="4553712" y="2624328"/>
            <a:ext cx="3063240" cy="877824"/>
          </a:xfrm>
          <a:prstGeom prst="rect">
            <a:avLst/>
          </a:prstGeom>
          <a:noFill/>
          <a:ln/>
        </p:spPr>
        <p:txBody>
          <a:bodyPr wrap="square" lIns="0" tIns="0" rIns="0" bIns="0" rtlCol="0" anchor="ctr"/>
          <a:lstStyle/>
          <a:p>
            <a:pPr indent="0" marL="0">
              <a:lnSpc>
                <a:spcPts val="1500"/>
              </a:lnSpc>
              <a:buNone/>
            </a:pPr>
            <a:r>
              <a:rPr lang="en-US" sz="1050" dirty="0">
                <a:solidFill>
                  <a:srgbClr val="5A6C82"/>
                </a:solidFill>
                <a:latin typeface="Calibri" pitchFamily="34" charset="0"/>
                <a:ea typeface="Calibri" pitchFamily="34" charset="-122"/>
                <a:cs typeface="Calibri" pitchFamily="34" charset="-120"/>
              </a:rPr>
              <a:t>An employee lands and a statutory window opens to issue the Iqama. Nobody is counting it for you, and the penalty is not a warning letter.</a:t>
            </a:r>
            <a:endParaRPr lang="en-US" sz="1050" dirty="0"/>
          </a:p>
        </p:txBody>
      </p:sp>
      <p:sp>
        <p:nvSpPr>
          <p:cNvPr id="15" name="Shape 13"/>
          <p:cNvSpPr/>
          <p:nvPr/>
        </p:nvSpPr>
        <p:spPr>
          <a:xfrm>
            <a:off x="8119872" y="1874520"/>
            <a:ext cx="3502152" cy="1755648"/>
          </a:xfrm>
          <a:prstGeom prst="roundRect">
            <a:avLst>
              <a:gd name="adj" fmla="val 4167"/>
            </a:avLst>
          </a:prstGeom>
          <a:solidFill>
            <a:srgbClr val="F4F6F7"/>
          </a:solidFill>
          <a:ln w="9525">
            <a:solidFill>
              <a:srgbClr val="E3E7EA"/>
            </a:solidFill>
            <a:prstDash val="solid"/>
          </a:ln>
        </p:spPr>
      </p:sp>
      <p:sp>
        <p:nvSpPr>
          <p:cNvPr id="16" name="Shape 14"/>
          <p:cNvSpPr/>
          <p:nvPr/>
        </p:nvSpPr>
        <p:spPr>
          <a:xfrm>
            <a:off x="8339328" y="2093976"/>
            <a:ext cx="384048" cy="384048"/>
          </a:xfrm>
          <a:prstGeom prst="ellipse">
            <a:avLst/>
          </a:prstGeom>
          <a:solidFill>
            <a:srgbClr val="20A098"/>
          </a:solidFill>
          <a:ln/>
        </p:spPr>
      </p:sp>
      <p:sp>
        <p:nvSpPr>
          <p:cNvPr id="17" name="Text 15"/>
          <p:cNvSpPr txBox="1"/>
          <p:nvPr/>
        </p:nvSpPr>
        <p:spPr>
          <a:xfrm>
            <a:off x="8339328" y="2093976"/>
            <a:ext cx="384048"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03</a:t>
            </a:r>
            <a:endParaRPr lang="en-US" sz="1200" dirty="0"/>
          </a:p>
        </p:txBody>
      </p:sp>
      <p:sp>
        <p:nvSpPr>
          <p:cNvPr id="18" name="Text 16"/>
          <p:cNvSpPr txBox="1"/>
          <p:nvPr/>
        </p:nvSpPr>
        <p:spPr>
          <a:xfrm>
            <a:off x="8833104" y="2112264"/>
            <a:ext cx="2569464" cy="384048"/>
          </a:xfrm>
          <a:prstGeom prst="rect">
            <a:avLst/>
          </a:prstGeom>
          <a:noFill/>
          <a:ln/>
        </p:spPr>
        <p:txBody>
          <a:bodyPr wrap="square" lIns="0" tIns="0" rIns="0" bIns="0" rtlCol="0" anchor="t"/>
          <a:lstStyle/>
          <a:p>
            <a:pPr indent="0" marL="0">
              <a:buNone/>
            </a:pPr>
            <a:r>
              <a:rPr lang="en-US" sz="1300" b="1" dirty="0">
                <a:solidFill>
                  <a:srgbClr val="0C1E33"/>
                </a:solidFill>
                <a:latin typeface="Arial" pitchFamily="34" charset="0"/>
                <a:ea typeface="Arial" pitchFamily="34" charset="-122"/>
                <a:cs typeface="Arial" pitchFamily="34" charset="-120"/>
              </a:rPr>
              <a:t>Exit re-entry is a trap</a:t>
            </a:r>
            <a:endParaRPr lang="en-US" sz="1300" dirty="0"/>
          </a:p>
        </p:txBody>
      </p:sp>
      <p:sp>
        <p:nvSpPr>
          <p:cNvPr id="19" name="Text 17"/>
          <p:cNvSpPr txBox="1"/>
          <p:nvPr/>
        </p:nvSpPr>
        <p:spPr>
          <a:xfrm>
            <a:off x="8339328" y="2624328"/>
            <a:ext cx="3063240" cy="877824"/>
          </a:xfrm>
          <a:prstGeom prst="rect">
            <a:avLst/>
          </a:prstGeom>
          <a:noFill/>
          <a:ln/>
        </p:spPr>
        <p:txBody>
          <a:bodyPr wrap="square" lIns="0" tIns="0" rIns="0" bIns="0" rtlCol="0" anchor="ctr"/>
          <a:lstStyle/>
          <a:p>
            <a:pPr indent="0" marL="0">
              <a:lnSpc>
                <a:spcPts val="1500"/>
              </a:lnSpc>
              <a:buNone/>
            </a:pPr>
            <a:r>
              <a:rPr lang="en-US" sz="1050" dirty="0">
                <a:solidFill>
                  <a:srgbClr val="5A6C82"/>
                </a:solidFill>
                <a:latin typeface="Calibri" pitchFamily="34" charset="0"/>
                <a:ea typeface="Calibri" pitchFamily="34" charset="-122"/>
                <a:cs typeface="Calibri" pitchFamily="34" charset="-120"/>
              </a:rPr>
              <a:t>Someone travels, the visa expires while they are away, the Iqama is cancelled. They cannot come back. The most expensive admin mistake in the Kingdom.</a:t>
            </a:r>
            <a:endParaRPr lang="en-US" sz="1050" dirty="0"/>
          </a:p>
        </p:txBody>
      </p:sp>
      <p:sp>
        <p:nvSpPr>
          <p:cNvPr id="20" name="Shape 18"/>
          <p:cNvSpPr/>
          <p:nvPr/>
        </p:nvSpPr>
        <p:spPr>
          <a:xfrm>
            <a:off x="548640" y="3886200"/>
            <a:ext cx="3502152" cy="1755648"/>
          </a:xfrm>
          <a:prstGeom prst="roundRect">
            <a:avLst>
              <a:gd name="adj" fmla="val 4167"/>
            </a:avLst>
          </a:prstGeom>
          <a:solidFill>
            <a:srgbClr val="F4F6F7"/>
          </a:solidFill>
          <a:ln w="9525">
            <a:solidFill>
              <a:srgbClr val="E3E7EA"/>
            </a:solidFill>
            <a:prstDash val="solid"/>
          </a:ln>
        </p:spPr>
      </p:sp>
      <p:sp>
        <p:nvSpPr>
          <p:cNvPr id="21" name="Shape 19"/>
          <p:cNvSpPr/>
          <p:nvPr/>
        </p:nvSpPr>
        <p:spPr>
          <a:xfrm>
            <a:off x="768096" y="4105656"/>
            <a:ext cx="384048" cy="384048"/>
          </a:xfrm>
          <a:prstGeom prst="ellipse">
            <a:avLst/>
          </a:prstGeom>
          <a:solidFill>
            <a:srgbClr val="20A098"/>
          </a:solidFill>
          <a:ln/>
        </p:spPr>
      </p:sp>
      <p:sp>
        <p:nvSpPr>
          <p:cNvPr id="22" name="Text 20"/>
          <p:cNvSpPr txBox="1"/>
          <p:nvPr/>
        </p:nvSpPr>
        <p:spPr>
          <a:xfrm>
            <a:off x="768096" y="4105656"/>
            <a:ext cx="384048"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04</a:t>
            </a:r>
            <a:endParaRPr lang="en-US" sz="1200" dirty="0"/>
          </a:p>
        </p:txBody>
      </p:sp>
      <p:sp>
        <p:nvSpPr>
          <p:cNvPr id="23" name="Text 21"/>
          <p:cNvSpPr txBox="1"/>
          <p:nvPr/>
        </p:nvSpPr>
        <p:spPr>
          <a:xfrm>
            <a:off x="1261872" y="4123944"/>
            <a:ext cx="2569464" cy="384048"/>
          </a:xfrm>
          <a:prstGeom prst="rect">
            <a:avLst/>
          </a:prstGeom>
          <a:noFill/>
          <a:ln/>
        </p:spPr>
        <p:txBody>
          <a:bodyPr wrap="square" lIns="0" tIns="0" rIns="0" bIns="0" rtlCol="0" anchor="t"/>
          <a:lstStyle/>
          <a:p>
            <a:pPr indent="0" marL="0">
              <a:buNone/>
            </a:pPr>
            <a:r>
              <a:rPr lang="en-US" sz="1300" b="1" dirty="0">
                <a:solidFill>
                  <a:srgbClr val="0C1E33"/>
                </a:solidFill>
                <a:latin typeface="Arial" pitchFamily="34" charset="0"/>
                <a:ea typeface="Arial" pitchFamily="34" charset="-122"/>
                <a:cs typeface="Arial" pitchFamily="34" charset="-120"/>
              </a:rPr>
              <a:t>The levy is a real number</a:t>
            </a:r>
            <a:endParaRPr lang="en-US" sz="1300" dirty="0"/>
          </a:p>
        </p:txBody>
      </p:sp>
      <p:sp>
        <p:nvSpPr>
          <p:cNvPr id="24" name="Text 22"/>
          <p:cNvSpPr txBox="1"/>
          <p:nvPr/>
        </p:nvSpPr>
        <p:spPr>
          <a:xfrm>
            <a:off x="768096" y="4636008"/>
            <a:ext cx="3063240" cy="877824"/>
          </a:xfrm>
          <a:prstGeom prst="rect">
            <a:avLst/>
          </a:prstGeom>
          <a:noFill/>
          <a:ln/>
        </p:spPr>
        <p:txBody>
          <a:bodyPr wrap="square" lIns="0" tIns="0" rIns="0" bIns="0" rtlCol="0" anchor="ctr"/>
          <a:lstStyle/>
          <a:p>
            <a:pPr indent="0" marL="0">
              <a:lnSpc>
                <a:spcPts val="1500"/>
              </a:lnSpc>
              <a:buNone/>
            </a:pPr>
            <a:r>
              <a:rPr lang="en-US" sz="1050" dirty="0">
                <a:solidFill>
                  <a:srgbClr val="5A6C82"/>
                </a:solidFill>
                <a:latin typeface="Calibri" pitchFamily="34" charset="0"/>
                <a:ea typeface="Calibri" pitchFamily="34" charset="-122"/>
                <a:cs typeface="Calibri" pitchFamily="34" charset="-120"/>
              </a:rPr>
              <a:t>The expat levy per employee per year gets budgeted once and forgotten, then lands as a cost nobody forecast in a month nobody planned for.</a:t>
            </a:r>
            <a:endParaRPr lang="en-US" sz="1050" dirty="0"/>
          </a:p>
        </p:txBody>
      </p:sp>
      <p:sp>
        <p:nvSpPr>
          <p:cNvPr id="25" name="Shape 23"/>
          <p:cNvSpPr/>
          <p:nvPr/>
        </p:nvSpPr>
        <p:spPr>
          <a:xfrm>
            <a:off x="4334256" y="3886200"/>
            <a:ext cx="3502152" cy="1755648"/>
          </a:xfrm>
          <a:prstGeom prst="roundRect">
            <a:avLst>
              <a:gd name="adj" fmla="val 4167"/>
            </a:avLst>
          </a:prstGeom>
          <a:solidFill>
            <a:srgbClr val="F4F6F7"/>
          </a:solidFill>
          <a:ln w="9525">
            <a:solidFill>
              <a:srgbClr val="E3E7EA"/>
            </a:solidFill>
            <a:prstDash val="solid"/>
          </a:ln>
        </p:spPr>
      </p:sp>
      <p:sp>
        <p:nvSpPr>
          <p:cNvPr id="26" name="Shape 24"/>
          <p:cNvSpPr/>
          <p:nvPr/>
        </p:nvSpPr>
        <p:spPr>
          <a:xfrm>
            <a:off x="4553712" y="4105656"/>
            <a:ext cx="384048" cy="384048"/>
          </a:xfrm>
          <a:prstGeom prst="ellipse">
            <a:avLst/>
          </a:prstGeom>
          <a:solidFill>
            <a:srgbClr val="20A098"/>
          </a:solidFill>
          <a:ln/>
        </p:spPr>
      </p:sp>
      <p:sp>
        <p:nvSpPr>
          <p:cNvPr id="27" name="Text 25"/>
          <p:cNvSpPr txBox="1"/>
          <p:nvPr/>
        </p:nvSpPr>
        <p:spPr>
          <a:xfrm>
            <a:off x="4553712" y="4105656"/>
            <a:ext cx="384048"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05</a:t>
            </a:r>
            <a:endParaRPr lang="en-US" sz="1200" dirty="0"/>
          </a:p>
        </p:txBody>
      </p:sp>
      <p:sp>
        <p:nvSpPr>
          <p:cNvPr id="28" name="Text 26"/>
          <p:cNvSpPr txBox="1"/>
          <p:nvPr/>
        </p:nvSpPr>
        <p:spPr>
          <a:xfrm>
            <a:off x="5047488" y="4123944"/>
            <a:ext cx="2569464" cy="384048"/>
          </a:xfrm>
          <a:prstGeom prst="rect">
            <a:avLst/>
          </a:prstGeom>
          <a:noFill/>
          <a:ln/>
        </p:spPr>
        <p:txBody>
          <a:bodyPr wrap="square" lIns="0" tIns="0" rIns="0" bIns="0" rtlCol="0" anchor="t"/>
          <a:lstStyle/>
          <a:p>
            <a:pPr indent="0" marL="0">
              <a:buNone/>
            </a:pPr>
            <a:r>
              <a:rPr lang="en-US" sz="1300" b="1" dirty="0">
                <a:solidFill>
                  <a:srgbClr val="0C1E33"/>
                </a:solidFill>
                <a:latin typeface="Arial" pitchFamily="34" charset="0"/>
                <a:ea typeface="Arial" pitchFamily="34" charset="-122"/>
                <a:cs typeface="Arial" pitchFamily="34" charset="-120"/>
              </a:rPr>
              <a:t>Renewals cluster</a:t>
            </a:r>
            <a:endParaRPr lang="en-US" sz="1300" dirty="0"/>
          </a:p>
        </p:txBody>
      </p:sp>
      <p:sp>
        <p:nvSpPr>
          <p:cNvPr id="29" name="Text 27"/>
          <p:cNvSpPr txBox="1"/>
          <p:nvPr/>
        </p:nvSpPr>
        <p:spPr>
          <a:xfrm>
            <a:off x="4553712" y="4636008"/>
            <a:ext cx="3063240" cy="877824"/>
          </a:xfrm>
          <a:prstGeom prst="rect">
            <a:avLst/>
          </a:prstGeom>
          <a:noFill/>
          <a:ln/>
        </p:spPr>
        <p:txBody>
          <a:bodyPr wrap="square" lIns="0" tIns="0" rIns="0" bIns="0" rtlCol="0" anchor="ctr"/>
          <a:lstStyle/>
          <a:p>
            <a:pPr indent="0" marL="0">
              <a:lnSpc>
                <a:spcPts val="1500"/>
              </a:lnSpc>
              <a:buNone/>
            </a:pPr>
            <a:r>
              <a:rPr lang="en-US" sz="1050" dirty="0">
                <a:solidFill>
                  <a:srgbClr val="5A6C82"/>
                </a:solidFill>
                <a:latin typeface="Calibri" pitchFamily="34" charset="0"/>
                <a:ea typeface="Calibri" pitchFamily="34" charset="-122"/>
                <a:cs typeface="Calibri" pitchFamily="34" charset="-120"/>
              </a:rPr>
              <a:t>Iqamas bunch around hiring dates. One quarter is quiet, the next carries three hundred renewals and the fees that come with them.</a:t>
            </a:r>
            <a:endParaRPr lang="en-US" sz="1050" dirty="0"/>
          </a:p>
        </p:txBody>
      </p:sp>
      <p:sp>
        <p:nvSpPr>
          <p:cNvPr id="30" name="Shape 28"/>
          <p:cNvSpPr/>
          <p:nvPr/>
        </p:nvSpPr>
        <p:spPr>
          <a:xfrm>
            <a:off x="8119872" y="3886200"/>
            <a:ext cx="3502152" cy="1755648"/>
          </a:xfrm>
          <a:prstGeom prst="roundRect">
            <a:avLst>
              <a:gd name="adj" fmla="val 4167"/>
            </a:avLst>
          </a:prstGeom>
          <a:solidFill>
            <a:srgbClr val="F4F6F7"/>
          </a:solidFill>
          <a:ln w="9525">
            <a:solidFill>
              <a:srgbClr val="E3E7EA"/>
            </a:solidFill>
            <a:prstDash val="solid"/>
          </a:ln>
        </p:spPr>
      </p:sp>
      <p:sp>
        <p:nvSpPr>
          <p:cNvPr id="31" name="Shape 29"/>
          <p:cNvSpPr/>
          <p:nvPr/>
        </p:nvSpPr>
        <p:spPr>
          <a:xfrm>
            <a:off x="8339328" y="4105656"/>
            <a:ext cx="384048" cy="384048"/>
          </a:xfrm>
          <a:prstGeom prst="ellipse">
            <a:avLst/>
          </a:prstGeom>
          <a:solidFill>
            <a:srgbClr val="20A098"/>
          </a:solidFill>
          <a:ln/>
        </p:spPr>
      </p:sp>
      <p:sp>
        <p:nvSpPr>
          <p:cNvPr id="32" name="Text 30"/>
          <p:cNvSpPr txBox="1"/>
          <p:nvPr/>
        </p:nvSpPr>
        <p:spPr>
          <a:xfrm>
            <a:off x="8339328" y="4105656"/>
            <a:ext cx="384048"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06</a:t>
            </a:r>
            <a:endParaRPr lang="en-US" sz="1200" dirty="0"/>
          </a:p>
        </p:txBody>
      </p:sp>
      <p:sp>
        <p:nvSpPr>
          <p:cNvPr id="33" name="Text 31"/>
          <p:cNvSpPr txBox="1"/>
          <p:nvPr/>
        </p:nvSpPr>
        <p:spPr>
          <a:xfrm>
            <a:off x="8833104" y="4123944"/>
            <a:ext cx="2569464" cy="384048"/>
          </a:xfrm>
          <a:prstGeom prst="rect">
            <a:avLst/>
          </a:prstGeom>
          <a:noFill/>
          <a:ln/>
        </p:spPr>
        <p:txBody>
          <a:bodyPr wrap="square" lIns="0" tIns="0" rIns="0" bIns="0" rtlCol="0" anchor="t"/>
          <a:lstStyle/>
          <a:p>
            <a:pPr indent="0" marL="0">
              <a:buNone/>
            </a:pPr>
            <a:r>
              <a:rPr lang="en-US" sz="1300" b="1" dirty="0">
                <a:solidFill>
                  <a:srgbClr val="0C1E33"/>
                </a:solidFill>
                <a:latin typeface="Arial" pitchFamily="34" charset="0"/>
                <a:ea typeface="Arial" pitchFamily="34" charset="-122"/>
                <a:cs typeface="Arial" pitchFamily="34" charset="-120"/>
              </a:rPr>
              <a:t>SuccessFactors does not know</a:t>
            </a:r>
            <a:endParaRPr lang="en-US" sz="1300" dirty="0"/>
          </a:p>
        </p:txBody>
      </p:sp>
      <p:sp>
        <p:nvSpPr>
          <p:cNvPr id="34" name="Text 32"/>
          <p:cNvSpPr txBox="1"/>
          <p:nvPr/>
        </p:nvSpPr>
        <p:spPr>
          <a:xfrm>
            <a:off x="8339328" y="4636008"/>
            <a:ext cx="3063240" cy="877824"/>
          </a:xfrm>
          <a:prstGeom prst="rect">
            <a:avLst/>
          </a:prstGeom>
          <a:noFill/>
          <a:ln/>
        </p:spPr>
        <p:txBody>
          <a:bodyPr wrap="square" lIns="0" tIns="0" rIns="0" bIns="0" rtlCol="0" anchor="ctr"/>
          <a:lstStyle/>
          <a:p>
            <a:pPr indent="0" marL="0">
              <a:lnSpc>
                <a:spcPts val="1500"/>
              </a:lnSpc>
              <a:buNone/>
            </a:pPr>
            <a:r>
              <a:rPr lang="en-US" sz="1050" dirty="0">
                <a:solidFill>
                  <a:srgbClr val="5A6C82"/>
                </a:solidFill>
                <a:latin typeface="Calibri" pitchFamily="34" charset="0"/>
                <a:ea typeface="Calibri" pitchFamily="34" charset="-122"/>
                <a:cs typeface="Calibri" pitchFamily="34" charset="-120"/>
              </a:rPr>
              <a:t>Your HR system holds the employee. Qiwa and Muqeem hold the truth about whether they may legally work. Nothing keeps the two in agreement.</a:t>
            </a:r>
            <a:endParaRPr lang="en-US" sz="1050" dirty="0"/>
          </a:p>
        </p:txBody>
      </p:sp>
      <p:sp>
        <p:nvSpPr>
          <p:cNvPr id="35" name="Shape 33"/>
          <p:cNvSpPr/>
          <p:nvPr/>
        </p:nvSpPr>
        <p:spPr>
          <a:xfrm>
            <a:off x="548640" y="5815584"/>
            <a:ext cx="10424160" cy="475488"/>
          </a:xfrm>
          <a:prstGeom prst="roundRect">
            <a:avLst>
              <a:gd name="adj" fmla="val 17308"/>
            </a:avLst>
          </a:prstGeom>
          <a:solidFill>
            <a:srgbClr val="E4F5F3"/>
          </a:solidFill>
          <a:ln w="9525">
            <a:solidFill>
              <a:srgbClr val="20A098"/>
            </a:solidFill>
            <a:prstDash val="solid"/>
          </a:ln>
        </p:spPr>
      </p:sp>
      <p:sp>
        <p:nvSpPr>
          <p:cNvPr id="36" name="Text 34"/>
          <p:cNvSpPr txBox="1"/>
          <p:nvPr/>
        </p:nvSpPr>
        <p:spPr>
          <a:xfrm>
            <a:off x="777240" y="5815584"/>
            <a:ext cx="9966960" cy="475488"/>
          </a:xfrm>
          <a:prstGeom prst="rect">
            <a:avLst/>
          </a:prstGeom>
          <a:noFill/>
          <a:ln/>
        </p:spPr>
        <p:txBody>
          <a:bodyPr wrap="square" lIns="0" tIns="0" rIns="0" bIns="0" rtlCol="0" anchor="ctr"/>
          <a:lstStyle/>
          <a:p>
            <a:pPr indent="0" marL="0">
              <a:buNone/>
            </a:pPr>
            <a:r>
              <a:rPr lang="en-US" sz="1150" b="1" dirty="0">
                <a:solidFill>
                  <a:srgbClr val="12756F"/>
                </a:solidFill>
                <a:latin typeface="Calibri" pitchFamily="34" charset="0"/>
                <a:ea typeface="Calibri" pitchFamily="34" charset="-122"/>
                <a:cs typeface="Calibri" pitchFamily="34" charset="-120"/>
              </a:rPr>
              <a:t>What it costs you:  </a:t>
            </a:r>
            <a:pPr indent="0" marL="0">
              <a:buNone/>
            </a:pPr>
            <a:r>
              <a:rPr lang="en-US" sz="1150" dirty="0">
                <a:solidFill>
                  <a:srgbClr val="0C1E33"/>
                </a:solidFill>
                <a:latin typeface="Calibri" pitchFamily="34" charset="0"/>
                <a:ea typeface="Calibri" pitchFamily="34" charset="-122"/>
                <a:cs typeface="Calibri" pitchFamily="34" charset="-120"/>
              </a:rPr>
              <a:t>a hiring freeze you did not choose, employees stranded outside the Kingdom, levy costs that arrive unplanned, and a compliance position nobody can prove to an inspector.</a:t>
            </a:r>
            <a:endParaRPr lang="en-US" sz="1150" dirty="0"/>
          </a:p>
        </p:txBody>
      </p:sp>
      <p:sp>
        <p:nvSpPr>
          <p:cNvPr id="37" name="Text 35"/>
          <p:cNvSpPr txBox="1"/>
          <p:nvPr/>
        </p:nvSpPr>
        <p:spPr>
          <a:xfrm>
            <a:off x="548640" y="6419088"/>
            <a:ext cx="8595360" cy="237744"/>
          </a:xfrm>
          <a:prstGeom prst="rect">
            <a:avLst/>
          </a:prstGeom>
          <a:noFill/>
          <a:ln/>
        </p:spPr>
        <p:txBody>
          <a:bodyPr wrap="square" lIns="0" tIns="0" rIns="0" bIns="0" rtlCol="0" anchor="ctr"/>
          <a:lstStyle/>
          <a:p>
            <a:pPr indent="0" marL="0">
              <a:buNone/>
            </a:pPr>
            <a:r>
              <a:rPr lang="en-US" sz="900" dirty="0">
                <a:solidFill>
                  <a:srgbClr val="96A3AE"/>
                </a:solidFill>
                <a:latin typeface="Calibri" pitchFamily="34" charset="0"/>
                <a:ea typeface="Calibri" pitchFamily="34" charset="-122"/>
                <a:cs typeface="Calibri" pitchFamily="34" charset="-120"/>
              </a:rPr>
              <a:t>INK IT Business Solutions  ·  Visa &amp; Permits Management  ·  Kingdom of Saudi Arabia</a:t>
            </a:r>
            <a:endParaRPr lang="en-US" sz="900" dirty="0"/>
          </a:p>
        </p:txBody>
      </p:sp>
      <p:sp>
        <p:nvSpPr>
          <p:cNvPr id="38" name="Text 36"/>
          <p:cNvSpPr txBox="1"/>
          <p:nvPr/>
        </p:nvSpPr>
        <p:spPr>
          <a:xfrm>
            <a:off x="11155680" y="6419088"/>
            <a:ext cx="457200" cy="237744"/>
          </a:xfrm>
          <a:prstGeom prst="rect">
            <a:avLst/>
          </a:prstGeom>
          <a:noFill/>
          <a:ln/>
        </p:spPr>
        <p:txBody>
          <a:bodyPr wrap="square" lIns="0" tIns="0" rIns="0" bIns="0" rtlCol="0" anchor="ctr"/>
          <a:lstStyle/>
          <a:p>
            <a:pPr algn="r" indent="0" marL="0">
              <a:buNone/>
            </a:pPr>
            <a:r>
              <a:rPr lang="en-US" sz="900" dirty="0">
                <a:solidFill>
                  <a:srgbClr val="96A3AE"/>
                </a:solidFill>
                <a:latin typeface="Calibri" pitchFamily="34" charset="0"/>
                <a:ea typeface="Calibri" pitchFamily="34" charset="-122"/>
                <a:cs typeface="Calibri" pitchFamily="34" charset="-120"/>
              </a:rPr>
              <a:t>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02336"/>
            <a:ext cx="11064240" cy="237744"/>
          </a:xfrm>
          <a:prstGeom prst="rect">
            <a:avLst/>
          </a:prstGeom>
          <a:noFill/>
          <a:ln/>
        </p:spPr>
        <p:txBody>
          <a:bodyPr wrap="square" lIns="0" tIns="0" rIns="0" bIns="0" rtlCol="0" anchor="ctr"/>
          <a:lstStyle/>
          <a:p>
            <a:pPr indent="0" marL="0">
              <a:buNone/>
            </a:pPr>
            <a:r>
              <a:rPr lang="en-US" sz="1100" b="1" spc="220" kern="0" dirty="0">
                <a:solidFill>
                  <a:srgbClr val="20A098"/>
                </a:solidFill>
                <a:latin typeface="Calibri" pitchFamily="34" charset="0"/>
                <a:ea typeface="Calibri" pitchFamily="34" charset="-122"/>
                <a:cs typeface="Calibri" pitchFamily="34" charset="-120"/>
              </a:rPr>
              <a:t>THE SOLUTION</a:t>
            </a:r>
            <a:endParaRPr lang="en-US" sz="1100" dirty="0"/>
          </a:p>
        </p:txBody>
      </p:sp>
      <p:sp>
        <p:nvSpPr>
          <p:cNvPr id="3" name="Text 1"/>
          <p:cNvSpPr txBox="1"/>
          <p:nvPr/>
        </p:nvSpPr>
        <p:spPr>
          <a:xfrm>
            <a:off x="548640" y="658368"/>
            <a:ext cx="11064240" cy="566928"/>
          </a:xfrm>
          <a:prstGeom prst="rect">
            <a:avLst/>
          </a:prstGeom>
          <a:noFill/>
          <a:ln/>
        </p:spPr>
        <p:txBody>
          <a:bodyPr wrap="square" lIns="0" tIns="0" rIns="0" bIns="0" rtlCol="0" anchor="ctr"/>
          <a:lstStyle/>
          <a:p>
            <a:pPr indent="0" marL="0">
              <a:buNone/>
            </a:pPr>
            <a:r>
              <a:rPr lang="en-US" sz="3000" b="1" dirty="0">
                <a:solidFill>
                  <a:srgbClr val="0C1E33"/>
                </a:solidFill>
                <a:latin typeface="Arial" pitchFamily="34" charset="0"/>
                <a:ea typeface="Arial" pitchFamily="34" charset="-122"/>
                <a:cs typeface="Arial" pitchFamily="34" charset="-120"/>
              </a:rPr>
              <a:t>Five Saudi lifecycles on one track.</a:t>
            </a:r>
            <a:endParaRPr lang="en-US" sz="3000" dirty="0"/>
          </a:p>
        </p:txBody>
      </p:sp>
      <p:sp>
        <p:nvSpPr>
          <p:cNvPr id="4" name="Text 2"/>
          <p:cNvSpPr txBox="1"/>
          <p:nvPr/>
        </p:nvSpPr>
        <p:spPr>
          <a:xfrm>
            <a:off x="548640" y="1243584"/>
            <a:ext cx="10424160" cy="310896"/>
          </a:xfrm>
          <a:prstGeom prst="rect">
            <a:avLst/>
          </a:prstGeom>
          <a:noFill/>
          <a:ln/>
        </p:spPr>
        <p:txBody>
          <a:bodyPr wrap="square" lIns="0" tIns="0" rIns="0" bIns="0" rtlCol="0" anchor="ctr"/>
          <a:lstStyle/>
          <a:p>
            <a:pPr indent="0" marL="0">
              <a:buNone/>
            </a:pPr>
            <a:r>
              <a:rPr lang="en-US" sz="1350" dirty="0">
                <a:solidFill>
                  <a:srgbClr val="5A6C82"/>
                </a:solidFill>
                <a:latin typeface="Calibri" pitchFamily="34" charset="0"/>
                <a:ea typeface="Calibri" pitchFamily="34" charset="-122"/>
                <a:cs typeface="Calibri" pitchFamily="34" charset="-120"/>
              </a:rPr>
              <a:t>Pre-built, configured for the Kingdom, and running the authorities as one process instead of three.</a:t>
            </a:r>
            <a:endParaRPr lang="en-US" sz="1350" dirty="0"/>
          </a:p>
        </p:txBody>
      </p:sp>
      <p:sp>
        <p:nvSpPr>
          <p:cNvPr id="5" name="Shape 3"/>
          <p:cNvSpPr/>
          <p:nvPr/>
        </p:nvSpPr>
        <p:spPr>
          <a:xfrm>
            <a:off x="548640" y="1773936"/>
            <a:ext cx="5120640" cy="768096"/>
          </a:xfrm>
          <a:prstGeom prst="roundRect">
            <a:avLst>
              <a:gd name="adj" fmla="val 9524"/>
            </a:avLst>
          </a:prstGeom>
          <a:solidFill>
            <a:srgbClr val="F4F6F7"/>
          </a:solidFill>
          <a:ln w="9525">
            <a:solidFill>
              <a:srgbClr val="E3E7EA"/>
            </a:solidFill>
            <a:prstDash val="solid"/>
          </a:ln>
        </p:spPr>
      </p:sp>
      <p:sp>
        <p:nvSpPr>
          <p:cNvPr id="6" name="Shape 4"/>
          <p:cNvSpPr/>
          <p:nvPr/>
        </p:nvSpPr>
        <p:spPr>
          <a:xfrm>
            <a:off x="548640" y="1773936"/>
            <a:ext cx="68580" cy="768096"/>
          </a:xfrm>
          <a:prstGeom prst="roundRect">
            <a:avLst>
              <a:gd name="adj" fmla="val 40000"/>
            </a:avLst>
          </a:prstGeom>
          <a:solidFill>
            <a:srgbClr val="20A098"/>
          </a:solidFill>
          <a:ln/>
        </p:spPr>
      </p:sp>
      <p:sp>
        <p:nvSpPr>
          <p:cNvPr id="7" name="Text 5"/>
          <p:cNvSpPr txBox="1"/>
          <p:nvPr/>
        </p:nvSpPr>
        <p:spPr>
          <a:xfrm>
            <a:off x="841248" y="1865376"/>
            <a:ext cx="3200400" cy="237744"/>
          </a:xfrm>
          <a:prstGeom prst="rect">
            <a:avLst/>
          </a:prstGeom>
          <a:noFill/>
          <a:ln/>
        </p:spPr>
        <p:txBody>
          <a:bodyPr wrap="square" lIns="0" tIns="0" rIns="0" bIns="0" rtlCol="0" anchor="ctr"/>
          <a:lstStyle/>
          <a:p>
            <a:pPr indent="0" marL="0">
              <a:buNone/>
            </a:pPr>
            <a:r>
              <a:rPr lang="en-US" sz="1350" b="1" dirty="0">
                <a:solidFill>
                  <a:srgbClr val="0C1E33"/>
                </a:solidFill>
                <a:latin typeface="Arial" pitchFamily="34" charset="0"/>
                <a:ea typeface="Arial" pitchFamily="34" charset="-122"/>
                <a:cs typeface="Arial" pitchFamily="34" charset="-120"/>
              </a:rPr>
              <a:t>New Work Visa &amp; Iqama</a:t>
            </a:r>
            <a:endParaRPr lang="en-US" sz="1350" dirty="0"/>
          </a:p>
        </p:txBody>
      </p:sp>
      <p:sp>
        <p:nvSpPr>
          <p:cNvPr id="8" name="Text 6"/>
          <p:cNvSpPr txBox="1"/>
          <p:nvPr/>
        </p:nvSpPr>
        <p:spPr>
          <a:xfrm>
            <a:off x="4041648" y="1883664"/>
            <a:ext cx="1463040" cy="219456"/>
          </a:xfrm>
          <a:prstGeom prst="rect">
            <a:avLst/>
          </a:prstGeom>
          <a:noFill/>
          <a:ln/>
        </p:spPr>
        <p:txBody>
          <a:bodyPr wrap="square" lIns="0" tIns="0" rIns="0" bIns="0" rtlCol="0" anchor="ctr"/>
          <a:lstStyle/>
          <a:p>
            <a:pPr algn="r" indent="0" marL="0">
              <a:buNone/>
            </a:pPr>
            <a:r>
              <a:rPr lang="en-US" sz="1050" b="1" dirty="0">
                <a:solidFill>
                  <a:srgbClr val="20A098"/>
                </a:solidFill>
                <a:latin typeface="Calibri" pitchFamily="34" charset="0"/>
                <a:ea typeface="Calibri" pitchFamily="34" charset="-122"/>
                <a:cs typeface="Calibri" pitchFamily="34" charset="-120"/>
              </a:rPr>
              <a:t>12 steps</a:t>
            </a:r>
            <a:endParaRPr lang="en-US" sz="1050" dirty="0"/>
          </a:p>
        </p:txBody>
      </p:sp>
      <p:sp>
        <p:nvSpPr>
          <p:cNvPr id="9" name="Text 7"/>
          <p:cNvSpPr txBox="1"/>
          <p:nvPr/>
        </p:nvSpPr>
        <p:spPr>
          <a:xfrm>
            <a:off x="841248" y="2121408"/>
            <a:ext cx="4663440" cy="365760"/>
          </a:xfrm>
          <a:prstGeom prst="rect">
            <a:avLst/>
          </a:prstGeom>
          <a:noFill/>
          <a:ln/>
        </p:spPr>
        <p:txBody>
          <a:bodyPr wrap="square" lIns="0" tIns="0" rIns="0" bIns="0" rtlCol="0" anchor="ctr"/>
          <a:lstStyle/>
          <a:p>
            <a:pPr indent="0" marL="0">
              <a:lnSpc>
                <a:spcPts val="1400"/>
              </a:lnSpc>
              <a:buNone/>
            </a:pPr>
            <a:r>
              <a:rPr lang="en-US" sz="1020" dirty="0">
                <a:solidFill>
                  <a:srgbClr val="5A6C82"/>
                </a:solidFill>
                <a:latin typeface="Calibri" pitchFamily="34" charset="0"/>
                <a:ea typeface="Calibri" pitchFamily="34" charset="-122"/>
                <a:cs typeface="Calibri" pitchFamily="34" charset="-120"/>
              </a:rPr>
              <a:t>Block visa through Qiwa contract, arrival, medical, Iqama on Muqeem, GOSI and Mudad.</a:t>
            </a:r>
            <a:endParaRPr lang="en-US" sz="1020" dirty="0"/>
          </a:p>
        </p:txBody>
      </p:sp>
      <p:sp>
        <p:nvSpPr>
          <p:cNvPr id="10" name="Shape 8"/>
          <p:cNvSpPr/>
          <p:nvPr/>
        </p:nvSpPr>
        <p:spPr>
          <a:xfrm>
            <a:off x="548640" y="2651760"/>
            <a:ext cx="5120640" cy="768096"/>
          </a:xfrm>
          <a:prstGeom prst="roundRect">
            <a:avLst>
              <a:gd name="adj" fmla="val 9524"/>
            </a:avLst>
          </a:prstGeom>
          <a:solidFill>
            <a:srgbClr val="FFFFFF"/>
          </a:solidFill>
          <a:ln w="9525">
            <a:solidFill>
              <a:srgbClr val="E3E7EA"/>
            </a:solidFill>
            <a:prstDash val="solid"/>
          </a:ln>
        </p:spPr>
      </p:sp>
      <p:sp>
        <p:nvSpPr>
          <p:cNvPr id="11" name="Shape 9"/>
          <p:cNvSpPr/>
          <p:nvPr/>
        </p:nvSpPr>
        <p:spPr>
          <a:xfrm>
            <a:off x="548640" y="2651760"/>
            <a:ext cx="68580" cy="768096"/>
          </a:xfrm>
          <a:prstGeom prst="roundRect">
            <a:avLst>
              <a:gd name="adj" fmla="val 40000"/>
            </a:avLst>
          </a:prstGeom>
          <a:solidFill>
            <a:srgbClr val="12756F"/>
          </a:solidFill>
          <a:ln/>
        </p:spPr>
      </p:sp>
      <p:sp>
        <p:nvSpPr>
          <p:cNvPr id="12" name="Text 10"/>
          <p:cNvSpPr txBox="1"/>
          <p:nvPr/>
        </p:nvSpPr>
        <p:spPr>
          <a:xfrm>
            <a:off x="841248" y="2743200"/>
            <a:ext cx="3200400" cy="237744"/>
          </a:xfrm>
          <a:prstGeom prst="rect">
            <a:avLst/>
          </a:prstGeom>
          <a:noFill/>
          <a:ln/>
        </p:spPr>
        <p:txBody>
          <a:bodyPr wrap="square" lIns="0" tIns="0" rIns="0" bIns="0" rtlCol="0" anchor="ctr"/>
          <a:lstStyle/>
          <a:p>
            <a:pPr indent="0" marL="0">
              <a:buNone/>
            </a:pPr>
            <a:r>
              <a:rPr lang="en-US" sz="1350" b="1" dirty="0">
                <a:solidFill>
                  <a:srgbClr val="0C1E33"/>
                </a:solidFill>
                <a:latin typeface="Arial" pitchFamily="34" charset="0"/>
                <a:ea typeface="Arial" pitchFamily="34" charset="-122"/>
                <a:cs typeface="Arial" pitchFamily="34" charset="-120"/>
              </a:rPr>
              <a:t>Iqama Renewal</a:t>
            </a:r>
            <a:endParaRPr lang="en-US" sz="1350" dirty="0"/>
          </a:p>
        </p:txBody>
      </p:sp>
      <p:sp>
        <p:nvSpPr>
          <p:cNvPr id="13" name="Text 11"/>
          <p:cNvSpPr txBox="1"/>
          <p:nvPr/>
        </p:nvSpPr>
        <p:spPr>
          <a:xfrm>
            <a:off x="4041648" y="2761488"/>
            <a:ext cx="1463040" cy="219456"/>
          </a:xfrm>
          <a:prstGeom prst="rect">
            <a:avLst/>
          </a:prstGeom>
          <a:noFill/>
          <a:ln/>
        </p:spPr>
        <p:txBody>
          <a:bodyPr wrap="square" lIns="0" tIns="0" rIns="0" bIns="0" rtlCol="0" anchor="ctr"/>
          <a:lstStyle/>
          <a:p>
            <a:pPr algn="r" indent="0" marL="0">
              <a:buNone/>
            </a:pPr>
            <a:r>
              <a:rPr lang="en-US" sz="1050" b="1" dirty="0">
                <a:solidFill>
                  <a:srgbClr val="12756F"/>
                </a:solidFill>
                <a:latin typeface="Calibri" pitchFamily="34" charset="0"/>
                <a:ea typeface="Calibri" pitchFamily="34" charset="-122"/>
                <a:cs typeface="Calibri" pitchFamily="34" charset="-120"/>
              </a:rPr>
              <a:t>8 steps</a:t>
            </a:r>
            <a:endParaRPr lang="en-US" sz="1050" dirty="0"/>
          </a:p>
        </p:txBody>
      </p:sp>
      <p:sp>
        <p:nvSpPr>
          <p:cNvPr id="14" name="Text 12"/>
          <p:cNvSpPr txBox="1"/>
          <p:nvPr/>
        </p:nvSpPr>
        <p:spPr>
          <a:xfrm>
            <a:off x="841248" y="2999232"/>
            <a:ext cx="4663440" cy="365760"/>
          </a:xfrm>
          <a:prstGeom prst="rect">
            <a:avLst/>
          </a:prstGeom>
          <a:noFill/>
          <a:ln/>
        </p:spPr>
        <p:txBody>
          <a:bodyPr wrap="square" lIns="0" tIns="0" rIns="0" bIns="0" rtlCol="0" anchor="ctr"/>
          <a:lstStyle/>
          <a:p>
            <a:pPr indent="0" marL="0">
              <a:lnSpc>
                <a:spcPts val="1400"/>
              </a:lnSpc>
              <a:buNone/>
            </a:pPr>
            <a:r>
              <a:rPr lang="en-US" sz="1020" dirty="0">
                <a:solidFill>
                  <a:srgbClr val="5A6C82"/>
                </a:solidFill>
                <a:latin typeface="Calibri" pitchFamily="34" charset="0"/>
                <a:ea typeface="Calibri" pitchFamily="34" charset="-122"/>
                <a:cs typeface="Calibri" pitchFamily="34" charset="-120"/>
              </a:rPr>
              <a:t>Alert six weeks out, band gate check, levy and fees, Muqeem renewal, write-back.</a:t>
            </a:r>
            <a:endParaRPr lang="en-US" sz="1020" dirty="0"/>
          </a:p>
        </p:txBody>
      </p:sp>
      <p:sp>
        <p:nvSpPr>
          <p:cNvPr id="15" name="Shape 13"/>
          <p:cNvSpPr/>
          <p:nvPr/>
        </p:nvSpPr>
        <p:spPr>
          <a:xfrm>
            <a:off x="548640" y="3529584"/>
            <a:ext cx="5120640" cy="768096"/>
          </a:xfrm>
          <a:prstGeom prst="roundRect">
            <a:avLst>
              <a:gd name="adj" fmla="val 9524"/>
            </a:avLst>
          </a:prstGeom>
          <a:solidFill>
            <a:srgbClr val="F4F6F7"/>
          </a:solidFill>
          <a:ln w="9525">
            <a:solidFill>
              <a:srgbClr val="E3E7EA"/>
            </a:solidFill>
            <a:prstDash val="solid"/>
          </a:ln>
        </p:spPr>
      </p:sp>
      <p:sp>
        <p:nvSpPr>
          <p:cNvPr id="16" name="Shape 14"/>
          <p:cNvSpPr/>
          <p:nvPr/>
        </p:nvSpPr>
        <p:spPr>
          <a:xfrm>
            <a:off x="548640" y="3529584"/>
            <a:ext cx="68580" cy="768096"/>
          </a:xfrm>
          <a:prstGeom prst="roundRect">
            <a:avLst>
              <a:gd name="adj" fmla="val 40000"/>
            </a:avLst>
          </a:prstGeom>
          <a:solidFill>
            <a:srgbClr val="C9821A"/>
          </a:solidFill>
          <a:ln/>
        </p:spPr>
      </p:sp>
      <p:sp>
        <p:nvSpPr>
          <p:cNvPr id="17" name="Text 15"/>
          <p:cNvSpPr txBox="1"/>
          <p:nvPr/>
        </p:nvSpPr>
        <p:spPr>
          <a:xfrm>
            <a:off x="841248" y="3621024"/>
            <a:ext cx="3200400" cy="237744"/>
          </a:xfrm>
          <a:prstGeom prst="rect">
            <a:avLst/>
          </a:prstGeom>
          <a:noFill/>
          <a:ln/>
        </p:spPr>
        <p:txBody>
          <a:bodyPr wrap="square" lIns="0" tIns="0" rIns="0" bIns="0" rtlCol="0" anchor="ctr"/>
          <a:lstStyle/>
          <a:p>
            <a:pPr indent="0" marL="0">
              <a:buNone/>
            </a:pPr>
            <a:r>
              <a:rPr lang="en-US" sz="1350" b="1" dirty="0">
                <a:solidFill>
                  <a:srgbClr val="0C1E33"/>
                </a:solidFill>
                <a:latin typeface="Arial" pitchFamily="34" charset="0"/>
                <a:ea typeface="Arial" pitchFamily="34" charset="-122"/>
                <a:cs typeface="Arial" pitchFamily="34" charset="-120"/>
              </a:rPr>
              <a:t>Exit &amp; Re-entry</a:t>
            </a:r>
            <a:endParaRPr lang="en-US" sz="1350" dirty="0"/>
          </a:p>
        </p:txBody>
      </p:sp>
      <p:sp>
        <p:nvSpPr>
          <p:cNvPr id="18" name="Text 16"/>
          <p:cNvSpPr txBox="1"/>
          <p:nvPr/>
        </p:nvSpPr>
        <p:spPr>
          <a:xfrm>
            <a:off x="4041648" y="3639312"/>
            <a:ext cx="1463040" cy="219456"/>
          </a:xfrm>
          <a:prstGeom prst="rect">
            <a:avLst/>
          </a:prstGeom>
          <a:noFill/>
          <a:ln/>
        </p:spPr>
        <p:txBody>
          <a:bodyPr wrap="square" lIns="0" tIns="0" rIns="0" bIns="0" rtlCol="0" anchor="ctr"/>
          <a:lstStyle/>
          <a:p>
            <a:pPr algn="r" indent="0" marL="0">
              <a:buNone/>
            </a:pPr>
            <a:r>
              <a:rPr lang="en-US" sz="1050" b="1" dirty="0">
                <a:solidFill>
                  <a:srgbClr val="C9821A"/>
                </a:solidFill>
                <a:latin typeface="Calibri" pitchFamily="34" charset="0"/>
                <a:ea typeface="Calibri" pitchFamily="34" charset="-122"/>
                <a:cs typeface="Calibri" pitchFamily="34" charset="-120"/>
              </a:rPr>
              <a:t>9 steps</a:t>
            </a:r>
            <a:endParaRPr lang="en-US" sz="1050" dirty="0"/>
          </a:p>
        </p:txBody>
      </p:sp>
      <p:sp>
        <p:nvSpPr>
          <p:cNvPr id="19" name="Text 17"/>
          <p:cNvSpPr txBox="1"/>
          <p:nvPr/>
        </p:nvSpPr>
        <p:spPr>
          <a:xfrm>
            <a:off x="841248" y="3877056"/>
            <a:ext cx="4663440" cy="365760"/>
          </a:xfrm>
          <a:prstGeom prst="rect">
            <a:avLst/>
          </a:prstGeom>
          <a:noFill/>
          <a:ln/>
        </p:spPr>
        <p:txBody>
          <a:bodyPr wrap="square" lIns="0" tIns="0" rIns="0" bIns="0" rtlCol="0" anchor="ctr"/>
          <a:lstStyle/>
          <a:p>
            <a:pPr indent="0" marL="0">
              <a:lnSpc>
                <a:spcPts val="1400"/>
              </a:lnSpc>
              <a:buNone/>
            </a:pPr>
            <a:r>
              <a:rPr lang="en-US" sz="1020" dirty="0">
                <a:solidFill>
                  <a:srgbClr val="5A6C82"/>
                </a:solidFill>
                <a:latin typeface="Calibri" pitchFamily="34" charset="0"/>
                <a:ea typeface="Calibri" pitchFamily="34" charset="-122"/>
                <a:cs typeface="Calibri" pitchFamily="34" charset="-120"/>
              </a:rPr>
              <a:t>Request, approval, Muqeem visa, and return-by tracked from actual departure.</a:t>
            </a:r>
            <a:endParaRPr lang="en-US" sz="1020" dirty="0"/>
          </a:p>
        </p:txBody>
      </p:sp>
      <p:sp>
        <p:nvSpPr>
          <p:cNvPr id="20" name="Shape 18"/>
          <p:cNvSpPr/>
          <p:nvPr/>
        </p:nvSpPr>
        <p:spPr>
          <a:xfrm>
            <a:off x="548640" y="4407408"/>
            <a:ext cx="5120640" cy="768096"/>
          </a:xfrm>
          <a:prstGeom prst="roundRect">
            <a:avLst>
              <a:gd name="adj" fmla="val 9524"/>
            </a:avLst>
          </a:prstGeom>
          <a:solidFill>
            <a:srgbClr val="FFFFFF"/>
          </a:solidFill>
          <a:ln w="9525">
            <a:solidFill>
              <a:srgbClr val="E3E7EA"/>
            </a:solidFill>
            <a:prstDash val="solid"/>
          </a:ln>
        </p:spPr>
      </p:sp>
      <p:sp>
        <p:nvSpPr>
          <p:cNvPr id="21" name="Shape 19"/>
          <p:cNvSpPr/>
          <p:nvPr/>
        </p:nvSpPr>
        <p:spPr>
          <a:xfrm>
            <a:off x="548640" y="4407408"/>
            <a:ext cx="68580" cy="768096"/>
          </a:xfrm>
          <a:prstGeom prst="roundRect">
            <a:avLst>
              <a:gd name="adj" fmla="val 40000"/>
            </a:avLst>
          </a:prstGeom>
          <a:solidFill>
            <a:srgbClr val="20A098"/>
          </a:solidFill>
          <a:ln/>
        </p:spPr>
      </p:sp>
      <p:sp>
        <p:nvSpPr>
          <p:cNvPr id="22" name="Text 20"/>
          <p:cNvSpPr txBox="1"/>
          <p:nvPr/>
        </p:nvSpPr>
        <p:spPr>
          <a:xfrm>
            <a:off x="841248" y="4498848"/>
            <a:ext cx="3200400" cy="237744"/>
          </a:xfrm>
          <a:prstGeom prst="rect">
            <a:avLst/>
          </a:prstGeom>
          <a:noFill/>
          <a:ln/>
        </p:spPr>
        <p:txBody>
          <a:bodyPr wrap="square" lIns="0" tIns="0" rIns="0" bIns="0" rtlCol="0" anchor="ctr"/>
          <a:lstStyle/>
          <a:p>
            <a:pPr indent="0" marL="0">
              <a:buNone/>
            </a:pPr>
            <a:r>
              <a:rPr lang="en-US" sz="1350" b="1" dirty="0">
                <a:solidFill>
                  <a:srgbClr val="0C1E33"/>
                </a:solidFill>
                <a:latin typeface="Arial" pitchFamily="34" charset="0"/>
                <a:ea typeface="Arial" pitchFamily="34" charset="-122"/>
                <a:cs typeface="Arial" pitchFamily="34" charset="-120"/>
              </a:rPr>
              <a:t>Sponsorship Transfer</a:t>
            </a:r>
            <a:endParaRPr lang="en-US" sz="1350" dirty="0"/>
          </a:p>
        </p:txBody>
      </p:sp>
      <p:sp>
        <p:nvSpPr>
          <p:cNvPr id="23" name="Text 21"/>
          <p:cNvSpPr txBox="1"/>
          <p:nvPr/>
        </p:nvSpPr>
        <p:spPr>
          <a:xfrm>
            <a:off x="4041648" y="4517136"/>
            <a:ext cx="1463040" cy="219456"/>
          </a:xfrm>
          <a:prstGeom prst="rect">
            <a:avLst/>
          </a:prstGeom>
          <a:noFill/>
          <a:ln/>
        </p:spPr>
        <p:txBody>
          <a:bodyPr wrap="square" lIns="0" tIns="0" rIns="0" bIns="0" rtlCol="0" anchor="ctr"/>
          <a:lstStyle/>
          <a:p>
            <a:pPr algn="r" indent="0" marL="0">
              <a:buNone/>
            </a:pPr>
            <a:r>
              <a:rPr lang="en-US" sz="1050" b="1" dirty="0">
                <a:solidFill>
                  <a:srgbClr val="20A098"/>
                </a:solidFill>
                <a:latin typeface="Calibri" pitchFamily="34" charset="0"/>
                <a:ea typeface="Calibri" pitchFamily="34" charset="-122"/>
                <a:cs typeface="Calibri" pitchFamily="34" charset="-120"/>
              </a:rPr>
              <a:t>6 steps</a:t>
            </a:r>
            <a:endParaRPr lang="en-US" sz="1050" dirty="0"/>
          </a:p>
        </p:txBody>
      </p:sp>
      <p:sp>
        <p:nvSpPr>
          <p:cNvPr id="24" name="Text 22"/>
          <p:cNvSpPr txBox="1"/>
          <p:nvPr/>
        </p:nvSpPr>
        <p:spPr>
          <a:xfrm>
            <a:off x="841248" y="4754880"/>
            <a:ext cx="4663440" cy="365760"/>
          </a:xfrm>
          <a:prstGeom prst="rect">
            <a:avLst/>
          </a:prstGeom>
          <a:noFill/>
          <a:ln/>
        </p:spPr>
        <p:txBody>
          <a:bodyPr wrap="square" lIns="0" tIns="0" rIns="0" bIns="0" rtlCol="0" anchor="ctr"/>
          <a:lstStyle/>
          <a:p>
            <a:pPr indent="0" marL="0">
              <a:lnSpc>
                <a:spcPts val="1400"/>
              </a:lnSpc>
              <a:buNone/>
            </a:pPr>
            <a:r>
              <a:rPr lang="en-US" sz="1020" dirty="0">
                <a:solidFill>
                  <a:srgbClr val="5A6C82"/>
                </a:solidFill>
                <a:latin typeface="Calibri" pitchFamily="34" charset="0"/>
                <a:ea typeface="Calibri" pitchFamily="34" charset="-122"/>
                <a:cs typeface="Calibri" pitchFamily="34" charset="-120"/>
              </a:rPr>
              <a:t>Qiwa status check, Nitaqat impact, transfer, new contract, Iqama moved.</a:t>
            </a:r>
            <a:endParaRPr lang="en-US" sz="1020" dirty="0"/>
          </a:p>
        </p:txBody>
      </p:sp>
      <p:sp>
        <p:nvSpPr>
          <p:cNvPr id="25" name="Shape 23"/>
          <p:cNvSpPr/>
          <p:nvPr/>
        </p:nvSpPr>
        <p:spPr>
          <a:xfrm>
            <a:off x="548640" y="5285232"/>
            <a:ext cx="5120640" cy="768096"/>
          </a:xfrm>
          <a:prstGeom prst="roundRect">
            <a:avLst>
              <a:gd name="adj" fmla="val 9524"/>
            </a:avLst>
          </a:prstGeom>
          <a:solidFill>
            <a:srgbClr val="F4F6F7"/>
          </a:solidFill>
          <a:ln w="9525">
            <a:solidFill>
              <a:srgbClr val="E3E7EA"/>
            </a:solidFill>
            <a:prstDash val="solid"/>
          </a:ln>
        </p:spPr>
      </p:sp>
      <p:sp>
        <p:nvSpPr>
          <p:cNvPr id="26" name="Shape 24"/>
          <p:cNvSpPr/>
          <p:nvPr/>
        </p:nvSpPr>
        <p:spPr>
          <a:xfrm>
            <a:off x="548640" y="5285232"/>
            <a:ext cx="68580" cy="768096"/>
          </a:xfrm>
          <a:prstGeom prst="roundRect">
            <a:avLst>
              <a:gd name="adj" fmla="val 40000"/>
            </a:avLst>
          </a:prstGeom>
          <a:solidFill>
            <a:srgbClr val="16304C"/>
          </a:solidFill>
          <a:ln/>
        </p:spPr>
      </p:sp>
      <p:sp>
        <p:nvSpPr>
          <p:cNvPr id="27" name="Text 25"/>
          <p:cNvSpPr txBox="1"/>
          <p:nvPr/>
        </p:nvSpPr>
        <p:spPr>
          <a:xfrm>
            <a:off x="841248" y="5376672"/>
            <a:ext cx="3200400" cy="237744"/>
          </a:xfrm>
          <a:prstGeom prst="rect">
            <a:avLst/>
          </a:prstGeom>
          <a:noFill/>
          <a:ln/>
        </p:spPr>
        <p:txBody>
          <a:bodyPr wrap="square" lIns="0" tIns="0" rIns="0" bIns="0" rtlCol="0" anchor="ctr"/>
          <a:lstStyle/>
          <a:p>
            <a:pPr indent="0" marL="0">
              <a:buNone/>
            </a:pPr>
            <a:r>
              <a:rPr lang="en-US" sz="1350" b="1" dirty="0">
                <a:solidFill>
                  <a:srgbClr val="0C1E33"/>
                </a:solidFill>
                <a:latin typeface="Arial" pitchFamily="34" charset="0"/>
                <a:ea typeface="Arial" pitchFamily="34" charset="-122"/>
                <a:cs typeface="Arial" pitchFamily="34" charset="-120"/>
              </a:rPr>
              <a:t>Final Exit</a:t>
            </a:r>
            <a:endParaRPr lang="en-US" sz="1350" dirty="0"/>
          </a:p>
        </p:txBody>
      </p:sp>
      <p:sp>
        <p:nvSpPr>
          <p:cNvPr id="28" name="Text 26"/>
          <p:cNvSpPr txBox="1"/>
          <p:nvPr/>
        </p:nvSpPr>
        <p:spPr>
          <a:xfrm>
            <a:off x="4041648" y="5394960"/>
            <a:ext cx="1463040" cy="219456"/>
          </a:xfrm>
          <a:prstGeom prst="rect">
            <a:avLst/>
          </a:prstGeom>
          <a:noFill/>
          <a:ln/>
        </p:spPr>
        <p:txBody>
          <a:bodyPr wrap="square" lIns="0" tIns="0" rIns="0" bIns="0" rtlCol="0" anchor="ctr"/>
          <a:lstStyle/>
          <a:p>
            <a:pPr algn="r" indent="0" marL="0">
              <a:buNone/>
            </a:pPr>
            <a:r>
              <a:rPr lang="en-US" sz="1050" b="1" dirty="0">
                <a:solidFill>
                  <a:srgbClr val="16304C"/>
                </a:solidFill>
                <a:latin typeface="Calibri" pitchFamily="34" charset="0"/>
                <a:ea typeface="Calibri" pitchFamily="34" charset="-122"/>
                <a:cs typeface="Calibri" pitchFamily="34" charset="-120"/>
              </a:rPr>
              <a:t>6 steps</a:t>
            </a:r>
            <a:endParaRPr lang="en-US" sz="1050" dirty="0"/>
          </a:p>
        </p:txBody>
      </p:sp>
      <p:sp>
        <p:nvSpPr>
          <p:cNvPr id="29" name="Text 27"/>
          <p:cNvSpPr txBox="1"/>
          <p:nvPr/>
        </p:nvSpPr>
        <p:spPr>
          <a:xfrm>
            <a:off x="841248" y="5632704"/>
            <a:ext cx="4663440" cy="365760"/>
          </a:xfrm>
          <a:prstGeom prst="rect">
            <a:avLst/>
          </a:prstGeom>
          <a:noFill/>
          <a:ln/>
        </p:spPr>
        <p:txBody>
          <a:bodyPr wrap="square" lIns="0" tIns="0" rIns="0" bIns="0" rtlCol="0" anchor="ctr"/>
          <a:lstStyle/>
          <a:p>
            <a:pPr indent="0" marL="0">
              <a:lnSpc>
                <a:spcPts val="1400"/>
              </a:lnSpc>
              <a:buNone/>
            </a:pPr>
            <a:r>
              <a:rPr lang="en-US" sz="1020" dirty="0">
                <a:solidFill>
                  <a:srgbClr val="5A6C82"/>
                </a:solidFill>
                <a:latin typeface="Calibri" pitchFamily="34" charset="0"/>
                <a:ea typeface="Calibri" pitchFamily="34" charset="-122"/>
                <a:cs typeface="Calibri" pitchFamily="34" charset="-120"/>
              </a:rPr>
              <a:t>End of service settled, dues cleared, contract terminated, Iqama cancelled.</a:t>
            </a:r>
            <a:endParaRPr lang="en-US" sz="1020" dirty="0"/>
          </a:p>
        </p:txBody>
      </p:sp>
      <p:pic>
        <p:nvPicPr>
          <p:cNvPr id="30" name="Image 0" descr="./img/home.jpg">    </p:cNvPr>
          <p:cNvPicPr>
            <a:picLocks noChangeAspect="1"/>
          </p:cNvPicPr>
          <p:nvPr/>
        </p:nvPicPr>
        <p:blipFill>
          <a:blip r:embed="rId1"/>
          <a:stretch>
            <a:fillRect/>
          </a:stretch>
        </p:blipFill>
        <p:spPr>
          <a:xfrm>
            <a:off x="5943600" y="1773936"/>
            <a:ext cx="5669280" cy="914400"/>
          </a:xfrm>
          <a:prstGeom prst="rect">
            <a:avLst/>
          </a:prstGeom>
          <a:effectLst>
            <a:outerShdw sx="100000" sy="100000" kx="0" ky="0" algn="bl" rotWithShape="0" blurRad="177800" dist="38100" dir="5400000">
              <a:srgbClr val="000000">
                <a:alpha val="20000"/>
              </a:srgbClr>
            </a:outerShdw>
          </a:effectLst>
        </p:spPr>
      </p:pic>
      <p:sp>
        <p:nvSpPr>
          <p:cNvPr id="31" name="Text 28"/>
          <p:cNvSpPr txBox="1"/>
          <p:nvPr/>
        </p:nvSpPr>
        <p:spPr>
          <a:xfrm>
            <a:off x="5943600" y="5431536"/>
            <a:ext cx="5669280" cy="457200"/>
          </a:xfrm>
          <a:prstGeom prst="rect">
            <a:avLst/>
          </a:prstGeom>
          <a:noFill/>
          <a:ln/>
        </p:spPr>
        <p:txBody>
          <a:bodyPr wrap="square" lIns="0" tIns="0" rIns="0" bIns="0" rtlCol="0" anchor="ctr"/>
          <a:lstStyle/>
          <a:p>
            <a:pPr indent="0" marL="0">
              <a:lnSpc>
                <a:spcPts val="1400"/>
              </a:lnSpc>
              <a:buNone/>
            </a:pPr>
            <a:r>
              <a:rPr lang="en-US" sz="1000" i="1" dirty="0">
                <a:solidFill>
                  <a:srgbClr val="5A6C82"/>
                </a:solidFill>
                <a:latin typeface="Calibri" pitchFamily="34" charset="0"/>
                <a:ea typeface="Calibri" pitchFamily="34" charset="-122"/>
                <a:cs typeface="Calibri" pitchFamily="34" charset="-120"/>
              </a:rPr>
              <a:t>The Saudi home dashboard. Four lifecycles with live counts, over a queue where the overdue exit re-entry sits at the top with a name against it.</a:t>
            </a:r>
            <a:endParaRPr lang="en-US" sz="1000" dirty="0"/>
          </a:p>
        </p:txBody>
      </p:sp>
      <p:sp>
        <p:nvSpPr>
          <p:cNvPr id="32" name="Text 29"/>
          <p:cNvSpPr txBox="1"/>
          <p:nvPr/>
        </p:nvSpPr>
        <p:spPr>
          <a:xfrm>
            <a:off x="548640" y="6419088"/>
            <a:ext cx="8595360" cy="237744"/>
          </a:xfrm>
          <a:prstGeom prst="rect">
            <a:avLst/>
          </a:prstGeom>
          <a:noFill/>
          <a:ln/>
        </p:spPr>
        <p:txBody>
          <a:bodyPr wrap="square" lIns="0" tIns="0" rIns="0" bIns="0" rtlCol="0" anchor="ctr"/>
          <a:lstStyle/>
          <a:p>
            <a:pPr indent="0" marL="0">
              <a:buNone/>
            </a:pPr>
            <a:r>
              <a:rPr lang="en-US" sz="900" dirty="0">
                <a:solidFill>
                  <a:srgbClr val="96A3AE"/>
                </a:solidFill>
                <a:latin typeface="Calibri" pitchFamily="34" charset="0"/>
                <a:ea typeface="Calibri" pitchFamily="34" charset="-122"/>
                <a:cs typeface="Calibri" pitchFamily="34" charset="-120"/>
              </a:rPr>
              <a:t>INK IT Business Solutions  ·  Visa &amp; Permits Management  ·  Kingdom of Saudi Arabia</a:t>
            </a:r>
            <a:endParaRPr lang="en-US" sz="900" dirty="0"/>
          </a:p>
        </p:txBody>
      </p:sp>
      <p:sp>
        <p:nvSpPr>
          <p:cNvPr id="33" name="Text 30"/>
          <p:cNvSpPr txBox="1"/>
          <p:nvPr/>
        </p:nvSpPr>
        <p:spPr>
          <a:xfrm>
            <a:off x="11155680" y="6419088"/>
            <a:ext cx="457200" cy="237744"/>
          </a:xfrm>
          <a:prstGeom prst="rect">
            <a:avLst/>
          </a:prstGeom>
          <a:noFill/>
          <a:ln/>
        </p:spPr>
        <p:txBody>
          <a:bodyPr wrap="square" lIns="0" tIns="0" rIns="0" bIns="0" rtlCol="0" anchor="ctr"/>
          <a:lstStyle/>
          <a:p>
            <a:pPr algn="r" indent="0" marL="0">
              <a:buNone/>
            </a:pPr>
            <a:r>
              <a:rPr lang="en-US" sz="900" dirty="0">
                <a:solidFill>
                  <a:srgbClr val="96A3AE"/>
                </a:solidFill>
                <a:latin typeface="Calibri" pitchFamily="34" charset="0"/>
                <a:ea typeface="Calibri" pitchFamily="34" charset="-122"/>
                <a:cs typeface="Calibri" pitchFamily="34" charset="-120"/>
              </a:rPr>
              <a:t>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02336"/>
            <a:ext cx="11064240" cy="237744"/>
          </a:xfrm>
          <a:prstGeom prst="rect">
            <a:avLst/>
          </a:prstGeom>
          <a:noFill/>
          <a:ln/>
        </p:spPr>
        <p:txBody>
          <a:bodyPr wrap="square" lIns="0" tIns="0" rIns="0" bIns="0" rtlCol="0" anchor="ctr"/>
          <a:lstStyle/>
          <a:p>
            <a:pPr indent="0" marL="0">
              <a:buNone/>
            </a:pPr>
            <a:r>
              <a:rPr lang="en-US" sz="1100" b="1" spc="220" kern="0" dirty="0">
                <a:solidFill>
                  <a:srgbClr val="20A098"/>
                </a:solidFill>
                <a:latin typeface="Calibri" pitchFamily="34" charset="0"/>
                <a:ea typeface="Calibri" pitchFamily="34" charset="-122"/>
                <a:cs typeface="Calibri" pitchFamily="34" charset="-120"/>
              </a:rPr>
              <a:t>PERMIT &amp; VISA TYPES</a:t>
            </a:r>
            <a:endParaRPr lang="en-US" sz="1100" dirty="0"/>
          </a:p>
        </p:txBody>
      </p:sp>
      <p:sp>
        <p:nvSpPr>
          <p:cNvPr id="3" name="Text 1"/>
          <p:cNvSpPr txBox="1"/>
          <p:nvPr/>
        </p:nvSpPr>
        <p:spPr>
          <a:xfrm>
            <a:off x="548640" y="658368"/>
            <a:ext cx="11064240" cy="566928"/>
          </a:xfrm>
          <a:prstGeom prst="rect">
            <a:avLst/>
          </a:prstGeom>
          <a:noFill/>
          <a:ln/>
        </p:spPr>
        <p:txBody>
          <a:bodyPr wrap="square" lIns="0" tIns="0" rIns="0" bIns="0" rtlCol="0" anchor="ctr"/>
          <a:lstStyle/>
          <a:p>
            <a:pPr indent="0" marL="0">
              <a:buNone/>
            </a:pPr>
            <a:r>
              <a:rPr lang="en-US" sz="3000" b="1" dirty="0">
                <a:solidFill>
                  <a:srgbClr val="0C1E33"/>
                </a:solidFill>
                <a:latin typeface="Arial" pitchFamily="34" charset="0"/>
                <a:ea typeface="Arial" pitchFamily="34" charset="-122"/>
                <a:cs typeface="Arial" pitchFamily="34" charset="-120"/>
              </a:rPr>
              <a:t>Not every worker needs the same door.</a:t>
            </a:r>
            <a:endParaRPr lang="en-US" sz="3000" dirty="0"/>
          </a:p>
        </p:txBody>
      </p:sp>
      <p:sp>
        <p:nvSpPr>
          <p:cNvPr id="4" name="Text 2"/>
          <p:cNvSpPr txBox="1"/>
          <p:nvPr/>
        </p:nvSpPr>
        <p:spPr>
          <a:xfrm>
            <a:off x="548640" y="1243584"/>
            <a:ext cx="10424160" cy="310896"/>
          </a:xfrm>
          <a:prstGeom prst="rect">
            <a:avLst/>
          </a:prstGeom>
          <a:noFill/>
          <a:ln/>
        </p:spPr>
        <p:txBody>
          <a:bodyPr wrap="square" lIns="0" tIns="0" rIns="0" bIns="0" rtlCol="0" anchor="ctr"/>
          <a:lstStyle/>
          <a:p>
            <a:pPr indent="0" marL="0">
              <a:buNone/>
            </a:pPr>
            <a:r>
              <a:rPr lang="en-US" sz="1300" dirty="0">
                <a:solidFill>
                  <a:srgbClr val="5A6C82"/>
                </a:solidFill>
                <a:latin typeface="Calibri" pitchFamily="34" charset="0"/>
                <a:ea typeface="Calibri" pitchFamily="34" charset="-122"/>
                <a:cs typeface="Calibri" pitchFamily="34" charset="-120"/>
              </a:rPr>
              <a:t>Ten ways into the Kingdom. Each has its own steps, its own fees and its own trap.</a:t>
            </a:r>
            <a:endParaRPr lang="en-US" sz="1300" dirty="0"/>
          </a:p>
        </p:txBody>
      </p:sp>
      <p:sp>
        <p:nvSpPr>
          <p:cNvPr id="5" name="Shape 3"/>
          <p:cNvSpPr/>
          <p:nvPr/>
        </p:nvSpPr>
        <p:spPr>
          <a:xfrm>
            <a:off x="548640" y="1773936"/>
            <a:ext cx="2167128" cy="950976"/>
          </a:xfrm>
          <a:prstGeom prst="roundRect">
            <a:avLst>
              <a:gd name="adj" fmla="val 7692"/>
            </a:avLst>
          </a:prstGeom>
          <a:solidFill>
            <a:srgbClr val="EAF2FD"/>
          </a:solidFill>
          <a:ln w="9525">
            <a:solidFill>
              <a:srgbClr val="E3E7EA"/>
            </a:solidFill>
            <a:prstDash val="solid"/>
          </a:ln>
        </p:spPr>
      </p:sp>
      <p:sp>
        <p:nvSpPr>
          <p:cNvPr id="6" name="Text 4"/>
          <p:cNvSpPr txBox="1"/>
          <p:nvPr/>
        </p:nvSpPr>
        <p:spPr>
          <a:xfrm>
            <a:off x="676656" y="1865376"/>
            <a:ext cx="1911096" cy="219456"/>
          </a:xfrm>
          <a:prstGeom prst="rect">
            <a:avLst/>
          </a:prstGeom>
          <a:noFill/>
          <a:ln/>
        </p:spPr>
        <p:txBody>
          <a:bodyPr wrap="square" lIns="0" tIns="0" rIns="0" bIns="0" rtlCol="0" anchor="ctr"/>
          <a:lstStyle/>
          <a:p>
            <a:pPr indent="0" marL="0">
              <a:buNone/>
            </a:pPr>
            <a:r>
              <a:rPr lang="en-US" sz="1150" b="1" dirty="0">
                <a:solidFill>
                  <a:srgbClr val="0C1E33"/>
                </a:solidFill>
                <a:latin typeface="Arial" pitchFamily="34" charset="0"/>
                <a:ea typeface="Arial" pitchFamily="34" charset="-122"/>
                <a:cs typeface="Arial" pitchFamily="34" charset="-120"/>
              </a:rPr>
              <a:t>Work visa + Iqama</a:t>
            </a:r>
            <a:endParaRPr lang="en-US" sz="1150" dirty="0"/>
          </a:p>
        </p:txBody>
      </p:sp>
      <p:sp>
        <p:nvSpPr>
          <p:cNvPr id="7" name="Text 5"/>
          <p:cNvSpPr txBox="1"/>
          <p:nvPr/>
        </p:nvSpPr>
        <p:spPr>
          <a:xfrm>
            <a:off x="676656" y="2084832"/>
            <a:ext cx="1911096" cy="292608"/>
          </a:xfrm>
          <a:prstGeom prst="rect">
            <a:avLst/>
          </a:prstGeom>
          <a:noFill/>
          <a:ln/>
        </p:spPr>
        <p:txBody>
          <a:bodyPr wrap="square" lIns="0" tIns="0" rIns="0" bIns="0" rtlCol="0" anchor="ctr"/>
          <a:lstStyle/>
          <a:p>
            <a:pPr indent="0" marL="0">
              <a:lnSpc>
                <a:spcPts val="1150"/>
              </a:lnSpc>
              <a:buNone/>
            </a:pPr>
            <a:r>
              <a:rPr lang="en-US" sz="900" dirty="0">
                <a:solidFill>
                  <a:srgbClr val="5A6C82"/>
                </a:solidFill>
                <a:latin typeface="Calibri" pitchFamily="34" charset="0"/>
                <a:ea typeface="Calibri" pitchFamily="34" charset="-122"/>
                <a:cs typeface="Calibri" pitchFamily="34" charset="-120"/>
              </a:rPr>
              <a:t>The standard hire</a:t>
            </a:r>
            <a:endParaRPr lang="en-US" sz="900" dirty="0"/>
          </a:p>
        </p:txBody>
      </p:sp>
      <p:sp>
        <p:nvSpPr>
          <p:cNvPr id="8" name="Text 6"/>
          <p:cNvSpPr txBox="1"/>
          <p:nvPr/>
        </p:nvSpPr>
        <p:spPr>
          <a:xfrm>
            <a:off x="676656" y="2432304"/>
            <a:ext cx="822960" cy="182880"/>
          </a:xfrm>
          <a:prstGeom prst="rect">
            <a:avLst/>
          </a:prstGeom>
          <a:noFill/>
          <a:ln/>
        </p:spPr>
        <p:txBody>
          <a:bodyPr wrap="square" lIns="0" tIns="0" rIns="0" bIns="0" rtlCol="0" anchor="ctr"/>
          <a:lstStyle/>
          <a:p>
            <a:pPr indent="0" marL="0">
              <a:buNone/>
            </a:pPr>
            <a:r>
              <a:rPr lang="en-US" sz="820" b="1" dirty="0">
                <a:solidFill>
                  <a:srgbClr val="12756F"/>
                </a:solidFill>
                <a:latin typeface="Calibri" pitchFamily="34" charset="0"/>
                <a:ea typeface="Calibri" pitchFamily="34" charset="-122"/>
                <a:cs typeface="Calibri" pitchFamily="34" charset="-120"/>
              </a:rPr>
              <a:t>12 steps</a:t>
            </a:r>
            <a:endParaRPr lang="en-US" sz="820" dirty="0"/>
          </a:p>
        </p:txBody>
      </p:sp>
      <p:sp>
        <p:nvSpPr>
          <p:cNvPr id="9" name="Shape 7"/>
          <p:cNvSpPr/>
          <p:nvPr/>
        </p:nvSpPr>
        <p:spPr>
          <a:xfrm>
            <a:off x="1600200" y="2432304"/>
            <a:ext cx="987552" cy="182880"/>
          </a:xfrm>
          <a:prstGeom prst="roundRect">
            <a:avLst>
              <a:gd name="adj" fmla="val 50000"/>
            </a:avLst>
          </a:prstGeom>
          <a:solidFill>
            <a:srgbClr val="B5730F"/>
          </a:solidFill>
          <a:ln/>
        </p:spPr>
      </p:sp>
      <p:sp>
        <p:nvSpPr>
          <p:cNvPr id="10" name="Text 8"/>
          <p:cNvSpPr txBox="1"/>
          <p:nvPr/>
        </p:nvSpPr>
        <p:spPr>
          <a:xfrm>
            <a:off x="1600200" y="2432304"/>
            <a:ext cx="987552" cy="182880"/>
          </a:xfrm>
          <a:prstGeom prst="rect">
            <a:avLst/>
          </a:prstGeom>
          <a:noFill/>
          <a:ln/>
        </p:spPr>
        <p:txBody>
          <a:bodyPr wrap="square" lIns="0" tIns="0" rIns="0" bIns="0" rtlCol="0" anchor="ctr"/>
          <a:lstStyle/>
          <a:p>
            <a:pPr algn="ctr" indent="0" marL="0">
              <a:buNone/>
            </a:pPr>
            <a:r>
              <a:rPr lang="en-US" sz="720" b="1" dirty="0">
                <a:solidFill>
                  <a:srgbClr val="FFFFFF"/>
                </a:solidFill>
                <a:latin typeface="Calibri" pitchFamily="34" charset="0"/>
                <a:ea typeface="Calibri" pitchFamily="34" charset="-122"/>
                <a:cs typeface="Calibri" pitchFamily="34" charset="-120"/>
              </a:rPr>
              <a:t>Nitaqat gated</a:t>
            </a:r>
            <a:endParaRPr lang="en-US" sz="720" dirty="0"/>
          </a:p>
        </p:txBody>
      </p:sp>
      <p:sp>
        <p:nvSpPr>
          <p:cNvPr id="11" name="Shape 9"/>
          <p:cNvSpPr/>
          <p:nvPr/>
        </p:nvSpPr>
        <p:spPr>
          <a:xfrm>
            <a:off x="2852928" y="1773936"/>
            <a:ext cx="2167128" cy="950976"/>
          </a:xfrm>
          <a:prstGeom prst="roundRect">
            <a:avLst>
              <a:gd name="adj" fmla="val 7692"/>
            </a:avLst>
          </a:prstGeom>
          <a:solidFill>
            <a:srgbClr val="F4F6F7"/>
          </a:solidFill>
          <a:ln w="9525">
            <a:solidFill>
              <a:srgbClr val="E3E7EA"/>
            </a:solidFill>
            <a:prstDash val="solid"/>
          </a:ln>
        </p:spPr>
      </p:sp>
      <p:sp>
        <p:nvSpPr>
          <p:cNvPr id="12" name="Text 10"/>
          <p:cNvSpPr txBox="1"/>
          <p:nvPr/>
        </p:nvSpPr>
        <p:spPr>
          <a:xfrm>
            <a:off x="2980944" y="1865376"/>
            <a:ext cx="1911096" cy="219456"/>
          </a:xfrm>
          <a:prstGeom prst="rect">
            <a:avLst/>
          </a:prstGeom>
          <a:noFill/>
          <a:ln/>
        </p:spPr>
        <p:txBody>
          <a:bodyPr wrap="square" lIns="0" tIns="0" rIns="0" bIns="0" rtlCol="0" anchor="ctr"/>
          <a:lstStyle/>
          <a:p>
            <a:pPr indent="0" marL="0">
              <a:buNone/>
            </a:pPr>
            <a:r>
              <a:rPr lang="en-US" sz="1150" b="1" dirty="0">
                <a:solidFill>
                  <a:srgbClr val="0C1E33"/>
                </a:solidFill>
                <a:latin typeface="Arial" pitchFamily="34" charset="0"/>
                <a:ea typeface="Arial" pitchFamily="34" charset="-122"/>
                <a:cs typeface="Arial" pitchFamily="34" charset="-120"/>
              </a:rPr>
              <a:t>Premium Residency</a:t>
            </a:r>
            <a:endParaRPr lang="en-US" sz="1150" dirty="0"/>
          </a:p>
        </p:txBody>
      </p:sp>
      <p:sp>
        <p:nvSpPr>
          <p:cNvPr id="13" name="Text 11"/>
          <p:cNvSpPr txBox="1"/>
          <p:nvPr/>
        </p:nvSpPr>
        <p:spPr>
          <a:xfrm>
            <a:off x="2980944" y="2084832"/>
            <a:ext cx="1911096" cy="292608"/>
          </a:xfrm>
          <a:prstGeom prst="rect">
            <a:avLst/>
          </a:prstGeom>
          <a:noFill/>
          <a:ln/>
        </p:spPr>
        <p:txBody>
          <a:bodyPr wrap="square" lIns="0" tIns="0" rIns="0" bIns="0" rtlCol="0" anchor="ctr"/>
          <a:lstStyle/>
          <a:p>
            <a:pPr indent="0" marL="0">
              <a:lnSpc>
                <a:spcPts val="1150"/>
              </a:lnSpc>
              <a:buNone/>
            </a:pPr>
            <a:r>
              <a:rPr lang="en-US" sz="900" dirty="0">
                <a:solidFill>
                  <a:srgbClr val="5A6C82"/>
                </a:solidFill>
                <a:latin typeface="Calibri" pitchFamily="34" charset="0"/>
                <a:ea typeface="Calibri" pitchFamily="34" charset="-122"/>
                <a:cs typeface="Calibri" pitchFamily="34" charset="-120"/>
              </a:rPr>
              <a:t>No sponsor at all</a:t>
            </a:r>
            <a:endParaRPr lang="en-US" sz="900" dirty="0"/>
          </a:p>
        </p:txBody>
      </p:sp>
      <p:sp>
        <p:nvSpPr>
          <p:cNvPr id="14" name="Text 12"/>
          <p:cNvSpPr txBox="1"/>
          <p:nvPr/>
        </p:nvSpPr>
        <p:spPr>
          <a:xfrm>
            <a:off x="2980944" y="2432304"/>
            <a:ext cx="822960" cy="182880"/>
          </a:xfrm>
          <a:prstGeom prst="rect">
            <a:avLst/>
          </a:prstGeom>
          <a:noFill/>
          <a:ln/>
        </p:spPr>
        <p:txBody>
          <a:bodyPr wrap="square" lIns="0" tIns="0" rIns="0" bIns="0" rtlCol="0" anchor="ctr"/>
          <a:lstStyle/>
          <a:p>
            <a:pPr indent="0" marL="0">
              <a:buNone/>
            </a:pPr>
            <a:r>
              <a:rPr lang="en-US" sz="820" b="1" dirty="0">
                <a:solidFill>
                  <a:srgbClr val="12756F"/>
                </a:solidFill>
                <a:latin typeface="Calibri" pitchFamily="34" charset="0"/>
                <a:ea typeface="Calibri" pitchFamily="34" charset="-122"/>
                <a:cs typeface="Calibri" pitchFamily="34" charset="-120"/>
              </a:rPr>
              <a:t>5 steps</a:t>
            </a:r>
            <a:endParaRPr lang="en-US" sz="820" dirty="0"/>
          </a:p>
        </p:txBody>
      </p:sp>
      <p:sp>
        <p:nvSpPr>
          <p:cNvPr id="15" name="Shape 13"/>
          <p:cNvSpPr/>
          <p:nvPr/>
        </p:nvSpPr>
        <p:spPr>
          <a:xfrm>
            <a:off x="3904488" y="2432304"/>
            <a:ext cx="987552" cy="182880"/>
          </a:xfrm>
          <a:prstGeom prst="roundRect">
            <a:avLst>
              <a:gd name="adj" fmla="val 50000"/>
            </a:avLst>
          </a:prstGeom>
          <a:solidFill>
            <a:srgbClr val="17795E"/>
          </a:solidFill>
          <a:ln/>
        </p:spPr>
      </p:sp>
      <p:sp>
        <p:nvSpPr>
          <p:cNvPr id="16" name="Text 14"/>
          <p:cNvSpPr txBox="1"/>
          <p:nvPr/>
        </p:nvSpPr>
        <p:spPr>
          <a:xfrm>
            <a:off x="3904488" y="2432304"/>
            <a:ext cx="987552" cy="182880"/>
          </a:xfrm>
          <a:prstGeom prst="rect">
            <a:avLst/>
          </a:prstGeom>
          <a:noFill/>
          <a:ln/>
        </p:spPr>
        <p:txBody>
          <a:bodyPr wrap="square" lIns="0" tIns="0" rIns="0" bIns="0" rtlCol="0" anchor="ctr"/>
          <a:lstStyle/>
          <a:p>
            <a:pPr algn="ctr" indent="0" marL="0">
              <a:buNone/>
            </a:pPr>
            <a:r>
              <a:rPr lang="en-US" sz="720" b="1" dirty="0">
                <a:solidFill>
                  <a:srgbClr val="FFFFFF"/>
                </a:solidFill>
                <a:latin typeface="Calibri" pitchFamily="34" charset="0"/>
                <a:ea typeface="Calibri" pitchFamily="34" charset="-122"/>
                <a:cs typeface="Calibri" pitchFamily="34" charset="-120"/>
              </a:rPr>
              <a:t>No quota used</a:t>
            </a:r>
            <a:endParaRPr lang="en-US" sz="720" dirty="0"/>
          </a:p>
        </p:txBody>
      </p:sp>
      <p:sp>
        <p:nvSpPr>
          <p:cNvPr id="17" name="Shape 15"/>
          <p:cNvSpPr/>
          <p:nvPr/>
        </p:nvSpPr>
        <p:spPr>
          <a:xfrm>
            <a:off x="5157216" y="1773936"/>
            <a:ext cx="2167128" cy="950976"/>
          </a:xfrm>
          <a:prstGeom prst="roundRect">
            <a:avLst>
              <a:gd name="adj" fmla="val 7692"/>
            </a:avLst>
          </a:prstGeom>
          <a:solidFill>
            <a:srgbClr val="F4F6F7"/>
          </a:solidFill>
          <a:ln w="9525">
            <a:solidFill>
              <a:srgbClr val="E3E7EA"/>
            </a:solidFill>
            <a:prstDash val="solid"/>
          </a:ln>
        </p:spPr>
      </p:sp>
      <p:sp>
        <p:nvSpPr>
          <p:cNvPr id="18" name="Text 16"/>
          <p:cNvSpPr txBox="1"/>
          <p:nvPr/>
        </p:nvSpPr>
        <p:spPr>
          <a:xfrm>
            <a:off x="5285232" y="1865376"/>
            <a:ext cx="1911096" cy="219456"/>
          </a:xfrm>
          <a:prstGeom prst="rect">
            <a:avLst/>
          </a:prstGeom>
          <a:noFill/>
          <a:ln/>
        </p:spPr>
        <p:txBody>
          <a:bodyPr wrap="square" lIns="0" tIns="0" rIns="0" bIns="0" rtlCol="0" anchor="ctr"/>
          <a:lstStyle/>
          <a:p>
            <a:pPr indent="0" marL="0">
              <a:buNone/>
            </a:pPr>
            <a:r>
              <a:rPr lang="en-US" sz="1150" b="1" dirty="0">
                <a:solidFill>
                  <a:srgbClr val="0C1E33"/>
                </a:solidFill>
                <a:latin typeface="Arial" pitchFamily="34" charset="0"/>
                <a:ea typeface="Arial" pitchFamily="34" charset="-122"/>
                <a:cs typeface="Arial" pitchFamily="34" charset="-120"/>
              </a:rPr>
              <a:t>Sponsorship transfer</a:t>
            </a:r>
            <a:endParaRPr lang="en-US" sz="1150" dirty="0"/>
          </a:p>
        </p:txBody>
      </p:sp>
      <p:sp>
        <p:nvSpPr>
          <p:cNvPr id="19" name="Text 17"/>
          <p:cNvSpPr txBox="1"/>
          <p:nvPr/>
        </p:nvSpPr>
        <p:spPr>
          <a:xfrm>
            <a:off x="5285232" y="2084832"/>
            <a:ext cx="1911096" cy="292608"/>
          </a:xfrm>
          <a:prstGeom prst="rect">
            <a:avLst/>
          </a:prstGeom>
          <a:noFill/>
          <a:ln/>
        </p:spPr>
        <p:txBody>
          <a:bodyPr wrap="square" lIns="0" tIns="0" rIns="0" bIns="0" rtlCol="0" anchor="ctr"/>
          <a:lstStyle/>
          <a:p>
            <a:pPr indent="0" marL="0">
              <a:lnSpc>
                <a:spcPts val="1150"/>
              </a:lnSpc>
              <a:buNone/>
            </a:pPr>
            <a:r>
              <a:rPr lang="en-US" sz="900" dirty="0">
                <a:solidFill>
                  <a:srgbClr val="5A6C82"/>
                </a:solidFill>
                <a:latin typeface="Calibri" pitchFamily="34" charset="0"/>
                <a:ea typeface="Calibri" pitchFamily="34" charset="-122"/>
                <a:cs typeface="Calibri" pitchFamily="34" charset="-120"/>
              </a:rPr>
              <a:t>Already in the Kingdom</a:t>
            </a:r>
            <a:endParaRPr lang="en-US" sz="900" dirty="0"/>
          </a:p>
        </p:txBody>
      </p:sp>
      <p:sp>
        <p:nvSpPr>
          <p:cNvPr id="20" name="Text 18"/>
          <p:cNvSpPr txBox="1"/>
          <p:nvPr/>
        </p:nvSpPr>
        <p:spPr>
          <a:xfrm>
            <a:off x="5285232" y="2432304"/>
            <a:ext cx="822960" cy="182880"/>
          </a:xfrm>
          <a:prstGeom prst="rect">
            <a:avLst/>
          </a:prstGeom>
          <a:noFill/>
          <a:ln/>
        </p:spPr>
        <p:txBody>
          <a:bodyPr wrap="square" lIns="0" tIns="0" rIns="0" bIns="0" rtlCol="0" anchor="ctr"/>
          <a:lstStyle/>
          <a:p>
            <a:pPr indent="0" marL="0">
              <a:buNone/>
            </a:pPr>
            <a:r>
              <a:rPr lang="en-US" sz="820" b="1" dirty="0">
                <a:solidFill>
                  <a:srgbClr val="12756F"/>
                </a:solidFill>
                <a:latin typeface="Calibri" pitchFamily="34" charset="0"/>
                <a:ea typeface="Calibri" pitchFamily="34" charset="-122"/>
                <a:cs typeface="Calibri" pitchFamily="34" charset="-120"/>
              </a:rPr>
              <a:t>6 steps</a:t>
            </a:r>
            <a:endParaRPr lang="en-US" sz="820" dirty="0"/>
          </a:p>
        </p:txBody>
      </p:sp>
      <p:sp>
        <p:nvSpPr>
          <p:cNvPr id="21" name="Shape 19"/>
          <p:cNvSpPr/>
          <p:nvPr/>
        </p:nvSpPr>
        <p:spPr>
          <a:xfrm>
            <a:off x="6208776" y="2432304"/>
            <a:ext cx="987552" cy="182880"/>
          </a:xfrm>
          <a:prstGeom prst="roundRect">
            <a:avLst>
              <a:gd name="adj" fmla="val 50000"/>
            </a:avLst>
          </a:prstGeom>
          <a:solidFill>
            <a:srgbClr val="B5730F"/>
          </a:solidFill>
          <a:ln/>
        </p:spPr>
      </p:sp>
      <p:sp>
        <p:nvSpPr>
          <p:cNvPr id="22" name="Text 20"/>
          <p:cNvSpPr txBox="1"/>
          <p:nvPr/>
        </p:nvSpPr>
        <p:spPr>
          <a:xfrm>
            <a:off x="6208776" y="2432304"/>
            <a:ext cx="987552" cy="182880"/>
          </a:xfrm>
          <a:prstGeom prst="rect">
            <a:avLst/>
          </a:prstGeom>
          <a:noFill/>
          <a:ln/>
        </p:spPr>
        <p:txBody>
          <a:bodyPr wrap="square" lIns="0" tIns="0" rIns="0" bIns="0" rtlCol="0" anchor="ctr"/>
          <a:lstStyle/>
          <a:p>
            <a:pPr algn="ctr" indent="0" marL="0">
              <a:buNone/>
            </a:pPr>
            <a:r>
              <a:rPr lang="en-US" sz="720" b="1" dirty="0">
                <a:solidFill>
                  <a:srgbClr val="FFFFFF"/>
                </a:solidFill>
                <a:latin typeface="Calibri" pitchFamily="34" charset="0"/>
                <a:ea typeface="Calibri" pitchFamily="34" charset="-122"/>
                <a:cs typeface="Calibri" pitchFamily="34" charset="-120"/>
              </a:rPr>
              <a:t>Nitaqat gated</a:t>
            </a:r>
            <a:endParaRPr lang="en-US" sz="720" dirty="0"/>
          </a:p>
        </p:txBody>
      </p:sp>
      <p:sp>
        <p:nvSpPr>
          <p:cNvPr id="23" name="Shape 21"/>
          <p:cNvSpPr/>
          <p:nvPr/>
        </p:nvSpPr>
        <p:spPr>
          <a:xfrm>
            <a:off x="7461504" y="1773936"/>
            <a:ext cx="2167128" cy="950976"/>
          </a:xfrm>
          <a:prstGeom prst="roundRect">
            <a:avLst>
              <a:gd name="adj" fmla="val 7692"/>
            </a:avLst>
          </a:prstGeom>
          <a:solidFill>
            <a:srgbClr val="F4F6F7"/>
          </a:solidFill>
          <a:ln w="9525">
            <a:solidFill>
              <a:srgbClr val="E3E7EA"/>
            </a:solidFill>
            <a:prstDash val="solid"/>
          </a:ln>
        </p:spPr>
      </p:sp>
      <p:sp>
        <p:nvSpPr>
          <p:cNvPr id="24" name="Text 22"/>
          <p:cNvSpPr txBox="1"/>
          <p:nvPr/>
        </p:nvSpPr>
        <p:spPr>
          <a:xfrm>
            <a:off x="7589520" y="1865376"/>
            <a:ext cx="1911096" cy="219456"/>
          </a:xfrm>
          <a:prstGeom prst="rect">
            <a:avLst/>
          </a:prstGeom>
          <a:noFill/>
          <a:ln/>
        </p:spPr>
        <p:txBody>
          <a:bodyPr wrap="square" lIns="0" tIns="0" rIns="0" bIns="0" rtlCol="0" anchor="ctr"/>
          <a:lstStyle/>
          <a:p>
            <a:pPr indent="0" marL="0">
              <a:buNone/>
            </a:pPr>
            <a:r>
              <a:rPr lang="en-US" sz="1150" b="1" dirty="0">
                <a:solidFill>
                  <a:srgbClr val="0C1E33"/>
                </a:solidFill>
                <a:latin typeface="Arial" pitchFamily="34" charset="0"/>
                <a:ea typeface="Arial" pitchFamily="34" charset="-122"/>
                <a:cs typeface="Arial" pitchFamily="34" charset="-120"/>
              </a:rPr>
              <a:t>Temporary work</a:t>
            </a:r>
            <a:endParaRPr lang="en-US" sz="1150" dirty="0"/>
          </a:p>
        </p:txBody>
      </p:sp>
      <p:sp>
        <p:nvSpPr>
          <p:cNvPr id="25" name="Text 23"/>
          <p:cNvSpPr txBox="1"/>
          <p:nvPr/>
        </p:nvSpPr>
        <p:spPr>
          <a:xfrm>
            <a:off x="7589520" y="2084832"/>
            <a:ext cx="1911096" cy="292608"/>
          </a:xfrm>
          <a:prstGeom prst="rect">
            <a:avLst/>
          </a:prstGeom>
          <a:noFill/>
          <a:ln/>
        </p:spPr>
        <p:txBody>
          <a:bodyPr wrap="square" lIns="0" tIns="0" rIns="0" bIns="0" rtlCol="0" anchor="ctr"/>
          <a:lstStyle/>
          <a:p>
            <a:pPr indent="0" marL="0">
              <a:lnSpc>
                <a:spcPts val="1150"/>
              </a:lnSpc>
              <a:buNone/>
            </a:pPr>
            <a:r>
              <a:rPr lang="en-US" sz="900" dirty="0">
                <a:solidFill>
                  <a:srgbClr val="5A6C82"/>
                </a:solidFill>
                <a:latin typeface="Calibri" pitchFamily="34" charset="0"/>
                <a:ea typeface="Calibri" pitchFamily="34" charset="-122"/>
                <a:cs typeface="Calibri" pitchFamily="34" charset="-120"/>
              </a:rPr>
              <a:t>Project based, no Iqama</a:t>
            </a:r>
            <a:endParaRPr lang="en-US" sz="900" dirty="0"/>
          </a:p>
        </p:txBody>
      </p:sp>
      <p:sp>
        <p:nvSpPr>
          <p:cNvPr id="26" name="Text 24"/>
          <p:cNvSpPr txBox="1"/>
          <p:nvPr/>
        </p:nvSpPr>
        <p:spPr>
          <a:xfrm>
            <a:off x="7589520" y="2432304"/>
            <a:ext cx="822960" cy="182880"/>
          </a:xfrm>
          <a:prstGeom prst="rect">
            <a:avLst/>
          </a:prstGeom>
          <a:noFill/>
          <a:ln/>
        </p:spPr>
        <p:txBody>
          <a:bodyPr wrap="square" lIns="0" tIns="0" rIns="0" bIns="0" rtlCol="0" anchor="ctr"/>
          <a:lstStyle/>
          <a:p>
            <a:pPr indent="0" marL="0">
              <a:buNone/>
            </a:pPr>
            <a:r>
              <a:rPr lang="en-US" sz="820" b="1" dirty="0">
                <a:solidFill>
                  <a:srgbClr val="12756F"/>
                </a:solidFill>
                <a:latin typeface="Calibri" pitchFamily="34" charset="0"/>
                <a:ea typeface="Calibri" pitchFamily="34" charset="-122"/>
                <a:cs typeface="Calibri" pitchFamily="34" charset="-120"/>
              </a:rPr>
              <a:t>4 steps</a:t>
            </a:r>
            <a:endParaRPr lang="en-US" sz="820" dirty="0"/>
          </a:p>
        </p:txBody>
      </p:sp>
      <p:sp>
        <p:nvSpPr>
          <p:cNvPr id="27" name="Shape 25"/>
          <p:cNvSpPr/>
          <p:nvPr/>
        </p:nvSpPr>
        <p:spPr>
          <a:xfrm>
            <a:off x="8513064" y="2432304"/>
            <a:ext cx="987552" cy="182880"/>
          </a:xfrm>
          <a:prstGeom prst="roundRect">
            <a:avLst>
              <a:gd name="adj" fmla="val 50000"/>
            </a:avLst>
          </a:prstGeom>
          <a:solidFill>
            <a:srgbClr val="B5730F"/>
          </a:solidFill>
          <a:ln/>
        </p:spPr>
      </p:sp>
      <p:sp>
        <p:nvSpPr>
          <p:cNvPr id="28" name="Text 26"/>
          <p:cNvSpPr txBox="1"/>
          <p:nvPr/>
        </p:nvSpPr>
        <p:spPr>
          <a:xfrm>
            <a:off x="8513064" y="2432304"/>
            <a:ext cx="987552" cy="182880"/>
          </a:xfrm>
          <a:prstGeom prst="rect">
            <a:avLst/>
          </a:prstGeom>
          <a:noFill/>
          <a:ln/>
        </p:spPr>
        <p:txBody>
          <a:bodyPr wrap="square" lIns="0" tIns="0" rIns="0" bIns="0" rtlCol="0" anchor="ctr"/>
          <a:lstStyle/>
          <a:p>
            <a:pPr algn="ctr" indent="0" marL="0">
              <a:buNone/>
            </a:pPr>
            <a:r>
              <a:rPr lang="en-US" sz="720" b="1" dirty="0">
                <a:solidFill>
                  <a:srgbClr val="FFFFFF"/>
                </a:solidFill>
                <a:latin typeface="Calibri" pitchFamily="34" charset="0"/>
                <a:ea typeface="Calibri" pitchFamily="34" charset="-122"/>
                <a:cs typeface="Calibri" pitchFamily="34" charset="-120"/>
              </a:rPr>
              <a:t>No expiry alerts</a:t>
            </a:r>
            <a:endParaRPr lang="en-US" sz="720" dirty="0"/>
          </a:p>
        </p:txBody>
      </p:sp>
      <p:sp>
        <p:nvSpPr>
          <p:cNvPr id="29" name="Shape 27"/>
          <p:cNvSpPr/>
          <p:nvPr/>
        </p:nvSpPr>
        <p:spPr>
          <a:xfrm>
            <a:off x="9765792" y="1773936"/>
            <a:ext cx="2167128" cy="950976"/>
          </a:xfrm>
          <a:prstGeom prst="roundRect">
            <a:avLst>
              <a:gd name="adj" fmla="val 7692"/>
            </a:avLst>
          </a:prstGeom>
          <a:solidFill>
            <a:srgbClr val="F4F6F7"/>
          </a:solidFill>
          <a:ln w="9525">
            <a:solidFill>
              <a:srgbClr val="E3E7EA"/>
            </a:solidFill>
            <a:prstDash val="solid"/>
          </a:ln>
        </p:spPr>
      </p:sp>
      <p:sp>
        <p:nvSpPr>
          <p:cNvPr id="30" name="Text 28"/>
          <p:cNvSpPr txBox="1"/>
          <p:nvPr/>
        </p:nvSpPr>
        <p:spPr>
          <a:xfrm>
            <a:off x="9893808" y="1865376"/>
            <a:ext cx="1911096" cy="219456"/>
          </a:xfrm>
          <a:prstGeom prst="rect">
            <a:avLst/>
          </a:prstGeom>
          <a:noFill/>
          <a:ln/>
        </p:spPr>
        <p:txBody>
          <a:bodyPr wrap="square" lIns="0" tIns="0" rIns="0" bIns="0" rtlCol="0" anchor="ctr"/>
          <a:lstStyle/>
          <a:p>
            <a:pPr indent="0" marL="0">
              <a:buNone/>
            </a:pPr>
            <a:r>
              <a:rPr lang="en-US" sz="1150" b="1" dirty="0">
                <a:solidFill>
                  <a:srgbClr val="0C1E33"/>
                </a:solidFill>
                <a:latin typeface="Arial" pitchFamily="34" charset="0"/>
                <a:ea typeface="Arial" pitchFamily="34" charset="-122"/>
                <a:cs typeface="Arial" pitchFamily="34" charset="-120"/>
              </a:rPr>
              <a:t>Seasonal</a:t>
            </a:r>
            <a:endParaRPr lang="en-US" sz="1150" dirty="0"/>
          </a:p>
        </p:txBody>
      </p:sp>
      <p:sp>
        <p:nvSpPr>
          <p:cNvPr id="31" name="Text 29"/>
          <p:cNvSpPr txBox="1"/>
          <p:nvPr/>
        </p:nvSpPr>
        <p:spPr>
          <a:xfrm>
            <a:off x="9893808" y="2084832"/>
            <a:ext cx="1911096" cy="292608"/>
          </a:xfrm>
          <a:prstGeom prst="rect">
            <a:avLst/>
          </a:prstGeom>
          <a:noFill/>
          <a:ln/>
        </p:spPr>
        <p:txBody>
          <a:bodyPr wrap="square" lIns="0" tIns="0" rIns="0" bIns="0" rtlCol="0" anchor="ctr"/>
          <a:lstStyle/>
          <a:p>
            <a:pPr indent="0" marL="0">
              <a:lnSpc>
                <a:spcPts val="1150"/>
              </a:lnSpc>
              <a:buNone/>
            </a:pPr>
            <a:r>
              <a:rPr lang="en-US" sz="900" dirty="0">
                <a:solidFill>
                  <a:srgbClr val="5A6C82"/>
                </a:solidFill>
                <a:latin typeface="Calibri" pitchFamily="34" charset="0"/>
                <a:ea typeface="Calibri" pitchFamily="34" charset="-122"/>
                <a:cs typeface="Calibri" pitchFamily="34" charset="-120"/>
              </a:rPr>
              <a:t>Hajj and Umrah, bulk</a:t>
            </a:r>
            <a:endParaRPr lang="en-US" sz="900" dirty="0"/>
          </a:p>
        </p:txBody>
      </p:sp>
      <p:sp>
        <p:nvSpPr>
          <p:cNvPr id="32" name="Text 30"/>
          <p:cNvSpPr txBox="1"/>
          <p:nvPr/>
        </p:nvSpPr>
        <p:spPr>
          <a:xfrm>
            <a:off x="9893808" y="2432304"/>
            <a:ext cx="822960" cy="182880"/>
          </a:xfrm>
          <a:prstGeom prst="rect">
            <a:avLst/>
          </a:prstGeom>
          <a:noFill/>
          <a:ln/>
        </p:spPr>
        <p:txBody>
          <a:bodyPr wrap="square" lIns="0" tIns="0" rIns="0" bIns="0" rtlCol="0" anchor="ctr"/>
          <a:lstStyle/>
          <a:p>
            <a:pPr indent="0" marL="0">
              <a:buNone/>
            </a:pPr>
            <a:r>
              <a:rPr lang="en-US" sz="820" b="1" dirty="0">
                <a:solidFill>
                  <a:srgbClr val="12756F"/>
                </a:solidFill>
                <a:latin typeface="Calibri" pitchFamily="34" charset="0"/>
                <a:ea typeface="Calibri" pitchFamily="34" charset="-122"/>
                <a:cs typeface="Calibri" pitchFamily="34" charset="-120"/>
              </a:rPr>
              <a:t>3 steps</a:t>
            </a:r>
            <a:endParaRPr lang="en-US" sz="820" dirty="0"/>
          </a:p>
        </p:txBody>
      </p:sp>
      <p:sp>
        <p:nvSpPr>
          <p:cNvPr id="33" name="Shape 31"/>
          <p:cNvSpPr/>
          <p:nvPr/>
        </p:nvSpPr>
        <p:spPr>
          <a:xfrm>
            <a:off x="10817352" y="2432304"/>
            <a:ext cx="987552" cy="182880"/>
          </a:xfrm>
          <a:prstGeom prst="roundRect">
            <a:avLst>
              <a:gd name="adj" fmla="val 50000"/>
            </a:avLst>
          </a:prstGeom>
          <a:solidFill>
            <a:srgbClr val="B5730F"/>
          </a:solidFill>
          <a:ln/>
        </p:spPr>
      </p:sp>
      <p:sp>
        <p:nvSpPr>
          <p:cNvPr id="34" name="Text 32"/>
          <p:cNvSpPr txBox="1"/>
          <p:nvPr/>
        </p:nvSpPr>
        <p:spPr>
          <a:xfrm>
            <a:off x="10817352" y="2432304"/>
            <a:ext cx="987552" cy="182880"/>
          </a:xfrm>
          <a:prstGeom prst="rect">
            <a:avLst/>
          </a:prstGeom>
          <a:noFill/>
          <a:ln/>
        </p:spPr>
        <p:txBody>
          <a:bodyPr wrap="square" lIns="0" tIns="0" rIns="0" bIns="0" rtlCol="0" anchor="ctr"/>
          <a:lstStyle/>
          <a:p>
            <a:pPr algn="ctr" indent="0" marL="0">
              <a:buNone/>
            </a:pPr>
            <a:r>
              <a:rPr lang="en-US" sz="720" b="1" dirty="0">
                <a:solidFill>
                  <a:srgbClr val="FFFFFF"/>
                </a:solidFill>
                <a:latin typeface="Calibri" pitchFamily="34" charset="0"/>
                <a:ea typeface="Calibri" pitchFamily="34" charset="-122"/>
                <a:cs typeface="Calibri" pitchFamily="34" charset="-120"/>
              </a:rPr>
              <a:t>Hard end date</a:t>
            </a:r>
            <a:endParaRPr lang="en-US" sz="720" dirty="0"/>
          </a:p>
        </p:txBody>
      </p:sp>
      <p:sp>
        <p:nvSpPr>
          <p:cNvPr id="35" name="Shape 33"/>
          <p:cNvSpPr/>
          <p:nvPr/>
        </p:nvSpPr>
        <p:spPr>
          <a:xfrm>
            <a:off x="548640" y="2871216"/>
            <a:ext cx="2167128" cy="950976"/>
          </a:xfrm>
          <a:prstGeom prst="roundRect">
            <a:avLst>
              <a:gd name="adj" fmla="val 7692"/>
            </a:avLst>
          </a:prstGeom>
          <a:solidFill>
            <a:srgbClr val="F4F6F7"/>
          </a:solidFill>
          <a:ln w="9525">
            <a:solidFill>
              <a:srgbClr val="E3E7EA"/>
            </a:solidFill>
            <a:prstDash val="solid"/>
          </a:ln>
        </p:spPr>
      </p:sp>
      <p:sp>
        <p:nvSpPr>
          <p:cNvPr id="36" name="Text 34"/>
          <p:cNvSpPr txBox="1"/>
          <p:nvPr/>
        </p:nvSpPr>
        <p:spPr>
          <a:xfrm>
            <a:off x="676656" y="2962656"/>
            <a:ext cx="1911096" cy="219456"/>
          </a:xfrm>
          <a:prstGeom prst="rect">
            <a:avLst/>
          </a:prstGeom>
          <a:noFill/>
          <a:ln/>
        </p:spPr>
        <p:txBody>
          <a:bodyPr wrap="square" lIns="0" tIns="0" rIns="0" bIns="0" rtlCol="0" anchor="ctr"/>
          <a:lstStyle/>
          <a:p>
            <a:pPr indent="0" marL="0">
              <a:buNone/>
            </a:pPr>
            <a:r>
              <a:rPr lang="en-US" sz="1150" b="1" dirty="0">
                <a:solidFill>
                  <a:srgbClr val="0C1E33"/>
                </a:solidFill>
                <a:latin typeface="Arial" pitchFamily="34" charset="0"/>
                <a:ea typeface="Arial" pitchFamily="34" charset="-122"/>
                <a:cs typeface="Arial" pitchFamily="34" charset="-120"/>
              </a:rPr>
              <a:t>Business visit</a:t>
            </a:r>
            <a:endParaRPr lang="en-US" sz="1150" dirty="0"/>
          </a:p>
        </p:txBody>
      </p:sp>
      <p:sp>
        <p:nvSpPr>
          <p:cNvPr id="37" name="Text 35"/>
          <p:cNvSpPr txBox="1"/>
          <p:nvPr/>
        </p:nvSpPr>
        <p:spPr>
          <a:xfrm>
            <a:off x="676656" y="3182112"/>
            <a:ext cx="1911096" cy="292608"/>
          </a:xfrm>
          <a:prstGeom prst="rect">
            <a:avLst/>
          </a:prstGeom>
          <a:noFill/>
          <a:ln/>
        </p:spPr>
        <p:txBody>
          <a:bodyPr wrap="square" lIns="0" tIns="0" rIns="0" bIns="0" rtlCol="0" anchor="ctr"/>
          <a:lstStyle/>
          <a:p>
            <a:pPr indent="0" marL="0">
              <a:lnSpc>
                <a:spcPts val="1150"/>
              </a:lnSpc>
              <a:buNone/>
            </a:pPr>
            <a:r>
              <a:rPr lang="en-US" sz="900" dirty="0">
                <a:solidFill>
                  <a:srgbClr val="5A6C82"/>
                </a:solidFill>
                <a:latin typeface="Calibri" pitchFamily="34" charset="0"/>
                <a:ea typeface="Calibri" pitchFamily="34" charset="-122"/>
                <a:cs typeface="Calibri" pitchFamily="34" charset="-120"/>
              </a:rPr>
              <a:t>Meetings, not employment</a:t>
            </a:r>
            <a:endParaRPr lang="en-US" sz="900" dirty="0"/>
          </a:p>
        </p:txBody>
      </p:sp>
      <p:sp>
        <p:nvSpPr>
          <p:cNvPr id="38" name="Text 36"/>
          <p:cNvSpPr txBox="1"/>
          <p:nvPr/>
        </p:nvSpPr>
        <p:spPr>
          <a:xfrm>
            <a:off x="676656" y="3529584"/>
            <a:ext cx="822960" cy="182880"/>
          </a:xfrm>
          <a:prstGeom prst="rect">
            <a:avLst/>
          </a:prstGeom>
          <a:noFill/>
          <a:ln/>
        </p:spPr>
        <p:txBody>
          <a:bodyPr wrap="square" lIns="0" tIns="0" rIns="0" bIns="0" rtlCol="0" anchor="ctr"/>
          <a:lstStyle/>
          <a:p>
            <a:pPr indent="0" marL="0">
              <a:buNone/>
            </a:pPr>
            <a:r>
              <a:rPr lang="en-US" sz="820" b="1" dirty="0">
                <a:solidFill>
                  <a:srgbClr val="12756F"/>
                </a:solidFill>
                <a:latin typeface="Calibri" pitchFamily="34" charset="0"/>
                <a:ea typeface="Calibri" pitchFamily="34" charset="-122"/>
                <a:cs typeface="Calibri" pitchFamily="34" charset="-120"/>
              </a:rPr>
              <a:t>3 steps</a:t>
            </a:r>
            <a:endParaRPr lang="en-US" sz="820" dirty="0"/>
          </a:p>
        </p:txBody>
      </p:sp>
      <p:sp>
        <p:nvSpPr>
          <p:cNvPr id="39" name="Shape 37"/>
          <p:cNvSpPr/>
          <p:nvPr/>
        </p:nvSpPr>
        <p:spPr>
          <a:xfrm>
            <a:off x="1600200" y="3529584"/>
            <a:ext cx="987552" cy="182880"/>
          </a:xfrm>
          <a:prstGeom prst="roundRect">
            <a:avLst>
              <a:gd name="adj" fmla="val 50000"/>
            </a:avLst>
          </a:prstGeom>
          <a:solidFill>
            <a:srgbClr val="17795E"/>
          </a:solidFill>
          <a:ln/>
        </p:spPr>
      </p:sp>
      <p:sp>
        <p:nvSpPr>
          <p:cNvPr id="40" name="Text 38"/>
          <p:cNvSpPr txBox="1"/>
          <p:nvPr/>
        </p:nvSpPr>
        <p:spPr>
          <a:xfrm>
            <a:off x="1600200" y="3529584"/>
            <a:ext cx="987552" cy="182880"/>
          </a:xfrm>
          <a:prstGeom prst="rect">
            <a:avLst/>
          </a:prstGeom>
          <a:noFill/>
          <a:ln/>
        </p:spPr>
        <p:txBody>
          <a:bodyPr wrap="square" lIns="0" tIns="0" rIns="0" bIns="0" rtlCol="0" anchor="ctr"/>
          <a:lstStyle/>
          <a:p>
            <a:pPr algn="ctr" indent="0" marL="0">
              <a:buNone/>
            </a:pPr>
            <a:r>
              <a:rPr lang="en-US" sz="720" b="1" dirty="0">
                <a:solidFill>
                  <a:srgbClr val="FFFFFF"/>
                </a:solidFill>
                <a:latin typeface="Calibri" pitchFamily="34" charset="0"/>
                <a:ea typeface="Calibri" pitchFamily="34" charset="-122"/>
                <a:cs typeface="Calibri" pitchFamily="34" charset="-120"/>
              </a:rPr>
              <a:t>No quota used</a:t>
            </a:r>
            <a:endParaRPr lang="en-US" sz="720" dirty="0"/>
          </a:p>
        </p:txBody>
      </p:sp>
      <p:sp>
        <p:nvSpPr>
          <p:cNvPr id="41" name="Shape 39"/>
          <p:cNvSpPr/>
          <p:nvPr/>
        </p:nvSpPr>
        <p:spPr>
          <a:xfrm>
            <a:off x="2852928" y="2871216"/>
            <a:ext cx="2167128" cy="950976"/>
          </a:xfrm>
          <a:prstGeom prst="roundRect">
            <a:avLst>
              <a:gd name="adj" fmla="val 7692"/>
            </a:avLst>
          </a:prstGeom>
          <a:solidFill>
            <a:srgbClr val="F4F6F7"/>
          </a:solidFill>
          <a:ln w="9525">
            <a:solidFill>
              <a:srgbClr val="E3E7EA"/>
            </a:solidFill>
            <a:prstDash val="solid"/>
          </a:ln>
        </p:spPr>
      </p:sp>
      <p:sp>
        <p:nvSpPr>
          <p:cNvPr id="42" name="Text 40"/>
          <p:cNvSpPr txBox="1"/>
          <p:nvPr/>
        </p:nvSpPr>
        <p:spPr>
          <a:xfrm>
            <a:off x="2980944" y="2962656"/>
            <a:ext cx="1911096" cy="219456"/>
          </a:xfrm>
          <a:prstGeom prst="rect">
            <a:avLst/>
          </a:prstGeom>
          <a:noFill/>
          <a:ln/>
        </p:spPr>
        <p:txBody>
          <a:bodyPr wrap="square" lIns="0" tIns="0" rIns="0" bIns="0" rtlCol="0" anchor="ctr"/>
          <a:lstStyle/>
          <a:p>
            <a:pPr indent="0" marL="0">
              <a:buNone/>
            </a:pPr>
            <a:r>
              <a:rPr lang="en-US" sz="1150" b="1" dirty="0">
                <a:solidFill>
                  <a:srgbClr val="0C1E33"/>
                </a:solidFill>
                <a:latin typeface="Arial" pitchFamily="34" charset="0"/>
                <a:ea typeface="Arial" pitchFamily="34" charset="-122"/>
                <a:cs typeface="Arial" pitchFamily="34" charset="-120"/>
              </a:rPr>
              <a:t>Freelancer</a:t>
            </a:r>
            <a:endParaRPr lang="en-US" sz="1150" dirty="0"/>
          </a:p>
        </p:txBody>
      </p:sp>
      <p:sp>
        <p:nvSpPr>
          <p:cNvPr id="43" name="Text 41"/>
          <p:cNvSpPr txBox="1"/>
          <p:nvPr/>
        </p:nvSpPr>
        <p:spPr>
          <a:xfrm>
            <a:off x="2980944" y="3182112"/>
            <a:ext cx="1911096" cy="292608"/>
          </a:xfrm>
          <a:prstGeom prst="rect">
            <a:avLst/>
          </a:prstGeom>
          <a:noFill/>
          <a:ln/>
        </p:spPr>
        <p:txBody>
          <a:bodyPr wrap="square" lIns="0" tIns="0" rIns="0" bIns="0" rtlCol="0" anchor="ctr"/>
          <a:lstStyle/>
          <a:p>
            <a:pPr indent="0" marL="0">
              <a:lnSpc>
                <a:spcPts val="1150"/>
              </a:lnSpc>
              <a:buNone/>
            </a:pPr>
            <a:r>
              <a:rPr lang="en-US" sz="900" dirty="0">
                <a:solidFill>
                  <a:srgbClr val="5A6C82"/>
                </a:solidFill>
                <a:latin typeface="Calibri" pitchFamily="34" charset="0"/>
                <a:ea typeface="Calibri" pitchFamily="34" charset="-122"/>
                <a:cs typeface="Calibri" pitchFamily="34" charset="-120"/>
              </a:rPr>
              <a:t>They hold their own permit</a:t>
            </a:r>
            <a:endParaRPr lang="en-US" sz="900" dirty="0"/>
          </a:p>
        </p:txBody>
      </p:sp>
      <p:sp>
        <p:nvSpPr>
          <p:cNvPr id="44" name="Text 42"/>
          <p:cNvSpPr txBox="1"/>
          <p:nvPr/>
        </p:nvSpPr>
        <p:spPr>
          <a:xfrm>
            <a:off x="2980944" y="3529584"/>
            <a:ext cx="822960" cy="182880"/>
          </a:xfrm>
          <a:prstGeom prst="rect">
            <a:avLst/>
          </a:prstGeom>
          <a:noFill/>
          <a:ln/>
        </p:spPr>
        <p:txBody>
          <a:bodyPr wrap="square" lIns="0" tIns="0" rIns="0" bIns="0" rtlCol="0" anchor="ctr"/>
          <a:lstStyle/>
          <a:p>
            <a:pPr indent="0" marL="0">
              <a:buNone/>
            </a:pPr>
            <a:r>
              <a:rPr lang="en-US" sz="820" b="1" dirty="0">
                <a:solidFill>
                  <a:srgbClr val="12756F"/>
                </a:solidFill>
                <a:latin typeface="Calibri" pitchFamily="34" charset="0"/>
                <a:ea typeface="Calibri" pitchFamily="34" charset="-122"/>
                <a:cs typeface="Calibri" pitchFamily="34" charset="-120"/>
              </a:rPr>
              <a:t>3 steps</a:t>
            </a:r>
            <a:endParaRPr lang="en-US" sz="820" dirty="0"/>
          </a:p>
        </p:txBody>
      </p:sp>
      <p:sp>
        <p:nvSpPr>
          <p:cNvPr id="45" name="Shape 43"/>
          <p:cNvSpPr/>
          <p:nvPr/>
        </p:nvSpPr>
        <p:spPr>
          <a:xfrm>
            <a:off x="3904488" y="3529584"/>
            <a:ext cx="987552" cy="182880"/>
          </a:xfrm>
          <a:prstGeom prst="roundRect">
            <a:avLst>
              <a:gd name="adj" fmla="val 50000"/>
            </a:avLst>
          </a:prstGeom>
          <a:solidFill>
            <a:srgbClr val="17795E"/>
          </a:solidFill>
          <a:ln/>
        </p:spPr>
      </p:sp>
      <p:sp>
        <p:nvSpPr>
          <p:cNvPr id="46" name="Text 44"/>
          <p:cNvSpPr txBox="1"/>
          <p:nvPr/>
        </p:nvSpPr>
        <p:spPr>
          <a:xfrm>
            <a:off x="3904488" y="3529584"/>
            <a:ext cx="987552" cy="182880"/>
          </a:xfrm>
          <a:prstGeom prst="rect">
            <a:avLst/>
          </a:prstGeom>
          <a:noFill/>
          <a:ln/>
        </p:spPr>
        <p:txBody>
          <a:bodyPr wrap="square" lIns="0" tIns="0" rIns="0" bIns="0" rtlCol="0" anchor="ctr"/>
          <a:lstStyle/>
          <a:p>
            <a:pPr algn="ctr" indent="0" marL="0">
              <a:buNone/>
            </a:pPr>
            <a:r>
              <a:rPr lang="en-US" sz="720" b="1" dirty="0">
                <a:solidFill>
                  <a:srgbClr val="FFFFFF"/>
                </a:solidFill>
                <a:latin typeface="Calibri" pitchFamily="34" charset="0"/>
                <a:ea typeface="Calibri" pitchFamily="34" charset="-122"/>
                <a:cs typeface="Calibri" pitchFamily="34" charset="-120"/>
              </a:rPr>
              <a:t>No quota used</a:t>
            </a:r>
            <a:endParaRPr lang="en-US" sz="720" dirty="0"/>
          </a:p>
        </p:txBody>
      </p:sp>
      <p:sp>
        <p:nvSpPr>
          <p:cNvPr id="47" name="Shape 45"/>
          <p:cNvSpPr/>
          <p:nvPr/>
        </p:nvSpPr>
        <p:spPr>
          <a:xfrm>
            <a:off x="5157216" y="2871216"/>
            <a:ext cx="2167128" cy="950976"/>
          </a:xfrm>
          <a:prstGeom prst="roundRect">
            <a:avLst>
              <a:gd name="adj" fmla="val 7692"/>
            </a:avLst>
          </a:prstGeom>
          <a:solidFill>
            <a:srgbClr val="F4F6F7"/>
          </a:solidFill>
          <a:ln w="9525">
            <a:solidFill>
              <a:srgbClr val="E3E7EA"/>
            </a:solidFill>
            <a:prstDash val="solid"/>
          </a:ln>
        </p:spPr>
      </p:sp>
      <p:sp>
        <p:nvSpPr>
          <p:cNvPr id="48" name="Text 46"/>
          <p:cNvSpPr txBox="1"/>
          <p:nvPr/>
        </p:nvSpPr>
        <p:spPr>
          <a:xfrm>
            <a:off x="5285232" y="2962656"/>
            <a:ext cx="1911096" cy="219456"/>
          </a:xfrm>
          <a:prstGeom prst="rect">
            <a:avLst/>
          </a:prstGeom>
          <a:noFill/>
          <a:ln/>
        </p:spPr>
        <p:txBody>
          <a:bodyPr wrap="square" lIns="0" tIns="0" rIns="0" bIns="0" rtlCol="0" anchor="ctr"/>
          <a:lstStyle/>
          <a:p>
            <a:pPr indent="0" marL="0">
              <a:buNone/>
            </a:pPr>
            <a:r>
              <a:rPr lang="en-US" sz="1150" b="1" dirty="0">
                <a:solidFill>
                  <a:srgbClr val="0C1E33"/>
                </a:solidFill>
                <a:latin typeface="Arial" pitchFamily="34" charset="0"/>
                <a:ea typeface="Arial" pitchFamily="34" charset="-122"/>
                <a:cs typeface="Arial" pitchFamily="34" charset="-120"/>
              </a:rPr>
              <a:t>Dependant Iqama</a:t>
            </a:r>
            <a:endParaRPr lang="en-US" sz="1150" dirty="0"/>
          </a:p>
        </p:txBody>
      </p:sp>
      <p:sp>
        <p:nvSpPr>
          <p:cNvPr id="49" name="Text 47"/>
          <p:cNvSpPr txBox="1"/>
          <p:nvPr/>
        </p:nvSpPr>
        <p:spPr>
          <a:xfrm>
            <a:off x="5285232" y="3182112"/>
            <a:ext cx="1911096" cy="292608"/>
          </a:xfrm>
          <a:prstGeom prst="rect">
            <a:avLst/>
          </a:prstGeom>
          <a:noFill/>
          <a:ln/>
        </p:spPr>
        <p:txBody>
          <a:bodyPr wrap="square" lIns="0" tIns="0" rIns="0" bIns="0" rtlCol="0" anchor="ctr"/>
          <a:lstStyle/>
          <a:p>
            <a:pPr indent="0" marL="0">
              <a:lnSpc>
                <a:spcPts val="1150"/>
              </a:lnSpc>
              <a:buNone/>
            </a:pPr>
            <a:r>
              <a:rPr lang="en-US" sz="900" dirty="0">
                <a:solidFill>
                  <a:srgbClr val="5A6C82"/>
                </a:solidFill>
                <a:latin typeface="Calibri" pitchFamily="34" charset="0"/>
                <a:ea typeface="Calibri" pitchFamily="34" charset="-122"/>
                <a:cs typeface="Calibri" pitchFamily="34" charset="-120"/>
              </a:rPr>
              <a:t>Spouse and children</a:t>
            </a:r>
            <a:endParaRPr lang="en-US" sz="900" dirty="0"/>
          </a:p>
        </p:txBody>
      </p:sp>
      <p:sp>
        <p:nvSpPr>
          <p:cNvPr id="50" name="Text 48"/>
          <p:cNvSpPr txBox="1"/>
          <p:nvPr/>
        </p:nvSpPr>
        <p:spPr>
          <a:xfrm>
            <a:off x="5285232" y="3529584"/>
            <a:ext cx="822960" cy="182880"/>
          </a:xfrm>
          <a:prstGeom prst="rect">
            <a:avLst/>
          </a:prstGeom>
          <a:noFill/>
          <a:ln/>
        </p:spPr>
        <p:txBody>
          <a:bodyPr wrap="square" lIns="0" tIns="0" rIns="0" bIns="0" rtlCol="0" anchor="ctr"/>
          <a:lstStyle/>
          <a:p>
            <a:pPr indent="0" marL="0">
              <a:buNone/>
            </a:pPr>
            <a:r>
              <a:rPr lang="en-US" sz="820" b="1" dirty="0">
                <a:solidFill>
                  <a:srgbClr val="12756F"/>
                </a:solidFill>
                <a:latin typeface="Calibri" pitchFamily="34" charset="0"/>
                <a:ea typeface="Calibri" pitchFamily="34" charset="-122"/>
                <a:cs typeface="Calibri" pitchFamily="34" charset="-120"/>
              </a:rPr>
              <a:t>4 steps</a:t>
            </a:r>
            <a:endParaRPr lang="en-US" sz="820" dirty="0"/>
          </a:p>
        </p:txBody>
      </p:sp>
      <p:sp>
        <p:nvSpPr>
          <p:cNvPr id="51" name="Shape 49"/>
          <p:cNvSpPr/>
          <p:nvPr/>
        </p:nvSpPr>
        <p:spPr>
          <a:xfrm>
            <a:off x="6208776" y="3529584"/>
            <a:ext cx="987552" cy="182880"/>
          </a:xfrm>
          <a:prstGeom prst="roundRect">
            <a:avLst>
              <a:gd name="adj" fmla="val 50000"/>
            </a:avLst>
          </a:prstGeom>
          <a:solidFill>
            <a:srgbClr val="B5730F"/>
          </a:solidFill>
          <a:ln/>
        </p:spPr>
      </p:sp>
      <p:sp>
        <p:nvSpPr>
          <p:cNvPr id="52" name="Text 50"/>
          <p:cNvSpPr txBox="1"/>
          <p:nvPr/>
        </p:nvSpPr>
        <p:spPr>
          <a:xfrm>
            <a:off x="6208776" y="3529584"/>
            <a:ext cx="987552" cy="182880"/>
          </a:xfrm>
          <a:prstGeom prst="rect">
            <a:avLst/>
          </a:prstGeom>
          <a:noFill/>
          <a:ln/>
        </p:spPr>
        <p:txBody>
          <a:bodyPr wrap="square" lIns="0" tIns="0" rIns="0" bIns="0" rtlCol="0" anchor="ctr"/>
          <a:lstStyle/>
          <a:p>
            <a:pPr algn="ctr" indent="0" marL="0">
              <a:buNone/>
            </a:pPr>
            <a:r>
              <a:rPr lang="en-US" sz="720" b="1" dirty="0">
                <a:solidFill>
                  <a:srgbClr val="FFFFFF"/>
                </a:solidFill>
                <a:latin typeface="Calibri" pitchFamily="34" charset="0"/>
                <a:ea typeface="Calibri" pitchFamily="34" charset="-122"/>
                <a:cs typeface="Calibri" pitchFamily="34" charset="-120"/>
              </a:rPr>
              <a:t>Fee per head</a:t>
            </a:r>
            <a:endParaRPr lang="en-US" sz="720" dirty="0"/>
          </a:p>
        </p:txBody>
      </p:sp>
      <p:sp>
        <p:nvSpPr>
          <p:cNvPr id="53" name="Shape 51"/>
          <p:cNvSpPr/>
          <p:nvPr/>
        </p:nvSpPr>
        <p:spPr>
          <a:xfrm>
            <a:off x="7461504" y="2871216"/>
            <a:ext cx="2167128" cy="950976"/>
          </a:xfrm>
          <a:prstGeom prst="roundRect">
            <a:avLst>
              <a:gd name="adj" fmla="val 7692"/>
            </a:avLst>
          </a:prstGeom>
          <a:solidFill>
            <a:srgbClr val="F4F6F7"/>
          </a:solidFill>
          <a:ln w="9525">
            <a:solidFill>
              <a:srgbClr val="E3E7EA"/>
            </a:solidFill>
            <a:prstDash val="solid"/>
          </a:ln>
        </p:spPr>
      </p:sp>
      <p:sp>
        <p:nvSpPr>
          <p:cNvPr id="54" name="Text 52"/>
          <p:cNvSpPr txBox="1"/>
          <p:nvPr/>
        </p:nvSpPr>
        <p:spPr>
          <a:xfrm>
            <a:off x="7589520" y="2962656"/>
            <a:ext cx="1911096" cy="219456"/>
          </a:xfrm>
          <a:prstGeom prst="rect">
            <a:avLst/>
          </a:prstGeom>
          <a:noFill/>
          <a:ln/>
        </p:spPr>
        <p:txBody>
          <a:bodyPr wrap="square" lIns="0" tIns="0" rIns="0" bIns="0" rtlCol="0" anchor="ctr"/>
          <a:lstStyle/>
          <a:p>
            <a:pPr indent="0" marL="0">
              <a:buNone/>
            </a:pPr>
            <a:r>
              <a:rPr lang="en-US" sz="1150" b="1" dirty="0">
                <a:solidFill>
                  <a:srgbClr val="0C1E33"/>
                </a:solidFill>
                <a:latin typeface="Arial" pitchFamily="34" charset="0"/>
                <a:ea typeface="Arial" pitchFamily="34" charset="-122"/>
                <a:cs typeface="Arial" pitchFamily="34" charset="-120"/>
              </a:rPr>
              <a:t>Domestic worker</a:t>
            </a:r>
            <a:endParaRPr lang="en-US" sz="1150" dirty="0"/>
          </a:p>
        </p:txBody>
      </p:sp>
      <p:sp>
        <p:nvSpPr>
          <p:cNvPr id="55" name="Text 53"/>
          <p:cNvSpPr txBox="1"/>
          <p:nvPr/>
        </p:nvSpPr>
        <p:spPr>
          <a:xfrm>
            <a:off x="7589520" y="3182112"/>
            <a:ext cx="1911096" cy="292608"/>
          </a:xfrm>
          <a:prstGeom prst="rect">
            <a:avLst/>
          </a:prstGeom>
          <a:noFill/>
          <a:ln/>
        </p:spPr>
        <p:txBody>
          <a:bodyPr wrap="square" lIns="0" tIns="0" rIns="0" bIns="0" rtlCol="0" anchor="ctr"/>
          <a:lstStyle/>
          <a:p>
            <a:pPr indent="0" marL="0">
              <a:lnSpc>
                <a:spcPts val="1150"/>
              </a:lnSpc>
              <a:buNone/>
            </a:pPr>
            <a:r>
              <a:rPr lang="en-US" sz="900" dirty="0">
                <a:solidFill>
                  <a:srgbClr val="5A6C82"/>
                </a:solidFill>
                <a:latin typeface="Calibri" pitchFamily="34" charset="0"/>
                <a:ea typeface="Calibri" pitchFamily="34" charset="-122"/>
                <a:cs typeface="Calibri" pitchFamily="34" charset="-120"/>
              </a:rPr>
              <a:t>Musaned, separate file</a:t>
            </a:r>
            <a:endParaRPr lang="en-US" sz="900" dirty="0"/>
          </a:p>
        </p:txBody>
      </p:sp>
      <p:sp>
        <p:nvSpPr>
          <p:cNvPr id="56" name="Text 54"/>
          <p:cNvSpPr txBox="1"/>
          <p:nvPr/>
        </p:nvSpPr>
        <p:spPr>
          <a:xfrm>
            <a:off x="7589520" y="3529584"/>
            <a:ext cx="822960" cy="182880"/>
          </a:xfrm>
          <a:prstGeom prst="rect">
            <a:avLst/>
          </a:prstGeom>
          <a:noFill/>
          <a:ln/>
        </p:spPr>
        <p:txBody>
          <a:bodyPr wrap="square" lIns="0" tIns="0" rIns="0" bIns="0" rtlCol="0" anchor="ctr"/>
          <a:lstStyle/>
          <a:p>
            <a:pPr indent="0" marL="0">
              <a:buNone/>
            </a:pPr>
            <a:r>
              <a:rPr lang="en-US" sz="820" b="1" dirty="0">
                <a:solidFill>
                  <a:srgbClr val="12756F"/>
                </a:solidFill>
                <a:latin typeface="Calibri" pitchFamily="34" charset="0"/>
                <a:ea typeface="Calibri" pitchFamily="34" charset="-122"/>
                <a:cs typeface="Calibri" pitchFamily="34" charset="-120"/>
              </a:rPr>
              <a:t>4 steps</a:t>
            </a:r>
            <a:endParaRPr lang="en-US" sz="820" dirty="0"/>
          </a:p>
        </p:txBody>
      </p:sp>
      <p:sp>
        <p:nvSpPr>
          <p:cNvPr id="57" name="Shape 55"/>
          <p:cNvSpPr/>
          <p:nvPr/>
        </p:nvSpPr>
        <p:spPr>
          <a:xfrm>
            <a:off x="8513064" y="3529584"/>
            <a:ext cx="987552" cy="182880"/>
          </a:xfrm>
          <a:prstGeom prst="roundRect">
            <a:avLst>
              <a:gd name="adj" fmla="val 50000"/>
            </a:avLst>
          </a:prstGeom>
          <a:solidFill>
            <a:srgbClr val="17795E"/>
          </a:solidFill>
          <a:ln/>
        </p:spPr>
      </p:sp>
      <p:sp>
        <p:nvSpPr>
          <p:cNvPr id="58" name="Text 56"/>
          <p:cNvSpPr txBox="1"/>
          <p:nvPr/>
        </p:nvSpPr>
        <p:spPr>
          <a:xfrm>
            <a:off x="8513064" y="3529584"/>
            <a:ext cx="987552" cy="182880"/>
          </a:xfrm>
          <a:prstGeom prst="rect">
            <a:avLst/>
          </a:prstGeom>
          <a:noFill/>
          <a:ln/>
        </p:spPr>
        <p:txBody>
          <a:bodyPr wrap="square" lIns="0" tIns="0" rIns="0" bIns="0" rtlCol="0" anchor="ctr"/>
          <a:lstStyle/>
          <a:p>
            <a:pPr algn="ctr" indent="0" marL="0">
              <a:buNone/>
            </a:pPr>
            <a:r>
              <a:rPr lang="en-US" sz="720" b="1" dirty="0">
                <a:solidFill>
                  <a:srgbClr val="FFFFFF"/>
                </a:solidFill>
                <a:latin typeface="Calibri" pitchFamily="34" charset="0"/>
                <a:ea typeface="Calibri" pitchFamily="34" charset="-122"/>
                <a:cs typeface="Calibri" pitchFamily="34" charset="-120"/>
              </a:rPr>
              <a:t>Separate file</a:t>
            </a:r>
            <a:endParaRPr lang="en-US" sz="720" dirty="0"/>
          </a:p>
        </p:txBody>
      </p:sp>
      <p:sp>
        <p:nvSpPr>
          <p:cNvPr id="59" name="Shape 57"/>
          <p:cNvSpPr/>
          <p:nvPr/>
        </p:nvSpPr>
        <p:spPr>
          <a:xfrm>
            <a:off x="9765792" y="2871216"/>
            <a:ext cx="2167128" cy="950976"/>
          </a:xfrm>
          <a:prstGeom prst="roundRect">
            <a:avLst>
              <a:gd name="adj" fmla="val 7692"/>
            </a:avLst>
          </a:prstGeom>
          <a:solidFill>
            <a:srgbClr val="EAF2FD"/>
          </a:solidFill>
          <a:ln w="9525">
            <a:solidFill>
              <a:srgbClr val="E3E7EA"/>
            </a:solidFill>
            <a:prstDash val="solid"/>
          </a:ln>
        </p:spPr>
      </p:sp>
      <p:sp>
        <p:nvSpPr>
          <p:cNvPr id="60" name="Text 58"/>
          <p:cNvSpPr txBox="1"/>
          <p:nvPr/>
        </p:nvSpPr>
        <p:spPr>
          <a:xfrm>
            <a:off x="9893808" y="2962656"/>
            <a:ext cx="1911096" cy="219456"/>
          </a:xfrm>
          <a:prstGeom prst="rect">
            <a:avLst/>
          </a:prstGeom>
          <a:noFill/>
          <a:ln/>
        </p:spPr>
        <p:txBody>
          <a:bodyPr wrap="square" lIns="0" tIns="0" rIns="0" bIns="0" rtlCol="0" anchor="ctr"/>
          <a:lstStyle/>
          <a:p>
            <a:pPr indent="0" marL="0">
              <a:buNone/>
            </a:pPr>
            <a:r>
              <a:rPr lang="en-US" sz="1150" b="1" dirty="0">
                <a:solidFill>
                  <a:srgbClr val="0C1E33"/>
                </a:solidFill>
                <a:latin typeface="Arial" pitchFamily="34" charset="0"/>
                <a:ea typeface="Arial" pitchFamily="34" charset="-122"/>
                <a:cs typeface="Arial" pitchFamily="34" charset="-120"/>
              </a:rPr>
              <a:t>Saudi national</a:t>
            </a:r>
            <a:endParaRPr lang="en-US" sz="1150" dirty="0"/>
          </a:p>
        </p:txBody>
      </p:sp>
      <p:sp>
        <p:nvSpPr>
          <p:cNvPr id="61" name="Text 59"/>
          <p:cNvSpPr txBox="1"/>
          <p:nvPr/>
        </p:nvSpPr>
        <p:spPr>
          <a:xfrm>
            <a:off x="9893808" y="3182112"/>
            <a:ext cx="1911096" cy="292608"/>
          </a:xfrm>
          <a:prstGeom prst="rect">
            <a:avLst/>
          </a:prstGeom>
          <a:noFill/>
          <a:ln/>
        </p:spPr>
        <p:txBody>
          <a:bodyPr wrap="square" lIns="0" tIns="0" rIns="0" bIns="0" rtlCol="0" anchor="ctr"/>
          <a:lstStyle/>
          <a:p>
            <a:pPr indent="0" marL="0">
              <a:lnSpc>
                <a:spcPts val="1150"/>
              </a:lnSpc>
              <a:buNone/>
            </a:pPr>
            <a:r>
              <a:rPr lang="en-US" sz="900" dirty="0">
                <a:solidFill>
                  <a:srgbClr val="5A6C82"/>
                </a:solidFill>
                <a:latin typeface="Calibri" pitchFamily="34" charset="0"/>
                <a:ea typeface="Calibri" pitchFamily="34" charset="-122"/>
                <a:cs typeface="Calibri" pitchFamily="34" charset="-120"/>
              </a:rPr>
              <a:t>No visa. Moves the ratio</a:t>
            </a:r>
            <a:endParaRPr lang="en-US" sz="900" dirty="0"/>
          </a:p>
        </p:txBody>
      </p:sp>
      <p:sp>
        <p:nvSpPr>
          <p:cNvPr id="62" name="Text 60"/>
          <p:cNvSpPr txBox="1"/>
          <p:nvPr/>
        </p:nvSpPr>
        <p:spPr>
          <a:xfrm>
            <a:off x="9893808" y="3529584"/>
            <a:ext cx="822960" cy="182880"/>
          </a:xfrm>
          <a:prstGeom prst="rect">
            <a:avLst/>
          </a:prstGeom>
          <a:noFill/>
          <a:ln/>
        </p:spPr>
        <p:txBody>
          <a:bodyPr wrap="square" lIns="0" tIns="0" rIns="0" bIns="0" rtlCol="0" anchor="ctr"/>
          <a:lstStyle/>
          <a:p>
            <a:pPr indent="0" marL="0">
              <a:buNone/>
            </a:pPr>
            <a:r>
              <a:rPr lang="en-US" sz="820" b="1" dirty="0">
                <a:solidFill>
                  <a:srgbClr val="12756F"/>
                </a:solidFill>
                <a:latin typeface="Calibri" pitchFamily="34" charset="0"/>
                <a:ea typeface="Calibri" pitchFamily="34" charset="-122"/>
                <a:cs typeface="Calibri" pitchFamily="34" charset="-120"/>
              </a:rPr>
              <a:t>4 steps</a:t>
            </a:r>
            <a:endParaRPr lang="en-US" sz="820" dirty="0"/>
          </a:p>
        </p:txBody>
      </p:sp>
      <p:sp>
        <p:nvSpPr>
          <p:cNvPr id="63" name="Shape 61"/>
          <p:cNvSpPr/>
          <p:nvPr/>
        </p:nvSpPr>
        <p:spPr>
          <a:xfrm>
            <a:off x="10817352" y="3529584"/>
            <a:ext cx="987552" cy="182880"/>
          </a:xfrm>
          <a:prstGeom prst="roundRect">
            <a:avLst>
              <a:gd name="adj" fmla="val 50000"/>
            </a:avLst>
          </a:prstGeom>
          <a:solidFill>
            <a:srgbClr val="17795E"/>
          </a:solidFill>
          <a:ln/>
        </p:spPr>
      </p:sp>
      <p:sp>
        <p:nvSpPr>
          <p:cNvPr id="64" name="Text 62"/>
          <p:cNvSpPr txBox="1"/>
          <p:nvPr/>
        </p:nvSpPr>
        <p:spPr>
          <a:xfrm>
            <a:off x="10817352" y="3529584"/>
            <a:ext cx="987552" cy="182880"/>
          </a:xfrm>
          <a:prstGeom prst="rect">
            <a:avLst/>
          </a:prstGeom>
          <a:noFill/>
          <a:ln/>
        </p:spPr>
        <p:txBody>
          <a:bodyPr wrap="square" lIns="0" tIns="0" rIns="0" bIns="0" rtlCol="0" anchor="ctr"/>
          <a:lstStyle/>
          <a:p>
            <a:pPr algn="ctr" indent="0" marL="0">
              <a:buNone/>
            </a:pPr>
            <a:r>
              <a:rPr lang="en-US" sz="720" b="1" dirty="0">
                <a:solidFill>
                  <a:srgbClr val="FFFFFF"/>
                </a:solidFill>
                <a:latin typeface="Calibri" pitchFamily="34" charset="0"/>
                <a:ea typeface="Calibri" pitchFamily="34" charset="-122"/>
                <a:cs typeface="Calibri" pitchFamily="34" charset="-120"/>
              </a:rPr>
              <a:t>Improves band</a:t>
            </a:r>
            <a:endParaRPr lang="en-US" sz="720" dirty="0"/>
          </a:p>
        </p:txBody>
      </p:sp>
      <p:sp>
        <p:nvSpPr>
          <p:cNvPr id="65" name="Shape 63"/>
          <p:cNvSpPr/>
          <p:nvPr/>
        </p:nvSpPr>
        <p:spPr>
          <a:xfrm>
            <a:off x="548640" y="4041648"/>
            <a:ext cx="11091672" cy="384048"/>
          </a:xfrm>
          <a:prstGeom prst="roundRect">
            <a:avLst>
              <a:gd name="adj" fmla="val 19048"/>
            </a:avLst>
          </a:prstGeom>
          <a:solidFill>
            <a:srgbClr val="0C1E33"/>
          </a:solidFill>
          <a:ln/>
        </p:spPr>
      </p:sp>
      <p:sp>
        <p:nvSpPr>
          <p:cNvPr id="66" name="Text 64"/>
          <p:cNvSpPr txBox="1"/>
          <p:nvPr/>
        </p:nvSpPr>
        <p:spPr>
          <a:xfrm>
            <a:off x="777240" y="4041648"/>
            <a:ext cx="10607040" cy="384048"/>
          </a:xfrm>
          <a:prstGeom prst="rect">
            <a:avLst/>
          </a:prstGeom>
          <a:noFill/>
          <a:ln/>
        </p:spPr>
        <p:txBody>
          <a:bodyPr wrap="square" lIns="0" tIns="0" rIns="0" bIns="0" rtlCol="0" anchor="ctr"/>
          <a:lstStyle/>
          <a:p>
            <a:pPr indent="0" marL="0">
              <a:buNone/>
            </a:pPr>
            <a:r>
              <a:rPr lang="en-US" sz="1050" b="1" spc="160" kern="0" dirty="0">
                <a:solidFill>
                  <a:srgbClr val="20A098"/>
                </a:solidFill>
                <a:latin typeface="Calibri" pitchFamily="34" charset="0"/>
                <a:ea typeface="Calibri" pitchFamily="34" charset="-122"/>
                <a:cs typeface="Calibri" pitchFamily="34" charset="-120"/>
              </a:rPr>
              <a:t>BLOCK VISAS: FOUR THINGS DECIDE WHETHER YOU GET ONE</a:t>
            </a:r>
            <a:endParaRPr lang="en-US" sz="1050" dirty="0"/>
          </a:p>
        </p:txBody>
      </p:sp>
      <p:sp>
        <p:nvSpPr>
          <p:cNvPr id="67" name="Shape 65"/>
          <p:cNvSpPr/>
          <p:nvPr/>
        </p:nvSpPr>
        <p:spPr>
          <a:xfrm>
            <a:off x="548640" y="4572000"/>
            <a:ext cx="2688336" cy="1188720"/>
          </a:xfrm>
          <a:prstGeom prst="roundRect">
            <a:avLst>
              <a:gd name="adj" fmla="val 6154"/>
            </a:avLst>
          </a:prstGeom>
          <a:solidFill>
            <a:srgbClr val="F4F6F7"/>
          </a:solidFill>
          <a:ln w="9525">
            <a:solidFill>
              <a:srgbClr val="E3E7EA"/>
            </a:solidFill>
            <a:prstDash val="solid"/>
          </a:ln>
        </p:spPr>
      </p:sp>
      <p:sp>
        <p:nvSpPr>
          <p:cNvPr id="68" name="Text 66"/>
          <p:cNvSpPr txBox="1"/>
          <p:nvPr/>
        </p:nvSpPr>
        <p:spPr>
          <a:xfrm>
            <a:off x="694944" y="4681728"/>
            <a:ext cx="2395728" cy="219456"/>
          </a:xfrm>
          <a:prstGeom prst="rect">
            <a:avLst/>
          </a:prstGeom>
          <a:noFill/>
          <a:ln/>
        </p:spPr>
        <p:txBody>
          <a:bodyPr wrap="square" lIns="0" tIns="0" rIns="0" bIns="0" rtlCol="0" anchor="ctr"/>
          <a:lstStyle/>
          <a:p>
            <a:pPr indent="0" marL="0">
              <a:buNone/>
            </a:pPr>
            <a:r>
              <a:rPr lang="en-US" sz="1200" b="1" dirty="0">
                <a:solidFill>
                  <a:srgbClr val="0C1E33"/>
                </a:solidFill>
                <a:latin typeface="Arial" pitchFamily="34" charset="0"/>
                <a:ea typeface="Arial" pitchFamily="34" charset="-122"/>
                <a:cs typeface="Arial" pitchFamily="34" charset="-120"/>
              </a:rPr>
              <a:t>Your band</a:t>
            </a:r>
            <a:endParaRPr lang="en-US" sz="1200" dirty="0"/>
          </a:p>
        </p:txBody>
      </p:sp>
      <p:sp>
        <p:nvSpPr>
          <p:cNvPr id="69" name="Text 67"/>
          <p:cNvSpPr txBox="1"/>
          <p:nvPr/>
        </p:nvSpPr>
        <p:spPr>
          <a:xfrm>
            <a:off x="694944" y="4919472"/>
            <a:ext cx="2414016" cy="749808"/>
          </a:xfrm>
          <a:prstGeom prst="rect">
            <a:avLst/>
          </a:prstGeom>
          <a:noFill/>
          <a:ln/>
        </p:spPr>
        <p:txBody>
          <a:bodyPr wrap="square" lIns="0" tIns="0" rIns="0" bIns="0" rtlCol="0" anchor="ctr"/>
          <a:lstStyle/>
          <a:p>
            <a:pPr indent="0" marL="0">
              <a:lnSpc>
                <a:spcPts val="1200"/>
              </a:lnSpc>
              <a:buNone/>
            </a:pPr>
            <a:r>
              <a:rPr lang="en-US" sz="900" dirty="0">
                <a:solidFill>
                  <a:srgbClr val="5A6C82"/>
                </a:solidFill>
                <a:latin typeface="Calibri" pitchFamily="34" charset="0"/>
                <a:ea typeface="Calibri" pitchFamily="34" charset="-122"/>
                <a:cs typeface="Calibri" pitchFamily="34" charset="-120"/>
              </a:rPr>
              <a:t>Nitaqat decides whether the tap opens at all. Red means nothing is issued, whatever the business case.</a:t>
            </a:r>
            <a:endParaRPr lang="en-US" sz="900" dirty="0"/>
          </a:p>
        </p:txBody>
      </p:sp>
      <p:sp>
        <p:nvSpPr>
          <p:cNvPr id="70" name="Shape 68"/>
          <p:cNvSpPr/>
          <p:nvPr/>
        </p:nvSpPr>
        <p:spPr>
          <a:xfrm>
            <a:off x="3374136" y="4572000"/>
            <a:ext cx="2688336" cy="1188720"/>
          </a:xfrm>
          <a:prstGeom prst="roundRect">
            <a:avLst>
              <a:gd name="adj" fmla="val 6154"/>
            </a:avLst>
          </a:prstGeom>
          <a:solidFill>
            <a:srgbClr val="F4F6F7"/>
          </a:solidFill>
          <a:ln w="9525">
            <a:solidFill>
              <a:srgbClr val="E3E7EA"/>
            </a:solidFill>
            <a:prstDash val="solid"/>
          </a:ln>
        </p:spPr>
      </p:sp>
      <p:sp>
        <p:nvSpPr>
          <p:cNvPr id="71" name="Text 69"/>
          <p:cNvSpPr txBox="1"/>
          <p:nvPr/>
        </p:nvSpPr>
        <p:spPr>
          <a:xfrm>
            <a:off x="3520440" y="4681728"/>
            <a:ext cx="2395728" cy="219456"/>
          </a:xfrm>
          <a:prstGeom prst="rect">
            <a:avLst/>
          </a:prstGeom>
          <a:noFill/>
          <a:ln/>
        </p:spPr>
        <p:txBody>
          <a:bodyPr wrap="square" lIns="0" tIns="0" rIns="0" bIns="0" rtlCol="0" anchor="ctr"/>
          <a:lstStyle/>
          <a:p>
            <a:pPr indent="0" marL="0">
              <a:buNone/>
            </a:pPr>
            <a:r>
              <a:rPr lang="en-US" sz="1200" b="1" dirty="0">
                <a:solidFill>
                  <a:srgbClr val="0C1E33"/>
                </a:solidFill>
                <a:latin typeface="Arial" pitchFamily="34" charset="0"/>
                <a:ea typeface="Arial" pitchFamily="34" charset="-122"/>
                <a:cs typeface="Arial" pitchFamily="34" charset="-120"/>
              </a:rPr>
              <a:t>Your size and age</a:t>
            </a:r>
            <a:endParaRPr lang="en-US" sz="1200" dirty="0"/>
          </a:p>
        </p:txBody>
      </p:sp>
      <p:sp>
        <p:nvSpPr>
          <p:cNvPr id="72" name="Text 70"/>
          <p:cNvSpPr txBox="1"/>
          <p:nvPr/>
        </p:nvSpPr>
        <p:spPr>
          <a:xfrm>
            <a:off x="3520440" y="4919472"/>
            <a:ext cx="2414016" cy="749808"/>
          </a:xfrm>
          <a:prstGeom prst="rect">
            <a:avLst/>
          </a:prstGeom>
          <a:noFill/>
          <a:ln/>
        </p:spPr>
        <p:txBody>
          <a:bodyPr wrap="square" lIns="0" tIns="0" rIns="0" bIns="0" rtlCol="0" anchor="ctr"/>
          <a:lstStyle/>
          <a:p>
            <a:pPr indent="0" marL="0">
              <a:lnSpc>
                <a:spcPts val="1200"/>
              </a:lnSpc>
              <a:buNone/>
            </a:pPr>
            <a:r>
              <a:rPr lang="en-US" sz="900" dirty="0">
                <a:solidFill>
                  <a:srgbClr val="5A6C82"/>
                </a:solidFill>
                <a:latin typeface="Calibri" pitchFamily="34" charset="0"/>
                <a:ea typeface="Calibri" pitchFamily="34" charset="-122"/>
                <a:cs typeface="Calibri" pitchFamily="34" charset="-120"/>
              </a:rPr>
              <a:t>Allocation scales with the establishment. A new entity gets a handful, an established one far more.</a:t>
            </a:r>
            <a:endParaRPr lang="en-US" sz="900" dirty="0"/>
          </a:p>
        </p:txBody>
      </p:sp>
      <p:sp>
        <p:nvSpPr>
          <p:cNvPr id="73" name="Shape 71"/>
          <p:cNvSpPr/>
          <p:nvPr/>
        </p:nvSpPr>
        <p:spPr>
          <a:xfrm>
            <a:off x="6199632" y="4572000"/>
            <a:ext cx="2688336" cy="1188720"/>
          </a:xfrm>
          <a:prstGeom prst="roundRect">
            <a:avLst>
              <a:gd name="adj" fmla="val 6154"/>
            </a:avLst>
          </a:prstGeom>
          <a:solidFill>
            <a:srgbClr val="F4F6F7"/>
          </a:solidFill>
          <a:ln w="9525">
            <a:solidFill>
              <a:srgbClr val="E3E7EA"/>
            </a:solidFill>
            <a:prstDash val="solid"/>
          </a:ln>
        </p:spPr>
      </p:sp>
      <p:sp>
        <p:nvSpPr>
          <p:cNvPr id="74" name="Text 72"/>
          <p:cNvSpPr txBox="1"/>
          <p:nvPr/>
        </p:nvSpPr>
        <p:spPr>
          <a:xfrm>
            <a:off x="6345936" y="4681728"/>
            <a:ext cx="2395728" cy="219456"/>
          </a:xfrm>
          <a:prstGeom prst="rect">
            <a:avLst/>
          </a:prstGeom>
          <a:noFill/>
          <a:ln/>
        </p:spPr>
        <p:txBody>
          <a:bodyPr wrap="square" lIns="0" tIns="0" rIns="0" bIns="0" rtlCol="0" anchor="ctr"/>
          <a:lstStyle/>
          <a:p>
            <a:pPr indent="0" marL="0">
              <a:buNone/>
            </a:pPr>
            <a:r>
              <a:rPr lang="en-US" sz="1200" b="1" dirty="0">
                <a:solidFill>
                  <a:srgbClr val="0C1E33"/>
                </a:solidFill>
                <a:latin typeface="Arial" pitchFamily="34" charset="0"/>
                <a:ea typeface="Arial" pitchFamily="34" charset="-122"/>
                <a:cs typeface="Arial" pitchFamily="34" charset="-120"/>
              </a:rPr>
              <a:t>The profession</a:t>
            </a:r>
            <a:endParaRPr lang="en-US" sz="1200" dirty="0"/>
          </a:p>
        </p:txBody>
      </p:sp>
      <p:sp>
        <p:nvSpPr>
          <p:cNvPr id="75" name="Text 73"/>
          <p:cNvSpPr txBox="1"/>
          <p:nvPr/>
        </p:nvSpPr>
        <p:spPr>
          <a:xfrm>
            <a:off x="6345936" y="4919472"/>
            <a:ext cx="2414016" cy="749808"/>
          </a:xfrm>
          <a:prstGeom prst="rect">
            <a:avLst/>
          </a:prstGeom>
          <a:noFill/>
          <a:ln/>
        </p:spPr>
        <p:txBody>
          <a:bodyPr wrap="square" lIns="0" tIns="0" rIns="0" bIns="0" rtlCol="0" anchor="ctr"/>
          <a:lstStyle/>
          <a:p>
            <a:pPr indent="0" marL="0">
              <a:lnSpc>
                <a:spcPts val="1200"/>
              </a:lnSpc>
              <a:buNone/>
            </a:pPr>
            <a:r>
              <a:rPr lang="en-US" sz="900" dirty="0">
                <a:solidFill>
                  <a:srgbClr val="5A6C82"/>
                </a:solidFill>
                <a:latin typeface="Calibri" pitchFamily="34" charset="0"/>
                <a:ea typeface="Calibri" pitchFamily="34" charset="-122"/>
                <a:cs typeface="Calibri" pitchFamily="34" charset="-120"/>
              </a:rPr>
              <a:t>Allocation is per profession code, and some are reserved for Saudis. The code must match the qualification.</a:t>
            </a:r>
            <a:endParaRPr lang="en-US" sz="900" dirty="0"/>
          </a:p>
        </p:txBody>
      </p:sp>
      <p:sp>
        <p:nvSpPr>
          <p:cNvPr id="76" name="Shape 74"/>
          <p:cNvSpPr/>
          <p:nvPr/>
        </p:nvSpPr>
        <p:spPr>
          <a:xfrm>
            <a:off x="9025128" y="4572000"/>
            <a:ext cx="2688336" cy="1188720"/>
          </a:xfrm>
          <a:prstGeom prst="roundRect">
            <a:avLst>
              <a:gd name="adj" fmla="val 6154"/>
            </a:avLst>
          </a:prstGeom>
          <a:solidFill>
            <a:srgbClr val="F4F6F7"/>
          </a:solidFill>
          <a:ln w="9525">
            <a:solidFill>
              <a:srgbClr val="E3E7EA"/>
            </a:solidFill>
            <a:prstDash val="solid"/>
          </a:ln>
        </p:spPr>
      </p:sp>
      <p:sp>
        <p:nvSpPr>
          <p:cNvPr id="77" name="Text 75"/>
          <p:cNvSpPr txBox="1"/>
          <p:nvPr/>
        </p:nvSpPr>
        <p:spPr>
          <a:xfrm>
            <a:off x="9171432" y="4681728"/>
            <a:ext cx="2395728" cy="219456"/>
          </a:xfrm>
          <a:prstGeom prst="rect">
            <a:avLst/>
          </a:prstGeom>
          <a:noFill/>
          <a:ln/>
        </p:spPr>
        <p:txBody>
          <a:bodyPr wrap="square" lIns="0" tIns="0" rIns="0" bIns="0" rtlCol="0" anchor="ctr"/>
          <a:lstStyle/>
          <a:p>
            <a:pPr indent="0" marL="0">
              <a:buNone/>
            </a:pPr>
            <a:r>
              <a:rPr lang="en-US" sz="1200" b="1" dirty="0">
                <a:solidFill>
                  <a:srgbClr val="0C1E33"/>
                </a:solidFill>
                <a:latin typeface="Arial" pitchFamily="34" charset="0"/>
                <a:ea typeface="Arial" pitchFamily="34" charset="-122"/>
                <a:cs typeface="Arial" pitchFamily="34" charset="-120"/>
              </a:rPr>
              <a:t>The nationality</a:t>
            </a:r>
            <a:endParaRPr lang="en-US" sz="1200" dirty="0"/>
          </a:p>
        </p:txBody>
      </p:sp>
      <p:sp>
        <p:nvSpPr>
          <p:cNvPr id="78" name="Text 76"/>
          <p:cNvSpPr txBox="1"/>
          <p:nvPr/>
        </p:nvSpPr>
        <p:spPr>
          <a:xfrm>
            <a:off x="9171432" y="4919472"/>
            <a:ext cx="2414016" cy="749808"/>
          </a:xfrm>
          <a:prstGeom prst="rect">
            <a:avLst/>
          </a:prstGeom>
          <a:noFill/>
          <a:ln/>
        </p:spPr>
        <p:txBody>
          <a:bodyPr wrap="square" lIns="0" tIns="0" rIns="0" bIns="0" rtlCol="0" anchor="ctr"/>
          <a:lstStyle/>
          <a:p>
            <a:pPr indent="0" marL="0">
              <a:lnSpc>
                <a:spcPts val="1200"/>
              </a:lnSpc>
              <a:buNone/>
            </a:pPr>
            <a:r>
              <a:rPr lang="en-US" sz="900" dirty="0">
                <a:solidFill>
                  <a:srgbClr val="5A6C82"/>
                </a:solidFill>
                <a:latin typeface="Calibri" pitchFamily="34" charset="0"/>
                <a:ea typeface="Calibri" pitchFamily="34" charset="-122"/>
                <a:cs typeface="Calibri" pitchFamily="34" charset="-120"/>
              </a:rPr>
              <a:t>High-volume nationalities go on temporary hold, often seasonally. An approved visa you cannot use is a blocked hire.</a:t>
            </a:r>
            <a:endParaRPr lang="en-US" sz="900" dirty="0"/>
          </a:p>
        </p:txBody>
      </p:sp>
      <p:sp>
        <p:nvSpPr>
          <p:cNvPr id="79" name="Shape 77"/>
          <p:cNvSpPr/>
          <p:nvPr/>
        </p:nvSpPr>
        <p:spPr>
          <a:xfrm>
            <a:off x="548640" y="5888736"/>
            <a:ext cx="11091672" cy="402336"/>
          </a:xfrm>
          <a:prstGeom prst="roundRect">
            <a:avLst>
              <a:gd name="adj" fmla="val 18182"/>
            </a:avLst>
          </a:prstGeom>
          <a:solidFill>
            <a:srgbClr val="E4F5F3"/>
          </a:solidFill>
          <a:ln w="10160">
            <a:solidFill>
              <a:srgbClr val="20A098"/>
            </a:solidFill>
            <a:prstDash val="solid"/>
          </a:ln>
        </p:spPr>
      </p:sp>
      <p:sp>
        <p:nvSpPr>
          <p:cNvPr id="80" name="Text 78"/>
          <p:cNvSpPr txBox="1"/>
          <p:nvPr/>
        </p:nvSpPr>
        <p:spPr>
          <a:xfrm>
            <a:off x="777240" y="5888736"/>
            <a:ext cx="10607040" cy="402336"/>
          </a:xfrm>
          <a:prstGeom prst="rect">
            <a:avLst/>
          </a:prstGeom>
          <a:noFill/>
          <a:ln/>
        </p:spPr>
        <p:txBody>
          <a:bodyPr wrap="square" lIns="0" tIns="0" rIns="0" bIns="0" rtlCol="0" anchor="ctr"/>
          <a:lstStyle/>
          <a:p>
            <a:pPr indent="0" marL="0">
              <a:buNone/>
            </a:pPr>
            <a:r>
              <a:rPr lang="en-US" sz="1050" b="1" dirty="0">
                <a:solidFill>
                  <a:srgbClr val="12756F"/>
                </a:solidFill>
                <a:latin typeface="Calibri" pitchFamily="34" charset="0"/>
                <a:ea typeface="Calibri" pitchFamily="34" charset="-122"/>
                <a:cs typeface="Calibri" pitchFamily="34" charset="-120"/>
              </a:rPr>
              <a:t>An unused block visa is an asset with an expiry.  </a:t>
            </a:r>
            <a:pPr indent="0" marL="0">
              <a:buNone/>
            </a:pPr>
            <a:r>
              <a:rPr lang="en-US" sz="1050" dirty="0">
                <a:solidFill>
                  <a:srgbClr val="0C1E33"/>
                </a:solidFill>
                <a:latin typeface="Calibri" pitchFamily="34" charset="0"/>
                <a:ea typeface="Calibri" pitchFamily="34" charset="-122"/>
                <a:cs typeface="Calibri" pitchFamily="34" charset="-120"/>
              </a:rPr>
              <a:t>Hold too few and hiring stalls. Hold too many and capital sits idle while the nationality you need goes on hold.</a:t>
            </a:r>
            <a:endParaRPr lang="en-US" sz="1050" dirty="0"/>
          </a:p>
        </p:txBody>
      </p:sp>
      <p:sp>
        <p:nvSpPr>
          <p:cNvPr id="81" name="Text 79"/>
          <p:cNvSpPr txBox="1"/>
          <p:nvPr/>
        </p:nvSpPr>
        <p:spPr>
          <a:xfrm>
            <a:off x="548640" y="6419088"/>
            <a:ext cx="8595360" cy="237744"/>
          </a:xfrm>
          <a:prstGeom prst="rect">
            <a:avLst/>
          </a:prstGeom>
          <a:noFill/>
          <a:ln/>
        </p:spPr>
        <p:txBody>
          <a:bodyPr wrap="square" lIns="0" tIns="0" rIns="0" bIns="0" rtlCol="0" anchor="ctr"/>
          <a:lstStyle/>
          <a:p>
            <a:pPr indent="0" marL="0">
              <a:buNone/>
            </a:pPr>
            <a:r>
              <a:rPr lang="en-US" sz="900" dirty="0">
                <a:solidFill>
                  <a:srgbClr val="96A3AE"/>
                </a:solidFill>
                <a:latin typeface="Calibri" pitchFamily="34" charset="0"/>
                <a:ea typeface="Calibri" pitchFamily="34" charset="-122"/>
                <a:cs typeface="Calibri" pitchFamily="34" charset="-120"/>
              </a:rPr>
              <a:t>INK IT Business Solutions  ·  Visa &amp; Permits Management  ·  Kingdom of Saudi Arabia</a:t>
            </a:r>
            <a:endParaRPr lang="en-US" sz="900" dirty="0"/>
          </a:p>
        </p:txBody>
      </p:sp>
      <p:sp>
        <p:nvSpPr>
          <p:cNvPr id="82" name="Text 80"/>
          <p:cNvSpPr txBox="1"/>
          <p:nvPr/>
        </p:nvSpPr>
        <p:spPr>
          <a:xfrm>
            <a:off x="11155680" y="6419088"/>
            <a:ext cx="457200" cy="237744"/>
          </a:xfrm>
          <a:prstGeom prst="rect">
            <a:avLst/>
          </a:prstGeom>
          <a:noFill/>
          <a:ln/>
        </p:spPr>
        <p:txBody>
          <a:bodyPr wrap="square" lIns="0" tIns="0" rIns="0" bIns="0" rtlCol="0" anchor="ctr"/>
          <a:lstStyle/>
          <a:p>
            <a:pPr algn="r" indent="0" marL="0">
              <a:buNone/>
            </a:pPr>
            <a:r>
              <a:rPr lang="en-US" sz="900" dirty="0">
                <a:solidFill>
                  <a:srgbClr val="96A3AE"/>
                </a:solidFill>
                <a:latin typeface="Calibri" pitchFamily="34" charset="0"/>
                <a:ea typeface="Calibri" pitchFamily="34" charset="-122"/>
                <a:cs typeface="Calibri" pitchFamily="34" charset="-120"/>
              </a:rPr>
              <a:t>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02336"/>
            <a:ext cx="11064240" cy="237744"/>
          </a:xfrm>
          <a:prstGeom prst="rect">
            <a:avLst/>
          </a:prstGeom>
          <a:noFill/>
          <a:ln/>
        </p:spPr>
        <p:txBody>
          <a:bodyPr wrap="square" lIns="0" tIns="0" rIns="0" bIns="0" rtlCol="0" anchor="ctr"/>
          <a:lstStyle/>
          <a:p>
            <a:pPr indent="0" marL="0">
              <a:buNone/>
            </a:pPr>
            <a:r>
              <a:rPr lang="en-US" sz="1100" b="1" spc="220" kern="0" dirty="0">
                <a:solidFill>
                  <a:srgbClr val="20A098"/>
                </a:solidFill>
                <a:latin typeface="Calibri" pitchFamily="34" charset="0"/>
                <a:ea typeface="Calibri" pitchFamily="34" charset="-122"/>
                <a:cs typeface="Calibri" pitchFamily="34" charset="-120"/>
              </a:rPr>
              <a:t>THE JOURNEY MAP</a:t>
            </a:r>
            <a:endParaRPr lang="en-US" sz="1100" dirty="0"/>
          </a:p>
        </p:txBody>
      </p:sp>
      <p:sp>
        <p:nvSpPr>
          <p:cNvPr id="3" name="Text 1"/>
          <p:cNvSpPr txBox="1"/>
          <p:nvPr/>
        </p:nvSpPr>
        <p:spPr>
          <a:xfrm>
            <a:off x="548640" y="658368"/>
            <a:ext cx="11064240" cy="566928"/>
          </a:xfrm>
          <a:prstGeom prst="rect">
            <a:avLst/>
          </a:prstGeom>
          <a:noFill/>
          <a:ln/>
        </p:spPr>
        <p:txBody>
          <a:bodyPr wrap="square" lIns="0" tIns="0" rIns="0" bIns="0" rtlCol="0" anchor="ctr"/>
          <a:lstStyle/>
          <a:p>
            <a:pPr indent="0" marL="0">
              <a:buNone/>
            </a:pPr>
            <a:r>
              <a:rPr lang="en-US" sz="3000" b="1" dirty="0">
                <a:solidFill>
                  <a:srgbClr val="0C1E33"/>
                </a:solidFill>
                <a:latin typeface="Arial" pitchFamily="34" charset="0"/>
                <a:ea typeface="Arial" pitchFamily="34" charset="-122"/>
                <a:cs typeface="Arial" pitchFamily="34" charset="-120"/>
              </a:rPr>
              <a:t>One Iqama, five people, seven stages.</a:t>
            </a:r>
            <a:endParaRPr lang="en-US" sz="3000" dirty="0"/>
          </a:p>
        </p:txBody>
      </p:sp>
      <p:sp>
        <p:nvSpPr>
          <p:cNvPr id="4" name="Text 2"/>
          <p:cNvSpPr txBox="1"/>
          <p:nvPr/>
        </p:nvSpPr>
        <p:spPr>
          <a:xfrm>
            <a:off x="548640" y="1243584"/>
            <a:ext cx="10424160" cy="420624"/>
          </a:xfrm>
          <a:prstGeom prst="rect">
            <a:avLst/>
          </a:prstGeom>
          <a:noFill/>
          <a:ln/>
        </p:spPr>
        <p:txBody>
          <a:bodyPr wrap="square" lIns="0" tIns="0" rIns="0" bIns="0" rtlCol="0" anchor="ctr"/>
          <a:lstStyle/>
          <a:p>
            <a:pPr indent="0" marL="0">
              <a:buNone/>
            </a:pPr>
            <a:r>
              <a:rPr lang="en-US" sz="1300" dirty="0">
                <a:solidFill>
                  <a:srgbClr val="5A6C82"/>
                </a:solidFill>
                <a:latin typeface="Calibri" pitchFamily="34" charset="0"/>
                <a:ea typeface="Calibri" pitchFamily="34" charset="-122"/>
                <a:cs typeface="Calibri" pitchFamily="34" charset="-120"/>
              </a:rPr>
              <a:t>Stages run left to right in the order they happen. Each lane is a person. Every arrow is a hand-off, and every hand-off is where the process stalls today.</a:t>
            </a:r>
            <a:endParaRPr lang="en-US" sz="1300" dirty="0"/>
          </a:p>
        </p:txBody>
      </p:sp>
      <p:pic>
        <p:nvPicPr>
          <p:cNvPr id="5" name="Image 0" descr="./img/journeymap.png">    </p:cNvPr>
          <p:cNvPicPr>
            <a:picLocks noChangeAspect="1"/>
          </p:cNvPicPr>
          <p:nvPr/>
        </p:nvPicPr>
        <p:blipFill>
          <a:blip r:embed="rId1"/>
          <a:stretch>
            <a:fillRect/>
          </a:stretch>
        </p:blipFill>
        <p:spPr>
          <a:xfrm>
            <a:off x="548640" y="1700784"/>
            <a:ext cx="11091672" cy="4023360"/>
          </a:xfrm>
          <a:prstGeom prst="rect">
            <a:avLst/>
          </a:prstGeom>
        </p:spPr>
      </p:pic>
      <p:sp>
        <p:nvSpPr>
          <p:cNvPr id="6" name="Shape 3"/>
          <p:cNvSpPr/>
          <p:nvPr/>
        </p:nvSpPr>
        <p:spPr>
          <a:xfrm>
            <a:off x="548640" y="5870448"/>
            <a:ext cx="11091672" cy="457200"/>
          </a:xfrm>
          <a:prstGeom prst="roundRect">
            <a:avLst>
              <a:gd name="adj" fmla="val 16000"/>
            </a:avLst>
          </a:prstGeom>
          <a:solidFill>
            <a:srgbClr val="FCF6E4"/>
          </a:solidFill>
          <a:ln w="11430">
            <a:solidFill>
              <a:srgbClr val="C9A227"/>
            </a:solidFill>
            <a:prstDash val="solid"/>
          </a:ln>
        </p:spPr>
      </p:sp>
      <p:sp>
        <p:nvSpPr>
          <p:cNvPr id="7" name="Text 4"/>
          <p:cNvSpPr txBox="1"/>
          <p:nvPr/>
        </p:nvSpPr>
        <p:spPr>
          <a:xfrm>
            <a:off x="777240" y="5870448"/>
            <a:ext cx="10607040" cy="457200"/>
          </a:xfrm>
          <a:prstGeom prst="rect">
            <a:avLst/>
          </a:prstGeom>
          <a:noFill/>
          <a:ln/>
        </p:spPr>
        <p:txBody>
          <a:bodyPr wrap="square" lIns="0" tIns="0" rIns="0" bIns="0" rtlCol="0" anchor="ctr"/>
          <a:lstStyle/>
          <a:p>
            <a:pPr indent="0" marL="0">
              <a:buNone/>
            </a:pPr>
            <a:r>
              <a:rPr lang="en-US" sz="1100" b="1" dirty="0">
                <a:solidFill>
                  <a:srgbClr val="7A6410"/>
                </a:solidFill>
                <a:latin typeface="Calibri" pitchFamily="34" charset="0"/>
                <a:ea typeface="Calibri" pitchFamily="34" charset="-122"/>
                <a:cs typeface="Calibri" pitchFamily="34" charset="-120"/>
              </a:rPr>
              <a:t>Look at stage one.  </a:t>
            </a:r>
            <a:pPr indent="0" marL="0">
              <a:buNone/>
            </a:pPr>
            <a:r>
              <a:rPr lang="en-US" sz="1100" dirty="0">
                <a:solidFill>
                  <a:srgbClr val="0C1E33"/>
                </a:solidFill>
                <a:latin typeface="Calibri" pitchFamily="34" charset="0"/>
                <a:ea typeface="Calibri" pitchFamily="34" charset="-122"/>
                <a:cs typeface="Calibri" pitchFamily="34" charset="-120"/>
              </a:rPr>
              <a:t>In the UAE a permit starts with a quota check. In Saudi Arabia it starts with a Nitaqat check, because the band decides whether a block visa can be requested at all. That is why a KSA rollout is not a UAE rollout with the names changed.</a:t>
            </a:r>
            <a:endParaRPr lang="en-US" sz="1100" dirty="0"/>
          </a:p>
        </p:txBody>
      </p:sp>
      <p:sp>
        <p:nvSpPr>
          <p:cNvPr id="8" name="Text 5"/>
          <p:cNvSpPr txBox="1"/>
          <p:nvPr/>
        </p:nvSpPr>
        <p:spPr>
          <a:xfrm>
            <a:off x="548640" y="6419088"/>
            <a:ext cx="8595360" cy="237744"/>
          </a:xfrm>
          <a:prstGeom prst="rect">
            <a:avLst/>
          </a:prstGeom>
          <a:noFill/>
          <a:ln/>
        </p:spPr>
        <p:txBody>
          <a:bodyPr wrap="square" lIns="0" tIns="0" rIns="0" bIns="0" rtlCol="0" anchor="ctr"/>
          <a:lstStyle/>
          <a:p>
            <a:pPr indent="0" marL="0">
              <a:buNone/>
            </a:pPr>
            <a:r>
              <a:rPr lang="en-US" sz="900" dirty="0">
                <a:solidFill>
                  <a:srgbClr val="96A3AE"/>
                </a:solidFill>
                <a:latin typeface="Calibri" pitchFamily="34" charset="0"/>
                <a:ea typeface="Calibri" pitchFamily="34" charset="-122"/>
                <a:cs typeface="Calibri" pitchFamily="34" charset="-120"/>
              </a:rPr>
              <a:t>INK IT Business Solutions  ·  Visa &amp; Permits Management  ·  Kingdom of Saudi Arabia</a:t>
            </a:r>
            <a:endParaRPr lang="en-US" sz="900" dirty="0"/>
          </a:p>
        </p:txBody>
      </p:sp>
      <p:sp>
        <p:nvSpPr>
          <p:cNvPr id="9" name="Text 6"/>
          <p:cNvSpPr txBox="1"/>
          <p:nvPr/>
        </p:nvSpPr>
        <p:spPr>
          <a:xfrm>
            <a:off x="11155680" y="6419088"/>
            <a:ext cx="457200" cy="237744"/>
          </a:xfrm>
          <a:prstGeom prst="rect">
            <a:avLst/>
          </a:prstGeom>
          <a:noFill/>
          <a:ln/>
        </p:spPr>
        <p:txBody>
          <a:bodyPr wrap="square" lIns="0" tIns="0" rIns="0" bIns="0" rtlCol="0" anchor="ctr"/>
          <a:lstStyle/>
          <a:p>
            <a:pPr algn="r" indent="0" marL="0">
              <a:buNone/>
            </a:pPr>
            <a:r>
              <a:rPr lang="en-US" sz="900" dirty="0">
                <a:solidFill>
                  <a:srgbClr val="96A3AE"/>
                </a:solidFill>
                <a:latin typeface="Calibri" pitchFamily="34" charset="0"/>
                <a:ea typeface="Calibri" pitchFamily="34" charset="-122"/>
                <a:cs typeface="Calibri" pitchFamily="34" charset="-120"/>
              </a:rPr>
              <a:t>6</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02336"/>
            <a:ext cx="11064240" cy="237744"/>
          </a:xfrm>
          <a:prstGeom prst="rect">
            <a:avLst/>
          </a:prstGeom>
          <a:noFill/>
          <a:ln/>
        </p:spPr>
        <p:txBody>
          <a:bodyPr wrap="square" lIns="0" tIns="0" rIns="0" bIns="0" rtlCol="0" anchor="ctr"/>
          <a:lstStyle/>
          <a:p>
            <a:pPr indent="0" marL="0">
              <a:buNone/>
            </a:pPr>
            <a:r>
              <a:rPr lang="en-US" sz="1100" b="1" spc="220" kern="0" dirty="0">
                <a:solidFill>
                  <a:srgbClr val="20A098"/>
                </a:solidFill>
                <a:latin typeface="Calibri" pitchFamily="34" charset="0"/>
                <a:ea typeface="Calibri" pitchFamily="34" charset="-122"/>
                <a:cs typeface="Calibri" pitchFamily="34" charset="-120"/>
              </a:rPr>
              <a:t>EXIT &amp; RE-ENTRY</a:t>
            </a:r>
            <a:endParaRPr lang="en-US" sz="1100" dirty="0"/>
          </a:p>
        </p:txBody>
      </p:sp>
      <p:sp>
        <p:nvSpPr>
          <p:cNvPr id="3" name="Text 1"/>
          <p:cNvSpPr txBox="1"/>
          <p:nvPr/>
        </p:nvSpPr>
        <p:spPr>
          <a:xfrm>
            <a:off x="548640" y="658368"/>
            <a:ext cx="11064240" cy="566928"/>
          </a:xfrm>
          <a:prstGeom prst="rect">
            <a:avLst/>
          </a:prstGeom>
          <a:noFill/>
          <a:ln/>
        </p:spPr>
        <p:txBody>
          <a:bodyPr wrap="square" lIns="0" tIns="0" rIns="0" bIns="0" rtlCol="0" anchor="ctr"/>
          <a:lstStyle/>
          <a:p>
            <a:pPr indent="0" marL="0">
              <a:buNone/>
            </a:pPr>
            <a:r>
              <a:rPr lang="en-US" sz="3000" b="1" dirty="0">
                <a:solidFill>
                  <a:srgbClr val="0C1E33"/>
                </a:solidFill>
                <a:latin typeface="Arial" pitchFamily="34" charset="0"/>
                <a:ea typeface="Arial" pitchFamily="34" charset="-122"/>
                <a:cs typeface="Arial" pitchFamily="34" charset="-120"/>
              </a:rPr>
              <a:t>The process that costs the most when it goes wrong.</a:t>
            </a:r>
            <a:endParaRPr lang="en-US" sz="3000" dirty="0"/>
          </a:p>
        </p:txBody>
      </p:sp>
      <p:sp>
        <p:nvSpPr>
          <p:cNvPr id="4" name="Text 2"/>
          <p:cNvSpPr txBox="1"/>
          <p:nvPr/>
        </p:nvSpPr>
        <p:spPr>
          <a:xfrm>
            <a:off x="548640" y="1243584"/>
            <a:ext cx="10424160" cy="420624"/>
          </a:xfrm>
          <a:prstGeom prst="rect">
            <a:avLst/>
          </a:prstGeom>
          <a:noFill/>
          <a:ln/>
        </p:spPr>
        <p:txBody>
          <a:bodyPr wrap="square" lIns="0" tIns="0" rIns="0" bIns="0" rtlCol="0" anchor="ctr"/>
          <a:lstStyle/>
          <a:p>
            <a:pPr indent="0" marL="0">
              <a:buNone/>
            </a:pPr>
            <a:r>
              <a:rPr lang="en-US" sz="1300" dirty="0">
                <a:solidFill>
                  <a:srgbClr val="5A6C82"/>
                </a:solidFill>
                <a:latin typeface="Calibri" pitchFamily="34" charset="0"/>
                <a:ea typeface="Calibri" pitchFamily="34" charset="-122"/>
                <a:cs typeface="Calibri" pitchFamily="34" charset="-120"/>
              </a:rPr>
              <a:t>Every expatriate leaving the Kingdom and intending to return needs an exit re-entry visa. Miss the return date and the Iqama is cancelled, and they cannot come back.</a:t>
            </a:r>
            <a:endParaRPr lang="en-US" sz="1300" dirty="0"/>
          </a:p>
        </p:txBody>
      </p:sp>
      <p:sp>
        <p:nvSpPr>
          <p:cNvPr id="5" name="Shape 3"/>
          <p:cNvSpPr/>
          <p:nvPr/>
        </p:nvSpPr>
        <p:spPr>
          <a:xfrm>
            <a:off x="548640" y="1810512"/>
            <a:ext cx="5394960" cy="621792"/>
          </a:xfrm>
          <a:prstGeom prst="roundRect">
            <a:avLst>
              <a:gd name="adj" fmla="val 11765"/>
            </a:avLst>
          </a:prstGeom>
          <a:solidFill>
            <a:srgbClr val="F4F6F7"/>
          </a:solidFill>
          <a:ln w="9525">
            <a:solidFill>
              <a:srgbClr val="E3E7EA"/>
            </a:solidFill>
            <a:prstDash val="solid"/>
          </a:ln>
        </p:spPr>
      </p:sp>
      <p:sp>
        <p:nvSpPr>
          <p:cNvPr id="6" name="Shape 4"/>
          <p:cNvSpPr/>
          <p:nvPr/>
        </p:nvSpPr>
        <p:spPr>
          <a:xfrm>
            <a:off x="713232" y="1947672"/>
            <a:ext cx="347472" cy="347472"/>
          </a:xfrm>
          <a:prstGeom prst="ellipse">
            <a:avLst/>
          </a:prstGeom>
          <a:solidFill>
            <a:srgbClr val="20A098"/>
          </a:solidFill>
          <a:ln/>
        </p:spPr>
      </p:sp>
      <p:sp>
        <p:nvSpPr>
          <p:cNvPr id="7" name="Text 5"/>
          <p:cNvSpPr txBox="1"/>
          <p:nvPr/>
        </p:nvSpPr>
        <p:spPr>
          <a:xfrm>
            <a:off x="713232" y="1947672"/>
            <a:ext cx="347472" cy="347472"/>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8" name="Text 6"/>
          <p:cNvSpPr txBox="1"/>
          <p:nvPr/>
        </p:nvSpPr>
        <p:spPr>
          <a:xfrm>
            <a:off x="1188720" y="1874520"/>
            <a:ext cx="4480560" cy="219456"/>
          </a:xfrm>
          <a:prstGeom prst="rect">
            <a:avLst/>
          </a:prstGeom>
          <a:noFill/>
          <a:ln/>
        </p:spPr>
        <p:txBody>
          <a:bodyPr wrap="square" lIns="0" tIns="0" rIns="0" bIns="0" rtlCol="0" anchor="ctr"/>
          <a:lstStyle/>
          <a:p>
            <a:pPr indent="0" marL="0">
              <a:buNone/>
            </a:pPr>
            <a:r>
              <a:rPr lang="en-US" sz="1200" b="1" dirty="0">
                <a:solidFill>
                  <a:srgbClr val="0C1E33"/>
                </a:solidFill>
                <a:latin typeface="Arial" pitchFamily="34" charset="0"/>
                <a:ea typeface="Arial" pitchFamily="34" charset="-122"/>
                <a:cs typeface="Arial" pitchFamily="34" charset="-120"/>
              </a:rPr>
              <a:t>Employee requests</a:t>
            </a:r>
            <a:endParaRPr lang="en-US" sz="1200" dirty="0"/>
          </a:p>
        </p:txBody>
      </p:sp>
      <p:sp>
        <p:nvSpPr>
          <p:cNvPr id="9" name="Text 7"/>
          <p:cNvSpPr txBox="1"/>
          <p:nvPr/>
        </p:nvSpPr>
        <p:spPr>
          <a:xfrm>
            <a:off x="1188720" y="2093976"/>
            <a:ext cx="4572000" cy="292608"/>
          </a:xfrm>
          <a:prstGeom prst="rect">
            <a:avLst/>
          </a:prstGeom>
          <a:noFill/>
          <a:ln/>
        </p:spPr>
        <p:txBody>
          <a:bodyPr wrap="square" lIns="0" tIns="0" rIns="0" bIns="0" rtlCol="0" anchor="ctr"/>
          <a:lstStyle/>
          <a:p>
            <a:pPr indent="0" marL="0">
              <a:lnSpc>
                <a:spcPts val="1250"/>
              </a:lnSpc>
              <a:buNone/>
            </a:pPr>
            <a:r>
              <a:rPr lang="en-US" sz="940" dirty="0">
                <a:solidFill>
                  <a:srgbClr val="5A6C82"/>
                </a:solidFill>
                <a:latin typeface="Calibri" pitchFamily="34" charset="0"/>
                <a:ea typeface="Calibri" pitchFamily="34" charset="-122"/>
                <a:cs typeface="Calibri" pitchFamily="34" charset="-120"/>
              </a:rPr>
              <a:t>Travel dates come from the person travelling, in self-service, not second hand.</a:t>
            </a:r>
            <a:endParaRPr lang="en-US" sz="940" dirty="0"/>
          </a:p>
        </p:txBody>
      </p:sp>
      <p:sp>
        <p:nvSpPr>
          <p:cNvPr id="10" name="Shape 8"/>
          <p:cNvSpPr/>
          <p:nvPr/>
        </p:nvSpPr>
        <p:spPr>
          <a:xfrm>
            <a:off x="548640" y="2532888"/>
            <a:ext cx="5394960" cy="621792"/>
          </a:xfrm>
          <a:prstGeom prst="roundRect">
            <a:avLst>
              <a:gd name="adj" fmla="val 11765"/>
            </a:avLst>
          </a:prstGeom>
          <a:solidFill>
            <a:srgbClr val="FFFFFF"/>
          </a:solidFill>
          <a:ln w="9525">
            <a:solidFill>
              <a:srgbClr val="E3E7EA"/>
            </a:solidFill>
            <a:prstDash val="solid"/>
          </a:ln>
        </p:spPr>
      </p:sp>
      <p:sp>
        <p:nvSpPr>
          <p:cNvPr id="11" name="Shape 9"/>
          <p:cNvSpPr/>
          <p:nvPr/>
        </p:nvSpPr>
        <p:spPr>
          <a:xfrm>
            <a:off x="713232" y="2670048"/>
            <a:ext cx="347472" cy="347472"/>
          </a:xfrm>
          <a:prstGeom prst="ellipse">
            <a:avLst/>
          </a:prstGeom>
          <a:solidFill>
            <a:srgbClr val="20A098"/>
          </a:solidFill>
          <a:ln/>
        </p:spPr>
      </p:sp>
      <p:sp>
        <p:nvSpPr>
          <p:cNvPr id="12" name="Text 10"/>
          <p:cNvSpPr txBox="1"/>
          <p:nvPr/>
        </p:nvSpPr>
        <p:spPr>
          <a:xfrm>
            <a:off x="713232" y="2670048"/>
            <a:ext cx="347472" cy="347472"/>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13" name="Text 11"/>
          <p:cNvSpPr txBox="1"/>
          <p:nvPr/>
        </p:nvSpPr>
        <p:spPr>
          <a:xfrm>
            <a:off x="1188720" y="2596896"/>
            <a:ext cx="4480560" cy="219456"/>
          </a:xfrm>
          <a:prstGeom prst="rect">
            <a:avLst/>
          </a:prstGeom>
          <a:noFill/>
          <a:ln/>
        </p:spPr>
        <p:txBody>
          <a:bodyPr wrap="square" lIns="0" tIns="0" rIns="0" bIns="0" rtlCol="0" anchor="ctr"/>
          <a:lstStyle/>
          <a:p>
            <a:pPr indent="0" marL="0">
              <a:buNone/>
            </a:pPr>
            <a:r>
              <a:rPr lang="en-US" sz="1200" b="1" dirty="0">
                <a:solidFill>
                  <a:srgbClr val="0C1E33"/>
                </a:solidFill>
                <a:latin typeface="Arial" pitchFamily="34" charset="0"/>
                <a:ea typeface="Arial" pitchFamily="34" charset="-122"/>
                <a:cs typeface="Arial" pitchFamily="34" charset="-120"/>
              </a:rPr>
              <a:t>Manager and HR approve</a:t>
            </a:r>
            <a:endParaRPr lang="en-US" sz="1200" dirty="0"/>
          </a:p>
        </p:txBody>
      </p:sp>
      <p:sp>
        <p:nvSpPr>
          <p:cNvPr id="14" name="Text 12"/>
          <p:cNvSpPr txBox="1"/>
          <p:nvPr/>
        </p:nvSpPr>
        <p:spPr>
          <a:xfrm>
            <a:off x="1188720" y="2816352"/>
            <a:ext cx="4572000" cy="292608"/>
          </a:xfrm>
          <a:prstGeom prst="rect">
            <a:avLst/>
          </a:prstGeom>
          <a:noFill/>
          <a:ln/>
        </p:spPr>
        <p:txBody>
          <a:bodyPr wrap="square" lIns="0" tIns="0" rIns="0" bIns="0" rtlCol="0" anchor="ctr"/>
          <a:lstStyle/>
          <a:p>
            <a:pPr indent="0" marL="0">
              <a:lnSpc>
                <a:spcPts val="1250"/>
              </a:lnSpc>
              <a:buNone/>
            </a:pPr>
            <a:r>
              <a:rPr lang="en-US" sz="940" dirty="0">
                <a:solidFill>
                  <a:srgbClr val="5A6C82"/>
                </a:solidFill>
                <a:latin typeface="Calibri" pitchFamily="34" charset="0"/>
                <a:ea typeface="Calibri" pitchFamily="34" charset="-122"/>
                <a:cs typeface="Calibri" pitchFamily="34" charset="-120"/>
              </a:rPr>
              <a:t>Absence against the leave calendar, then Iqama validity, dues, loans and notice.</a:t>
            </a:r>
            <a:endParaRPr lang="en-US" sz="940" dirty="0"/>
          </a:p>
        </p:txBody>
      </p:sp>
      <p:sp>
        <p:nvSpPr>
          <p:cNvPr id="15" name="Shape 13"/>
          <p:cNvSpPr/>
          <p:nvPr/>
        </p:nvSpPr>
        <p:spPr>
          <a:xfrm>
            <a:off x="548640" y="3255264"/>
            <a:ext cx="5394960" cy="621792"/>
          </a:xfrm>
          <a:prstGeom prst="roundRect">
            <a:avLst>
              <a:gd name="adj" fmla="val 11765"/>
            </a:avLst>
          </a:prstGeom>
          <a:solidFill>
            <a:srgbClr val="F4F6F7"/>
          </a:solidFill>
          <a:ln w="9525">
            <a:solidFill>
              <a:srgbClr val="E3E7EA"/>
            </a:solidFill>
            <a:prstDash val="solid"/>
          </a:ln>
        </p:spPr>
      </p:sp>
      <p:sp>
        <p:nvSpPr>
          <p:cNvPr id="16" name="Shape 14"/>
          <p:cNvSpPr/>
          <p:nvPr/>
        </p:nvSpPr>
        <p:spPr>
          <a:xfrm>
            <a:off x="713232" y="3392424"/>
            <a:ext cx="347472" cy="347472"/>
          </a:xfrm>
          <a:prstGeom prst="ellipse">
            <a:avLst/>
          </a:prstGeom>
          <a:solidFill>
            <a:srgbClr val="20A098"/>
          </a:solidFill>
          <a:ln/>
        </p:spPr>
      </p:sp>
      <p:sp>
        <p:nvSpPr>
          <p:cNvPr id="17" name="Text 15"/>
          <p:cNvSpPr txBox="1"/>
          <p:nvPr/>
        </p:nvSpPr>
        <p:spPr>
          <a:xfrm>
            <a:off x="713232" y="3392424"/>
            <a:ext cx="347472" cy="347472"/>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18" name="Text 16"/>
          <p:cNvSpPr txBox="1"/>
          <p:nvPr/>
        </p:nvSpPr>
        <p:spPr>
          <a:xfrm>
            <a:off x="1188720" y="3319272"/>
            <a:ext cx="4480560" cy="219456"/>
          </a:xfrm>
          <a:prstGeom prst="rect">
            <a:avLst/>
          </a:prstGeom>
          <a:noFill/>
          <a:ln/>
        </p:spPr>
        <p:txBody>
          <a:bodyPr wrap="square" lIns="0" tIns="0" rIns="0" bIns="0" rtlCol="0" anchor="ctr"/>
          <a:lstStyle/>
          <a:p>
            <a:pPr indent="0" marL="0">
              <a:buNone/>
            </a:pPr>
            <a:r>
              <a:rPr lang="en-US" sz="1200" b="1" dirty="0">
                <a:solidFill>
                  <a:srgbClr val="0C1E33"/>
                </a:solidFill>
                <a:latin typeface="Arial" pitchFamily="34" charset="0"/>
                <a:ea typeface="Arial" pitchFamily="34" charset="-122"/>
                <a:cs typeface="Arial" pitchFamily="34" charset="-120"/>
              </a:rPr>
              <a:t>Muqeem visa issued</a:t>
            </a:r>
            <a:endParaRPr lang="en-US" sz="1200" dirty="0"/>
          </a:p>
        </p:txBody>
      </p:sp>
      <p:sp>
        <p:nvSpPr>
          <p:cNvPr id="19" name="Text 17"/>
          <p:cNvSpPr txBox="1"/>
          <p:nvPr/>
        </p:nvSpPr>
        <p:spPr>
          <a:xfrm>
            <a:off x="1188720" y="3538728"/>
            <a:ext cx="4572000" cy="292608"/>
          </a:xfrm>
          <a:prstGeom prst="rect">
            <a:avLst/>
          </a:prstGeom>
          <a:noFill/>
          <a:ln/>
        </p:spPr>
        <p:txBody>
          <a:bodyPr wrap="square" lIns="0" tIns="0" rIns="0" bIns="0" rtlCol="0" anchor="ctr"/>
          <a:lstStyle/>
          <a:p>
            <a:pPr indent="0" marL="0">
              <a:lnSpc>
                <a:spcPts val="1250"/>
              </a:lnSpc>
              <a:buNone/>
            </a:pPr>
            <a:r>
              <a:rPr lang="en-US" sz="940" dirty="0">
                <a:solidFill>
                  <a:srgbClr val="5A6C82"/>
                </a:solidFill>
                <a:latin typeface="Calibri" pitchFamily="34" charset="0"/>
                <a:ea typeface="Calibri" pitchFamily="34" charset="-122"/>
                <a:cs typeface="Calibri" pitchFamily="34" charset="-120"/>
              </a:rPr>
              <a:t>Single or multiple, duration recorded, SADAD fee captured with the receipt.</a:t>
            </a:r>
            <a:endParaRPr lang="en-US" sz="940" dirty="0"/>
          </a:p>
        </p:txBody>
      </p:sp>
      <p:sp>
        <p:nvSpPr>
          <p:cNvPr id="20" name="Shape 18"/>
          <p:cNvSpPr/>
          <p:nvPr/>
        </p:nvSpPr>
        <p:spPr>
          <a:xfrm>
            <a:off x="548640" y="3977640"/>
            <a:ext cx="5394960" cy="621792"/>
          </a:xfrm>
          <a:prstGeom prst="roundRect">
            <a:avLst>
              <a:gd name="adj" fmla="val 11765"/>
            </a:avLst>
          </a:prstGeom>
          <a:solidFill>
            <a:srgbClr val="FFFFFF"/>
          </a:solidFill>
          <a:ln w="9525">
            <a:solidFill>
              <a:srgbClr val="E3E7EA"/>
            </a:solidFill>
            <a:prstDash val="solid"/>
          </a:ln>
        </p:spPr>
      </p:sp>
      <p:sp>
        <p:nvSpPr>
          <p:cNvPr id="21" name="Shape 19"/>
          <p:cNvSpPr/>
          <p:nvPr/>
        </p:nvSpPr>
        <p:spPr>
          <a:xfrm>
            <a:off x="713232" y="4114800"/>
            <a:ext cx="347472" cy="347472"/>
          </a:xfrm>
          <a:prstGeom prst="ellipse">
            <a:avLst/>
          </a:prstGeom>
          <a:solidFill>
            <a:srgbClr val="20A098"/>
          </a:solidFill>
          <a:ln/>
        </p:spPr>
      </p:sp>
      <p:sp>
        <p:nvSpPr>
          <p:cNvPr id="22" name="Text 20"/>
          <p:cNvSpPr txBox="1"/>
          <p:nvPr/>
        </p:nvSpPr>
        <p:spPr>
          <a:xfrm>
            <a:off x="713232" y="4114800"/>
            <a:ext cx="347472" cy="347472"/>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23" name="Text 21"/>
          <p:cNvSpPr txBox="1"/>
          <p:nvPr/>
        </p:nvSpPr>
        <p:spPr>
          <a:xfrm>
            <a:off x="1188720" y="4041648"/>
            <a:ext cx="4480560" cy="219456"/>
          </a:xfrm>
          <a:prstGeom prst="rect">
            <a:avLst/>
          </a:prstGeom>
          <a:noFill/>
          <a:ln/>
        </p:spPr>
        <p:txBody>
          <a:bodyPr wrap="square" lIns="0" tIns="0" rIns="0" bIns="0" rtlCol="0" anchor="ctr"/>
          <a:lstStyle/>
          <a:p>
            <a:pPr indent="0" marL="0">
              <a:buNone/>
            </a:pPr>
            <a:r>
              <a:rPr lang="en-US" sz="1200" b="1" dirty="0">
                <a:solidFill>
                  <a:srgbClr val="0C1E33"/>
                </a:solidFill>
                <a:latin typeface="Arial" pitchFamily="34" charset="0"/>
                <a:ea typeface="Arial" pitchFamily="34" charset="-122"/>
                <a:cs typeface="Arial" pitchFamily="34" charset="-120"/>
              </a:rPr>
              <a:t>Departure recorded</a:t>
            </a:r>
            <a:endParaRPr lang="en-US" sz="1200" dirty="0"/>
          </a:p>
        </p:txBody>
      </p:sp>
      <p:sp>
        <p:nvSpPr>
          <p:cNvPr id="24" name="Text 22"/>
          <p:cNvSpPr txBox="1"/>
          <p:nvPr/>
        </p:nvSpPr>
        <p:spPr>
          <a:xfrm>
            <a:off x="1188720" y="4261104"/>
            <a:ext cx="4572000" cy="292608"/>
          </a:xfrm>
          <a:prstGeom prst="rect">
            <a:avLst/>
          </a:prstGeom>
          <a:noFill/>
          <a:ln/>
        </p:spPr>
        <p:txBody>
          <a:bodyPr wrap="square" lIns="0" tIns="0" rIns="0" bIns="0" rtlCol="0" anchor="ctr"/>
          <a:lstStyle/>
          <a:p>
            <a:pPr indent="0" marL="0">
              <a:lnSpc>
                <a:spcPts val="1250"/>
              </a:lnSpc>
              <a:buNone/>
            </a:pPr>
            <a:r>
              <a:rPr lang="en-US" sz="940" dirty="0">
                <a:solidFill>
                  <a:srgbClr val="5A6C82"/>
                </a:solidFill>
                <a:latin typeface="Calibri" pitchFamily="34" charset="0"/>
                <a:ea typeface="Calibri" pitchFamily="34" charset="-122"/>
                <a:cs typeface="Calibri" pitchFamily="34" charset="-120"/>
              </a:rPr>
              <a:t>The return-by clock is calculated from the actual departure, not the application.</a:t>
            </a:r>
            <a:endParaRPr lang="en-US" sz="940" dirty="0"/>
          </a:p>
        </p:txBody>
      </p:sp>
      <p:sp>
        <p:nvSpPr>
          <p:cNvPr id="25" name="Shape 23"/>
          <p:cNvSpPr/>
          <p:nvPr/>
        </p:nvSpPr>
        <p:spPr>
          <a:xfrm>
            <a:off x="548640" y="4700016"/>
            <a:ext cx="5394960" cy="621792"/>
          </a:xfrm>
          <a:prstGeom prst="roundRect">
            <a:avLst>
              <a:gd name="adj" fmla="val 11765"/>
            </a:avLst>
          </a:prstGeom>
          <a:solidFill>
            <a:srgbClr val="F4F6F7"/>
          </a:solidFill>
          <a:ln w="9525">
            <a:solidFill>
              <a:srgbClr val="E3E7EA"/>
            </a:solidFill>
            <a:prstDash val="solid"/>
          </a:ln>
        </p:spPr>
      </p:sp>
      <p:sp>
        <p:nvSpPr>
          <p:cNvPr id="26" name="Shape 24"/>
          <p:cNvSpPr/>
          <p:nvPr/>
        </p:nvSpPr>
        <p:spPr>
          <a:xfrm>
            <a:off x="713232" y="4837176"/>
            <a:ext cx="347472" cy="347472"/>
          </a:xfrm>
          <a:prstGeom prst="ellipse">
            <a:avLst/>
          </a:prstGeom>
          <a:solidFill>
            <a:srgbClr val="C9821A"/>
          </a:solidFill>
          <a:ln/>
        </p:spPr>
      </p:sp>
      <p:sp>
        <p:nvSpPr>
          <p:cNvPr id="27" name="Text 25"/>
          <p:cNvSpPr txBox="1"/>
          <p:nvPr/>
        </p:nvSpPr>
        <p:spPr>
          <a:xfrm>
            <a:off x="713232" y="4837176"/>
            <a:ext cx="347472" cy="347472"/>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28" name="Text 26"/>
          <p:cNvSpPr txBox="1"/>
          <p:nvPr/>
        </p:nvSpPr>
        <p:spPr>
          <a:xfrm>
            <a:off x="1188720" y="4764024"/>
            <a:ext cx="4480560" cy="219456"/>
          </a:xfrm>
          <a:prstGeom prst="rect">
            <a:avLst/>
          </a:prstGeom>
          <a:noFill/>
          <a:ln/>
        </p:spPr>
        <p:txBody>
          <a:bodyPr wrap="square" lIns="0" tIns="0" rIns="0" bIns="0" rtlCol="0" anchor="ctr"/>
          <a:lstStyle/>
          <a:p>
            <a:pPr indent="0" marL="0">
              <a:buNone/>
            </a:pPr>
            <a:r>
              <a:rPr lang="en-US" sz="1200" b="1" dirty="0">
                <a:solidFill>
                  <a:srgbClr val="0C1E33"/>
                </a:solidFill>
                <a:latin typeface="Arial" pitchFamily="34" charset="0"/>
                <a:ea typeface="Arial" pitchFamily="34" charset="-122"/>
                <a:cs typeface="Arial" pitchFamily="34" charset="-120"/>
              </a:rPr>
              <a:t>Return monitored</a:t>
            </a:r>
            <a:endParaRPr lang="en-US" sz="1200" dirty="0"/>
          </a:p>
        </p:txBody>
      </p:sp>
      <p:sp>
        <p:nvSpPr>
          <p:cNvPr id="29" name="Text 27"/>
          <p:cNvSpPr txBox="1"/>
          <p:nvPr/>
        </p:nvSpPr>
        <p:spPr>
          <a:xfrm>
            <a:off x="1188720" y="4983480"/>
            <a:ext cx="4572000" cy="292608"/>
          </a:xfrm>
          <a:prstGeom prst="rect">
            <a:avLst/>
          </a:prstGeom>
          <a:noFill/>
          <a:ln/>
        </p:spPr>
        <p:txBody>
          <a:bodyPr wrap="square" lIns="0" tIns="0" rIns="0" bIns="0" rtlCol="0" anchor="ctr"/>
          <a:lstStyle/>
          <a:p>
            <a:pPr indent="0" marL="0">
              <a:lnSpc>
                <a:spcPts val="1250"/>
              </a:lnSpc>
              <a:buNone/>
            </a:pPr>
            <a:r>
              <a:rPr lang="en-US" sz="940" dirty="0">
                <a:solidFill>
                  <a:srgbClr val="5A6C82"/>
                </a:solidFill>
                <a:latin typeface="Calibri" pitchFamily="34" charset="0"/>
                <a:ea typeface="Calibri" pitchFamily="34" charset="-122"/>
                <a:cs typeface="Calibri" pitchFamily="34" charset="-120"/>
              </a:rPr>
              <a:t>Alerts at 14, 7 and 2 days to employee, line manager and HRBP.</a:t>
            </a:r>
            <a:endParaRPr lang="en-US" sz="940" dirty="0"/>
          </a:p>
        </p:txBody>
      </p:sp>
      <p:sp>
        <p:nvSpPr>
          <p:cNvPr id="30" name="Shape 28"/>
          <p:cNvSpPr/>
          <p:nvPr/>
        </p:nvSpPr>
        <p:spPr>
          <a:xfrm>
            <a:off x="548640" y="5422392"/>
            <a:ext cx="5394960" cy="621792"/>
          </a:xfrm>
          <a:prstGeom prst="roundRect">
            <a:avLst>
              <a:gd name="adj" fmla="val 11765"/>
            </a:avLst>
          </a:prstGeom>
          <a:solidFill>
            <a:srgbClr val="FFFFFF"/>
          </a:solidFill>
          <a:ln w="9525">
            <a:solidFill>
              <a:srgbClr val="E3E7EA"/>
            </a:solidFill>
            <a:prstDash val="solid"/>
          </a:ln>
        </p:spPr>
      </p:sp>
      <p:sp>
        <p:nvSpPr>
          <p:cNvPr id="31" name="Shape 29"/>
          <p:cNvSpPr/>
          <p:nvPr/>
        </p:nvSpPr>
        <p:spPr>
          <a:xfrm>
            <a:off x="713232" y="5559552"/>
            <a:ext cx="347472" cy="347472"/>
          </a:xfrm>
          <a:prstGeom prst="ellipse">
            <a:avLst/>
          </a:prstGeom>
          <a:solidFill>
            <a:srgbClr val="C9821A"/>
          </a:solidFill>
          <a:ln/>
        </p:spPr>
      </p:sp>
      <p:sp>
        <p:nvSpPr>
          <p:cNvPr id="32" name="Text 30"/>
          <p:cNvSpPr txBox="1"/>
          <p:nvPr/>
        </p:nvSpPr>
        <p:spPr>
          <a:xfrm>
            <a:off x="713232" y="5559552"/>
            <a:ext cx="347472" cy="347472"/>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33" name="Text 31"/>
          <p:cNvSpPr txBox="1"/>
          <p:nvPr/>
        </p:nvSpPr>
        <p:spPr>
          <a:xfrm>
            <a:off x="1188720" y="5486400"/>
            <a:ext cx="4480560" cy="219456"/>
          </a:xfrm>
          <a:prstGeom prst="rect">
            <a:avLst/>
          </a:prstGeom>
          <a:noFill/>
          <a:ln/>
        </p:spPr>
        <p:txBody>
          <a:bodyPr wrap="square" lIns="0" tIns="0" rIns="0" bIns="0" rtlCol="0" anchor="ctr"/>
          <a:lstStyle/>
          <a:p>
            <a:pPr indent="0" marL="0">
              <a:buNone/>
            </a:pPr>
            <a:r>
              <a:rPr lang="en-US" sz="1200" b="1" dirty="0">
                <a:solidFill>
                  <a:srgbClr val="0C1E33"/>
                </a:solidFill>
                <a:latin typeface="Arial" pitchFamily="34" charset="0"/>
                <a:ea typeface="Arial" pitchFamily="34" charset="-122"/>
                <a:cs typeface="Arial" pitchFamily="34" charset="-120"/>
              </a:rPr>
              <a:t>Re-entry confirmed</a:t>
            </a:r>
            <a:endParaRPr lang="en-US" sz="1200" dirty="0"/>
          </a:p>
        </p:txBody>
      </p:sp>
      <p:sp>
        <p:nvSpPr>
          <p:cNvPr id="34" name="Text 32"/>
          <p:cNvSpPr txBox="1"/>
          <p:nvPr/>
        </p:nvSpPr>
        <p:spPr>
          <a:xfrm>
            <a:off x="1188720" y="5705856"/>
            <a:ext cx="4572000" cy="292608"/>
          </a:xfrm>
          <a:prstGeom prst="rect">
            <a:avLst/>
          </a:prstGeom>
          <a:noFill/>
          <a:ln/>
        </p:spPr>
        <p:txBody>
          <a:bodyPr wrap="square" lIns="0" tIns="0" rIns="0" bIns="0" rtlCol="0" anchor="ctr"/>
          <a:lstStyle/>
          <a:p>
            <a:pPr indent="0" marL="0">
              <a:lnSpc>
                <a:spcPts val="1250"/>
              </a:lnSpc>
              <a:buNone/>
            </a:pPr>
            <a:r>
              <a:rPr lang="en-US" sz="940" dirty="0">
                <a:solidFill>
                  <a:srgbClr val="5A6C82"/>
                </a:solidFill>
                <a:latin typeface="Calibri" pitchFamily="34" charset="0"/>
                <a:ea typeface="Calibri" pitchFamily="34" charset="-122"/>
                <a:cs typeface="Calibri" pitchFamily="34" charset="-120"/>
              </a:rPr>
              <a:t>Arrival recorded, Iqama remains valid, case closes.</a:t>
            </a:r>
            <a:endParaRPr lang="en-US" sz="940" dirty="0"/>
          </a:p>
        </p:txBody>
      </p:sp>
      <p:pic>
        <p:nvPicPr>
          <p:cNvPr id="35" name="Image 0" descr="./img/exit-tracker.jpg">    </p:cNvPr>
          <p:cNvPicPr>
            <a:picLocks noChangeAspect="1"/>
          </p:cNvPicPr>
          <p:nvPr/>
        </p:nvPicPr>
        <p:blipFill>
          <a:blip r:embed="rId1"/>
          <a:stretch>
            <a:fillRect/>
          </a:stretch>
        </p:blipFill>
        <p:spPr>
          <a:xfrm>
            <a:off x="6172200" y="1810512"/>
            <a:ext cx="5440680" cy="914400"/>
          </a:xfrm>
          <a:prstGeom prst="rect">
            <a:avLst/>
          </a:prstGeom>
          <a:effectLst>
            <a:outerShdw sx="100000" sy="100000" kx="0" ky="0" algn="bl" rotWithShape="0" blurRad="177800" dist="38100" dir="5400000">
              <a:srgbClr val="000000">
                <a:alpha val="20000"/>
              </a:srgbClr>
            </a:outerShdw>
          </a:effectLst>
        </p:spPr>
      </p:pic>
      <p:sp>
        <p:nvSpPr>
          <p:cNvPr id="36" name="Shape 33"/>
          <p:cNvSpPr/>
          <p:nvPr/>
        </p:nvSpPr>
        <p:spPr>
          <a:xfrm>
            <a:off x="6172200" y="5230368"/>
            <a:ext cx="5440680" cy="1060704"/>
          </a:xfrm>
          <a:prstGeom prst="roundRect">
            <a:avLst>
              <a:gd name="adj" fmla="val 6897"/>
            </a:avLst>
          </a:prstGeom>
          <a:solidFill>
            <a:srgbClr val="FDECE9"/>
          </a:solidFill>
          <a:ln w="11430">
            <a:solidFill>
              <a:srgbClr val="E0A79D"/>
            </a:solidFill>
            <a:prstDash val="solid"/>
          </a:ln>
        </p:spPr>
      </p:sp>
      <p:sp>
        <p:nvSpPr>
          <p:cNvPr id="37" name="Text 34"/>
          <p:cNvSpPr txBox="1"/>
          <p:nvPr/>
        </p:nvSpPr>
        <p:spPr>
          <a:xfrm>
            <a:off x="6355080" y="5340096"/>
            <a:ext cx="5074920" cy="256032"/>
          </a:xfrm>
          <a:prstGeom prst="rect">
            <a:avLst/>
          </a:prstGeom>
          <a:noFill/>
          <a:ln/>
        </p:spPr>
        <p:txBody>
          <a:bodyPr wrap="square" lIns="0" tIns="0" rIns="0" bIns="0" rtlCol="0" anchor="ctr"/>
          <a:lstStyle/>
          <a:p>
            <a:pPr indent="0" marL="0">
              <a:buNone/>
            </a:pPr>
            <a:r>
              <a:rPr lang="en-US" sz="1150" b="1" dirty="0">
                <a:solidFill>
                  <a:srgbClr val="8E3428"/>
                </a:solidFill>
                <a:latin typeface="Arial" pitchFamily="34" charset="0"/>
                <a:ea typeface="Arial" pitchFamily="34" charset="-122"/>
                <a:cs typeface="Arial" pitchFamily="34" charset="-120"/>
              </a:rPr>
              <a:t>Forty-seven outside the Kingdom. Two already overdue.</a:t>
            </a:r>
            <a:endParaRPr lang="en-US" sz="1150" dirty="0"/>
          </a:p>
        </p:txBody>
      </p:sp>
      <p:sp>
        <p:nvSpPr>
          <p:cNvPr id="38" name="Text 35"/>
          <p:cNvSpPr txBox="1"/>
          <p:nvPr/>
        </p:nvSpPr>
        <p:spPr>
          <a:xfrm>
            <a:off x="6355080" y="5614416"/>
            <a:ext cx="5074920" cy="585216"/>
          </a:xfrm>
          <a:prstGeom prst="rect">
            <a:avLst/>
          </a:prstGeom>
          <a:noFill/>
          <a:ln/>
        </p:spPr>
        <p:txBody>
          <a:bodyPr wrap="square" lIns="0" tIns="0" rIns="0" bIns="0" rtlCol="0" anchor="ctr"/>
          <a:lstStyle/>
          <a:p>
            <a:pPr indent="0" marL="0">
              <a:lnSpc>
                <a:spcPts val="1300"/>
              </a:lnSpc>
              <a:buNone/>
            </a:pPr>
            <a:r>
              <a:rPr lang="en-US" sz="960" dirty="0">
                <a:solidFill>
                  <a:srgbClr val="5A6C82"/>
                </a:solidFill>
                <a:latin typeface="Calibri" pitchFamily="34" charset="0"/>
                <a:ea typeface="Calibri" pitchFamily="34" charset="-122"/>
                <a:cs typeface="Calibri" pitchFamily="34" charset="-120"/>
              </a:rPr>
              <a:t>Twelve more return inside a fortnight. That is a question your HR director cannot answer today. Here it is one screen, and the overdue rows have already escalated to their line managers.</a:t>
            </a:r>
            <a:endParaRPr lang="en-US" sz="960" dirty="0"/>
          </a:p>
        </p:txBody>
      </p:sp>
      <p:sp>
        <p:nvSpPr>
          <p:cNvPr id="39" name="Text 36"/>
          <p:cNvSpPr txBox="1"/>
          <p:nvPr/>
        </p:nvSpPr>
        <p:spPr>
          <a:xfrm>
            <a:off x="548640" y="6419088"/>
            <a:ext cx="8595360" cy="237744"/>
          </a:xfrm>
          <a:prstGeom prst="rect">
            <a:avLst/>
          </a:prstGeom>
          <a:noFill/>
          <a:ln/>
        </p:spPr>
        <p:txBody>
          <a:bodyPr wrap="square" lIns="0" tIns="0" rIns="0" bIns="0" rtlCol="0" anchor="ctr"/>
          <a:lstStyle/>
          <a:p>
            <a:pPr indent="0" marL="0">
              <a:buNone/>
            </a:pPr>
            <a:r>
              <a:rPr lang="en-US" sz="900" dirty="0">
                <a:solidFill>
                  <a:srgbClr val="96A3AE"/>
                </a:solidFill>
                <a:latin typeface="Calibri" pitchFamily="34" charset="0"/>
                <a:ea typeface="Calibri" pitchFamily="34" charset="-122"/>
                <a:cs typeface="Calibri" pitchFamily="34" charset="-120"/>
              </a:rPr>
              <a:t>INK IT Business Solutions  ·  Visa &amp; Permits Management  ·  Kingdom of Saudi Arabia</a:t>
            </a:r>
            <a:endParaRPr lang="en-US" sz="900" dirty="0"/>
          </a:p>
        </p:txBody>
      </p:sp>
      <p:sp>
        <p:nvSpPr>
          <p:cNvPr id="40" name="Text 37"/>
          <p:cNvSpPr txBox="1"/>
          <p:nvPr/>
        </p:nvSpPr>
        <p:spPr>
          <a:xfrm>
            <a:off x="11155680" y="6419088"/>
            <a:ext cx="457200" cy="237744"/>
          </a:xfrm>
          <a:prstGeom prst="rect">
            <a:avLst/>
          </a:prstGeom>
          <a:noFill/>
          <a:ln/>
        </p:spPr>
        <p:txBody>
          <a:bodyPr wrap="square" lIns="0" tIns="0" rIns="0" bIns="0" rtlCol="0" anchor="ctr"/>
          <a:lstStyle/>
          <a:p>
            <a:pPr algn="r" indent="0" marL="0">
              <a:buNone/>
            </a:pPr>
            <a:r>
              <a:rPr lang="en-US" sz="900" dirty="0">
                <a:solidFill>
                  <a:srgbClr val="96A3AE"/>
                </a:solidFill>
                <a:latin typeface="Calibri" pitchFamily="34" charset="0"/>
                <a:ea typeface="Calibri" pitchFamily="34" charset="-122"/>
                <a:cs typeface="Calibri" pitchFamily="34" charset="-120"/>
              </a:rPr>
              <a:t>7</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C1E33"/>
        </a:solidFill>
      </p:bgPr>
    </p:bg>
    <p:spTree>
      <p:nvGrpSpPr>
        <p:cNvPr id="1" name=""/>
        <p:cNvGrpSpPr/>
        <p:nvPr/>
      </p:nvGrpSpPr>
      <p:grpSpPr>
        <a:xfrm>
          <a:off x="0" y="0"/>
          <a:ext cx="0" cy="0"/>
          <a:chOff x="0" y="0"/>
          <a:chExt cx="0" cy="0"/>
        </a:xfrm>
      </p:grpSpPr>
      <p:sp>
        <p:nvSpPr>
          <p:cNvPr id="2" name="Shape 0"/>
          <p:cNvSpPr/>
          <p:nvPr/>
        </p:nvSpPr>
        <p:spPr>
          <a:xfrm>
            <a:off x="9692640" y="-2377440"/>
            <a:ext cx="5852160" cy="5852160"/>
          </a:xfrm>
          <a:prstGeom prst="ellipse">
            <a:avLst/>
          </a:prstGeom>
          <a:solidFill>
            <a:srgbClr val="20A098">
              <a:alpha val="10000"/>
            </a:srgbClr>
          </a:solidFill>
          <a:ln/>
        </p:spPr>
      </p:sp>
      <p:sp>
        <p:nvSpPr>
          <p:cNvPr id="3" name="Text 1"/>
          <p:cNvSpPr txBox="1"/>
          <p:nvPr/>
        </p:nvSpPr>
        <p:spPr>
          <a:xfrm>
            <a:off x="548640" y="402336"/>
            <a:ext cx="11064240" cy="237744"/>
          </a:xfrm>
          <a:prstGeom prst="rect">
            <a:avLst/>
          </a:prstGeom>
          <a:noFill/>
          <a:ln/>
        </p:spPr>
        <p:txBody>
          <a:bodyPr wrap="square" lIns="0" tIns="0" rIns="0" bIns="0" rtlCol="0" anchor="ctr"/>
          <a:lstStyle/>
          <a:p>
            <a:pPr indent="0" marL="0">
              <a:buNone/>
            </a:pPr>
            <a:r>
              <a:rPr lang="en-US" sz="1100" b="1" spc="220" kern="0" dirty="0">
                <a:solidFill>
                  <a:srgbClr val="C9A227"/>
                </a:solidFill>
                <a:latin typeface="Calibri" pitchFamily="34" charset="0"/>
                <a:ea typeface="Calibri" pitchFamily="34" charset="-122"/>
                <a:cs typeface="Calibri" pitchFamily="34" charset="-120"/>
              </a:rPr>
              <a:t>SAUDIZATION &amp; NITAQAT</a:t>
            </a:r>
            <a:endParaRPr lang="en-US" sz="1100" dirty="0"/>
          </a:p>
        </p:txBody>
      </p:sp>
      <p:sp>
        <p:nvSpPr>
          <p:cNvPr id="4" name="Text 2"/>
          <p:cNvSpPr txBox="1"/>
          <p:nvPr/>
        </p:nvSpPr>
        <p:spPr>
          <a:xfrm>
            <a:off x="548640" y="658368"/>
            <a:ext cx="11064240" cy="566928"/>
          </a:xfrm>
          <a:prstGeom prst="rect">
            <a:avLst/>
          </a:prstGeom>
          <a:noFill/>
          <a:ln/>
        </p:spPr>
        <p:txBody>
          <a:bodyPr wrap="square" lIns="0" tIns="0" rIns="0" bIns="0" rtlCol="0" anchor="ctr"/>
          <a:lstStyle/>
          <a:p>
            <a:pPr indent="0" marL="0">
              <a:buNone/>
            </a:pPr>
            <a:r>
              <a:rPr lang="en-US" sz="3000" b="1" dirty="0">
                <a:solidFill>
                  <a:srgbClr val="FFFFFF"/>
                </a:solidFill>
                <a:latin typeface="Arial" pitchFamily="34" charset="0"/>
                <a:ea typeface="Arial" pitchFamily="34" charset="-122"/>
                <a:cs typeface="Arial" pitchFamily="34" charset="-120"/>
              </a:rPr>
              <a:t>The number that decides whether you can hire at all.</a:t>
            </a:r>
            <a:endParaRPr lang="en-US" sz="3000" dirty="0"/>
          </a:p>
        </p:txBody>
      </p:sp>
      <p:sp>
        <p:nvSpPr>
          <p:cNvPr id="5" name="Text 3"/>
          <p:cNvSpPr txBox="1"/>
          <p:nvPr/>
        </p:nvSpPr>
        <p:spPr>
          <a:xfrm>
            <a:off x="548640" y="1243584"/>
            <a:ext cx="10424160" cy="329184"/>
          </a:xfrm>
          <a:prstGeom prst="rect">
            <a:avLst/>
          </a:prstGeom>
          <a:noFill/>
          <a:ln/>
        </p:spPr>
        <p:txBody>
          <a:bodyPr wrap="square" lIns="0" tIns="0" rIns="0" bIns="0" rtlCol="0" anchor="ctr"/>
          <a:lstStyle/>
          <a:p>
            <a:pPr indent="0" marL="0">
              <a:buNone/>
            </a:pPr>
            <a:r>
              <a:rPr lang="en-US" sz="1250" dirty="0">
                <a:solidFill>
                  <a:srgbClr val="A9C2DA"/>
                </a:solidFill>
                <a:latin typeface="Calibri" pitchFamily="34" charset="0"/>
                <a:ea typeface="Calibri" pitchFamily="34" charset="-122"/>
                <a:cs typeface="Calibri" pitchFamily="34" charset="-120"/>
              </a:rPr>
              <a:t>Nitaqat bands every establishment on the share of Saudis it employs. The band is not a report card, it is a switch.</a:t>
            </a:r>
            <a:endParaRPr lang="en-US" sz="1250" dirty="0"/>
          </a:p>
        </p:txBody>
      </p:sp>
      <p:sp>
        <p:nvSpPr>
          <p:cNvPr id="6" name="Shape 4"/>
          <p:cNvSpPr/>
          <p:nvPr/>
        </p:nvSpPr>
        <p:spPr>
          <a:xfrm>
            <a:off x="548640" y="1773936"/>
            <a:ext cx="5394960" cy="640080"/>
          </a:xfrm>
          <a:prstGeom prst="roundRect">
            <a:avLst>
              <a:gd name="adj" fmla="val 10000"/>
            </a:avLst>
          </a:prstGeom>
          <a:solidFill>
            <a:srgbClr val="16304C"/>
          </a:solidFill>
          <a:ln w="10160">
            <a:solidFill>
              <a:srgbClr val="27415C"/>
            </a:solidFill>
            <a:prstDash val="solid"/>
          </a:ln>
        </p:spPr>
      </p:sp>
      <p:sp>
        <p:nvSpPr>
          <p:cNvPr id="7" name="Shape 5"/>
          <p:cNvSpPr/>
          <p:nvPr/>
        </p:nvSpPr>
        <p:spPr>
          <a:xfrm>
            <a:off x="713232" y="1975104"/>
            <a:ext cx="987552" cy="237744"/>
          </a:xfrm>
          <a:prstGeom prst="roundRect">
            <a:avLst>
              <a:gd name="adj" fmla="val 50000"/>
            </a:avLst>
          </a:prstGeom>
          <a:solidFill>
            <a:srgbClr val="17795E"/>
          </a:solidFill>
          <a:ln/>
        </p:spPr>
      </p:sp>
      <p:sp>
        <p:nvSpPr>
          <p:cNvPr id="8" name="Text 6"/>
          <p:cNvSpPr txBox="1"/>
          <p:nvPr/>
        </p:nvSpPr>
        <p:spPr>
          <a:xfrm>
            <a:off x="713232" y="1975104"/>
            <a:ext cx="987552" cy="237744"/>
          </a:xfrm>
          <a:prstGeom prst="rect">
            <a:avLst/>
          </a:prstGeom>
          <a:noFill/>
          <a:ln/>
        </p:spPr>
        <p:txBody>
          <a:bodyPr wrap="square" lIns="0" tIns="0" rIns="0" bIns="0" rtlCol="0" anchor="ctr"/>
          <a:lstStyle/>
          <a:p>
            <a:pPr algn="ctr" indent="0" marL="0">
              <a:buNone/>
            </a:pPr>
            <a:r>
              <a:rPr lang="en-US" sz="850" b="1" dirty="0">
                <a:solidFill>
                  <a:srgbClr val="FFFFFF"/>
                </a:solidFill>
                <a:latin typeface="Calibri" pitchFamily="34" charset="0"/>
                <a:ea typeface="Calibri" pitchFamily="34" charset="-122"/>
                <a:cs typeface="Calibri" pitchFamily="34" charset="-120"/>
              </a:rPr>
              <a:t>PLATINUM</a:t>
            </a:r>
            <a:endParaRPr lang="en-US" sz="850" dirty="0"/>
          </a:p>
        </p:txBody>
      </p:sp>
      <p:sp>
        <p:nvSpPr>
          <p:cNvPr id="9" name="Text 7"/>
          <p:cNvSpPr txBox="1"/>
          <p:nvPr/>
        </p:nvSpPr>
        <p:spPr>
          <a:xfrm>
            <a:off x="1847088" y="1856232"/>
            <a:ext cx="3931920" cy="219456"/>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All services open</a:t>
            </a:r>
            <a:endParaRPr lang="en-US" sz="1200" dirty="0"/>
          </a:p>
        </p:txBody>
      </p:sp>
      <p:sp>
        <p:nvSpPr>
          <p:cNvPr id="10" name="Text 8"/>
          <p:cNvSpPr txBox="1"/>
          <p:nvPr/>
        </p:nvSpPr>
        <p:spPr>
          <a:xfrm>
            <a:off x="1847088" y="2084832"/>
            <a:ext cx="3931920" cy="237744"/>
          </a:xfrm>
          <a:prstGeom prst="rect">
            <a:avLst/>
          </a:prstGeom>
          <a:noFill/>
          <a:ln/>
        </p:spPr>
        <p:txBody>
          <a:bodyPr wrap="square" lIns="0" tIns="0" rIns="0" bIns="0" rtlCol="0" anchor="ctr"/>
          <a:lstStyle/>
          <a:p>
            <a:pPr indent="0" marL="0">
              <a:buNone/>
            </a:pPr>
            <a:r>
              <a:rPr lang="en-US" sz="940" dirty="0">
                <a:solidFill>
                  <a:srgbClr val="A9C2DA"/>
                </a:solidFill>
                <a:latin typeface="Calibri" pitchFamily="34" charset="0"/>
                <a:ea typeface="Calibri" pitchFamily="34" charset="-122"/>
                <a:cs typeface="Calibri" pitchFamily="34" charset="-120"/>
              </a:rPr>
              <a:t>Block visas, renewals and transfers all available</a:t>
            </a:r>
            <a:endParaRPr lang="en-US" sz="940" dirty="0"/>
          </a:p>
        </p:txBody>
      </p:sp>
      <p:sp>
        <p:nvSpPr>
          <p:cNvPr id="11" name="Shape 9"/>
          <p:cNvSpPr/>
          <p:nvPr/>
        </p:nvSpPr>
        <p:spPr>
          <a:xfrm>
            <a:off x="548640" y="2523744"/>
            <a:ext cx="5394960" cy="640080"/>
          </a:xfrm>
          <a:prstGeom prst="roundRect">
            <a:avLst>
              <a:gd name="adj" fmla="val 10000"/>
            </a:avLst>
          </a:prstGeom>
          <a:solidFill>
            <a:srgbClr val="16304C"/>
          </a:solidFill>
          <a:ln w="10160">
            <a:solidFill>
              <a:srgbClr val="27415C"/>
            </a:solidFill>
            <a:prstDash val="solid"/>
          </a:ln>
        </p:spPr>
      </p:sp>
      <p:sp>
        <p:nvSpPr>
          <p:cNvPr id="12" name="Shape 10"/>
          <p:cNvSpPr/>
          <p:nvPr/>
        </p:nvSpPr>
        <p:spPr>
          <a:xfrm>
            <a:off x="713232" y="2724912"/>
            <a:ext cx="987552" cy="237744"/>
          </a:xfrm>
          <a:prstGeom prst="roundRect">
            <a:avLst>
              <a:gd name="adj" fmla="val 50000"/>
            </a:avLst>
          </a:prstGeom>
          <a:solidFill>
            <a:srgbClr val="17795E"/>
          </a:solidFill>
          <a:ln/>
        </p:spPr>
      </p:sp>
      <p:sp>
        <p:nvSpPr>
          <p:cNvPr id="13" name="Text 11"/>
          <p:cNvSpPr txBox="1"/>
          <p:nvPr/>
        </p:nvSpPr>
        <p:spPr>
          <a:xfrm>
            <a:off x="713232" y="2724912"/>
            <a:ext cx="987552" cy="237744"/>
          </a:xfrm>
          <a:prstGeom prst="rect">
            <a:avLst/>
          </a:prstGeom>
          <a:noFill/>
          <a:ln/>
        </p:spPr>
        <p:txBody>
          <a:bodyPr wrap="square" lIns="0" tIns="0" rIns="0" bIns="0" rtlCol="0" anchor="ctr"/>
          <a:lstStyle/>
          <a:p>
            <a:pPr algn="ctr" indent="0" marL="0">
              <a:buNone/>
            </a:pPr>
            <a:r>
              <a:rPr lang="en-US" sz="850" b="1" dirty="0">
                <a:solidFill>
                  <a:srgbClr val="FFFFFF"/>
                </a:solidFill>
                <a:latin typeface="Calibri" pitchFamily="34" charset="0"/>
                <a:ea typeface="Calibri" pitchFamily="34" charset="-122"/>
                <a:cs typeface="Calibri" pitchFamily="34" charset="-120"/>
              </a:rPr>
              <a:t>GREEN</a:t>
            </a:r>
            <a:endParaRPr lang="en-US" sz="850" dirty="0"/>
          </a:p>
        </p:txBody>
      </p:sp>
      <p:sp>
        <p:nvSpPr>
          <p:cNvPr id="14" name="Text 12"/>
          <p:cNvSpPr txBox="1"/>
          <p:nvPr/>
        </p:nvSpPr>
        <p:spPr>
          <a:xfrm>
            <a:off x="1847088" y="2606040"/>
            <a:ext cx="3931920" cy="219456"/>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Open, with headroom</a:t>
            </a:r>
            <a:endParaRPr lang="en-US" sz="1200" dirty="0"/>
          </a:p>
        </p:txBody>
      </p:sp>
      <p:sp>
        <p:nvSpPr>
          <p:cNvPr id="15" name="Text 13"/>
          <p:cNvSpPr txBox="1"/>
          <p:nvPr/>
        </p:nvSpPr>
        <p:spPr>
          <a:xfrm>
            <a:off x="1847088" y="2834640"/>
            <a:ext cx="3931920" cy="237744"/>
          </a:xfrm>
          <a:prstGeom prst="rect">
            <a:avLst/>
          </a:prstGeom>
          <a:noFill/>
          <a:ln/>
        </p:spPr>
        <p:txBody>
          <a:bodyPr wrap="square" lIns="0" tIns="0" rIns="0" bIns="0" rtlCol="0" anchor="ctr"/>
          <a:lstStyle/>
          <a:p>
            <a:pPr indent="0" marL="0">
              <a:buNone/>
            </a:pPr>
            <a:r>
              <a:rPr lang="en-US" sz="940" dirty="0">
                <a:solidFill>
                  <a:srgbClr val="A9C2DA"/>
                </a:solidFill>
                <a:latin typeface="Calibri" pitchFamily="34" charset="0"/>
                <a:ea typeface="Calibri" pitchFamily="34" charset="-122"/>
                <a:cs typeface="Calibri" pitchFamily="34" charset="-120"/>
              </a:rPr>
              <a:t>Services available while the ratio holds</a:t>
            </a:r>
            <a:endParaRPr lang="en-US" sz="940" dirty="0"/>
          </a:p>
        </p:txBody>
      </p:sp>
      <p:sp>
        <p:nvSpPr>
          <p:cNvPr id="16" name="Shape 14"/>
          <p:cNvSpPr/>
          <p:nvPr/>
        </p:nvSpPr>
        <p:spPr>
          <a:xfrm>
            <a:off x="548640" y="3273552"/>
            <a:ext cx="5394960" cy="640080"/>
          </a:xfrm>
          <a:prstGeom prst="roundRect">
            <a:avLst>
              <a:gd name="adj" fmla="val 10000"/>
            </a:avLst>
          </a:prstGeom>
          <a:solidFill>
            <a:srgbClr val="16304C"/>
          </a:solidFill>
          <a:ln w="10160">
            <a:solidFill>
              <a:srgbClr val="27415C"/>
            </a:solidFill>
            <a:prstDash val="solid"/>
          </a:ln>
        </p:spPr>
      </p:sp>
      <p:sp>
        <p:nvSpPr>
          <p:cNvPr id="17" name="Shape 15"/>
          <p:cNvSpPr/>
          <p:nvPr/>
        </p:nvSpPr>
        <p:spPr>
          <a:xfrm>
            <a:off x="713232" y="3474720"/>
            <a:ext cx="987552" cy="237744"/>
          </a:xfrm>
          <a:prstGeom prst="roundRect">
            <a:avLst>
              <a:gd name="adj" fmla="val 50000"/>
            </a:avLst>
          </a:prstGeom>
          <a:solidFill>
            <a:srgbClr val="B5730F"/>
          </a:solidFill>
          <a:ln/>
        </p:spPr>
      </p:sp>
      <p:sp>
        <p:nvSpPr>
          <p:cNvPr id="18" name="Text 16"/>
          <p:cNvSpPr txBox="1"/>
          <p:nvPr/>
        </p:nvSpPr>
        <p:spPr>
          <a:xfrm>
            <a:off x="713232" y="3474720"/>
            <a:ext cx="987552" cy="237744"/>
          </a:xfrm>
          <a:prstGeom prst="rect">
            <a:avLst/>
          </a:prstGeom>
          <a:noFill/>
          <a:ln/>
        </p:spPr>
        <p:txBody>
          <a:bodyPr wrap="square" lIns="0" tIns="0" rIns="0" bIns="0" rtlCol="0" anchor="ctr"/>
          <a:lstStyle/>
          <a:p>
            <a:pPr algn="ctr" indent="0" marL="0">
              <a:buNone/>
            </a:pPr>
            <a:r>
              <a:rPr lang="en-US" sz="850" b="1" dirty="0">
                <a:solidFill>
                  <a:srgbClr val="FFFFFF"/>
                </a:solidFill>
                <a:latin typeface="Calibri" pitchFamily="34" charset="0"/>
                <a:ea typeface="Calibri" pitchFamily="34" charset="-122"/>
                <a:cs typeface="Calibri" pitchFamily="34" charset="-120"/>
              </a:rPr>
              <a:t>YELLOW</a:t>
            </a:r>
            <a:endParaRPr lang="en-US" sz="850" dirty="0"/>
          </a:p>
        </p:txBody>
      </p:sp>
      <p:sp>
        <p:nvSpPr>
          <p:cNvPr id="19" name="Text 17"/>
          <p:cNvSpPr txBox="1"/>
          <p:nvPr/>
        </p:nvSpPr>
        <p:spPr>
          <a:xfrm>
            <a:off x="1847088" y="3355848"/>
            <a:ext cx="3931920" cy="219456"/>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Restricted</a:t>
            </a:r>
            <a:endParaRPr lang="en-US" sz="1200" dirty="0"/>
          </a:p>
        </p:txBody>
      </p:sp>
      <p:sp>
        <p:nvSpPr>
          <p:cNvPr id="20" name="Text 18"/>
          <p:cNvSpPr txBox="1"/>
          <p:nvPr/>
        </p:nvSpPr>
        <p:spPr>
          <a:xfrm>
            <a:off x="1847088" y="3584448"/>
            <a:ext cx="3931920" cy="237744"/>
          </a:xfrm>
          <a:prstGeom prst="rect">
            <a:avLst/>
          </a:prstGeom>
          <a:noFill/>
          <a:ln/>
        </p:spPr>
        <p:txBody>
          <a:bodyPr wrap="square" lIns="0" tIns="0" rIns="0" bIns="0" rtlCol="0" anchor="ctr"/>
          <a:lstStyle/>
          <a:p>
            <a:pPr indent="0" marL="0">
              <a:buNone/>
            </a:pPr>
            <a:r>
              <a:rPr lang="en-US" sz="940" dirty="0">
                <a:solidFill>
                  <a:srgbClr val="A9C2DA"/>
                </a:solidFill>
                <a:latin typeface="Calibri" pitchFamily="34" charset="0"/>
                <a:ea typeface="Calibri" pitchFamily="34" charset="-122"/>
                <a:cs typeface="Calibri" pitchFamily="34" charset="-120"/>
              </a:rPr>
              <a:t>Renewals limited, transfers constrained</a:t>
            </a:r>
            <a:endParaRPr lang="en-US" sz="940" dirty="0"/>
          </a:p>
        </p:txBody>
      </p:sp>
      <p:sp>
        <p:nvSpPr>
          <p:cNvPr id="21" name="Shape 19"/>
          <p:cNvSpPr/>
          <p:nvPr/>
        </p:nvSpPr>
        <p:spPr>
          <a:xfrm>
            <a:off x="548640" y="4023360"/>
            <a:ext cx="5394960" cy="640080"/>
          </a:xfrm>
          <a:prstGeom prst="roundRect">
            <a:avLst>
              <a:gd name="adj" fmla="val 10000"/>
            </a:avLst>
          </a:prstGeom>
          <a:solidFill>
            <a:srgbClr val="16304C"/>
          </a:solidFill>
          <a:ln w="10160">
            <a:solidFill>
              <a:srgbClr val="27415C"/>
            </a:solidFill>
            <a:prstDash val="solid"/>
          </a:ln>
        </p:spPr>
      </p:sp>
      <p:sp>
        <p:nvSpPr>
          <p:cNvPr id="22" name="Shape 20"/>
          <p:cNvSpPr/>
          <p:nvPr/>
        </p:nvSpPr>
        <p:spPr>
          <a:xfrm>
            <a:off x="713232" y="4224528"/>
            <a:ext cx="987552" cy="237744"/>
          </a:xfrm>
          <a:prstGeom prst="roundRect">
            <a:avLst>
              <a:gd name="adj" fmla="val 50000"/>
            </a:avLst>
          </a:prstGeom>
          <a:solidFill>
            <a:srgbClr val="B23A2F"/>
          </a:solidFill>
          <a:ln/>
        </p:spPr>
      </p:sp>
      <p:sp>
        <p:nvSpPr>
          <p:cNvPr id="23" name="Text 21"/>
          <p:cNvSpPr txBox="1"/>
          <p:nvPr/>
        </p:nvSpPr>
        <p:spPr>
          <a:xfrm>
            <a:off x="713232" y="4224528"/>
            <a:ext cx="987552" cy="237744"/>
          </a:xfrm>
          <a:prstGeom prst="rect">
            <a:avLst/>
          </a:prstGeom>
          <a:noFill/>
          <a:ln/>
        </p:spPr>
        <p:txBody>
          <a:bodyPr wrap="square" lIns="0" tIns="0" rIns="0" bIns="0" rtlCol="0" anchor="ctr"/>
          <a:lstStyle/>
          <a:p>
            <a:pPr algn="ctr" indent="0" marL="0">
              <a:buNone/>
            </a:pPr>
            <a:r>
              <a:rPr lang="en-US" sz="850" b="1" dirty="0">
                <a:solidFill>
                  <a:srgbClr val="FFFFFF"/>
                </a:solidFill>
                <a:latin typeface="Calibri" pitchFamily="34" charset="0"/>
                <a:ea typeface="Calibri" pitchFamily="34" charset="-122"/>
                <a:cs typeface="Calibri" pitchFamily="34" charset="-120"/>
              </a:rPr>
              <a:t>RED</a:t>
            </a:r>
            <a:endParaRPr lang="en-US" sz="850" dirty="0"/>
          </a:p>
        </p:txBody>
      </p:sp>
      <p:sp>
        <p:nvSpPr>
          <p:cNvPr id="24" name="Text 22"/>
          <p:cNvSpPr txBox="1"/>
          <p:nvPr/>
        </p:nvSpPr>
        <p:spPr>
          <a:xfrm>
            <a:off x="1847088" y="4105656"/>
            <a:ext cx="3931920" cy="219456"/>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Suspended</a:t>
            </a:r>
            <a:endParaRPr lang="en-US" sz="1200" dirty="0"/>
          </a:p>
        </p:txBody>
      </p:sp>
      <p:sp>
        <p:nvSpPr>
          <p:cNvPr id="25" name="Text 23"/>
          <p:cNvSpPr txBox="1"/>
          <p:nvPr/>
        </p:nvSpPr>
        <p:spPr>
          <a:xfrm>
            <a:off x="1847088" y="4334256"/>
            <a:ext cx="3931920" cy="237744"/>
          </a:xfrm>
          <a:prstGeom prst="rect">
            <a:avLst/>
          </a:prstGeom>
          <a:noFill/>
          <a:ln/>
        </p:spPr>
        <p:txBody>
          <a:bodyPr wrap="square" lIns="0" tIns="0" rIns="0" bIns="0" rtlCol="0" anchor="ctr"/>
          <a:lstStyle/>
          <a:p>
            <a:pPr indent="0" marL="0">
              <a:buNone/>
            </a:pPr>
            <a:r>
              <a:rPr lang="en-US" sz="940" dirty="0">
                <a:solidFill>
                  <a:srgbClr val="A9C2DA"/>
                </a:solidFill>
                <a:latin typeface="Calibri" pitchFamily="34" charset="0"/>
                <a:ea typeface="Calibri" pitchFamily="34" charset="-122"/>
                <a:cs typeface="Calibri" pitchFamily="34" charset="-120"/>
              </a:rPr>
              <a:t>No block visas, no renewals, no transfers in</a:t>
            </a:r>
            <a:endParaRPr lang="en-US" sz="940" dirty="0"/>
          </a:p>
        </p:txBody>
      </p:sp>
      <p:sp>
        <p:nvSpPr>
          <p:cNvPr id="26" name="Shape 24"/>
          <p:cNvSpPr/>
          <p:nvPr/>
        </p:nvSpPr>
        <p:spPr>
          <a:xfrm>
            <a:off x="548640" y="4809744"/>
            <a:ext cx="5394960" cy="1481328"/>
          </a:xfrm>
          <a:prstGeom prst="roundRect">
            <a:avLst>
              <a:gd name="adj" fmla="val 4938"/>
            </a:avLst>
          </a:prstGeom>
          <a:solidFill>
            <a:srgbClr val="123A4E"/>
          </a:solidFill>
          <a:ln w="12700">
            <a:solidFill>
              <a:srgbClr val="12756F"/>
            </a:solidFill>
            <a:prstDash val="solid"/>
          </a:ln>
        </p:spPr>
      </p:sp>
      <p:sp>
        <p:nvSpPr>
          <p:cNvPr id="27" name="Text 25"/>
          <p:cNvSpPr txBox="1"/>
          <p:nvPr/>
        </p:nvSpPr>
        <p:spPr>
          <a:xfrm>
            <a:off x="749808" y="4919472"/>
            <a:ext cx="5029200" cy="219456"/>
          </a:xfrm>
          <a:prstGeom prst="rect">
            <a:avLst/>
          </a:prstGeom>
          <a:noFill/>
          <a:ln/>
        </p:spPr>
        <p:txBody>
          <a:bodyPr wrap="square" lIns="0" tIns="0" rIns="0" bIns="0" rtlCol="0" anchor="ctr"/>
          <a:lstStyle/>
          <a:p>
            <a:pPr indent="0" marL="0">
              <a:buNone/>
            </a:pPr>
            <a:r>
              <a:rPr lang="en-US" sz="1200" b="1" dirty="0">
                <a:solidFill>
                  <a:srgbClr val="20A098"/>
                </a:solidFill>
                <a:latin typeface="Arial" pitchFamily="34" charset="0"/>
                <a:ea typeface="Arial" pitchFamily="34" charset="-122"/>
                <a:cs typeface="Arial" pitchFamily="34" charset="-120"/>
              </a:rPr>
              <a:t>What we do that Qiwa does not</a:t>
            </a:r>
            <a:endParaRPr lang="en-US" sz="1200" dirty="0"/>
          </a:p>
        </p:txBody>
      </p:sp>
      <p:sp>
        <p:nvSpPr>
          <p:cNvPr id="28" name="Text 26"/>
          <p:cNvSpPr txBox="1"/>
          <p:nvPr/>
        </p:nvSpPr>
        <p:spPr>
          <a:xfrm>
            <a:off x="749808" y="5175504"/>
            <a:ext cx="5029200" cy="1005840"/>
          </a:xfrm>
          <a:prstGeom prst="rect">
            <a:avLst/>
          </a:prstGeom>
          <a:noFill/>
          <a:ln/>
        </p:spPr>
        <p:txBody>
          <a:bodyPr wrap="square" lIns="0" tIns="0" rIns="0" bIns="0" rtlCol="0" anchor="ctr"/>
          <a:lstStyle/>
          <a:p>
            <a:pPr marL="342900" indent="-342900">
              <a:lnSpc>
                <a:spcPts val="1350"/>
              </a:lnSpc>
              <a:spcAft>
                <a:spcPts val="300"/>
              </a:spcAft>
              <a:buSzPct val="100000"/>
              <a:buChar char="•"/>
            </a:pPr>
            <a:r>
              <a:rPr lang="en-US" sz="980" dirty="0">
                <a:solidFill>
                  <a:srgbClr val="A9C2DA"/>
                </a:solidFill>
                <a:latin typeface="Calibri" pitchFamily="34" charset="0"/>
                <a:ea typeface="Calibri" pitchFamily="34" charset="-122"/>
                <a:cs typeface="Calibri" pitchFamily="34" charset="-120"/>
              </a:rPr>
              <a:t>Calculate the band continuously, not at the next Qiwa cycle</a:t>
            </a:r>
            <a:endParaRPr lang="en-US" sz="980" dirty="0"/>
          </a:p>
          <a:p>
            <a:pPr marL="342900" indent="-342900">
              <a:lnSpc>
                <a:spcPts val="1350"/>
              </a:lnSpc>
              <a:spcAft>
                <a:spcPts val="300"/>
              </a:spcAft>
              <a:buSzPct val="100000"/>
              <a:buChar char="•"/>
            </a:pPr>
            <a:r>
              <a:rPr lang="en-US" sz="980" dirty="0">
                <a:solidFill>
                  <a:srgbClr val="A9C2DA"/>
                </a:solidFill>
                <a:latin typeface="Calibri" pitchFamily="34" charset="0"/>
                <a:ea typeface="Calibri" pitchFamily="34" charset="-122"/>
                <a:cs typeface="Calibri" pitchFamily="34" charset="-120"/>
              </a:rPr>
              <a:t>Show the headroom: how many leavers would drop you</a:t>
            </a:r>
            <a:endParaRPr lang="en-US" sz="980" dirty="0"/>
          </a:p>
          <a:p>
            <a:pPr marL="342900" indent="-342900">
              <a:lnSpc>
                <a:spcPts val="1350"/>
              </a:lnSpc>
              <a:spcAft>
                <a:spcPts val="300"/>
              </a:spcAft>
              <a:buSzPct val="100000"/>
              <a:buChar char="•"/>
            </a:pPr>
            <a:r>
              <a:rPr lang="en-US" sz="980" dirty="0">
                <a:solidFill>
                  <a:srgbClr val="A9C2DA"/>
                </a:solidFill>
                <a:latin typeface="Calibri" pitchFamily="34" charset="0"/>
                <a:ea typeface="Calibri" pitchFamily="34" charset="-122"/>
                <a:cs typeface="Calibri" pitchFamily="34" charset="-120"/>
              </a:rPr>
              <a:t>Simulate a restructure or a bulk hire before you commit</a:t>
            </a:r>
            <a:endParaRPr lang="en-US" sz="980" dirty="0"/>
          </a:p>
          <a:p>
            <a:pPr marL="342900" indent="-342900">
              <a:lnSpc>
                <a:spcPts val="1350"/>
              </a:lnSpc>
              <a:spcAft>
                <a:spcPts val="300"/>
              </a:spcAft>
              <a:buSzPct val="100000"/>
              <a:buChar char="•"/>
            </a:pPr>
            <a:r>
              <a:rPr lang="en-US" sz="980" dirty="0">
                <a:solidFill>
                  <a:srgbClr val="A9C2DA"/>
                </a:solidFill>
                <a:latin typeface="Calibri" pitchFamily="34" charset="0"/>
                <a:ea typeface="Calibri" pitchFamily="34" charset="-122"/>
                <a:cs typeface="Calibri" pitchFamily="34" charset="-120"/>
              </a:rPr>
              <a:t>Alert before the band moves, with the cause named</a:t>
            </a:r>
            <a:endParaRPr lang="en-US" sz="980" dirty="0"/>
          </a:p>
        </p:txBody>
      </p:sp>
      <p:pic>
        <p:nvPicPr>
          <p:cNvPr id="29" name="Image 0" descr="./img/nitaqat.jpg">    </p:cNvPr>
          <p:cNvPicPr>
            <a:picLocks noChangeAspect="1"/>
          </p:cNvPicPr>
          <p:nvPr/>
        </p:nvPicPr>
        <p:blipFill>
          <a:blip r:embed="rId1"/>
          <a:stretch>
            <a:fillRect/>
          </a:stretch>
        </p:blipFill>
        <p:spPr>
          <a:xfrm>
            <a:off x="6172200" y="1773936"/>
            <a:ext cx="5440680" cy="914400"/>
          </a:xfrm>
          <a:prstGeom prst="rect">
            <a:avLst/>
          </a:prstGeom>
          <a:effectLst>
            <a:outerShdw sx="100000" sy="100000" kx="0" ky="0" algn="bl" rotWithShape="0" blurRad="177800" dist="38100" dir="5400000">
              <a:srgbClr val="000000">
                <a:alpha val="20000"/>
              </a:srgbClr>
            </a:outerShdw>
          </a:effectLst>
        </p:spPr>
      </p:pic>
      <p:sp>
        <p:nvSpPr>
          <p:cNvPr id="30" name="Text 27"/>
          <p:cNvSpPr txBox="1"/>
          <p:nvPr/>
        </p:nvSpPr>
        <p:spPr>
          <a:xfrm>
            <a:off x="6172200" y="5193792"/>
            <a:ext cx="5440680" cy="475488"/>
          </a:xfrm>
          <a:prstGeom prst="rect">
            <a:avLst/>
          </a:prstGeom>
          <a:noFill/>
          <a:ln/>
        </p:spPr>
        <p:txBody>
          <a:bodyPr wrap="square" lIns="0" tIns="0" rIns="0" bIns="0" rtlCol="0" anchor="ctr"/>
          <a:lstStyle/>
          <a:p>
            <a:pPr indent="0" marL="0">
              <a:lnSpc>
                <a:spcPts val="1350"/>
              </a:lnSpc>
              <a:buNone/>
            </a:pPr>
            <a:r>
              <a:rPr lang="en-US" sz="1000" i="1" dirty="0">
                <a:solidFill>
                  <a:srgbClr val="A9C2DA"/>
                </a:solidFill>
                <a:latin typeface="Calibri" pitchFamily="34" charset="0"/>
                <a:ea typeface="Calibri" pitchFamily="34" charset="-122"/>
                <a:cs typeface="Calibri" pitchFamily="34" charset="-120"/>
              </a:rPr>
              <a:t>The right-hand panel is the point. Not a compliance score, but the four things you cannot do this week because one establishment fell into the red band.</a:t>
            </a:r>
            <a:endParaRPr lang="en-US" sz="1000" dirty="0"/>
          </a:p>
        </p:txBody>
      </p:sp>
      <p:sp>
        <p:nvSpPr>
          <p:cNvPr id="31" name="Text 28"/>
          <p:cNvSpPr txBox="1"/>
          <p:nvPr/>
        </p:nvSpPr>
        <p:spPr>
          <a:xfrm>
            <a:off x="548640" y="6419088"/>
            <a:ext cx="8595360" cy="237744"/>
          </a:xfrm>
          <a:prstGeom prst="rect">
            <a:avLst/>
          </a:prstGeom>
          <a:noFill/>
          <a:ln/>
        </p:spPr>
        <p:txBody>
          <a:bodyPr wrap="square" lIns="0" tIns="0" rIns="0" bIns="0" rtlCol="0" anchor="ctr"/>
          <a:lstStyle/>
          <a:p>
            <a:pPr indent="0" marL="0">
              <a:buNone/>
            </a:pPr>
            <a:r>
              <a:rPr lang="en-US" sz="900" dirty="0">
                <a:solidFill>
                  <a:srgbClr val="7E99B4"/>
                </a:solidFill>
                <a:latin typeface="Calibri" pitchFamily="34" charset="0"/>
                <a:ea typeface="Calibri" pitchFamily="34" charset="-122"/>
                <a:cs typeface="Calibri" pitchFamily="34" charset="-120"/>
              </a:rPr>
              <a:t>INK IT Business Solutions  ·  Visa &amp; Permits Management  ·  Kingdom of Saudi Arabia</a:t>
            </a:r>
            <a:endParaRPr lang="en-US" sz="900" dirty="0"/>
          </a:p>
        </p:txBody>
      </p:sp>
      <p:sp>
        <p:nvSpPr>
          <p:cNvPr id="32" name="Text 29"/>
          <p:cNvSpPr txBox="1"/>
          <p:nvPr/>
        </p:nvSpPr>
        <p:spPr>
          <a:xfrm>
            <a:off x="11155680" y="6419088"/>
            <a:ext cx="457200" cy="237744"/>
          </a:xfrm>
          <a:prstGeom prst="rect">
            <a:avLst/>
          </a:prstGeom>
          <a:noFill/>
          <a:ln/>
        </p:spPr>
        <p:txBody>
          <a:bodyPr wrap="square" lIns="0" tIns="0" rIns="0" bIns="0" rtlCol="0" anchor="ctr"/>
          <a:lstStyle/>
          <a:p>
            <a:pPr algn="r" indent="0" marL="0">
              <a:buNone/>
            </a:pPr>
            <a:r>
              <a:rPr lang="en-US" sz="900" dirty="0">
                <a:solidFill>
                  <a:srgbClr val="7E99B4"/>
                </a:solidFill>
                <a:latin typeface="Calibri" pitchFamily="34" charset="0"/>
                <a:ea typeface="Calibri" pitchFamily="34" charset="-122"/>
                <a:cs typeface="Calibri" pitchFamily="34" charset="-120"/>
              </a:rPr>
              <a:t>8</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02336"/>
            <a:ext cx="11064240" cy="237744"/>
          </a:xfrm>
          <a:prstGeom prst="rect">
            <a:avLst/>
          </a:prstGeom>
          <a:noFill/>
          <a:ln/>
        </p:spPr>
        <p:txBody>
          <a:bodyPr wrap="square" lIns="0" tIns="0" rIns="0" bIns="0" rtlCol="0" anchor="ctr"/>
          <a:lstStyle/>
          <a:p>
            <a:pPr indent="0" marL="0">
              <a:buNone/>
            </a:pPr>
            <a:r>
              <a:rPr lang="en-US" sz="1100" b="1" spc="220" kern="0" dirty="0">
                <a:solidFill>
                  <a:srgbClr val="20A098"/>
                </a:solidFill>
                <a:latin typeface="Calibri" pitchFamily="34" charset="0"/>
                <a:ea typeface="Calibri" pitchFamily="34" charset="-122"/>
                <a:cs typeface="Calibri" pitchFamily="34" charset="-120"/>
              </a:rPr>
              <a:t>GOVERNMENT PORTALS</a:t>
            </a:r>
            <a:endParaRPr lang="en-US" sz="1100" dirty="0"/>
          </a:p>
        </p:txBody>
      </p:sp>
      <p:sp>
        <p:nvSpPr>
          <p:cNvPr id="3" name="Text 1"/>
          <p:cNvSpPr txBox="1"/>
          <p:nvPr/>
        </p:nvSpPr>
        <p:spPr>
          <a:xfrm>
            <a:off x="548640" y="658368"/>
            <a:ext cx="11064240" cy="566928"/>
          </a:xfrm>
          <a:prstGeom prst="rect">
            <a:avLst/>
          </a:prstGeom>
          <a:noFill/>
          <a:ln/>
        </p:spPr>
        <p:txBody>
          <a:bodyPr wrap="square" lIns="0" tIns="0" rIns="0" bIns="0" rtlCol="0" anchor="ctr"/>
          <a:lstStyle/>
          <a:p>
            <a:pPr indent="0" marL="0">
              <a:buNone/>
            </a:pPr>
            <a:r>
              <a:rPr lang="en-US" sz="3000" b="1" dirty="0">
                <a:solidFill>
                  <a:srgbClr val="0C1E33"/>
                </a:solidFill>
                <a:latin typeface="Arial" pitchFamily="34" charset="0"/>
                <a:ea typeface="Arial" pitchFamily="34" charset="-122"/>
                <a:cs typeface="Arial" pitchFamily="34" charset="-120"/>
              </a:rPr>
              <a:t>Seven portals. One queue.</a:t>
            </a:r>
            <a:endParaRPr lang="en-US" sz="3000" dirty="0"/>
          </a:p>
        </p:txBody>
      </p:sp>
      <p:sp>
        <p:nvSpPr>
          <p:cNvPr id="4" name="Text 2"/>
          <p:cNvSpPr txBox="1"/>
          <p:nvPr/>
        </p:nvSpPr>
        <p:spPr>
          <a:xfrm>
            <a:off x="548640" y="1243584"/>
            <a:ext cx="10424160" cy="310896"/>
          </a:xfrm>
          <a:prstGeom prst="rect">
            <a:avLst/>
          </a:prstGeom>
          <a:noFill/>
          <a:ln/>
        </p:spPr>
        <p:txBody>
          <a:bodyPr wrap="square" lIns="0" tIns="0" rIns="0" bIns="0" rtlCol="0" anchor="ctr"/>
          <a:lstStyle/>
          <a:p>
            <a:pPr indent="0" marL="0">
              <a:buNone/>
            </a:pPr>
            <a:r>
              <a:rPr lang="en-US" sz="1300" dirty="0">
                <a:solidFill>
                  <a:srgbClr val="5A6C82"/>
                </a:solidFill>
                <a:latin typeface="Calibri" pitchFamily="34" charset="0"/>
                <a:ea typeface="Calibri" pitchFamily="34" charset="-122"/>
                <a:cs typeface="Calibri" pitchFamily="34" charset="-120"/>
              </a:rPr>
              <a:t>Every Saudi step lands on one of these. Your PRO should not have to remember which.</a:t>
            </a:r>
            <a:endParaRPr lang="en-US" sz="1300" dirty="0"/>
          </a:p>
        </p:txBody>
      </p:sp>
      <p:sp>
        <p:nvSpPr>
          <p:cNvPr id="5" name="Shape 3"/>
          <p:cNvSpPr/>
          <p:nvPr/>
        </p:nvSpPr>
        <p:spPr>
          <a:xfrm>
            <a:off x="548640" y="1773936"/>
            <a:ext cx="2670048" cy="1463040"/>
          </a:xfrm>
          <a:prstGeom prst="roundRect">
            <a:avLst>
              <a:gd name="adj" fmla="val 5000"/>
            </a:avLst>
          </a:prstGeom>
          <a:solidFill>
            <a:srgbClr val="EAF2FD"/>
          </a:solidFill>
          <a:ln w="9525">
            <a:solidFill>
              <a:srgbClr val="E3E7EA"/>
            </a:solidFill>
            <a:prstDash val="solid"/>
          </a:ln>
        </p:spPr>
      </p:sp>
      <p:sp>
        <p:nvSpPr>
          <p:cNvPr id="6" name="Text 4"/>
          <p:cNvSpPr txBox="1"/>
          <p:nvPr/>
        </p:nvSpPr>
        <p:spPr>
          <a:xfrm>
            <a:off x="704088" y="1883664"/>
            <a:ext cx="1115568" cy="256032"/>
          </a:xfrm>
          <a:prstGeom prst="rect">
            <a:avLst/>
          </a:prstGeom>
          <a:noFill/>
          <a:ln/>
        </p:spPr>
        <p:txBody>
          <a:bodyPr wrap="square" lIns="0" tIns="0" rIns="0" bIns="0" rtlCol="0" anchor="ctr"/>
          <a:lstStyle/>
          <a:p>
            <a:pPr indent="0" marL="0">
              <a:buNone/>
            </a:pPr>
            <a:r>
              <a:rPr lang="en-US" sz="1500" b="1" dirty="0">
                <a:solidFill>
                  <a:srgbClr val="0C1E33"/>
                </a:solidFill>
                <a:latin typeface="Arial" pitchFamily="34" charset="0"/>
                <a:ea typeface="Arial" pitchFamily="34" charset="-122"/>
                <a:cs typeface="Arial" pitchFamily="34" charset="-120"/>
              </a:rPr>
              <a:t>Qiwa</a:t>
            </a:r>
            <a:endParaRPr lang="en-US" sz="1500" dirty="0"/>
          </a:p>
        </p:txBody>
      </p:sp>
      <p:sp>
        <p:nvSpPr>
          <p:cNvPr id="7" name="Text 5"/>
          <p:cNvSpPr txBox="1"/>
          <p:nvPr/>
        </p:nvSpPr>
        <p:spPr>
          <a:xfrm>
            <a:off x="1874520" y="1892808"/>
            <a:ext cx="1188720" cy="219456"/>
          </a:xfrm>
          <a:prstGeom prst="rect">
            <a:avLst/>
          </a:prstGeom>
          <a:noFill/>
          <a:ln/>
        </p:spPr>
        <p:txBody>
          <a:bodyPr wrap="square" lIns="0" tIns="0" rIns="0" bIns="0" rtlCol="0" anchor="ctr"/>
          <a:lstStyle/>
          <a:p>
            <a:pPr algn="r" indent="0" marL="0">
              <a:lnSpc>
                <a:spcPts val="1000"/>
              </a:lnSpc>
              <a:buNone/>
            </a:pPr>
            <a:r>
              <a:rPr lang="en-US" sz="800" dirty="0">
                <a:solidFill>
                  <a:srgbClr val="5A6C82"/>
                </a:solidFill>
                <a:latin typeface="Calibri" pitchFamily="34" charset="0"/>
                <a:ea typeface="Calibri" pitchFamily="34" charset="-122"/>
                <a:cs typeface="Calibri" pitchFamily="34" charset="-120"/>
              </a:rPr>
              <a:t>MHRSD</a:t>
            </a:r>
            <a:endParaRPr lang="en-US" sz="800" dirty="0"/>
          </a:p>
        </p:txBody>
      </p:sp>
      <p:sp>
        <p:nvSpPr>
          <p:cNvPr id="8" name="Text 6"/>
          <p:cNvSpPr txBox="1"/>
          <p:nvPr/>
        </p:nvSpPr>
        <p:spPr>
          <a:xfrm>
            <a:off x="704088" y="2157984"/>
            <a:ext cx="2359152" cy="219456"/>
          </a:xfrm>
          <a:prstGeom prst="rect">
            <a:avLst/>
          </a:prstGeom>
          <a:noFill/>
          <a:ln/>
        </p:spPr>
        <p:txBody>
          <a:bodyPr wrap="square" lIns="0" tIns="0" rIns="0" bIns="0" rtlCol="0" anchor="ctr"/>
          <a:lstStyle/>
          <a:p>
            <a:pPr indent="0" marL="0">
              <a:buNone/>
            </a:pPr>
            <a:r>
              <a:rPr lang="en-US" sz="1150" b="1" dirty="0">
                <a:solidFill>
                  <a:srgbClr val="12756F"/>
                </a:solidFill>
                <a:latin typeface="Arial" pitchFamily="34" charset="0"/>
                <a:ea typeface="Arial" pitchFamily="34" charset="-122"/>
                <a:cs typeface="Arial" pitchFamily="34" charset="-120"/>
              </a:rPr>
              <a:t>The job</a:t>
            </a:r>
            <a:endParaRPr lang="en-US" sz="1150" dirty="0"/>
          </a:p>
        </p:txBody>
      </p:sp>
      <p:sp>
        <p:nvSpPr>
          <p:cNvPr id="9" name="Text 7"/>
          <p:cNvSpPr txBox="1"/>
          <p:nvPr/>
        </p:nvSpPr>
        <p:spPr>
          <a:xfrm>
            <a:off x="704088" y="2395728"/>
            <a:ext cx="2359152" cy="566928"/>
          </a:xfrm>
          <a:prstGeom prst="rect">
            <a:avLst/>
          </a:prstGeom>
          <a:noFill/>
          <a:ln/>
        </p:spPr>
        <p:txBody>
          <a:bodyPr wrap="square" lIns="0" tIns="0" rIns="0" bIns="0" rtlCol="0" anchor="ctr"/>
          <a:lstStyle/>
          <a:p>
            <a:pPr indent="0" marL="0">
              <a:lnSpc>
                <a:spcPts val="1240"/>
              </a:lnSpc>
              <a:buNone/>
            </a:pPr>
            <a:r>
              <a:rPr lang="en-US" sz="920" dirty="0">
                <a:solidFill>
                  <a:srgbClr val="5A6C82"/>
                </a:solidFill>
                <a:latin typeface="Calibri" pitchFamily="34" charset="0"/>
                <a:ea typeface="Calibri" pitchFamily="34" charset="-122"/>
                <a:cs typeface="Calibri" pitchFamily="34" charset="-120"/>
              </a:rPr>
              <a:t>Work permits, the authenticated contract, Nitaqat band, transfers</a:t>
            </a:r>
            <a:endParaRPr lang="en-US" sz="920" dirty="0"/>
          </a:p>
        </p:txBody>
      </p:sp>
      <p:sp>
        <p:nvSpPr>
          <p:cNvPr id="10" name="Shape 8"/>
          <p:cNvSpPr/>
          <p:nvPr/>
        </p:nvSpPr>
        <p:spPr>
          <a:xfrm>
            <a:off x="704088" y="2999232"/>
            <a:ext cx="1325880" cy="201168"/>
          </a:xfrm>
          <a:prstGeom prst="roundRect">
            <a:avLst>
              <a:gd name="adj" fmla="val 50000"/>
            </a:avLst>
          </a:prstGeom>
          <a:solidFill>
            <a:srgbClr val="B5730F"/>
          </a:solidFill>
          <a:ln/>
        </p:spPr>
      </p:sp>
      <p:sp>
        <p:nvSpPr>
          <p:cNvPr id="11" name="Text 9"/>
          <p:cNvSpPr txBox="1"/>
          <p:nvPr/>
        </p:nvSpPr>
        <p:spPr>
          <a:xfrm>
            <a:off x="704088" y="2999232"/>
            <a:ext cx="1325880" cy="201168"/>
          </a:xfrm>
          <a:prstGeom prst="rect">
            <a:avLst/>
          </a:prstGeom>
          <a:noFill/>
          <a:ln/>
        </p:spPr>
        <p:txBody>
          <a:bodyPr wrap="square" lIns="0" tIns="0" rIns="0" bIns="0" rtlCol="0" anchor="ctr"/>
          <a:lstStyle/>
          <a:p>
            <a:pPr algn="ctr" indent="0" marL="0">
              <a:buNone/>
            </a:pPr>
            <a:r>
              <a:rPr lang="en-US" sz="780" b="1" dirty="0">
                <a:solidFill>
                  <a:srgbClr val="FFFFFF"/>
                </a:solidFill>
                <a:latin typeface="Calibri" pitchFamily="34" charset="0"/>
                <a:ea typeface="Calibri" pitchFamily="34" charset="-122"/>
                <a:cs typeface="Calibri" pitchFamily="34" charset="-120"/>
              </a:rPr>
              <a:t>Connector ready</a:t>
            </a:r>
            <a:endParaRPr lang="en-US" sz="780" dirty="0"/>
          </a:p>
        </p:txBody>
      </p:sp>
      <p:sp>
        <p:nvSpPr>
          <p:cNvPr id="12" name="Shape 10"/>
          <p:cNvSpPr/>
          <p:nvPr/>
        </p:nvSpPr>
        <p:spPr>
          <a:xfrm>
            <a:off x="3374136" y="1773936"/>
            <a:ext cx="2670048" cy="1463040"/>
          </a:xfrm>
          <a:prstGeom prst="roundRect">
            <a:avLst>
              <a:gd name="adj" fmla="val 5000"/>
            </a:avLst>
          </a:prstGeom>
          <a:solidFill>
            <a:srgbClr val="EAF2FD"/>
          </a:solidFill>
          <a:ln w="9525">
            <a:solidFill>
              <a:srgbClr val="E3E7EA"/>
            </a:solidFill>
            <a:prstDash val="solid"/>
          </a:ln>
        </p:spPr>
      </p:sp>
      <p:sp>
        <p:nvSpPr>
          <p:cNvPr id="13" name="Text 11"/>
          <p:cNvSpPr txBox="1"/>
          <p:nvPr/>
        </p:nvSpPr>
        <p:spPr>
          <a:xfrm>
            <a:off x="3529584" y="1883664"/>
            <a:ext cx="1115568" cy="256032"/>
          </a:xfrm>
          <a:prstGeom prst="rect">
            <a:avLst/>
          </a:prstGeom>
          <a:noFill/>
          <a:ln/>
        </p:spPr>
        <p:txBody>
          <a:bodyPr wrap="square" lIns="0" tIns="0" rIns="0" bIns="0" rtlCol="0" anchor="ctr"/>
          <a:lstStyle/>
          <a:p>
            <a:pPr indent="0" marL="0">
              <a:buNone/>
            </a:pPr>
            <a:r>
              <a:rPr lang="en-US" sz="1500" b="1" dirty="0">
                <a:solidFill>
                  <a:srgbClr val="0C1E33"/>
                </a:solidFill>
                <a:latin typeface="Arial" pitchFamily="34" charset="0"/>
                <a:ea typeface="Arial" pitchFamily="34" charset="-122"/>
                <a:cs typeface="Arial" pitchFamily="34" charset="-120"/>
              </a:rPr>
              <a:t>Muqeem</a:t>
            </a:r>
            <a:endParaRPr lang="en-US" sz="1500" dirty="0"/>
          </a:p>
        </p:txBody>
      </p:sp>
      <p:sp>
        <p:nvSpPr>
          <p:cNvPr id="14" name="Text 12"/>
          <p:cNvSpPr txBox="1"/>
          <p:nvPr/>
        </p:nvSpPr>
        <p:spPr>
          <a:xfrm>
            <a:off x="4700016" y="1892808"/>
            <a:ext cx="1188720" cy="219456"/>
          </a:xfrm>
          <a:prstGeom prst="rect">
            <a:avLst/>
          </a:prstGeom>
          <a:noFill/>
          <a:ln/>
        </p:spPr>
        <p:txBody>
          <a:bodyPr wrap="square" lIns="0" tIns="0" rIns="0" bIns="0" rtlCol="0" anchor="ctr"/>
          <a:lstStyle/>
          <a:p>
            <a:pPr algn="r" indent="0" marL="0">
              <a:lnSpc>
                <a:spcPts val="1000"/>
              </a:lnSpc>
              <a:buNone/>
            </a:pPr>
            <a:r>
              <a:rPr lang="en-US" sz="800" dirty="0">
                <a:solidFill>
                  <a:srgbClr val="5A6C82"/>
                </a:solidFill>
                <a:latin typeface="Calibri" pitchFamily="34" charset="0"/>
                <a:ea typeface="Calibri" pitchFamily="34" charset="-122"/>
                <a:cs typeface="Calibri" pitchFamily="34" charset="-120"/>
              </a:rPr>
              <a:t>Elm</a:t>
            </a:r>
            <a:endParaRPr lang="en-US" sz="800" dirty="0"/>
          </a:p>
        </p:txBody>
      </p:sp>
      <p:sp>
        <p:nvSpPr>
          <p:cNvPr id="15" name="Text 13"/>
          <p:cNvSpPr txBox="1"/>
          <p:nvPr/>
        </p:nvSpPr>
        <p:spPr>
          <a:xfrm>
            <a:off x="3529584" y="2157984"/>
            <a:ext cx="2359152" cy="219456"/>
          </a:xfrm>
          <a:prstGeom prst="rect">
            <a:avLst/>
          </a:prstGeom>
          <a:noFill/>
          <a:ln/>
        </p:spPr>
        <p:txBody>
          <a:bodyPr wrap="square" lIns="0" tIns="0" rIns="0" bIns="0" rtlCol="0" anchor="ctr"/>
          <a:lstStyle/>
          <a:p>
            <a:pPr indent="0" marL="0">
              <a:buNone/>
            </a:pPr>
            <a:r>
              <a:rPr lang="en-US" sz="1150" b="1" dirty="0">
                <a:solidFill>
                  <a:srgbClr val="12756F"/>
                </a:solidFill>
                <a:latin typeface="Arial" pitchFamily="34" charset="0"/>
                <a:ea typeface="Arial" pitchFamily="34" charset="-122"/>
                <a:cs typeface="Arial" pitchFamily="34" charset="-120"/>
              </a:rPr>
              <a:t>The residence</a:t>
            </a:r>
            <a:endParaRPr lang="en-US" sz="1150" dirty="0"/>
          </a:p>
        </p:txBody>
      </p:sp>
      <p:sp>
        <p:nvSpPr>
          <p:cNvPr id="16" name="Text 14"/>
          <p:cNvSpPr txBox="1"/>
          <p:nvPr/>
        </p:nvSpPr>
        <p:spPr>
          <a:xfrm>
            <a:off x="3529584" y="2395728"/>
            <a:ext cx="2359152" cy="566928"/>
          </a:xfrm>
          <a:prstGeom prst="rect">
            <a:avLst/>
          </a:prstGeom>
          <a:noFill/>
          <a:ln/>
        </p:spPr>
        <p:txBody>
          <a:bodyPr wrap="square" lIns="0" tIns="0" rIns="0" bIns="0" rtlCol="0" anchor="ctr"/>
          <a:lstStyle/>
          <a:p>
            <a:pPr indent="0" marL="0">
              <a:lnSpc>
                <a:spcPts val="1240"/>
              </a:lnSpc>
              <a:buNone/>
            </a:pPr>
            <a:r>
              <a:rPr lang="en-US" sz="920" dirty="0">
                <a:solidFill>
                  <a:srgbClr val="5A6C82"/>
                </a:solidFill>
                <a:latin typeface="Calibri" pitchFamily="34" charset="0"/>
                <a:ea typeface="Calibri" pitchFamily="34" charset="-122"/>
                <a:cs typeface="Calibri" pitchFamily="34" charset="-120"/>
              </a:rPr>
              <a:t>Iqama issue and renewal, exit and re-entry, final exit, dependants</a:t>
            </a:r>
            <a:endParaRPr lang="en-US" sz="920" dirty="0"/>
          </a:p>
        </p:txBody>
      </p:sp>
      <p:sp>
        <p:nvSpPr>
          <p:cNvPr id="17" name="Shape 15"/>
          <p:cNvSpPr/>
          <p:nvPr/>
        </p:nvSpPr>
        <p:spPr>
          <a:xfrm>
            <a:off x="3529584" y="2999232"/>
            <a:ext cx="1325880" cy="201168"/>
          </a:xfrm>
          <a:prstGeom prst="roundRect">
            <a:avLst>
              <a:gd name="adj" fmla="val 50000"/>
            </a:avLst>
          </a:prstGeom>
          <a:solidFill>
            <a:srgbClr val="B5730F"/>
          </a:solidFill>
          <a:ln/>
        </p:spPr>
      </p:sp>
      <p:sp>
        <p:nvSpPr>
          <p:cNvPr id="18" name="Text 16"/>
          <p:cNvSpPr txBox="1"/>
          <p:nvPr/>
        </p:nvSpPr>
        <p:spPr>
          <a:xfrm>
            <a:off x="3529584" y="2999232"/>
            <a:ext cx="1325880" cy="201168"/>
          </a:xfrm>
          <a:prstGeom prst="rect">
            <a:avLst/>
          </a:prstGeom>
          <a:noFill/>
          <a:ln/>
        </p:spPr>
        <p:txBody>
          <a:bodyPr wrap="square" lIns="0" tIns="0" rIns="0" bIns="0" rtlCol="0" anchor="ctr"/>
          <a:lstStyle/>
          <a:p>
            <a:pPr algn="ctr" indent="0" marL="0">
              <a:buNone/>
            </a:pPr>
            <a:r>
              <a:rPr lang="en-US" sz="780" b="1" dirty="0">
                <a:solidFill>
                  <a:srgbClr val="FFFFFF"/>
                </a:solidFill>
                <a:latin typeface="Calibri" pitchFamily="34" charset="0"/>
                <a:ea typeface="Calibri" pitchFamily="34" charset="-122"/>
                <a:cs typeface="Calibri" pitchFamily="34" charset="-120"/>
              </a:rPr>
              <a:t>Connector ready</a:t>
            </a:r>
            <a:endParaRPr lang="en-US" sz="780" dirty="0"/>
          </a:p>
        </p:txBody>
      </p:sp>
      <p:sp>
        <p:nvSpPr>
          <p:cNvPr id="19" name="Shape 17"/>
          <p:cNvSpPr/>
          <p:nvPr/>
        </p:nvSpPr>
        <p:spPr>
          <a:xfrm>
            <a:off x="6199632" y="1773936"/>
            <a:ext cx="2670048" cy="1463040"/>
          </a:xfrm>
          <a:prstGeom prst="roundRect">
            <a:avLst>
              <a:gd name="adj" fmla="val 5000"/>
            </a:avLst>
          </a:prstGeom>
          <a:solidFill>
            <a:srgbClr val="EAF2FD"/>
          </a:solidFill>
          <a:ln w="9525">
            <a:solidFill>
              <a:srgbClr val="E3E7EA"/>
            </a:solidFill>
            <a:prstDash val="solid"/>
          </a:ln>
        </p:spPr>
      </p:sp>
      <p:sp>
        <p:nvSpPr>
          <p:cNvPr id="20" name="Text 18"/>
          <p:cNvSpPr txBox="1"/>
          <p:nvPr/>
        </p:nvSpPr>
        <p:spPr>
          <a:xfrm>
            <a:off x="6355080" y="1883664"/>
            <a:ext cx="1115568" cy="256032"/>
          </a:xfrm>
          <a:prstGeom prst="rect">
            <a:avLst/>
          </a:prstGeom>
          <a:noFill/>
          <a:ln/>
        </p:spPr>
        <p:txBody>
          <a:bodyPr wrap="square" lIns="0" tIns="0" rIns="0" bIns="0" rtlCol="0" anchor="ctr"/>
          <a:lstStyle/>
          <a:p>
            <a:pPr indent="0" marL="0">
              <a:buNone/>
            </a:pPr>
            <a:r>
              <a:rPr lang="en-US" sz="1500" b="1" dirty="0">
                <a:solidFill>
                  <a:srgbClr val="0C1E33"/>
                </a:solidFill>
                <a:latin typeface="Arial" pitchFamily="34" charset="0"/>
                <a:ea typeface="Arial" pitchFamily="34" charset="-122"/>
                <a:cs typeface="Arial" pitchFamily="34" charset="-120"/>
              </a:rPr>
              <a:t>Absher</a:t>
            </a:r>
            <a:endParaRPr lang="en-US" sz="1500" dirty="0"/>
          </a:p>
        </p:txBody>
      </p:sp>
      <p:sp>
        <p:nvSpPr>
          <p:cNvPr id="21" name="Text 19"/>
          <p:cNvSpPr txBox="1"/>
          <p:nvPr/>
        </p:nvSpPr>
        <p:spPr>
          <a:xfrm>
            <a:off x="7525512" y="1892808"/>
            <a:ext cx="1188720" cy="219456"/>
          </a:xfrm>
          <a:prstGeom prst="rect">
            <a:avLst/>
          </a:prstGeom>
          <a:noFill/>
          <a:ln/>
        </p:spPr>
        <p:txBody>
          <a:bodyPr wrap="square" lIns="0" tIns="0" rIns="0" bIns="0" rtlCol="0" anchor="ctr"/>
          <a:lstStyle/>
          <a:p>
            <a:pPr algn="r" indent="0" marL="0">
              <a:lnSpc>
                <a:spcPts val="1000"/>
              </a:lnSpc>
              <a:buNone/>
            </a:pPr>
            <a:r>
              <a:rPr lang="en-US" sz="800" dirty="0">
                <a:solidFill>
                  <a:srgbClr val="5A6C82"/>
                </a:solidFill>
                <a:latin typeface="Calibri" pitchFamily="34" charset="0"/>
                <a:ea typeface="Calibri" pitchFamily="34" charset="-122"/>
                <a:cs typeface="Calibri" pitchFamily="34" charset="-120"/>
              </a:rPr>
              <a:t>Ministry of Interior</a:t>
            </a:r>
            <a:endParaRPr lang="en-US" sz="800" dirty="0"/>
          </a:p>
        </p:txBody>
      </p:sp>
      <p:sp>
        <p:nvSpPr>
          <p:cNvPr id="22" name="Text 20"/>
          <p:cNvSpPr txBox="1"/>
          <p:nvPr/>
        </p:nvSpPr>
        <p:spPr>
          <a:xfrm>
            <a:off x="6355080" y="2157984"/>
            <a:ext cx="2359152" cy="219456"/>
          </a:xfrm>
          <a:prstGeom prst="rect">
            <a:avLst/>
          </a:prstGeom>
          <a:noFill/>
          <a:ln/>
        </p:spPr>
        <p:txBody>
          <a:bodyPr wrap="square" lIns="0" tIns="0" rIns="0" bIns="0" rtlCol="0" anchor="ctr"/>
          <a:lstStyle/>
          <a:p>
            <a:pPr indent="0" marL="0">
              <a:buNone/>
            </a:pPr>
            <a:r>
              <a:rPr lang="en-US" sz="1150" b="1" dirty="0">
                <a:solidFill>
                  <a:srgbClr val="12756F"/>
                </a:solidFill>
                <a:latin typeface="Arial" pitchFamily="34" charset="0"/>
                <a:ea typeface="Arial" pitchFamily="34" charset="-122"/>
                <a:cs typeface="Arial" pitchFamily="34" charset="-120"/>
              </a:rPr>
              <a:t>What the employee sees</a:t>
            </a:r>
            <a:endParaRPr lang="en-US" sz="1150" dirty="0"/>
          </a:p>
        </p:txBody>
      </p:sp>
      <p:sp>
        <p:nvSpPr>
          <p:cNvPr id="23" name="Text 21"/>
          <p:cNvSpPr txBox="1"/>
          <p:nvPr/>
        </p:nvSpPr>
        <p:spPr>
          <a:xfrm>
            <a:off x="6355080" y="2395728"/>
            <a:ext cx="2359152" cy="566928"/>
          </a:xfrm>
          <a:prstGeom prst="rect">
            <a:avLst/>
          </a:prstGeom>
          <a:noFill/>
          <a:ln/>
        </p:spPr>
        <p:txBody>
          <a:bodyPr wrap="square" lIns="0" tIns="0" rIns="0" bIns="0" rtlCol="0" anchor="ctr"/>
          <a:lstStyle/>
          <a:p>
            <a:pPr indent="0" marL="0">
              <a:lnSpc>
                <a:spcPts val="1240"/>
              </a:lnSpc>
              <a:buNone/>
            </a:pPr>
            <a:r>
              <a:rPr lang="en-US" sz="920" dirty="0">
                <a:solidFill>
                  <a:srgbClr val="5A6C82"/>
                </a:solidFill>
                <a:latin typeface="Calibri" pitchFamily="34" charset="0"/>
                <a:ea typeface="Calibri" pitchFamily="34" charset="-122"/>
                <a:cs typeface="Calibri" pitchFamily="34" charset="-120"/>
              </a:rPr>
              <a:t>Mirrors every Muqeem action, same day. Where disputes start</a:t>
            </a:r>
            <a:endParaRPr lang="en-US" sz="920" dirty="0"/>
          </a:p>
        </p:txBody>
      </p:sp>
      <p:sp>
        <p:nvSpPr>
          <p:cNvPr id="24" name="Shape 22"/>
          <p:cNvSpPr/>
          <p:nvPr/>
        </p:nvSpPr>
        <p:spPr>
          <a:xfrm>
            <a:off x="6355080" y="2999232"/>
            <a:ext cx="1325880" cy="201168"/>
          </a:xfrm>
          <a:prstGeom prst="roundRect">
            <a:avLst>
              <a:gd name="adj" fmla="val 50000"/>
            </a:avLst>
          </a:prstGeom>
          <a:solidFill>
            <a:srgbClr val="B5730F"/>
          </a:solidFill>
          <a:ln/>
        </p:spPr>
      </p:sp>
      <p:sp>
        <p:nvSpPr>
          <p:cNvPr id="25" name="Text 23"/>
          <p:cNvSpPr txBox="1"/>
          <p:nvPr/>
        </p:nvSpPr>
        <p:spPr>
          <a:xfrm>
            <a:off x="6355080" y="2999232"/>
            <a:ext cx="1325880" cy="201168"/>
          </a:xfrm>
          <a:prstGeom prst="rect">
            <a:avLst/>
          </a:prstGeom>
          <a:noFill/>
          <a:ln/>
        </p:spPr>
        <p:txBody>
          <a:bodyPr wrap="square" lIns="0" tIns="0" rIns="0" bIns="0" rtlCol="0" anchor="ctr"/>
          <a:lstStyle/>
          <a:p>
            <a:pPr algn="ctr" indent="0" marL="0">
              <a:buNone/>
            </a:pPr>
            <a:r>
              <a:rPr lang="en-US" sz="780" b="1" dirty="0">
                <a:solidFill>
                  <a:srgbClr val="FFFFFF"/>
                </a:solidFill>
                <a:latin typeface="Calibri" pitchFamily="34" charset="0"/>
                <a:ea typeface="Calibri" pitchFamily="34" charset="-122"/>
                <a:cs typeface="Calibri" pitchFamily="34" charset="-120"/>
              </a:rPr>
              <a:t>Connector ready</a:t>
            </a:r>
            <a:endParaRPr lang="en-US" sz="780" dirty="0"/>
          </a:p>
        </p:txBody>
      </p:sp>
      <p:sp>
        <p:nvSpPr>
          <p:cNvPr id="26" name="Shape 24"/>
          <p:cNvSpPr/>
          <p:nvPr/>
        </p:nvSpPr>
        <p:spPr>
          <a:xfrm>
            <a:off x="9025128" y="1773936"/>
            <a:ext cx="2670048" cy="1463040"/>
          </a:xfrm>
          <a:prstGeom prst="roundRect">
            <a:avLst>
              <a:gd name="adj" fmla="val 5000"/>
            </a:avLst>
          </a:prstGeom>
          <a:solidFill>
            <a:srgbClr val="F4F6F7"/>
          </a:solidFill>
          <a:ln w="9525">
            <a:solidFill>
              <a:srgbClr val="E3E7EA"/>
            </a:solidFill>
            <a:prstDash val="solid"/>
          </a:ln>
        </p:spPr>
      </p:sp>
      <p:sp>
        <p:nvSpPr>
          <p:cNvPr id="27" name="Text 25"/>
          <p:cNvSpPr txBox="1"/>
          <p:nvPr/>
        </p:nvSpPr>
        <p:spPr>
          <a:xfrm>
            <a:off x="9180576" y="1883664"/>
            <a:ext cx="1115568" cy="256032"/>
          </a:xfrm>
          <a:prstGeom prst="rect">
            <a:avLst/>
          </a:prstGeom>
          <a:noFill/>
          <a:ln/>
        </p:spPr>
        <p:txBody>
          <a:bodyPr wrap="square" lIns="0" tIns="0" rIns="0" bIns="0" rtlCol="0" anchor="ctr"/>
          <a:lstStyle/>
          <a:p>
            <a:pPr indent="0" marL="0">
              <a:buNone/>
            </a:pPr>
            <a:r>
              <a:rPr lang="en-US" sz="1500" b="1" dirty="0">
                <a:solidFill>
                  <a:srgbClr val="0C1E33"/>
                </a:solidFill>
                <a:latin typeface="Arial" pitchFamily="34" charset="0"/>
                <a:ea typeface="Arial" pitchFamily="34" charset="-122"/>
                <a:cs typeface="Arial" pitchFamily="34" charset="-120"/>
              </a:rPr>
              <a:t>Enjaz</a:t>
            </a:r>
            <a:endParaRPr lang="en-US" sz="1500" dirty="0"/>
          </a:p>
        </p:txBody>
      </p:sp>
      <p:sp>
        <p:nvSpPr>
          <p:cNvPr id="28" name="Text 26"/>
          <p:cNvSpPr txBox="1"/>
          <p:nvPr/>
        </p:nvSpPr>
        <p:spPr>
          <a:xfrm>
            <a:off x="10351008" y="1892808"/>
            <a:ext cx="1188720" cy="219456"/>
          </a:xfrm>
          <a:prstGeom prst="rect">
            <a:avLst/>
          </a:prstGeom>
          <a:noFill/>
          <a:ln/>
        </p:spPr>
        <p:txBody>
          <a:bodyPr wrap="square" lIns="0" tIns="0" rIns="0" bIns="0" rtlCol="0" anchor="ctr"/>
          <a:lstStyle/>
          <a:p>
            <a:pPr algn="r" indent="0" marL="0">
              <a:lnSpc>
                <a:spcPts val="1000"/>
              </a:lnSpc>
              <a:buNone/>
            </a:pPr>
            <a:r>
              <a:rPr lang="en-US" sz="800" dirty="0">
                <a:solidFill>
                  <a:srgbClr val="5A6C82"/>
                </a:solidFill>
                <a:latin typeface="Calibri" pitchFamily="34" charset="0"/>
                <a:ea typeface="Calibri" pitchFamily="34" charset="-122"/>
                <a:cs typeface="Calibri" pitchFamily="34" charset="-120"/>
              </a:rPr>
              <a:t>MoFA</a:t>
            </a:r>
            <a:endParaRPr lang="en-US" sz="800" dirty="0"/>
          </a:p>
        </p:txBody>
      </p:sp>
      <p:sp>
        <p:nvSpPr>
          <p:cNvPr id="29" name="Text 27"/>
          <p:cNvSpPr txBox="1"/>
          <p:nvPr/>
        </p:nvSpPr>
        <p:spPr>
          <a:xfrm>
            <a:off x="9180576" y="2157984"/>
            <a:ext cx="2359152" cy="219456"/>
          </a:xfrm>
          <a:prstGeom prst="rect">
            <a:avLst/>
          </a:prstGeom>
          <a:noFill/>
          <a:ln/>
        </p:spPr>
        <p:txBody>
          <a:bodyPr wrap="square" lIns="0" tIns="0" rIns="0" bIns="0" rtlCol="0" anchor="ctr"/>
          <a:lstStyle/>
          <a:p>
            <a:pPr indent="0" marL="0">
              <a:buNone/>
            </a:pPr>
            <a:r>
              <a:rPr lang="en-US" sz="1150" b="1" dirty="0">
                <a:solidFill>
                  <a:srgbClr val="12756F"/>
                </a:solidFill>
                <a:latin typeface="Arial" pitchFamily="34" charset="0"/>
                <a:ea typeface="Arial" pitchFamily="34" charset="-122"/>
                <a:cs typeface="Arial" pitchFamily="34" charset="-120"/>
              </a:rPr>
              <a:t>The visa, stamped abroad</a:t>
            </a:r>
            <a:endParaRPr lang="en-US" sz="1150" dirty="0"/>
          </a:p>
        </p:txBody>
      </p:sp>
      <p:sp>
        <p:nvSpPr>
          <p:cNvPr id="30" name="Text 28"/>
          <p:cNvSpPr txBox="1"/>
          <p:nvPr/>
        </p:nvSpPr>
        <p:spPr>
          <a:xfrm>
            <a:off x="9180576" y="2395728"/>
            <a:ext cx="2359152" cy="566928"/>
          </a:xfrm>
          <a:prstGeom prst="rect">
            <a:avLst/>
          </a:prstGeom>
          <a:noFill/>
          <a:ln/>
        </p:spPr>
        <p:txBody>
          <a:bodyPr wrap="square" lIns="0" tIns="0" rIns="0" bIns="0" rtlCol="0" anchor="ctr"/>
          <a:lstStyle/>
          <a:p>
            <a:pPr indent="0" marL="0">
              <a:lnSpc>
                <a:spcPts val="1240"/>
              </a:lnSpc>
              <a:buNone/>
            </a:pPr>
            <a:r>
              <a:rPr lang="en-US" sz="920" dirty="0">
                <a:solidFill>
                  <a:srgbClr val="5A6C82"/>
                </a:solidFill>
                <a:latin typeface="Calibri" pitchFamily="34" charset="0"/>
                <a:ea typeface="Calibri" pitchFamily="34" charset="-122"/>
                <a:cs typeface="Calibri" pitchFamily="34" charset="-120"/>
              </a:rPr>
              <a:t>Application and embassy stamping, tracked to the entry window</a:t>
            </a:r>
            <a:endParaRPr lang="en-US" sz="920" dirty="0"/>
          </a:p>
        </p:txBody>
      </p:sp>
      <p:sp>
        <p:nvSpPr>
          <p:cNvPr id="31" name="Shape 29"/>
          <p:cNvSpPr/>
          <p:nvPr/>
        </p:nvSpPr>
        <p:spPr>
          <a:xfrm>
            <a:off x="9180576" y="2999232"/>
            <a:ext cx="1325880" cy="201168"/>
          </a:xfrm>
          <a:prstGeom prst="roundRect">
            <a:avLst>
              <a:gd name="adj" fmla="val 50000"/>
            </a:avLst>
          </a:prstGeom>
          <a:solidFill>
            <a:srgbClr val="B5730F"/>
          </a:solidFill>
          <a:ln/>
        </p:spPr>
      </p:sp>
      <p:sp>
        <p:nvSpPr>
          <p:cNvPr id="32" name="Text 30"/>
          <p:cNvSpPr txBox="1"/>
          <p:nvPr/>
        </p:nvSpPr>
        <p:spPr>
          <a:xfrm>
            <a:off x="9180576" y="2999232"/>
            <a:ext cx="1325880" cy="201168"/>
          </a:xfrm>
          <a:prstGeom prst="rect">
            <a:avLst/>
          </a:prstGeom>
          <a:noFill/>
          <a:ln/>
        </p:spPr>
        <p:txBody>
          <a:bodyPr wrap="square" lIns="0" tIns="0" rIns="0" bIns="0" rtlCol="0" anchor="ctr"/>
          <a:lstStyle/>
          <a:p>
            <a:pPr algn="ctr" indent="0" marL="0">
              <a:buNone/>
            </a:pPr>
            <a:r>
              <a:rPr lang="en-US" sz="780" b="1" dirty="0">
                <a:solidFill>
                  <a:srgbClr val="FFFFFF"/>
                </a:solidFill>
                <a:latin typeface="Calibri" pitchFamily="34" charset="0"/>
                <a:ea typeface="Calibri" pitchFamily="34" charset="-122"/>
                <a:cs typeface="Calibri" pitchFamily="34" charset="-120"/>
              </a:rPr>
              <a:t>Connector ready</a:t>
            </a:r>
            <a:endParaRPr lang="en-US" sz="780" dirty="0"/>
          </a:p>
        </p:txBody>
      </p:sp>
      <p:sp>
        <p:nvSpPr>
          <p:cNvPr id="33" name="Shape 31"/>
          <p:cNvSpPr/>
          <p:nvPr/>
        </p:nvSpPr>
        <p:spPr>
          <a:xfrm>
            <a:off x="548640" y="3401568"/>
            <a:ext cx="2670048" cy="1463040"/>
          </a:xfrm>
          <a:prstGeom prst="roundRect">
            <a:avLst>
              <a:gd name="adj" fmla="val 5000"/>
            </a:avLst>
          </a:prstGeom>
          <a:solidFill>
            <a:srgbClr val="F4F6F7"/>
          </a:solidFill>
          <a:ln w="9525">
            <a:solidFill>
              <a:srgbClr val="E3E7EA"/>
            </a:solidFill>
            <a:prstDash val="solid"/>
          </a:ln>
        </p:spPr>
      </p:sp>
      <p:sp>
        <p:nvSpPr>
          <p:cNvPr id="34" name="Text 32"/>
          <p:cNvSpPr txBox="1"/>
          <p:nvPr/>
        </p:nvSpPr>
        <p:spPr>
          <a:xfrm>
            <a:off x="704088" y="3511296"/>
            <a:ext cx="1115568" cy="256032"/>
          </a:xfrm>
          <a:prstGeom prst="rect">
            <a:avLst/>
          </a:prstGeom>
          <a:noFill/>
          <a:ln/>
        </p:spPr>
        <p:txBody>
          <a:bodyPr wrap="square" lIns="0" tIns="0" rIns="0" bIns="0" rtlCol="0" anchor="ctr"/>
          <a:lstStyle/>
          <a:p>
            <a:pPr indent="0" marL="0">
              <a:buNone/>
            </a:pPr>
            <a:r>
              <a:rPr lang="en-US" sz="1500" b="1" dirty="0">
                <a:solidFill>
                  <a:srgbClr val="0C1E33"/>
                </a:solidFill>
                <a:latin typeface="Arial" pitchFamily="34" charset="0"/>
                <a:ea typeface="Arial" pitchFamily="34" charset="-122"/>
                <a:cs typeface="Arial" pitchFamily="34" charset="-120"/>
              </a:rPr>
              <a:t>GOSI</a:t>
            </a:r>
            <a:endParaRPr lang="en-US" sz="1500" dirty="0"/>
          </a:p>
        </p:txBody>
      </p:sp>
      <p:sp>
        <p:nvSpPr>
          <p:cNvPr id="35" name="Text 33"/>
          <p:cNvSpPr txBox="1"/>
          <p:nvPr/>
        </p:nvSpPr>
        <p:spPr>
          <a:xfrm>
            <a:off x="1874520" y="3520440"/>
            <a:ext cx="1188720" cy="219456"/>
          </a:xfrm>
          <a:prstGeom prst="rect">
            <a:avLst/>
          </a:prstGeom>
          <a:noFill/>
          <a:ln/>
        </p:spPr>
        <p:txBody>
          <a:bodyPr wrap="square" lIns="0" tIns="0" rIns="0" bIns="0" rtlCol="0" anchor="ctr"/>
          <a:lstStyle/>
          <a:p>
            <a:pPr algn="r" indent="0" marL="0">
              <a:lnSpc>
                <a:spcPts val="1000"/>
              </a:lnSpc>
              <a:buNone/>
            </a:pPr>
            <a:r>
              <a:rPr lang="en-US" sz="800" dirty="0">
                <a:solidFill>
                  <a:srgbClr val="5A6C82"/>
                </a:solidFill>
                <a:latin typeface="Calibri" pitchFamily="34" charset="0"/>
                <a:ea typeface="Calibri" pitchFamily="34" charset="-122"/>
                <a:cs typeface="Calibri" pitchFamily="34" charset="-120"/>
              </a:rPr>
              <a:t>Social Insurance</a:t>
            </a:r>
            <a:endParaRPr lang="en-US" sz="800" dirty="0"/>
          </a:p>
        </p:txBody>
      </p:sp>
      <p:sp>
        <p:nvSpPr>
          <p:cNvPr id="36" name="Text 34"/>
          <p:cNvSpPr txBox="1"/>
          <p:nvPr/>
        </p:nvSpPr>
        <p:spPr>
          <a:xfrm>
            <a:off x="704088" y="3785616"/>
            <a:ext cx="2359152" cy="219456"/>
          </a:xfrm>
          <a:prstGeom prst="rect">
            <a:avLst/>
          </a:prstGeom>
          <a:noFill/>
          <a:ln/>
        </p:spPr>
        <p:txBody>
          <a:bodyPr wrap="square" lIns="0" tIns="0" rIns="0" bIns="0" rtlCol="0" anchor="ctr"/>
          <a:lstStyle/>
          <a:p>
            <a:pPr indent="0" marL="0">
              <a:buNone/>
            </a:pPr>
            <a:r>
              <a:rPr lang="en-US" sz="1150" b="1" dirty="0">
                <a:solidFill>
                  <a:srgbClr val="12756F"/>
                </a:solidFill>
                <a:latin typeface="Arial" pitchFamily="34" charset="0"/>
                <a:ea typeface="Arial" pitchFamily="34" charset="-122"/>
                <a:cs typeface="Arial" pitchFamily="34" charset="-120"/>
              </a:rPr>
              <a:t>Who counts as Saudi</a:t>
            </a:r>
            <a:endParaRPr lang="en-US" sz="1150" dirty="0"/>
          </a:p>
        </p:txBody>
      </p:sp>
      <p:sp>
        <p:nvSpPr>
          <p:cNvPr id="37" name="Text 35"/>
          <p:cNvSpPr txBox="1"/>
          <p:nvPr/>
        </p:nvSpPr>
        <p:spPr>
          <a:xfrm>
            <a:off x="704088" y="4023360"/>
            <a:ext cx="2359152" cy="566928"/>
          </a:xfrm>
          <a:prstGeom prst="rect">
            <a:avLst/>
          </a:prstGeom>
          <a:noFill/>
          <a:ln/>
        </p:spPr>
        <p:txBody>
          <a:bodyPr wrap="square" lIns="0" tIns="0" rIns="0" bIns="0" rtlCol="0" anchor="ctr"/>
          <a:lstStyle/>
          <a:p>
            <a:pPr indent="0" marL="0">
              <a:lnSpc>
                <a:spcPts val="1240"/>
              </a:lnSpc>
              <a:buNone/>
            </a:pPr>
            <a:r>
              <a:rPr lang="en-US" sz="920" dirty="0">
                <a:solidFill>
                  <a:srgbClr val="5A6C82"/>
                </a:solidFill>
                <a:latin typeface="Calibri" pitchFamily="34" charset="0"/>
                <a:ea typeface="Calibri" pitchFamily="34" charset="-122"/>
                <a:cs typeface="Calibri" pitchFamily="34" charset="-120"/>
              </a:rPr>
              <a:t>Registration and contributory wage. Feeds the Nitaqat headcount</a:t>
            </a:r>
            <a:endParaRPr lang="en-US" sz="920" dirty="0"/>
          </a:p>
        </p:txBody>
      </p:sp>
      <p:sp>
        <p:nvSpPr>
          <p:cNvPr id="38" name="Shape 36"/>
          <p:cNvSpPr/>
          <p:nvPr/>
        </p:nvSpPr>
        <p:spPr>
          <a:xfrm>
            <a:off x="704088" y="4626864"/>
            <a:ext cx="1325880" cy="201168"/>
          </a:xfrm>
          <a:prstGeom prst="roundRect">
            <a:avLst>
              <a:gd name="adj" fmla="val 50000"/>
            </a:avLst>
          </a:prstGeom>
          <a:solidFill>
            <a:srgbClr val="17795E"/>
          </a:solidFill>
          <a:ln/>
        </p:spPr>
      </p:sp>
      <p:sp>
        <p:nvSpPr>
          <p:cNvPr id="39" name="Text 37"/>
          <p:cNvSpPr txBox="1"/>
          <p:nvPr/>
        </p:nvSpPr>
        <p:spPr>
          <a:xfrm>
            <a:off x="704088" y="4626864"/>
            <a:ext cx="1325880" cy="201168"/>
          </a:xfrm>
          <a:prstGeom prst="rect">
            <a:avLst/>
          </a:prstGeom>
          <a:noFill/>
          <a:ln/>
        </p:spPr>
        <p:txBody>
          <a:bodyPr wrap="square" lIns="0" tIns="0" rIns="0" bIns="0" rtlCol="0" anchor="ctr"/>
          <a:lstStyle/>
          <a:p>
            <a:pPr algn="ctr" indent="0" marL="0">
              <a:buNone/>
            </a:pPr>
            <a:r>
              <a:rPr lang="en-US" sz="780" b="1" dirty="0">
                <a:solidFill>
                  <a:srgbClr val="FFFFFF"/>
                </a:solidFill>
                <a:latin typeface="Calibri" pitchFamily="34" charset="0"/>
                <a:ea typeface="Calibri" pitchFamily="34" charset="-122"/>
                <a:cs typeface="Calibri" pitchFamily="34" charset="-120"/>
              </a:rPr>
              <a:t>Live lookup</a:t>
            </a:r>
            <a:endParaRPr lang="en-US" sz="780" dirty="0"/>
          </a:p>
        </p:txBody>
      </p:sp>
      <p:sp>
        <p:nvSpPr>
          <p:cNvPr id="40" name="Shape 38"/>
          <p:cNvSpPr/>
          <p:nvPr/>
        </p:nvSpPr>
        <p:spPr>
          <a:xfrm>
            <a:off x="3374136" y="3401568"/>
            <a:ext cx="2670048" cy="1463040"/>
          </a:xfrm>
          <a:prstGeom prst="roundRect">
            <a:avLst>
              <a:gd name="adj" fmla="val 5000"/>
            </a:avLst>
          </a:prstGeom>
          <a:solidFill>
            <a:srgbClr val="F4F6F7"/>
          </a:solidFill>
          <a:ln w="9525">
            <a:solidFill>
              <a:srgbClr val="E3E7EA"/>
            </a:solidFill>
            <a:prstDash val="solid"/>
          </a:ln>
        </p:spPr>
      </p:sp>
      <p:sp>
        <p:nvSpPr>
          <p:cNvPr id="41" name="Text 39"/>
          <p:cNvSpPr txBox="1"/>
          <p:nvPr/>
        </p:nvSpPr>
        <p:spPr>
          <a:xfrm>
            <a:off x="3529584" y="3511296"/>
            <a:ext cx="1115568" cy="256032"/>
          </a:xfrm>
          <a:prstGeom prst="rect">
            <a:avLst/>
          </a:prstGeom>
          <a:noFill/>
          <a:ln/>
        </p:spPr>
        <p:txBody>
          <a:bodyPr wrap="square" lIns="0" tIns="0" rIns="0" bIns="0" rtlCol="0" anchor="ctr"/>
          <a:lstStyle/>
          <a:p>
            <a:pPr indent="0" marL="0">
              <a:buNone/>
            </a:pPr>
            <a:r>
              <a:rPr lang="en-US" sz="1500" b="1" dirty="0">
                <a:solidFill>
                  <a:srgbClr val="0C1E33"/>
                </a:solidFill>
                <a:latin typeface="Arial" pitchFamily="34" charset="0"/>
                <a:ea typeface="Arial" pitchFamily="34" charset="-122"/>
                <a:cs typeface="Arial" pitchFamily="34" charset="-120"/>
              </a:rPr>
              <a:t>Mudad</a:t>
            </a:r>
            <a:endParaRPr lang="en-US" sz="1500" dirty="0"/>
          </a:p>
        </p:txBody>
      </p:sp>
      <p:sp>
        <p:nvSpPr>
          <p:cNvPr id="42" name="Text 40"/>
          <p:cNvSpPr txBox="1"/>
          <p:nvPr/>
        </p:nvSpPr>
        <p:spPr>
          <a:xfrm>
            <a:off x="4700016" y="3520440"/>
            <a:ext cx="1188720" cy="219456"/>
          </a:xfrm>
          <a:prstGeom prst="rect">
            <a:avLst/>
          </a:prstGeom>
          <a:noFill/>
          <a:ln/>
        </p:spPr>
        <p:txBody>
          <a:bodyPr wrap="square" lIns="0" tIns="0" rIns="0" bIns="0" rtlCol="0" anchor="ctr"/>
          <a:lstStyle/>
          <a:p>
            <a:pPr algn="r" indent="0" marL="0">
              <a:lnSpc>
                <a:spcPts val="1000"/>
              </a:lnSpc>
              <a:buNone/>
            </a:pPr>
            <a:r>
              <a:rPr lang="en-US" sz="800" dirty="0">
                <a:solidFill>
                  <a:srgbClr val="5A6C82"/>
                </a:solidFill>
                <a:latin typeface="Calibri" pitchFamily="34" charset="0"/>
                <a:ea typeface="Calibri" pitchFamily="34" charset="-122"/>
                <a:cs typeface="Calibri" pitchFamily="34" charset="-120"/>
              </a:rPr>
              <a:t>Wage protection</a:t>
            </a:r>
            <a:endParaRPr lang="en-US" sz="800" dirty="0"/>
          </a:p>
        </p:txBody>
      </p:sp>
      <p:sp>
        <p:nvSpPr>
          <p:cNvPr id="43" name="Text 41"/>
          <p:cNvSpPr txBox="1"/>
          <p:nvPr/>
        </p:nvSpPr>
        <p:spPr>
          <a:xfrm>
            <a:off x="3529584" y="3785616"/>
            <a:ext cx="2359152" cy="219456"/>
          </a:xfrm>
          <a:prstGeom prst="rect">
            <a:avLst/>
          </a:prstGeom>
          <a:noFill/>
          <a:ln/>
        </p:spPr>
        <p:txBody>
          <a:bodyPr wrap="square" lIns="0" tIns="0" rIns="0" bIns="0" rtlCol="0" anchor="ctr"/>
          <a:lstStyle/>
          <a:p>
            <a:pPr indent="0" marL="0">
              <a:buNone/>
            </a:pPr>
            <a:r>
              <a:rPr lang="en-US" sz="1150" b="1" dirty="0">
                <a:solidFill>
                  <a:srgbClr val="12756F"/>
                </a:solidFill>
                <a:latin typeface="Arial" pitchFamily="34" charset="0"/>
                <a:ea typeface="Arial" pitchFamily="34" charset="-122"/>
                <a:cs typeface="Arial" pitchFamily="34" charset="-120"/>
              </a:rPr>
              <a:t>Does pay match the contract</a:t>
            </a:r>
            <a:endParaRPr lang="en-US" sz="1150" dirty="0"/>
          </a:p>
        </p:txBody>
      </p:sp>
      <p:sp>
        <p:nvSpPr>
          <p:cNvPr id="44" name="Text 42"/>
          <p:cNvSpPr txBox="1"/>
          <p:nvPr/>
        </p:nvSpPr>
        <p:spPr>
          <a:xfrm>
            <a:off x="3529584" y="4023360"/>
            <a:ext cx="2359152" cy="566928"/>
          </a:xfrm>
          <a:prstGeom prst="rect">
            <a:avLst/>
          </a:prstGeom>
          <a:noFill/>
          <a:ln/>
        </p:spPr>
        <p:txBody>
          <a:bodyPr wrap="square" lIns="0" tIns="0" rIns="0" bIns="0" rtlCol="0" anchor="ctr"/>
          <a:lstStyle/>
          <a:p>
            <a:pPr indent="0" marL="0">
              <a:lnSpc>
                <a:spcPts val="1240"/>
              </a:lnSpc>
              <a:buNone/>
            </a:pPr>
            <a:r>
              <a:rPr lang="en-US" sz="920" dirty="0">
                <a:solidFill>
                  <a:srgbClr val="5A6C82"/>
                </a:solidFill>
                <a:latin typeface="Calibri" pitchFamily="34" charset="0"/>
                <a:ea typeface="Calibri" pitchFamily="34" charset="-122"/>
                <a:cs typeface="Calibri" pitchFamily="34" charset="-120"/>
              </a:rPr>
              <a:t>Payroll enrolment, salary checked against Qiwa</a:t>
            </a:r>
            <a:endParaRPr lang="en-US" sz="920" dirty="0"/>
          </a:p>
        </p:txBody>
      </p:sp>
      <p:sp>
        <p:nvSpPr>
          <p:cNvPr id="45" name="Shape 43"/>
          <p:cNvSpPr/>
          <p:nvPr/>
        </p:nvSpPr>
        <p:spPr>
          <a:xfrm>
            <a:off x="3529584" y="4626864"/>
            <a:ext cx="1325880" cy="201168"/>
          </a:xfrm>
          <a:prstGeom prst="roundRect">
            <a:avLst>
              <a:gd name="adj" fmla="val 50000"/>
            </a:avLst>
          </a:prstGeom>
          <a:solidFill>
            <a:srgbClr val="17795E"/>
          </a:solidFill>
          <a:ln/>
        </p:spPr>
      </p:sp>
      <p:sp>
        <p:nvSpPr>
          <p:cNvPr id="46" name="Text 44"/>
          <p:cNvSpPr txBox="1"/>
          <p:nvPr/>
        </p:nvSpPr>
        <p:spPr>
          <a:xfrm>
            <a:off x="3529584" y="4626864"/>
            <a:ext cx="1325880" cy="201168"/>
          </a:xfrm>
          <a:prstGeom prst="rect">
            <a:avLst/>
          </a:prstGeom>
          <a:noFill/>
          <a:ln/>
        </p:spPr>
        <p:txBody>
          <a:bodyPr wrap="square" lIns="0" tIns="0" rIns="0" bIns="0" rtlCol="0" anchor="ctr"/>
          <a:lstStyle/>
          <a:p>
            <a:pPr algn="ctr" indent="0" marL="0">
              <a:buNone/>
            </a:pPr>
            <a:r>
              <a:rPr lang="en-US" sz="780" b="1" dirty="0">
                <a:solidFill>
                  <a:srgbClr val="FFFFFF"/>
                </a:solidFill>
                <a:latin typeface="Calibri" pitchFamily="34" charset="0"/>
                <a:ea typeface="Calibri" pitchFamily="34" charset="-122"/>
                <a:cs typeface="Calibri" pitchFamily="34" charset="-120"/>
              </a:rPr>
              <a:t>Live lookup</a:t>
            </a:r>
            <a:endParaRPr lang="en-US" sz="780" dirty="0"/>
          </a:p>
        </p:txBody>
      </p:sp>
      <p:sp>
        <p:nvSpPr>
          <p:cNvPr id="47" name="Shape 45"/>
          <p:cNvSpPr/>
          <p:nvPr/>
        </p:nvSpPr>
        <p:spPr>
          <a:xfrm>
            <a:off x="6199632" y="3401568"/>
            <a:ext cx="2670048" cy="1463040"/>
          </a:xfrm>
          <a:prstGeom prst="roundRect">
            <a:avLst>
              <a:gd name="adj" fmla="val 5000"/>
            </a:avLst>
          </a:prstGeom>
          <a:solidFill>
            <a:srgbClr val="F4F6F7"/>
          </a:solidFill>
          <a:ln w="9525">
            <a:solidFill>
              <a:srgbClr val="E3E7EA"/>
            </a:solidFill>
            <a:prstDash val="solid"/>
          </a:ln>
        </p:spPr>
      </p:sp>
      <p:sp>
        <p:nvSpPr>
          <p:cNvPr id="48" name="Text 46"/>
          <p:cNvSpPr txBox="1"/>
          <p:nvPr/>
        </p:nvSpPr>
        <p:spPr>
          <a:xfrm>
            <a:off x="6355080" y="3511296"/>
            <a:ext cx="1115568" cy="256032"/>
          </a:xfrm>
          <a:prstGeom prst="rect">
            <a:avLst/>
          </a:prstGeom>
          <a:noFill/>
          <a:ln/>
        </p:spPr>
        <p:txBody>
          <a:bodyPr wrap="square" lIns="0" tIns="0" rIns="0" bIns="0" rtlCol="0" anchor="ctr"/>
          <a:lstStyle/>
          <a:p>
            <a:pPr indent="0" marL="0">
              <a:buNone/>
            </a:pPr>
            <a:r>
              <a:rPr lang="en-US" sz="1500" b="1" dirty="0">
                <a:solidFill>
                  <a:srgbClr val="0C1E33"/>
                </a:solidFill>
                <a:latin typeface="Arial" pitchFamily="34" charset="0"/>
                <a:ea typeface="Arial" pitchFamily="34" charset="-122"/>
                <a:cs typeface="Arial" pitchFamily="34" charset="-120"/>
              </a:rPr>
              <a:t>CCHI</a:t>
            </a:r>
            <a:endParaRPr lang="en-US" sz="1500" dirty="0"/>
          </a:p>
        </p:txBody>
      </p:sp>
      <p:sp>
        <p:nvSpPr>
          <p:cNvPr id="49" name="Text 47"/>
          <p:cNvSpPr txBox="1"/>
          <p:nvPr/>
        </p:nvSpPr>
        <p:spPr>
          <a:xfrm>
            <a:off x="7525512" y="3520440"/>
            <a:ext cx="1188720" cy="219456"/>
          </a:xfrm>
          <a:prstGeom prst="rect">
            <a:avLst/>
          </a:prstGeom>
          <a:noFill/>
          <a:ln/>
        </p:spPr>
        <p:txBody>
          <a:bodyPr wrap="square" lIns="0" tIns="0" rIns="0" bIns="0" rtlCol="0" anchor="ctr"/>
          <a:lstStyle/>
          <a:p>
            <a:pPr algn="r" indent="0" marL="0">
              <a:lnSpc>
                <a:spcPts val="1000"/>
              </a:lnSpc>
              <a:buNone/>
            </a:pPr>
            <a:r>
              <a:rPr lang="en-US" sz="800" dirty="0">
                <a:solidFill>
                  <a:srgbClr val="5A6C82"/>
                </a:solidFill>
                <a:latin typeface="Calibri" pitchFamily="34" charset="0"/>
                <a:ea typeface="Calibri" pitchFamily="34" charset="-122"/>
                <a:cs typeface="Calibri" pitchFamily="34" charset="-120"/>
              </a:rPr>
              <a:t>Health insurance</a:t>
            </a:r>
            <a:endParaRPr lang="en-US" sz="800" dirty="0"/>
          </a:p>
        </p:txBody>
      </p:sp>
      <p:sp>
        <p:nvSpPr>
          <p:cNvPr id="50" name="Text 48"/>
          <p:cNvSpPr txBox="1"/>
          <p:nvPr/>
        </p:nvSpPr>
        <p:spPr>
          <a:xfrm>
            <a:off x="6355080" y="3785616"/>
            <a:ext cx="2359152" cy="219456"/>
          </a:xfrm>
          <a:prstGeom prst="rect">
            <a:avLst/>
          </a:prstGeom>
          <a:noFill/>
          <a:ln/>
        </p:spPr>
        <p:txBody>
          <a:bodyPr wrap="square" lIns="0" tIns="0" rIns="0" bIns="0" rtlCol="0" anchor="ctr"/>
          <a:lstStyle/>
          <a:p>
            <a:pPr indent="0" marL="0">
              <a:buNone/>
            </a:pPr>
            <a:r>
              <a:rPr lang="en-US" sz="1150" b="1" dirty="0">
                <a:solidFill>
                  <a:srgbClr val="12756F"/>
                </a:solidFill>
                <a:latin typeface="Arial" pitchFamily="34" charset="0"/>
                <a:ea typeface="Arial" pitchFamily="34" charset="-122"/>
                <a:cs typeface="Arial" pitchFamily="34" charset="-120"/>
              </a:rPr>
              <a:t>No cover, no Iqama</a:t>
            </a:r>
            <a:endParaRPr lang="en-US" sz="1150" dirty="0"/>
          </a:p>
        </p:txBody>
      </p:sp>
      <p:sp>
        <p:nvSpPr>
          <p:cNvPr id="51" name="Text 49"/>
          <p:cNvSpPr txBox="1"/>
          <p:nvPr/>
        </p:nvSpPr>
        <p:spPr>
          <a:xfrm>
            <a:off x="6355080" y="4023360"/>
            <a:ext cx="2359152" cy="566928"/>
          </a:xfrm>
          <a:prstGeom prst="rect">
            <a:avLst/>
          </a:prstGeom>
          <a:noFill/>
          <a:ln/>
        </p:spPr>
        <p:txBody>
          <a:bodyPr wrap="square" lIns="0" tIns="0" rIns="0" bIns="0" rtlCol="0" anchor="ctr"/>
          <a:lstStyle/>
          <a:p>
            <a:pPr indent="0" marL="0">
              <a:lnSpc>
                <a:spcPts val="1240"/>
              </a:lnSpc>
              <a:buNone/>
            </a:pPr>
            <a:r>
              <a:rPr lang="en-US" sz="920" dirty="0">
                <a:solidFill>
                  <a:srgbClr val="5A6C82"/>
                </a:solidFill>
                <a:latin typeface="Calibri" pitchFamily="34" charset="0"/>
                <a:ea typeface="Calibri" pitchFamily="34" charset="-122"/>
                <a:cs typeface="Calibri" pitchFamily="34" charset="-120"/>
              </a:rPr>
              <a:t>Policy validity per employee. Blocks issue and renewal</a:t>
            </a:r>
            <a:endParaRPr lang="en-US" sz="920" dirty="0"/>
          </a:p>
        </p:txBody>
      </p:sp>
      <p:sp>
        <p:nvSpPr>
          <p:cNvPr id="52" name="Shape 50"/>
          <p:cNvSpPr/>
          <p:nvPr/>
        </p:nvSpPr>
        <p:spPr>
          <a:xfrm>
            <a:off x="6355080" y="4626864"/>
            <a:ext cx="1325880" cy="201168"/>
          </a:xfrm>
          <a:prstGeom prst="roundRect">
            <a:avLst>
              <a:gd name="adj" fmla="val 50000"/>
            </a:avLst>
          </a:prstGeom>
          <a:solidFill>
            <a:srgbClr val="17795E"/>
          </a:solidFill>
          <a:ln/>
        </p:spPr>
      </p:sp>
      <p:sp>
        <p:nvSpPr>
          <p:cNvPr id="53" name="Text 51"/>
          <p:cNvSpPr txBox="1"/>
          <p:nvPr/>
        </p:nvSpPr>
        <p:spPr>
          <a:xfrm>
            <a:off x="6355080" y="4626864"/>
            <a:ext cx="1325880" cy="201168"/>
          </a:xfrm>
          <a:prstGeom prst="rect">
            <a:avLst/>
          </a:prstGeom>
          <a:noFill/>
          <a:ln/>
        </p:spPr>
        <p:txBody>
          <a:bodyPr wrap="square" lIns="0" tIns="0" rIns="0" bIns="0" rtlCol="0" anchor="ctr"/>
          <a:lstStyle/>
          <a:p>
            <a:pPr algn="ctr" indent="0" marL="0">
              <a:buNone/>
            </a:pPr>
            <a:r>
              <a:rPr lang="en-US" sz="780" b="1" dirty="0">
                <a:solidFill>
                  <a:srgbClr val="FFFFFF"/>
                </a:solidFill>
                <a:latin typeface="Calibri" pitchFamily="34" charset="0"/>
                <a:ea typeface="Calibri" pitchFamily="34" charset="-122"/>
                <a:cs typeface="Calibri" pitchFamily="34" charset="-120"/>
              </a:rPr>
              <a:t>Live lookup</a:t>
            </a:r>
            <a:endParaRPr lang="en-US" sz="780" dirty="0"/>
          </a:p>
        </p:txBody>
      </p:sp>
      <p:sp>
        <p:nvSpPr>
          <p:cNvPr id="54" name="Shape 52"/>
          <p:cNvSpPr/>
          <p:nvPr/>
        </p:nvSpPr>
        <p:spPr>
          <a:xfrm>
            <a:off x="9043416" y="3401568"/>
            <a:ext cx="2596896" cy="1463040"/>
          </a:xfrm>
          <a:prstGeom prst="roundRect">
            <a:avLst>
              <a:gd name="adj" fmla="val 5000"/>
            </a:avLst>
          </a:prstGeom>
          <a:solidFill>
            <a:srgbClr val="FCF6E4"/>
          </a:solidFill>
          <a:ln w="12700">
            <a:solidFill>
              <a:srgbClr val="C9A227"/>
            </a:solidFill>
            <a:prstDash val="solid"/>
          </a:ln>
        </p:spPr>
      </p:sp>
      <p:sp>
        <p:nvSpPr>
          <p:cNvPr id="55" name="Text 53"/>
          <p:cNvSpPr txBox="1"/>
          <p:nvPr/>
        </p:nvSpPr>
        <p:spPr>
          <a:xfrm>
            <a:off x="9198864" y="3511296"/>
            <a:ext cx="2286000" cy="219456"/>
          </a:xfrm>
          <a:prstGeom prst="rect">
            <a:avLst/>
          </a:prstGeom>
          <a:noFill/>
          <a:ln/>
        </p:spPr>
        <p:txBody>
          <a:bodyPr wrap="square" lIns="0" tIns="0" rIns="0" bIns="0" rtlCol="0" anchor="ctr"/>
          <a:lstStyle/>
          <a:p>
            <a:pPr indent="0" marL="0">
              <a:buNone/>
            </a:pPr>
            <a:r>
              <a:rPr lang="en-US" sz="1200" b="1" dirty="0">
                <a:solidFill>
                  <a:srgbClr val="7A6410"/>
                </a:solidFill>
                <a:latin typeface="Arial" pitchFamily="34" charset="0"/>
                <a:ea typeface="Arial" pitchFamily="34" charset="-122"/>
                <a:cs typeface="Arial" pitchFamily="34" charset="-120"/>
              </a:rPr>
              <a:t>How amber goes green</a:t>
            </a:r>
            <a:endParaRPr lang="en-US" sz="1200" dirty="0"/>
          </a:p>
        </p:txBody>
      </p:sp>
      <p:sp>
        <p:nvSpPr>
          <p:cNvPr id="56" name="Text 54"/>
          <p:cNvSpPr txBox="1"/>
          <p:nvPr/>
        </p:nvSpPr>
        <p:spPr>
          <a:xfrm>
            <a:off x="9198864" y="3767328"/>
            <a:ext cx="2304288" cy="987552"/>
          </a:xfrm>
          <a:prstGeom prst="rect">
            <a:avLst/>
          </a:prstGeom>
          <a:noFill/>
          <a:ln/>
        </p:spPr>
        <p:txBody>
          <a:bodyPr wrap="square" lIns="0" tIns="0" rIns="0" bIns="0" rtlCol="0" anchor="ctr"/>
          <a:lstStyle/>
          <a:p>
            <a:pPr indent="0" marL="0">
              <a:lnSpc>
                <a:spcPts val="1180"/>
              </a:lnSpc>
              <a:buNone/>
            </a:pPr>
            <a:r>
              <a:rPr lang="en-US" sz="880" dirty="0">
                <a:solidFill>
                  <a:srgbClr val="5A6C82"/>
                </a:solidFill>
                <a:latin typeface="Calibri" pitchFamily="34" charset="0"/>
                <a:ea typeface="Calibri" pitchFamily="34" charset="-122"/>
                <a:cs typeface="Calibri" pitchFamily="34" charset="-120"/>
              </a:rPr>
              <a:t>Qiwa and Muqeem grant API access to the employer, under your own establishment registration. Never to a vendor. You request credentials, we plug them into connectors already built.</a:t>
            </a:r>
            <a:endParaRPr lang="en-US" sz="880" dirty="0"/>
          </a:p>
        </p:txBody>
      </p:sp>
      <p:sp>
        <p:nvSpPr>
          <p:cNvPr id="57" name="Shape 55"/>
          <p:cNvSpPr/>
          <p:nvPr/>
        </p:nvSpPr>
        <p:spPr>
          <a:xfrm>
            <a:off x="548640" y="5029200"/>
            <a:ext cx="11091672" cy="1261872"/>
          </a:xfrm>
          <a:prstGeom prst="roundRect">
            <a:avLst>
              <a:gd name="adj" fmla="val 5797"/>
            </a:avLst>
          </a:prstGeom>
          <a:solidFill>
            <a:srgbClr val="E4F5F3"/>
          </a:solidFill>
          <a:ln w="11430">
            <a:solidFill>
              <a:srgbClr val="20A098"/>
            </a:solidFill>
            <a:prstDash val="solid"/>
          </a:ln>
        </p:spPr>
      </p:sp>
      <p:sp>
        <p:nvSpPr>
          <p:cNvPr id="58" name="Text 56"/>
          <p:cNvSpPr txBox="1"/>
          <p:nvPr/>
        </p:nvSpPr>
        <p:spPr>
          <a:xfrm>
            <a:off x="777240" y="5157216"/>
            <a:ext cx="5120640" cy="237744"/>
          </a:xfrm>
          <a:prstGeom prst="rect">
            <a:avLst/>
          </a:prstGeom>
          <a:noFill/>
          <a:ln/>
        </p:spPr>
        <p:txBody>
          <a:bodyPr wrap="square" lIns="0" tIns="0" rIns="0" bIns="0" rtlCol="0" anchor="ctr"/>
          <a:lstStyle/>
          <a:p>
            <a:pPr indent="0" marL="0">
              <a:buNone/>
            </a:pPr>
            <a:r>
              <a:rPr lang="en-US" sz="1300" b="1" dirty="0">
                <a:solidFill>
                  <a:srgbClr val="12756F"/>
                </a:solidFill>
                <a:latin typeface="Arial" pitchFamily="34" charset="0"/>
                <a:ea typeface="Arial" pitchFamily="34" charset="-122"/>
                <a:cs typeface="Arial" pitchFamily="34" charset="-120"/>
              </a:rPr>
              <a:t>Three live today. Four await your credentials.</a:t>
            </a:r>
            <a:endParaRPr lang="en-US" sz="1300" dirty="0"/>
          </a:p>
        </p:txBody>
      </p:sp>
      <p:sp>
        <p:nvSpPr>
          <p:cNvPr id="59" name="Text 57"/>
          <p:cNvSpPr txBox="1"/>
          <p:nvPr/>
        </p:nvSpPr>
        <p:spPr>
          <a:xfrm>
            <a:off x="777240" y="5431536"/>
            <a:ext cx="5486400" cy="749808"/>
          </a:xfrm>
          <a:prstGeom prst="rect">
            <a:avLst/>
          </a:prstGeom>
          <a:noFill/>
          <a:ln/>
        </p:spPr>
        <p:txBody>
          <a:bodyPr wrap="square" lIns="0" tIns="0" rIns="0" bIns="0" rtlCol="0" anchor="ctr"/>
          <a:lstStyle/>
          <a:p>
            <a:pPr indent="0" marL="0">
              <a:lnSpc>
                <a:spcPts val="1300"/>
              </a:lnSpc>
              <a:buNone/>
            </a:pPr>
            <a:r>
              <a:rPr lang="en-US" sz="960" dirty="0">
                <a:solidFill>
                  <a:srgbClr val="0C1E33"/>
                </a:solidFill>
                <a:latin typeface="Calibri" pitchFamily="34" charset="0"/>
                <a:ea typeface="Calibri" pitchFamily="34" charset="-122"/>
                <a:cs typeface="Calibri" pitchFamily="34" charset="-120"/>
              </a:rPr>
              <a:t>Until a connector goes live the step is manual, but it is still tracked. The reference number, the receipt and the status are captured exactly as they would be automatically, so nothing about the process changes on the day the switch is flipped. That is the difference between being API-ready and being API-dependent.</a:t>
            </a:r>
            <a:endParaRPr lang="en-US" sz="960" dirty="0"/>
          </a:p>
        </p:txBody>
      </p:sp>
      <p:pic>
        <p:nvPicPr>
          <p:cNvPr id="60" name="Image 0" descr="./img/integrations.jpg">    </p:cNvPr>
          <p:cNvPicPr>
            <a:picLocks noChangeAspect="1"/>
          </p:cNvPicPr>
          <p:nvPr/>
        </p:nvPicPr>
        <p:blipFill>
          <a:blip r:embed="rId1"/>
          <a:stretch>
            <a:fillRect/>
          </a:stretch>
        </p:blipFill>
        <p:spPr>
          <a:xfrm>
            <a:off x="6492240" y="5102352"/>
            <a:ext cx="5029200" cy="914400"/>
          </a:xfrm>
          <a:prstGeom prst="rect">
            <a:avLst/>
          </a:prstGeom>
          <a:effectLst>
            <a:outerShdw sx="100000" sy="100000" kx="0" ky="0" algn="bl" rotWithShape="0" blurRad="177800" dist="38100" dir="5400000">
              <a:srgbClr val="000000">
                <a:alpha val="20000"/>
              </a:srgbClr>
            </a:outerShdw>
          </a:effectLst>
        </p:spPr>
      </p:pic>
      <p:sp>
        <p:nvSpPr>
          <p:cNvPr id="61" name="Text 58"/>
          <p:cNvSpPr txBox="1"/>
          <p:nvPr/>
        </p:nvSpPr>
        <p:spPr>
          <a:xfrm>
            <a:off x="548640" y="6419088"/>
            <a:ext cx="8595360" cy="237744"/>
          </a:xfrm>
          <a:prstGeom prst="rect">
            <a:avLst/>
          </a:prstGeom>
          <a:noFill/>
          <a:ln/>
        </p:spPr>
        <p:txBody>
          <a:bodyPr wrap="square" lIns="0" tIns="0" rIns="0" bIns="0" rtlCol="0" anchor="ctr"/>
          <a:lstStyle/>
          <a:p>
            <a:pPr indent="0" marL="0">
              <a:buNone/>
            </a:pPr>
            <a:r>
              <a:rPr lang="en-US" sz="900" dirty="0">
                <a:solidFill>
                  <a:srgbClr val="96A3AE"/>
                </a:solidFill>
                <a:latin typeface="Calibri" pitchFamily="34" charset="0"/>
                <a:ea typeface="Calibri" pitchFamily="34" charset="-122"/>
                <a:cs typeface="Calibri" pitchFamily="34" charset="-120"/>
              </a:rPr>
              <a:t>INK IT Business Solutions  ·  Visa &amp; Permits Management  ·  Kingdom of Saudi Arabia</a:t>
            </a:r>
            <a:endParaRPr lang="en-US" sz="900" dirty="0"/>
          </a:p>
        </p:txBody>
      </p:sp>
      <p:sp>
        <p:nvSpPr>
          <p:cNvPr id="62" name="Text 59"/>
          <p:cNvSpPr txBox="1"/>
          <p:nvPr/>
        </p:nvSpPr>
        <p:spPr>
          <a:xfrm>
            <a:off x="11155680" y="6419088"/>
            <a:ext cx="457200" cy="237744"/>
          </a:xfrm>
          <a:prstGeom prst="rect">
            <a:avLst/>
          </a:prstGeom>
          <a:noFill/>
          <a:ln/>
        </p:spPr>
        <p:txBody>
          <a:bodyPr wrap="square" lIns="0" tIns="0" rIns="0" bIns="0" rtlCol="0" anchor="ctr"/>
          <a:lstStyle/>
          <a:p>
            <a:pPr algn="r" indent="0" marL="0">
              <a:buNone/>
            </a:pPr>
            <a:r>
              <a:rPr lang="en-US" sz="900" dirty="0">
                <a:solidFill>
                  <a:srgbClr val="96A3AE"/>
                </a:solidFill>
                <a:latin typeface="Calibri" pitchFamily="34" charset="0"/>
                <a:ea typeface="Calibri" pitchFamily="34" charset="-122"/>
                <a:cs typeface="Calibri" pitchFamily="34" charset="-120"/>
              </a:rPr>
              <a:t>9</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02336"/>
            <a:ext cx="11064240" cy="237744"/>
          </a:xfrm>
          <a:prstGeom prst="rect">
            <a:avLst/>
          </a:prstGeom>
          <a:noFill/>
          <a:ln/>
        </p:spPr>
        <p:txBody>
          <a:bodyPr wrap="square" lIns="0" tIns="0" rIns="0" bIns="0" rtlCol="0" anchor="ctr"/>
          <a:lstStyle/>
          <a:p>
            <a:pPr indent="0" marL="0">
              <a:buNone/>
            </a:pPr>
            <a:r>
              <a:rPr lang="en-US" sz="1100" b="1" spc="220" kern="0" dirty="0">
                <a:solidFill>
                  <a:srgbClr val="20A098"/>
                </a:solidFill>
                <a:latin typeface="Calibri" pitchFamily="34" charset="0"/>
                <a:ea typeface="Calibri" pitchFamily="34" charset="-122"/>
                <a:cs typeface="Calibri" pitchFamily="34" charset="-120"/>
              </a:rPr>
              <a:t>COMPLIANCE</a:t>
            </a:r>
            <a:endParaRPr lang="en-US" sz="1100" dirty="0"/>
          </a:p>
        </p:txBody>
      </p:sp>
      <p:sp>
        <p:nvSpPr>
          <p:cNvPr id="3" name="Text 1"/>
          <p:cNvSpPr txBox="1"/>
          <p:nvPr/>
        </p:nvSpPr>
        <p:spPr>
          <a:xfrm>
            <a:off x="548640" y="658368"/>
            <a:ext cx="11064240" cy="566928"/>
          </a:xfrm>
          <a:prstGeom prst="rect">
            <a:avLst/>
          </a:prstGeom>
          <a:noFill/>
          <a:ln/>
        </p:spPr>
        <p:txBody>
          <a:bodyPr wrap="square" lIns="0" tIns="0" rIns="0" bIns="0" rtlCol="0" anchor="ctr"/>
          <a:lstStyle/>
          <a:p>
            <a:pPr indent="0" marL="0">
              <a:buNone/>
            </a:pPr>
            <a:r>
              <a:rPr lang="en-US" sz="3000" b="1" dirty="0">
                <a:solidFill>
                  <a:srgbClr val="0C1E33"/>
                </a:solidFill>
                <a:latin typeface="Arial" pitchFamily="34" charset="0"/>
                <a:ea typeface="Arial" pitchFamily="34" charset="-122"/>
                <a:cs typeface="Arial" pitchFamily="34" charset="-120"/>
              </a:rPr>
              <a:t>Eight obligations. One inspection.</a:t>
            </a:r>
            <a:endParaRPr lang="en-US" sz="3000" dirty="0"/>
          </a:p>
        </p:txBody>
      </p:sp>
      <p:sp>
        <p:nvSpPr>
          <p:cNvPr id="4" name="Text 2"/>
          <p:cNvSpPr txBox="1"/>
          <p:nvPr/>
        </p:nvSpPr>
        <p:spPr>
          <a:xfrm>
            <a:off x="548640" y="1243584"/>
            <a:ext cx="10424160" cy="310896"/>
          </a:xfrm>
          <a:prstGeom prst="rect">
            <a:avLst/>
          </a:prstGeom>
          <a:noFill/>
          <a:ln/>
        </p:spPr>
        <p:txBody>
          <a:bodyPr wrap="square" lIns="0" tIns="0" rIns="0" bIns="0" rtlCol="0" anchor="ctr"/>
          <a:lstStyle/>
          <a:p>
            <a:pPr indent="0" marL="0">
              <a:buNone/>
            </a:pPr>
            <a:r>
              <a:rPr lang="en-US" sz="1300" dirty="0">
                <a:solidFill>
                  <a:srgbClr val="5A6C82"/>
                </a:solidFill>
                <a:latin typeface="Calibri" pitchFamily="34" charset="0"/>
                <a:ea typeface="Calibri" pitchFamily="34" charset="-122"/>
                <a:cs typeface="Calibri" pitchFamily="34" charset="-120"/>
              </a:rPr>
              <a:t>Saudi enforcement is joined up now. Fail one and the others stop working.</a:t>
            </a:r>
            <a:endParaRPr lang="en-US" sz="1300" dirty="0"/>
          </a:p>
        </p:txBody>
      </p:sp>
      <p:sp>
        <p:nvSpPr>
          <p:cNvPr id="5" name="Shape 3"/>
          <p:cNvSpPr/>
          <p:nvPr/>
        </p:nvSpPr>
        <p:spPr>
          <a:xfrm>
            <a:off x="548640" y="1773936"/>
            <a:ext cx="2688336" cy="1078992"/>
          </a:xfrm>
          <a:prstGeom prst="roundRect">
            <a:avLst>
              <a:gd name="adj" fmla="val 6780"/>
            </a:avLst>
          </a:prstGeom>
          <a:solidFill>
            <a:srgbClr val="EAF2FD"/>
          </a:solidFill>
          <a:ln w="9525">
            <a:solidFill>
              <a:srgbClr val="E3E7EA"/>
            </a:solidFill>
            <a:prstDash val="solid"/>
          </a:ln>
        </p:spPr>
      </p:sp>
      <p:sp>
        <p:nvSpPr>
          <p:cNvPr id="6" name="Shape 4"/>
          <p:cNvSpPr/>
          <p:nvPr/>
        </p:nvSpPr>
        <p:spPr>
          <a:xfrm>
            <a:off x="694944" y="1901952"/>
            <a:ext cx="310896" cy="310896"/>
          </a:xfrm>
          <a:prstGeom prst="ellipse">
            <a:avLst/>
          </a:prstGeom>
          <a:solidFill>
            <a:srgbClr val="20A098"/>
          </a:solidFill>
          <a:ln/>
        </p:spPr>
      </p:sp>
      <p:sp>
        <p:nvSpPr>
          <p:cNvPr id="7" name="Text 5"/>
          <p:cNvSpPr txBox="1"/>
          <p:nvPr/>
        </p:nvSpPr>
        <p:spPr>
          <a:xfrm>
            <a:off x="694944" y="1901952"/>
            <a:ext cx="310896" cy="310896"/>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1</a:t>
            </a:r>
            <a:endParaRPr lang="en-US" sz="1000" dirty="0"/>
          </a:p>
        </p:txBody>
      </p:sp>
      <p:sp>
        <p:nvSpPr>
          <p:cNvPr id="8" name="Text 6"/>
          <p:cNvSpPr txBox="1"/>
          <p:nvPr/>
        </p:nvSpPr>
        <p:spPr>
          <a:xfrm>
            <a:off x="1097280" y="1920240"/>
            <a:ext cx="1993392" cy="237744"/>
          </a:xfrm>
          <a:prstGeom prst="rect">
            <a:avLst/>
          </a:prstGeom>
          <a:noFill/>
          <a:ln/>
        </p:spPr>
        <p:txBody>
          <a:bodyPr wrap="square" lIns="0" tIns="0" rIns="0" bIns="0" rtlCol="0" anchor="ctr"/>
          <a:lstStyle/>
          <a:p>
            <a:pPr indent="0" marL="0">
              <a:buNone/>
            </a:pPr>
            <a:r>
              <a:rPr lang="en-US" sz="1250" b="1" dirty="0">
                <a:solidFill>
                  <a:srgbClr val="0C1E33"/>
                </a:solidFill>
                <a:latin typeface="Arial" pitchFamily="34" charset="0"/>
                <a:ea typeface="Arial" pitchFamily="34" charset="-122"/>
                <a:cs typeface="Arial" pitchFamily="34" charset="-120"/>
              </a:rPr>
              <a:t>Qiwa contracts</a:t>
            </a:r>
            <a:endParaRPr lang="en-US" sz="1250" dirty="0"/>
          </a:p>
        </p:txBody>
      </p:sp>
      <p:sp>
        <p:nvSpPr>
          <p:cNvPr id="9" name="Text 7"/>
          <p:cNvSpPr txBox="1"/>
          <p:nvPr/>
        </p:nvSpPr>
        <p:spPr>
          <a:xfrm>
            <a:off x="694944" y="2286000"/>
            <a:ext cx="2395728" cy="457200"/>
          </a:xfrm>
          <a:prstGeom prst="rect">
            <a:avLst/>
          </a:prstGeom>
          <a:noFill/>
          <a:ln/>
        </p:spPr>
        <p:txBody>
          <a:bodyPr wrap="square" lIns="0" tIns="0" rIns="0" bIns="0" rtlCol="0" anchor="ctr"/>
          <a:lstStyle/>
          <a:p>
            <a:pPr indent="0" marL="0">
              <a:lnSpc>
                <a:spcPts val="1220"/>
              </a:lnSpc>
              <a:buNone/>
            </a:pPr>
            <a:r>
              <a:rPr lang="en-US" sz="920" dirty="0">
                <a:solidFill>
                  <a:srgbClr val="5A6C82"/>
                </a:solidFill>
                <a:latin typeface="Calibri" pitchFamily="34" charset="0"/>
                <a:ea typeface="Calibri" pitchFamily="34" charset="-122"/>
                <a:cs typeface="Calibri" pitchFamily="34" charset="-120"/>
              </a:rPr>
              <a:t>Registered, authenticated, in Arabic and accepted by the employee</a:t>
            </a:r>
            <a:endParaRPr lang="en-US" sz="920" dirty="0"/>
          </a:p>
        </p:txBody>
      </p:sp>
      <p:sp>
        <p:nvSpPr>
          <p:cNvPr id="10" name="Shape 8"/>
          <p:cNvSpPr/>
          <p:nvPr/>
        </p:nvSpPr>
        <p:spPr>
          <a:xfrm>
            <a:off x="3374136" y="1773936"/>
            <a:ext cx="2688336" cy="1078992"/>
          </a:xfrm>
          <a:prstGeom prst="roundRect">
            <a:avLst>
              <a:gd name="adj" fmla="val 6780"/>
            </a:avLst>
          </a:prstGeom>
          <a:solidFill>
            <a:srgbClr val="EAF2FD"/>
          </a:solidFill>
          <a:ln w="9525">
            <a:solidFill>
              <a:srgbClr val="E3E7EA"/>
            </a:solidFill>
            <a:prstDash val="solid"/>
          </a:ln>
        </p:spPr>
      </p:sp>
      <p:sp>
        <p:nvSpPr>
          <p:cNvPr id="11" name="Shape 9"/>
          <p:cNvSpPr/>
          <p:nvPr/>
        </p:nvSpPr>
        <p:spPr>
          <a:xfrm>
            <a:off x="3520440" y="1901952"/>
            <a:ext cx="310896" cy="310896"/>
          </a:xfrm>
          <a:prstGeom prst="ellipse">
            <a:avLst/>
          </a:prstGeom>
          <a:solidFill>
            <a:srgbClr val="20A098"/>
          </a:solidFill>
          <a:ln/>
        </p:spPr>
      </p:sp>
      <p:sp>
        <p:nvSpPr>
          <p:cNvPr id="12" name="Text 10"/>
          <p:cNvSpPr txBox="1"/>
          <p:nvPr/>
        </p:nvSpPr>
        <p:spPr>
          <a:xfrm>
            <a:off x="3520440" y="1901952"/>
            <a:ext cx="310896" cy="310896"/>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2</a:t>
            </a:r>
            <a:endParaRPr lang="en-US" sz="1000" dirty="0"/>
          </a:p>
        </p:txBody>
      </p:sp>
      <p:sp>
        <p:nvSpPr>
          <p:cNvPr id="13" name="Text 11"/>
          <p:cNvSpPr txBox="1"/>
          <p:nvPr/>
        </p:nvSpPr>
        <p:spPr>
          <a:xfrm>
            <a:off x="3922776" y="1920240"/>
            <a:ext cx="1993392" cy="237744"/>
          </a:xfrm>
          <a:prstGeom prst="rect">
            <a:avLst/>
          </a:prstGeom>
          <a:noFill/>
          <a:ln/>
        </p:spPr>
        <p:txBody>
          <a:bodyPr wrap="square" lIns="0" tIns="0" rIns="0" bIns="0" rtlCol="0" anchor="ctr"/>
          <a:lstStyle/>
          <a:p>
            <a:pPr indent="0" marL="0">
              <a:buNone/>
            </a:pPr>
            <a:r>
              <a:rPr lang="en-US" sz="1250" b="1" dirty="0">
                <a:solidFill>
                  <a:srgbClr val="0C1E33"/>
                </a:solidFill>
                <a:latin typeface="Arial" pitchFamily="34" charset="0"/>
                <a:ea typeface="Arial" pitchFamily="34" charset="-122"/>
                <a:cs typeface="Arial" pitchFamily="34" charset="-120"/>
              </a:rPr>
              <a:t>Saudization</a:t>
            </a:r>
            <a:endParaRPr lang="en-US" sz="1250" dirty="0"/>
          </a:p>
        </p:txBody>
      </p:sp>
      <p:sp>
        <p:nvSpPr>
          <p:cNvPr id="14" name="Text 12"/>
          <p:cNvSpPr txBox="1"/>
          <p:nvPr/>
        </p:nvSpPr>
        <p:spPr>
          <a:xfrm>
            <a:off x="3520440" y="2286000"/>
            <a:ext cx="2395728" cy="457200"/>
          </a:xfrm>
          <a:prstGeom prst="rect">
            <a:avLst/>
          </a:prstGeom>
          <a:noFill/>
          <a:ln/>
        </p:spPr>
        <p:txBody>
          <a:bodyPr wrap="square" lIns="0" tIns="0" rIns="0" bIns="0" rtlCol="0" anchor="ctr"/>
          <a:lstStyle/>
          <a:p>
            <a:pPr indent="0" marL="0">
              <a:lnSpc>
                <a:spcPts val="1220"/>
              </a:lnSpc>
              <a:buNone/>
            </a:pPr>
            <a:r>
              <a:rPr lang="en-US" sz="920" dirty="0">
                <a:solidFill>
                  <a:srgbClr val="5A6C82"/>
                </a:solidFill>
                <a:latin typeface="Calibri" pitchFamily="34" charset="0"/>
                <a:ea typeface="Calibri" pitchFamily="34" charset="-122"/>
                <a:cs typeface="Calibri" pitchFamily="34" charset="-120"/>
              </a:rPr>
              <a:t>Recalculated continuously. Gates visas, renewals and transfers</a:t>
            </a:r>
            <a:endParaRPr lang="en-US" sz="920" dirty="0"/>
          </a:p>
        </p:txBody>
      </p:sp>
      <p:sp>
        <p:nvSpPr>
          <p:cNvPr id="15" name="Shape 13"/>
          <p:cNvSpPr/>
          <p:nvPr/>
        </p:nvSpPr>
        <p:spPr>
          <a:xfrm>
            <a:off x="6199632" y="1773936"/>
            <a:ext cx="2688336" cy="1078992"/>
          </a:xfrm>
          <a:prstGeom prst="roundRect">
            <a:avLst>
              <a:gd name="adj" fmla="val 6780"/>
            </a:avLst>
          </a:prstGeom>
          <a:solidFill>
            <a:srgbClr val="EAF2FD"/>
          </a:solidFill>
          <a:ln w="9525">
            <a:solidFill>
              <a:srgbClr val="E3E7EA"/>
            </a:solidFill>
            <a:prstDash val="solid"/>
          </a:ln>
        </p:spPr>
      </p:sp>
      <p:sp>
        <p:nvSpPr>
          <p:cNvPr id="16" name="Shape 14"/>
          <p:cNvSpPr/>
          <p:nvPr/>
        </p:nvSpPr>
        <p:spPr>
          <a:xfrm>
            <a:off x="6345936" y="1901952"/>
            <a:ext cx="310896" cy="310896"/>
          </a:xfrm>
          <a:prstGeom prst="ellipse">
            <a:avLst/>
          </a:prstGeom>
          <a:solidFill>
            <a:srgbClr val="20A098"/>
          </a:solidFill>
          <a:ln/>
        </p:spPr>
      </p:sp>
      <p:sp>
        <p:nvSpPr>
          <p:cNvPr id="17" name="Text 15"/>
          <p:cNvSpPr txBox="1"/>
          <p:nvPr/>
        </p:nvSpPr>
        <p:spPr>
          <a:xfrm>
            <a:off x="6345936" y="1901952"/>
            <a:ext cx="310896" cy="310896"/>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3</a:t>
            </a:r>
            <a:endParaRPr lang="en-US" sz="1000" dirty="0"/>
          </a:p>
        </p:txBody>
      </p:sp>
      <p:sp>
        <p:nvSpPr>
          <p:cNvPr id="18" name="Text 16"/>
          <p:cNvSpPr txBox="1"/>
          <p:nvPr/>
        </p:nvSpPr>
        <p:spPr>
          <a:xfrm>
            <a:off x="6748272" y="1920240"/>
            <a:ext cx="1993392" cy="237744"/>
          </a:xfrm>
          <a:prstGeom prst="rect">
            <a:avLst/>
          </a:prstGeom>
          <a:noFill/>
          <a:ln/>
        </p:spPr>
        <p:txBody>
          <a:bodyPr wrap="square" lIns="0" tIns="0" rIns="0" bIns="0" rtlCol="0" anchor="ctr"/>
          <a:lstStyle/>
          <a:p>
            <a:pPr indent="0" marL="0">
              <a:buNone/>
            </a:pPr>
            <a:r>
              <a:rPr lang="en-US" sz="1250" b="1" dirty="0">
                <a:solidFill>
                  <a:srgbClr val="0C1E33"/>
                </a:solidFill>
                <a:latin typeface="Arial" pitchFamily="34" charset="0"/>
                <a:ea typeface="Arial" pitchFamily="34" charset="-122"/>
                <a:cs typeface="Arial" pitchFamily="34" charset="-120"/>
              </a:rPr>
              <a:t>Wage protection</a:t>
            </a:r>
            <a:endParaRPr lang="en-US" sz="1250" dirty="0"/>
          </a:p>
        </p:txBody>
      </p:sp>
      <p:sp>
        <p:nvSpPr>
          <p:cNvPr id="19" name="Text 17"/>
          <p:cNvSpPr txBox="1"/>
          <p:nvPr/>
        </p:nvSpPr>
        <p:spPr>
          <a:xfrm>
            <a:off x="6345936" y="2286000"/>
            <a:ext cx="2395728" cy="457200"/>
          </a:xfrm>
          <a:prstGeom prst="rect">
            <a:avLst/>
          </a:prstGeom>
          <a:noFill/>
          <a:ln/>
        </p:spPr>
        <p:txBody>
          <a:bodyPr wrap="square" lIns="0" tIns="0" rIns="0" bIns="0" rtlCol="0" anchor="ctr"/>
          <a:lstStyle/>
          <a:p>
            <a:pPr indent="0" marL="0">
              <a:lnSpc>
                <a:spcPts val="1220"/>
              </a:lnSpc>
              <a:buNone/>
            </a:pPr>
            <a:r>
              <a:rPr lang="en-US" sz="920" dirty="0">
                <a:solidFill>
                  <a:srgbClr val="5A6C82"/>
                </a:solidFill>
                <a:latin typeface="Calibri" pitchFamily="34" charset="0"/>
                <a:ea typeface="Calibri" pitchFamily="34" charset="-122"/>
                <a:cs typeface="Calibri" pitchFamily="34" charset="-120"/>
              </a:rPr>
              <a:t>Pay on time through the bank, matching the Qiwa contract</a:t>
            </a:r>
            <a:endParaRPr lang="en-US" sz="920" dirty="0"/>
          </a:p>
        </p:txBody>
      </p:sp>
      <p:sp>
        <p:nvSpPr>
          <p:cNvPr id="20" name="Shape 18"/>
          <p:cNvSpPr/>
          <p:nvPr/>
        </p:nvSpPr>
        <p:spPr>
          <a:xfrm>
            <a:off x="9025128" y="1773936"/>
            <a:ext cx="2688336" cy="1078992"/>
          </a:xfrm>
          <a:prstGeom prst="roundRect">
            <a:avLst>
              <a:gd name="adj" fmla="val 6780"/>
            </a:avLst>
          </a:prstGeom>
          <a:solidFill>
            <a:srgbClr val="F4F6F7"/>
          </a:solidFill>
          <a:ln w="9525">
            <a:solidFill>
              <a:srgbClr val="E3E7EA"/>
            </a:solidFill>
            <a:prstDash val="solid"/>
          </a:ln>
        </p:spPr>
      </p:sp>
      <p:sp>
        <p:nvSpPr>
          <p:cNvPr id="21" name="Shape 19"/>
          <p:cNvSpPr/>
          <p:nvPr/>
        </p:nvSpPr>
        <p:spPr>
          <a:xfrm>
            <a:off x="9171432" y="1901952"/>
            <a:ext cx="310896" cy="310896"/>
          </a:xfrm>
          <a:prstGeom prst="ellipse">
            <a:avLst/>
          </a:prstGeom>
          <a:solidFill>
            <a:srgbClr val="12756F"/>
          </a:solidFill>
          <a:ln/>
        </p:spPr>
      </p:sp>
      <p:sp>
        <p:nvSpPr>
          <p:cNvPr id="22" name="Text 20"/>
          <p:cNvSpPr txBox="1"/>
          <p:nvPr/>
        </p:nvSpPr>
        <p:spPr>
          <a:xfrm>
            <a:off x="9171432" y="1901952"/>
            <a:ext cx="310896" cy="310896"/>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4</a:t>
            </a:r>
            <a:endParaRPr lang="en-US" sz="1000" dirty="0"/>
          </a:p>
        </p:txBody>
      </p:sp>
      <p:sp>
        <p:nvSpPr>
          <p:cNvPr id="23" name="Text 21"/>
          <p:cNvSpPr txBox="1"/>
          <p:nvPr/>
        </p:nvSpPr>
        <p:spPr>
          <a:xfrm>
            <a:off x="9573768" y="1920240"/>
            <a:ext cx="1993392" cy="237744"/>
          </a:xfrm>
          <a:prstGeom prst="rect">
            <a:avLst/>
          </a:prstGeom>
          <a:noFill/>
          <a:ln/>
        </p:spPr>
        <p:txBody>
          <a:bodyPr wrap="square" lIns="0" tIns="0" rIns="0" bIns="0" rtlCol="0" anchor="ctr"/>
          <a:lstStyle/>
          <a:p>
            <a:pPr indent="0" marL="0">
              <a:buNone/>
            </a:pPr>
            <a:r>
              <a:rPr lang="en-US" sz="1250" b="1" dirty="0">
                <a:solidFill>
                  <a:srgbClr val="0C1E33"/>
                </a:solidFill>
                <a:latin typeface="Arial" pitchFamily="34" charset="0"/>
                <a:ea typeface="Arial" pitchFamily="34" charset="-122"/>
                <a:cs typeface="Arial" pitchFamily="34" charset="-120"/>
              </a:rPr>
              <a:t>GOSI</a:t>
            </a:r>
            <a:endParaRPr lang="en-US" sz="1250" dirty="0"/>
          </a:p>
        </p:txBody>
      </p:sp>
      <p:sp>
        <p:nvSpPr>
          <p:cNvPr id="24" name="Text 22"/>
          <p:cNvSpPr txBox="1"/>
          <p:nvPr/>
        </p:nvSpPr>
        <p:spPr>
          <a:xfrm>
            <a:off x="9171432" y="2286000"/>
            <a:ext cx="2395728" cy="457200"/>
          </a:xfrm>
          <a:prstGeom prst="rect">
            <a:avLst/>
          </a:prstGeom>
          <a:noFill/>
          <a:ln/>
        </p:spPr>
        <p:txBody>
          <a:bodyPr wrap="square" lIns="0" tIns="0" rIns="0" bIns="0" rtlCol="0" anchor="ctr"/>
          <a:lstStyle/>
          <a:p>
            <a:pPr indent="0" marL="0">
              <a:lnSpc>
                <a:spcPts val="1220"/>
              </a:lnSpc>
              <a:buNone/>
            </a:pPr>
            <a:r>
              <a:rPr lang="en-US" sz="920" dirty="0">
                <a:solidFill>
                  <a:srgbClr val="5A6C82"/>
                </a:solidFill>
                <a:latin typeface="Calibri" pitchFamily="34" charset="0"/>
                <a:ea typeface="Calibri" pitchFamily="34" charset="-122"/>
                <a:cs typeface="Calibri" pitchFamily="34" charset="-120"/>
              </a:rPr>
              <a:t>Register from day one. Contributory wage must agree with Qiwa</a:t>
            </a:r>
            <a:endParaRPr lang="en-US" sz="920" dirty="0"/>
          </a:p>
        </p:txBody>
      </p:sp>
      <p:sp>
        <p:nvSpPr>
          <p:cNvPr id="25" name="Shape 23"/>
          <p:cNvSpPr/>
          <p:nvPr/>
        </p:nvSpPr>
        <p:spPr>
          <a:xfrm>
            <a:off x="548640" y="3017520"/>
            <a:ext cx="2688336" cy="1078992"/>
          </a:xfrm>
          <a:prstGeom prst="roundRect">
            <a:avLst>
              <a:gd name="adj" fmla="val 6780"/>
            </a:avLst>
          </a:prstGeom>
          <a:solidFill>
            <a:srgbClr val="F4F6F7"/>
          </a:solidFill>
          <a:ln w="9525">
            <a:solidFill>
              <a:srgbClr val="E3E7EA"/>
            </a:solidFill>
            <a:prstDash val="solid"/>
          </a:ln>
        </p:spPr>
      </p:sp>
      <p:sp>
        <p:nvSpPr>
          <p:cNvPr id="26" name="Shape 24"/>
          <p:cNvSpPr/>
          <p:nvPr/>
        </p:nvSpPr>
        <p:spPr>
          <a:xfrm>
            <a:off x="694944" y="3145536"/>
            <a:ext cx="310896" cy="310896"/>
          </a:xfrm>
          <a:prstGeom prst="ellipse">
            <a:avLst/>
          </a:prstGeom>
          <a:solidFill>
            <a:srgbClr val="12756F"/>
          </a:solidFill>
          <a:ln/>
        </p:spPr>
      </p:sp>
      <p:sp>
        <p:nvSpPr>
          <p:cNvPr id="27" name="Text 25"/>
          <p:cNvSpPr txBox="1"/>
          <p:nvPr/>
        </p:nvSpPr>
        <p:spPr>
          <a:xfrm>
            <a:off x="694944" y="3145536"/>
            <a:ext cx="310896" cy="310896"/>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5</a:t>
            </a:r>
            <a:endParaRPr lang="en-US" sz="1000" dirty="0"/>
          </a:p>
        </p:txBody>
      </p:sp>
      <p:sp>
        <p:nvSpPr>
          <p:cNvPr id="28" name="Text 26"/>
          <p:cNvSpPr txBox="1"/>
          <p:nvPr/>
        </p:nvSpPr>
        <p:spPr>
          <a:xfrm>
            <a:off x="1097280" y="3163824"/>
            <a:ext cx="1993392" cy="237744"/>
          </a:xfrm>
          <a:prstGeom prst="rect">
            <a:avLst/>
          </a:prstGeom>
          <a:noFill/>
          <a:ln/>
        </p:spPr>
        <p:txBody>
          <a:bodyPr wrap="square" lIns="0" tIns="0" rIns="0" bIns="0" rtlCol="0" anchor="ctr"/>
          <a:lstStyle/>
          <a:p>
            <a:pPr indent="0" marL="0">
              <a:buNone/>
            </a:pPr>
            <a:r>
              <a:rPr lang="en-US" sz="1250" b="1" dirty="0">
                <a:solidFill>
                  <a:srgbClr val="0C1E33"/>
                </a:solidFill>
                <a:latin typeface="Arial" pitchFamily="34" charset="0"/>
                <a:ea typeface="Arial" pitchFamily="34" charset="-122"/>
                <a:cs typeface="Arial" pitchFamily="34" charset="-120"/>
              </a:rPr>
              <a:t>Absence from work</a:t>
            </a:r>
            <a:endParaRPr lang="en-US" sz="1250" dirty="0"/>
          </a:p>
        </p:txBody>
      </p:sp>
      <p:sp>
        <p:nvSpPr>
          <p:cNvPr id="29" name="Text 27"/>
          <p:cNvSpPr txBox="1"/>
          <p:nvPr/>
        </p:nvSpPr>
        <p:spPr>
          <a:xfrm>
            <a:off x="694944" y="3529584"/>
            <a:ext cx="2395728" cy="457200"/>
          </a:xfrm>
          <a:prstGeom prst="rect">
            <a:avLst/>
          </a:prstGeom>
          <a:noFill/>
          <a:ln/>
        </p:spPr>
        <p:txBody>
          <a:bodyPr wrap="square" lIns="0" tIns="0" rIns="0" bIns="0" rtlCol="0" anchor="ctr"/>
          <a:lstStyle/>
          <a:p>
            <a:pPr indent="0" marL="0">
              <a:lnSpc>
                <a:spcPts val="1220"/>
              </a:lnSpc>
              <a:buNone/>
            </a:pPr>
            <a:r>
              <a:rPr lang="en-US" sz="920" dirty="0">
                <a:solidFill>
                  <a:srgbClr val="5A6C82"/>
                </a:solidFill>
                <a:latin typeface="Calibri" pitchFamily="34" charset="0"/>
                <a:ea typeface="Calibri" pitchFamily="34" charset="-122"/>
                <a:cs typeface="Calibri" pitchFamily="34" charset="-120"/>
              </a:rPr>
              <a:t>Evidence of contact attempts before any report is filed</a:t>
            </a:r>
            <a:endParaRPr lang="en-US" sz="920" dirty="0"/>
          </a:p>
        </p:txBody>
      </p:sp>
      <p:sp>
        <p:nvSpPr>
          <p:cNvPr id="30" name="Shape 28"/>
          <p:cNvSpPr/>
          <p:nvPr/>
        </p:nvSpPr>
        <p:spPr>
          <a:xfrm>
            <a:off x="3374136" y="3017520"/>
            <a:ext cx="2688336" cy="1078992"/>
          </a:xfrm>
          <a:prstGeom prst="roundRect">
            <a:avLst>
              <a:gd name="adj" fmla="val 6780"/>
            </a:avLst>
          </a:prstGeom>
          <a:solidFill>
            <a:srgbClr val="F4F6F7"/>
          </a:solidFill>
          <a:ln w="9525">
            <a:solidFill>
              <a:srgbClr val="E3E7EA"/>
            </a:solidFill>
            <a:prstDash val="solid"/>
          </a:ln>
        </p:spPr>
      </p:sp>
      <p:sp>
        <p:nvSpPr>
          <p:cNvPr id="31" name="Shape 29"/>
          <p:cNvSpPr/>
          <p:nvPr/>
        </p:nvSpPr>
        <p:spPr>
          <a:xfrm>
            <a:off x="3520440" y="3145536"/>
            <a:ext cx="310896" cy="310896"/>
          </a:xfrm>
          <a:prstGeom prst="ellipse">
            <a:avLst/>
          </a:prstGeom>
          <a:solidFill>
            <a:srgbClr val="12756F"/>
          </a:solidFill>
          <a:ln/>
        </p:spPr>
      </p:sp>
      <p:sp>
        <p:nvSpPr>
          <p:cNvPr id="32" name="Text 30"/>
          <p:cNvSpPr txBox="1"/>
          <p:nvPr/>
        </p:nvSpPr>
        <p:spPr>
          <a:xfrm>
            <a:off x="3520440" y="3145536"/>
            <a:ext cx="310896" cy="310896"/>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6</a:t>
            </a:r>
            <a:endParaRPr lang="en-US" sz="1000" dirty="0"/>
          </a:p>
        </p:txBody>
      </p:sp>
      <p:sp>
        <p:nvSpPr>
          <p:cNvPr id="33" name="Text 31"/>
          <p:cNvSpPr txBox="1"/>
          <p:nvPr/>
        </p:nvSpPr>
        <p:spPr>
          <a:xfrm>
            <a:off x="3922776" y="3163824"/>
            <a:ext cx="1993392" cy="237744"/>
          </a:xfrm>
          <a:prstGeom prst="rect">
            <a:avLst/>
          </a:prstGeom>
          <a:noFill/>
          <a:ln/>
        </p:spPr>
        <p:txBody>
          <a:bodyPr wrap="square" lIns="0" tIns="0" rIns="0" bIns="0" rtlCol="0" anchor="ctr"/>
          <a:lstStyle/>
          <a:p>
            <a:pPr indent="0" marL="0">
              <a:buNone/>
            </a:pPr>
            <a:r>
              <a:rPr lang="en-US" sz="1250" b="1" dirty="0">
                <a:solidFill>
                  <a:srgbClr val="0C1E33"/>
                </a:solidFill>
                <a:latin typeface="Arial" pitchFamily="34" charset="0"/>
                <a:ea typeface="Arial" pitchFamily="34" charset="-122"/>
                <a:cs typeface="Arial" pitchFamily="34" charset="-120"/>
              </a:rPr>
              <a:t>Medical cover</a:t>
            </a:r>
            <a:endParaRPr lang="en-US" sz="1250" dirty="0"/>
          </a:p>
        </p:txBody>
      </p:sp>
      <p:sp>
        <p:nvSpPr>
          <p:cNvPr id="34" name="Text 32"/>
          <p:cNvSpPr txBox="1"/>
          <p:nvPr/>
        </p:nvSpPr>
        <p:spPr>
          <a:xfrm>
            <a:off x="3520440" y="3529584"/>
            <a:ext cx="2395728" cy="457200"/>
          </a:xfrm>
          <a:prstGeom prst="rect">
            <a:avLst/>
          </a:prstGeom>
          <a:noFill/>
          <a:ln/>
        </p:spPr>
        <p:txBody>
          <a:bodyPr wrap="square" lIns="0" tIns="0" rIns="0" bIns="0" rtlCol="0" anchor="ctr"/>
          <a:lstStyle/>
          <a:p>
            <a:pPr indent="0" marL="0">
              <a:lnSpc>
                <a:spcPts val="1220"/>
              </a:lnSpc>
              <a:buNone/>
            </a:pPr>
            <a:r>
              <a:rPr lang="en-US" sz="920" dirty="0">
                <a:solidFill>
                  <a:srgbClr val="5A6C82"/>
                </a:solidFill>
                <a:latin typeface="Calibri" pitchFamily="34" charset="0"/>
                <a:ea typeface="Calibri" pitchFamily="34" charset="-122"/>
                <a:cs typeface="Calibri" pitchFamily="34" charset="-120"/>
              </a:rPr>
              <a:t>CCHI verified automatically. No cover, no Iqama</a:t>
            </a:r>
            <a:endParaRPr lang="en-US" sz="920" dirty="0"/>
          </a:p>
        </p:txBody>
      </p:sp>
      <p:sp>
        <p:nvSpPr>
          <p:cNvPr id="35" name="Shape 33"/>
          <p:cNvSpPr/>
          <p:nvPr/>
        </p:nvSpPr>
        <p:spPr>
          <a:xfrm>
            <a:off x="6199632" y="3017520"/>
            <a:ext cx="2688336" cy="1078992"/>
          </a:xfrm>
          <a:prstGeom prst="roundRect">
            <a:avLst>
              <a:gd name="adj" fmla="val 6780"/>
            </a:avLst>
          </a:prstGeom>
          <a:solidFill>
            <a:srgbClr val="F4F6F7"/>
          </a:solidFill>
          <a:ln w="9525">
            <a:solidFill>
              <a:srgbClr val="E3E7EA"/>
            </a:solidFill>
            <a:prstDash val="solid"/>
          </a:ln>
        </p:spPr>
      </p:sp>
      <p:sp>
        <p:nvSpPr>
          <p:cNvPr id="36" name="Shape 34"/>
          <p:cNvSpPr/>
          <p:nvPr/>
        </p:nvSpPr>
        <p:spPr>
          <a:xfrm>
            <a:off x="6345936" y="3145536"/>
            <a:ext cx="310896" cy="310896"/>
          </a:xfrm>
          <a:prstGeom prst="ellipse">
            <a:avLst/>
          </a:prstGeom>
          <a:solidFill>
            <a:srgbClr val="12756F"/>
          </a:solidFill>
          <a:ln/>
        </p:spPr>
      </p:sp>
      <p:sp>
        <p:nvSpPr>
          <p:cNvPr id="37" name="Text 35"/>
          <p:cNvSpPr txBox="1"/>
          <p:nvPr/>
        </p:nvSpPr>
        <p:spPr>
          <a:xfrm>
            <a:off x="6345936" y="3145536"/>
            <a:ext cx="310896" cy="310896"/>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7</a:t>
            </a:r>
            <a:endParaRPr lang="en-US" sz="1000" dirty="0"/>
          </a:p>
        </p:txBody>
      </p:sp>
      <p:sp>
        <p:nvSpPr>
          <p:cNvPr id="38" name="Text 36"/>
          <p:cNvSpPr txBox="1"/>
          <p:nvPr/>
        </p:nvSpPr>
        <p:spPr>
          <a:xfrm>
            <a:off x="6748272" y="3163824"/>
            <a:ext cx="1993392" cy="237744"/>
          </a:xfrm>
          <a:prstGeom prst="rect">
            <a:avLst/>
          </a:prstGeom>
          <a:noFill/>
          <a:ln/>
        </p:spPr>
        <p:txBody>
          <a:bodyPr wrap="square" lIns="0" tIns="0" rIns="0" bIns="0" rtlCol="0" anchor="ctr"/>
          <a:lstStyle/>
          <a:p>
            <a:pPr indent="0" marL="0">
              <a:buNone/>
            </a:pPr>
            <a:r>
              <a:rPr lang="en-US" sz="1250" b="1" dirty="0">
                <a:solidFill>
                  <a:srgbClr val="0C1E33"/>
                </a:solidFill>
                <a:latin typeface="Arial" pitchFamily="34" charset="0"/>
                <a:ea typeface="Arial" pitchFamily="34" charset="-122"/>
                <a:cs typeface="Arial" pitchFamily="34" charset="-120"/>
              </a:rPr>
              <a:t>Self-assessment</a:t>
            </a:r>
            <a:endParaRPr lang="en-US" sz="1250" dirty="0"/>
          </a:p>
        </p:txBody>
      </p:sp>
      <p:sp>
        <p:nvSpPr>
          <p:cNvPr id="39" name="Text 37"/>
          <p:cNvSpPr txBox="1"/>
          <p:nvPr/>
        </p:nvSpPr>
        <p:spPr>
          <a:xfrm>
            <a:off x="6345936" y="3529584"/>
            <a:ext cx="2395728" cy="457200"/>
          </a:xfrm>
          <a:prstGeom prst="rect">
            <a:avLst/>
          </a:prstGeom>
          <a:noFill/>
          <a:ln/>
        </p:spPr>
        <p:txBody>
          <a:bodyPr wrap="square" lIns="0" tIns="0" rIns="0" bIns="0" rtlCol="0" anchor="ctr"/>
          <a:lstStyle/>
          <a:p>
            <a:pPr indent="0" marL="0">
              <a:lnSpc>
                <a:spcPts val="1220"/>
              </a:lnSpc>
              <a:buNone/>
            </a:pPr>
            <a:r>
              <a:rPr lang="en-US" sz="920" dirty="0">
                <a:solidFill>
                  <a:srgbClr val="5A6C82"/>
                </a:solidFill>
                <a:latin typeface="Calibri" pitchFamily="34" charset="0"/>
                <a:ea typeface="Calibri" pitchFamily="34" charset="-122"/>
                <a:cs typeface="Calibri" pitchFamily="34" charset="-120"/>
              </a:rPr>
              <a:t>Declare periodically. First-visit findings settle cheaper</a:t>
            </a:r>
            <a:endParaRPr lang="en-US" sz="920" dirty="0"/>
          </a:p>
        </p:txBody>
      </p:sp>
      <p:sp>
        <p:nvSpPr>
          <p:cNvPr id="40" name="Shape 38"/>
          <p:cNvSpPr/>
          <p:nvPr/>
        </p:nvSpPr>
        <p:spPr>
          <a:xfrm>
            <a:off x="9025128" y="3017520"/>
            <a:ext cx="2688336" cy="1078992"/>
          </a:xfrm>
          <a:prstGeom prst="roundRect">
            <a:avLst>
              <a:gd name="adj" fmla="val 6780"/>
            </a:avLst>
          </a:prstGeom>
          <a:solidFill>
            <a:srgbClr val="F4F6F7"/>
          </a:solidFill>
          <a:ln w="9525">
            <a:solidFill>
              <a:srgbClr val="E3E7EA"/>
            </a:solidFill>
            <a:prstDash val="solid"/>
          </a:ln>
        </p:spPr>
      </p:sp>
      <p:sp>
        <p:nvSpPr>
          <p:cNvPr id="41" name="Shape 39"/>
          <p:cNvSpPr/>
          <p:nvPr/>
        </p:nvSpPr>
        <p:spPr>
          <a:xfrm>
            <a:off x="9171432" y="3145536"/>
            <a:ext cx="310896" cy="310896"/>
          </a:xfrm>
          <a:prstGeom prst="ellipse">
            <a:avLst/>
          </a:prstGeom>
          <a:solidFill>
            <a:srgbClr val="12756F"/>
          </a:solidFill>
          <a:ln/>
        </p:spPr>
      </p:sp>
      <p:sp>
        <p:nvSpPr>
          <p:cNvPr id="42" name="Text 40"/>
          <p:cNvSpPr txBox="1"/>
          <p:nvPr/>
        </p:nvSpPr>
        <p:spPr>
          <a:xfrm>
            <a:off x="9171432" y="3145536"/>
            <a:ext cx="310896" cy="310896"/>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8</a:t>
            </a:r>
            <a:endParaRPr lang="en-US" sz="1000" dirty="0"/>
          </a:p>
        </p:txBody>
      </p:sp>
      <p:sp>
        <p:nvSpPr>
          <p:cNvPr id="43" name="Text 41"/>
          <p:cNvSpPr txBox="1"/>
          <p:nvPr/>
        </p:nvSpPr>
        <p:spPr>
          <a:xfrm>
            <a:off x="9573768" y="3163824"/>
            <a:ext cx="1993392" cy="237744"/>
          </a:xfrm>
          <a:prstGeom prst="rect">
            <a:avLst/>
          </a:prstGeom>
          <a:noFill/>
          <a:ln/>
        </p:spPr>
        <p:txBody>
          <a:bodyPr wrap="square" lIns="0" tIns="0" rIns="0" bIns="0" rtlCol="0" anchor="ctr"/>
          <a:lstStyle/>
          <a:p>
            <a:pPr indent="0" marL="0">
              <a:buNone/>
            </a:pPr>
            <a:r>
              <a:rPr lang="en-US" sz="1250" b="1" dirty="0">
                <a:solidFill>
                  <a:srgbClr val="0C1E33"/>
                </a:solidFill>
                <a:latin typeface="Arial" pitchFamily="34" charset="0"/>
                <a:ea typeface="Arial" pitchFamily="34" charset="-122"/>
                <a:cs typeface="Arial" pitchFamily="34" charset="-120"/>
              </a:rPr>
              <a:t>Exit obligations</a:t>
            </a:r>
            <a:endParaRPr lang="en-US" sz="1250" dirty="0"/>
          </a:p>
        </p:txBody>
      </p:sp>
      <p:sp>
        <p:nvSpPr>
          <p:cNvPr id="44" name="Text 42"/>
          <p:cNvSpPr txBox="1"/>
          <p:nvPr/>
        </p:nvSpPr>
        <p:spPr>
          <a:xfrm>
            <a:off x="9171432" y="3529584"/>
            <a:ext cx="2395728" cy="457200"/>
          </a:xfrm>
          <a:prstGeom prst="rect">
            <a:avLst/>
          </a:prstGeom>
          <a:noFill/>
          <a:ln/>
        </p:spPr>
        <p:txBody>
          <a:bodyPr wrap="square" lIns="0" tIns="0" rIns="0" bIns="0" rtlCol="0" anchor="ctr"/>
          <a:lstStyle/>
          <a:p>
            <a:pPr indent="0" marL="0">
              <a:lnSpc>
                <a:spcPts val="1220"/>
              </a:lnSpc>
              <a:buNone/>
            </a:pPr>
            <a:r>
              <a:rPr lang="en-US" sz="920" dirty="0">
                <a:solidFill>
                  <a:srgbClr val="5A6C82"/>
                </a:solidFill>
                <a:latin typeface="Calibri" pitchFamily="34" charset="0"/>
                <a:ea typeface="Calibri" pitchFamily="34" charset="-122"/>
                <a:cs typeface="Calibri" pitchFamily="34" charset="-120"/>
              </a:rPr>
              <a:t>Settlement agreed and dues cleared before a final exit issues</a:t>
            </a:r>
            <a:endParaRPr lang="en-US" sz="920" dirty="0"/>
          </a:p>
        </p:txBody>
      </p:sp>
      <p:sp>
        <p:nvSpPr>
          <p:cNvPr id="45" name="Shape 43"/>
          <p:cNvSpPr/>
          <p:nvPr/>
        </p:nvSpPr>
        <p:spPr>
          <a:xfrm>
            <a:off x="548640" y="4279392"/>
            <a:ext cx="5486400" cy="2011680"/>
          </a:xfrm>
          <a:prstGeom prst="roundRect">
            <a:avLst>
              <a:gd name="adj" fmla="val 4091"/>
            </a:avLst>
          </a:prstGeom>
          <a:solidFill>
            <a:srgbClr val="FDECE9"/>
          </a:solidFill>
          <a:ln w="12700">
            <a:solidFill>
              <a:srgbClr val="E0A79D"/>
            </a:solidFill>
            <a:prstDash val="solid"/>
          </a:ln>
        </p:spPr>
      </p:sp>
      <p:sp>
        <p:nvSpPr>
          <p:cNvPr id="46" name="Text 44"/>
          <p:cNvSpPr txBox="1"/>
          <p:nvPr/>
        </p:nvSpPr>
        <p:spPr>
          <a:xfrm>
            <a:off x="768096" y="4425696"/>
            <a:ext cx="5029200" cy="256032"/>
          </a:xfrm>
          <a:prstGeom prst="rect">
            <a:avLst/>
          </a:prstGeom>
          <a:noFill/>
          <a:ln/>
        </p:spPr>
        <p:txBody>
          <a:bodyPr wrap="square" lIns="0" tIns="0" rIns="0" bIns="0" rtlCol="0" anchor="ctr"/>
          <a:lstStyle/>
          <a:p>
            <a:pPr indent="0" marL="0">
              <a:buNone/>
            </a:pPr>
            <a:r>
              <a:rPr lang="en-US" sz="1400" b="1" dirty="0">
                <a:solidFill>
                  <a:srgbClr val="8E3428"/>
                </a:solidFill>
                <a:latin typeface="Arial" pitchFamily="34" charset="0"/>
                <a:ea typeface="Arial" pitchFamily="34" charset="-122"/>
                <a:cs typeface="Arial" pitchFamily="34" charset="-120"/>
              </a:rPr>
              <a:t>What repeat findings actually cost</a:t>
            </a:r>
            <a:endParaRPr lang="en-US" sz="1400" dirty="0"/>
          </a:p>
        </p:txBody>
      </p:sp>
      <p:sp>
        <p:nvSpPr>
          <p:cNvPr id="47" name="Text 45"/>
          <p:cNvSpPr txBox="1"/>
          <p:nvPr/>
        </p:nvSpPr>
        <p:spPr>
          <a:xfrm>
            <a:off x="768096" y="4736592"/>
            <a:ext cx="5029200" cy="493776"/>
          </a:xfrm>
          <a:prstGeom prst="rect">
            <a:avLst/>
          </a:prstGeom>
          <a:noFill/>
          <a:ln/>
        </p:spPr>
        <p:txBody>
          <a:bodyPr wrap="square" lIns="0" tIns="0" rIns="0" bIns="0" rtlCol="0" anchor="ctr"/>
          <a:lstStyle/>
          <a:p>
            <a:pPr indent="0" marL="0">
              <a:lnSpc>
                <a:spcPts val="1450"/>
              </a:lnSpc>
              <a:buNone/>
            </a:pPr>
            <a:r>
              <a:rPr lang="en-US" sz="1100" dirty="0">
                <a:solidFill>
                  <a:srgbClr val="0C1E33"/>
                </a:solidFill>
                <a:latin typeface="Calibri" pitchFamily="34" charset="0"/>
                <a:ea typeface="Calibri" pitchFamily="34" charset="-122"/>
                <a:cs typeface="Calibri" pitchFamily="34" charset="-120"/>
              </a:rPr>
              <a:t>Not just fines. Repeated violations suspend work permit issuance, sponsorship transfers and residency renewals.</a:t>
            </a:r>
            <a:endParaRPr lang="en-US" sz="1100" dirty="0"/>
          </a:p>
        </p:txBody>
      </p:sp>
      <p:sp>
        <p:nvSpPr>
          <p:cNvPr id="48" name="Text 46"/>
          <p:cNvSpPr txBox="1"/>
          <p:nvPr/>
        </p:nvSpPr>
        <p:spPr>
          <a:xfrm>
            <a:off x="768096" y="5285232"/>
            <a:ext cx="5029200" cy="548640"/>
          </a:xfrm>
          <a:prstGeom prst="rect">
            <a:avLst/>
          </a:prstGeom>
          <a:noFill/>
          <a:ln/>
        </p:spPr>
        <p:txBody>
          <a:bodyPr wrap="square" lIns="0" tIns="0" rIns="0" bIns="0" rtlCol="0" anchor="ctr"/>
          <a:lstStyle/>
          <a:p>
            <a:pPr indent="0" marL="0">
              <a:lnSpc>
                <a:spcPts val="1400"/>
              </a:lnSpc>
              <a:buNone/>
            </a:pPr>
            <a:r>
              <a:rPr lang="en-US" sz="1050" dirty="0">
                <a:solidFill>
                  <a:srgbClr val="5A6C82"/>
                </a:solidFill>
                <a:latin typeface="Calibri" pitchFamily="34" charset="0"/>
                <a:ea typeface="Calibri" pitchFamily="34" charset="-122"/>
                <a:cs typeface="Calibri" pitchFamily="34" charset="-120"/>
              </a:rPr>
              <a:t>In practice that is a hiring freeze imposed on you, at a time you did not choose, for as long as it takes to clear the findings.</a:t>
            </a:r>
            <a:endParaRPr lang="en-US" sz="1050" dirty="0"/>
          </a:p>
        </p:txBody>
      </p:sp>
      <p:sp>
        <p:nvSpPr>
          <p:cNvPr id="49" name="Text 47"/>
          <p:cNvSpPr txBox="1"/>
          <p:nvPr/>
        </p:nvSpPr>
        <p:spPr>
          <a:xfrm>
            <a:off x="768096" y="5888736"/>
            <a:ext cx="5029200" cy="256032"/>
          </a:xfrm>
          <a:prstGeom prst="rect">
            <a:avLst/>
          </a:prstGeom>
          <a:noFill/>
          <a:ln/>
        </p:spPr>
        <p:txBody>
          <a:bodyPr wrap="square" lIns="0" tIns="0" rIns="0" bIns="0" rtlCol="0" anchor="ctr"/>
          <a:lstStyle/>
          <a:p>
            <a:pPr indent="0" marL="0">
              <a:buNone/>
            </a:pPr>
            <a:r>
              <a:rPr lang="en-US" sz="1050" b="1" dirty="0">
                <a:solidFill>
                  <a:srgbClr val="8E3428"/>
                </a:solidFill>
                <a:latin typeface="Arial" pitchFamily="34" charset="0"/>
                <a:ea typeface="Arial" pitchFamily="34" charset="-122"/>
                <a:cs typeface="Arial" pitchFamily="34" charset="-120"/>
              </a:rPr>
              <a:t>Which is why every obligation above is a tracked task with an owner.</a:t>
            </a:r>
            <a:endParaRPr lang="en-US" sz="1050" dirty="0"/>
          </a:p>
        </p:txBody>
      </p:sp>
      <p:pic>
        <p:nvPicPr>
          <p:cNvPr id="50" name="Image 0" descr="./img/integrations.jpg">    </p:cNvPr>
          <p:cNvPicPr>
            <a:picLocks noChangeAspect="1"/>
          </p:cNvPicPr>
          <p:nvPr/>
        </p:nvPicPr>
        <p:blipFill>
          <a:blip r:embed="rId1"/>
          <a:stretch>
            <a:fillRect/>
          </a:stretch>
        </p:blipFill>
        <p:spPr>
          <a:xfrm>
            <a:off x="6309360" y="4279392"/>
            <a:ext cx="5303520" cy="914400"/>
          </a:xfrm>
          <a:prstGeom prst="rect">
            <a:avLst/>
          </a:prstGeom>
          <a:effectLst>
            <a:outerShdw sx="100000" sy="100000" kx="0" ky="0" algn="bl" rotWithShape="0" blurRad="177800" dist="38100" dir="5400000">
              <a:srgbClr val="000000">
                <a:alpha val="20000"/>
              </a:srgbClr>
            </a:outerShdw>
          </a:effectLst>
        </p:spPr>
      </p:pic>
      <p:sp>
        <p:nvSpPr>
          <p:cNvPr id="51" name="Text 48"/>
          <p:cNvSpPr txBox="1"/>
          <p:nvPr/>
        </p:nvSpPr>
        <p:spPr>
          <a:xfrm>
            <a:off x="548640" y="6419088"/>
            <a:ext cx="8595360" cy="237744"/>
          </a:xfrm>
          <a:prstGeom prst="rect">
            <a:avLst/>
          </a:prstGeom>
          <a:noFill/>
          <a:ln/>
        </p:spPr>
        <p:txBody>
          <a:bodyPr wrap="square" lIns="0" tIns="0" rIns="0" bIns="0" rtlCol="0" anchor="ctr"/>
          <a:lstStyle/>
          <a:p>
            <a:pPr indent="0" marL="0">
              <a:buNone/>
            </a:pPr>
            <a:r>
              <a:rPr lang="en-US" sz="900" dirty="0">
                <a:solidFill>
                  <a:srgbClr val="96A3AE"/>
                </a:solidFill>
                <a:latin typeface="Calibri" pitchFamily="34" charset="0"/>
                <a:ea typeface="Calibri" pitchFamily="34" charset="-122"/>
                <a:cs typeface="Calibri" pitchFamily="34" charset="-120"/>
              </a:rPr>
              <a:t>INK IT Business Solutions  ·  Visa &amp; Permits Management  ·  Kingdom of Saudi Arabia</a:t>
            </a:r>
            <a:endParaRPr lang="en-US" sz="900" dirty="0"/>
          </a:p>
        </p:txBody>
      </p:sp>
      <p:sp>
        <p:nvSpPr>
          <p:cNvPr id="52" name="Text 49"/>
          <p:cNvSpPr txBox="1"/>
          <p:nvPr/>
        </p:nvSpPr>
        <p:spPr>
          <a:xfrm>
            <a:off x="11155680" y="6419088"/>
            <a:ext cx="457200" cy="237744"/>
          </a:xfrm>
          <a:prstGeom prst="rect">
            <a:avLst/>
          </a:prstGeom>
          <a:noFill/>
          <a:ln/>
        </p:spPr>
        <p:txBody>
          <a:bodyPr wrap="square" lIns="0" tIns="0" rIns="0" bIns="0" rtlCol="0" anchor="ctr"/>
          <a:lstStyle/>
          <a:p>
            <a:pPr algn="r" indent="0" marL="0">
              <a:buNone/>
            </a:pPr>
            <a:r>
              <a:rPr lang="en-US" sz="900" dirty="0">
                <a:solidFill>
                  <a:srgbClr val="96A3AE"/>
                </a:solidFill>
                <a:latin typeface="Calibri" pitchFamily="34" charset="0"/>
                <a:ea typeface="Calibri" pitchFamily="34" charset="-122"/>
                <a:cs typeface="Calibri" pitchFamily="34" charset="-120"/>
              </a:rPr>
              <a:t>9</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02336"/>
            <a:ext cx="11064240" cy="237744"/>
          </a:xfrm>
          <a:prstGeom prst="rect">
            <a:avLst/>
          </a:prstGeom>
          <a:noFill/>
          <a:ln/>
        </p:spPr>
        <p:txBody>
          <a:bodyPr wrap="square" lIns="0" tIns="0" rIns="0" bIns="0" rtlCol="0" anchor="ctr"/>
          <a:lstStyle/>
          <a:p>
            <a:pPr indent="0" marL="0">
              <a:buNone/>
            </a:pPr>
            <a:r>
              <a:rPr lang="en-US" sz="1100" b="1" spc="220" kern="0" dirty="0">
                <a:solidFill>
                  <a:srgbClr val="20A098"/>
                </a:solidFill>
                <a:latin typeface="Calibri" pitchFamily="34" charset="0"/>
                <a:ea typeface="Calibri" pitchFamily="34" charset="-122"/>
                <a:cs typeface="Calibri" pitchFamily="34" charset="-120"/>
              </a:rPr>
              <a:t>PERSONA VIEW</a:t>
            </a:r>
            <a:endParaRPr lang="en-US" sz="1100" dirty="0"/>
          </a:p>
        </p:txBody>
      </p:sp>
      <p:sp>
        <p:nvSpPr>
          <p:cNvPr id="3" name="Text 1"/>
          <p:cNvSpPr txBox="1"/>
          <p:nvPr/>
        </p:nvSpPr>
        <p:spPr>
          <a:xfrm>
            <a:off x="548640" y="658368"/>
            <a:ext cx="11064240" cy="566928"/>
          </a:xfrm>
          <a:prstGeom prst="rect">
            <a:avLst/>
          </a:prstGeom>
          <a:noFill/>
          <a:ln/>
        </p:spPr>
        <p:txBody>
          <a:bodyPr wrap="square" lIns="0" tIns="0" rIns="0" bIns="0" rtlCol="0" anchor="ctr"/>
          <a:lstStyle/>
          <a:p>
            <a:pPr indent="0" marL="0">
              <a:buNone/>
            </a:pPr>
            <a:r>
              <a:rPr lang="en-US" sz="3000" b="1" dirty="0">
                <a:solidFill>
                  <a:srgbClr val="0C1E33"/>
                </a:solidFill>
                <a:latin typeface="Arial" pitchFamily="34" charset="0"/>
                <a:ea typeface="Arial" pitchFamily="34" charset="-122"/>
                <a:cs typeface="Arial" pitchFamily="34" charset="-120"/>
              </a:rPr>
              <a:t>Everyone gets their own to-do list.</a:t>
            </a:r>
            <a:endParaRPr lang="en-US" sz="3000" dirty="0"/>
          </a:p>
        </p:txBody>
      </p:sp>
      <p:sp>
        <p:nvSpPr>
          <p:cNvPr id="4" name="Text 2"/>
          <p:cNvSpPr txBox="1"/>
          <p:nvPr/>
        </p:nvSpPr>
        <p:spPr>
          <a:xfrm>
            <a:off x="548640" y="1243584"/>
            <a:ext cx="10424160" cy="274320"/>
          </a:xfrm>
          <a:prstGeom prst="rect">
            <a:avLst/>
          </a:prstGeom>
          <a:noFill/>
          <a:ln/>
        </p:spPr>
        <p:txBody>
          <a:bodyPr wrap="square" lIns="0" tIns="0" rIns="0" bIns="0" rtlCol="0" anchor="ctr"/>
          <a:lstStyle/>
          <a:p>
            <a:pPr indent="0" marL="0">
              <a:buNone/>
            </a:pPr>
            <a:r>
              <a:rPr lang="en-US" sz="1300" dirty="0">
                <a:solidFill>
                  <a:srgbClr val="5A6C82"/>
                </a:solidFill>
                <a:latin typeface="Calibri" pitchFamily="34" charset="0"/>
                <a:ea typeface="Calibri" pitchFamily="34" charset="-122"/>
                <a:cs typeface="Calibri" pitchFamily="34" charset="-120"/>
              </a:rPr>
              <a:t>Each role sees only what is theirs, with a due date on it. The system already knows which authority owns each step.</a:t>
            </a:r>
            <a:endParaRPr lang="en-US" sz="1300" dirty="0"/>
          </a:p>
        </p:txBody>
      </p:sp>
      <p:sp>
        <p:nvSpPr>
          <p:cNvPr id="5" name="Shape 3"/>
          <p:cNvSpPr/>
          <p:nvPr/>
        </p:nvSpPr>
        <p:spPr>
          <a:xfrm>
            <a:off x="548640" y="1828800"/>
            <a:ext cx="10424160" cy="603504"/>
          </a:xfrm>
          <a:prstGeom prst="roundRect">
            <a:avLst>
              <a:gd name="adj" fmla="val 9091"/>
            </a:avLst>
          </a:prstGeom>
          <a:solidFill>
            <a:srgbClr val="F4F6F7"/>
          </a:solidFill>
          <a:ln w="7620">
            <a:solidFill>
              <a:srgbClr val="E3E7EA"/>
            </a:solidFill>
            <a:prstDash val="solid"/>
          </a:ln>
        </p:spPr>
      </p:sp>
      <p:sp>
        <p:nvSpPr>
          <p:cNvPr id="6" name="Shape 4"/>
          <p:cNvSpPr/>
          <p:nvPr/>
        </p:nvSpPr>
        <p:spPr>
          <a:xfrm>
            <a:off x="694944" y="1929384"/>
            <a:ext cx="347472" cy="347472"/>
          </a:xfrm>
          <a:prstGeom prst="ellipse">
            <a:avLst/>
          </a:prstGeom>
          <a:solidFill>
            <a:srgbClr val="20A098"/>
          </a:solidFill>
          <a:ln/>
        </p:spPr>
      </p:sp>
      <p:sp>
        <p:nvSpPr>
          <p:cNvPr id="7" name="Text 5"/>
          <p:cNvSpPr txBox="1"/>
          <p:nvPr/>
        </p:nvSpPr>
        <p:spPr>
          <a:xfrm>
            <a:off x="694944" y="1929384"/>
            <a:ext cx="347472" cy="347472"/>
          </a:xfrm>
          <a:prstGeom prst="rect">
            <a:avLst/>
          </a:prstGeom>
          <a:noFill/>
          <a:ln/>
        </p:spPr>
        <p:txBody>
          <a:bodyPr wrap="square" lIns="0" tIns="0" rIns="0" bIns="0" rtlCol="0" anchor="ctr"/>
          <a:lstStyle/>
          <a:p>
            <a:pPr algn="ctr" indent="0" marL="0">
              <a:buNone/>
            </a:pPr>
            <a:r>
              <a:rPr lang="en-US" sz="1050" b="1" dirty="0">
                <a:solidFill>
                  <a:srgbClr val="FFFFFF"/>
                </a:solidFill>
                <a:latin typeface="Calibri" pitchFamily="34" charset="0"/>
                <a:ea typeface="Calibri" pitchFamily="34" charset="-122"/>
                <a:cs typeface="Calibri" pitchFamily="34" charset="-120"/>
              </a:rPr>
              <a:t>GRO</a:t>
            </a:r>
            <a:endParaRPr lang="en-US" sz="1050" dirty="0"/>
          </a:p>
        </p:txBody>
      </p:sp>
      <p:sp>
        <p:nvSpPr>
          <p:cNvPr id="8" name="Text 6"/>
          <p:cNvSpPr txBox="1"/>
          <p:nvPr/>
        </p:nvSpPr>
        <p:spPr>
          <a:xfrm>
            <a:off x="1152144" y="1883664"/>
            <a:ext cx="1965960" cy="219456"/>
          </a:xfrm>
          <a:prstGeom prst="rect">
            <a:avLst/>
          </a:prstGeom>
          <a:noFill/>
          <a:ln/>
        </p:spPr>
        <p:txBody>
          <a:bodyPr wrap="square" lIns="0" tIns="0" rIns="0" bIns="0" rtlCol="0" anchor="ctr"/>
          <a:lstStyle/>
          <a:p>
            <a:pPr indent="0" marL="0">
              <a:buNone/>
            </a:pPr>
            <a:r>
              <a:rPr lang="en-US" sz="1100" b="1" dirty="0">
                <a:solidFill>
                  <a:srgbClr val="0C1E33"/>
                </a:solidFill>
                <a:latin typeface="Arial" pitchFamily="34" charset="0"/>
                <a:ea typeface="Arial" pitchFamily="34" charset="-122"/>
                <a:cs typeface="Arial" pitchFamily="34" charset="-120"/>
              </a:rPr>
              <a:t>Government Relations</a:t>
            </a:r>
            <a:endParaRPr lang="en-US" sz="1100" dirty="0"/>
          </a:p>
        </p:txBody>
      </p:sp>
      <p:sp>
        <p:nvSpPr>
          <p:cNvPr id="9" name="Text 7"/>
          <p:cNvSpPr txBox="1"/>
          <p:nvPr/>
        </p:nvSpPr>
        <p:spPr>
          <a:xfrm>
            <a:off x="1152144" y="2103120"/>
            <a:ext cx="1965960" cy="182880"/>
          </a:xfrm>
          <a:prstGeom prst="rect">
            <a:avLst/>
          </a:prstGeom>
          <a:noFill/>
          <a:ln/>
        </p:spPr>
        <p:txBody>
          <a:bodyPr wrap="square" lIns="0" tIns="0" rIns="0" bIns="0" rtlCol="0" anchor="ctr"/>
          <a:lstStyle/>
          <a:p>
            <a:pPr indent="0" marL="0">
              <a:buNone/>
            </a:pPr>
            <a:r>
              <a:rPr lang="en-US" sz="900" dirty="0">
                <a:solidFill>
                  <a:srgbClr val="12756F"/>
                </a:solidFill>
                <a:latin typeface="Calibri" pitchFamily="34" charset="0"/>
                <a:ea typeface="Calibri" pitchFamily="34" charset="-122"/>
                <a:cs typeface="Calibri" pitchFamily="34" charset="-120"/>
              </a:rPr>
              <a:t>PRO desk · Riyadh</a:t>
            </a:r>
            <a:endParaRPr lang="en-US" sz="900" dirty="0"/>
          </a:p>
        </p:txBody>
      </p:sp>
      <p:sp>
        <p:nvSpPr>
          <p:cNvPr id="10" name="Text 8"/>
          <p:cNvSpPr txBox="1"/>
          <p:nvPr/>
        </p:nvSpPr>
        <p:spPr>
          <a:xfrm>
            <a:off x="3200400" y="1897380"/>
            <a:ext cx="4956048" cy="475488"/>
          </a:xfrm>
          <a:prstGeom prst="rect">
            <a:avLst/>
          </a:prstGeom>
          <a:noFill/>
          <a:ln/>
        </p:spPr>
        <p:txBody>
          <a:bodyPr wrap="square" lIns="0" tIns="0" rIns="0" bIns="0" rtlCol="0" anchor="ctr"/>
          <a:lstStyle/>
          <a:p>
            <a:pPr marL="342900" indent="-342900">
              <a:lnSpc>
                <a:spcPts val="1100"/>
              </a:lnSpc>
              <a:buSzPct val="100000"/>
              <a:buChar char="•"/>
            </a:pPr>
            <a:r>
              <a:rPr lang="en-US" sz="860" dirty="0">
                <a:solidFill>
                  <a:srgbClr val="5A6C82"/>
                </a:solidFill>
                <a:latin typeface="Calibri" pitchFamily="34" charset="0"/>
                <a:ea typeface="Calibri" pitchFamily="34" charset="-122"/>
                <a:cs typeface="Calibri" pitchFamily="34" charset="-120"/>
              </a:rPr>
              <a:t>Requests block visas the moment the band allows it</a:t>
            </a:r>
            <a:endParaRPr lang="en-US" sz="860" dirty="0"/>
          </a:p>
          <a:p>
            <a:pPr marL="342900" indent="-342900">
              <a:lnSpc>
                <a:spcPts val="1100"/>
              </a:lnSpc>
              <a:buSzPct val="100000"/>
              <a:buChar char="•"/>
            </a:pPr>
            <a:r>
              <a:rPr lang="en-US" sz="860" dirty="0">
                <a:solidFill>
                  <a:srgbClr val="5A6C82"/>
                </a:solidFill>
                <a:latin typeface="Calibri" pitchFamily="34" charset="0"/>
                <a:ea typeface="Calibri" pitchFamily="34" charset="-122"/>
                <a:cs typeface="Calibri" pitchFamily="34" charset="-120"/>
              </a:rPr>
              <a:t>Authenticates contracts on Qiwa, issues Iqamas on Muqeem</a:t>
            </a:r>
            <a:endParaRPr lang="en-US" sz="860" dirty="0"/>
          </a:p>
          <a:p>
            <a:pPr marL="342900" indent="-342900">
              <a:lnSpc>
                <a:spcPts val="1100"/>
              </a:lnSpc>
              <a:buSzPct val="100000"/>
              <a:buChar char="•"/>
            </a:pPr>
            <a:r>
              <a:rPr lang="en-US" sz="860" dirty="0">
                <a:solidFill>
                  <a:srgbClr val="5A6C82"/>
                </a:solidFill>
                <a:latin typeface="Calibri" pitchFamily="34" charset="0"/>
                <a:ea typeface="Calibri" pitchFamily="34" charset="-122"/>
                <a:cs typeface="Calibri" pitchFamily="34" charset="-120"/>
              </a:rPr>
              <a:t>Applies for exit re-entry and watches every return-by date</a:t>
            </a:r>
            <a:endParaRPr lang="en-US" sz="860" dirty="0"/>
          </a:p>
        </p:txBody>
      </p:sp>
      <p:sp>
        <p:nvSpPr>
          <p:cNvPr id="11" name="Text 9"/>
          <p:cNvSpPr txBox="1"/>
          <p:nvPr/>
        </p:nvSpPr>
        <p:spPr>
          <a:xfrm>
            <a:off x="8229600" y="1897380"/>
            <a:ext cx="2615184" cy="475488"/>
          </a:xfrm>
          <a:prstGeom prst="rect">
            <a:avLst/>
          </a:prstGeom>
          <a:noFill/>
          <a:ln/>
        </p:spPr>
        <p:txBody>
          <a:bodyPr wrap="square" lIns="0" tIns="0" rIns="0" bIns="0" rtlCol="0" anchor="ctr"/>
          <a:lstStyle/>
          <a:p>
            <a:pPr indent="0" marL="0">
              <a:lnSpc>
                <a:spcPts val="1160"/>
              </a:lnSpc>
              <a:buNone/>
            </a:pPr>
            <a:r>
              <a:rPr lang="en-US" sz="930" b="1" i="1" dirty="0">
                <a:solidFill>
                  <a:srgbClr val="17795E"/>
                </a:solidFill>
                <a:latin typeface="Calibri" pitchFamily="34" charset="0"/>
                <a:ea typeface="Calibri" pitchFamily="34" charset="-122"/>
                <a:cs typeface="Calibri" pitchFamily="34" charset="-120"/>
              </a:rPr>
              <a:t>One queue that knows which authority each step belongs to.</a:t>
            </a:r>
            <a:endParaRPr lang="en-US" sz="930" dirty="0"/>
          </a:p>
        </p:txBody>
      </p:sp>
      <p:sp>
        <p:nvSpPr>
          <p:cNvPr id="12" name="Shape 10"/>
          <p:cNvSpPr/>
          <p:nvPr/>
        </p:nvSpPr>
        <p:spPr>
          <a:xfrm>
            <a:off x="548640" y="2473452"/>
            <a:ext cx="10424160" cy="603504"/>
          </a:xfrm>
          <a:prstGeom prst="roundRect">
            <a:avLst>
              <a:gd name="adj" fmla="val 9091"/>
            </a:avLst>
          </a:prstGeom>
          <a:solidFill>
            <a:srgbClr val="FFFFFF"/>
          </a:solidFill>
          <a:ln w="7620">
            <a:solidFill>
              <a:srgbClr val="E3E7EA"/>
            </a:solidFill>
            <a:prstDash val="solid"/>
          </a:ln>
        </p:spPr>
      </p:sp>
      <p:sp>
        <p:nvSpPr>
          <p:cNvPr id="13" name="Shape 11"/>
          <p:cNvSpPr/>
          <p:nvPr/>
        </p:nvSpPr>
        <p:spPr>
          <a:xfrm>
            <a:off x="694944" y="2574036"/>
            <a:ext cx="347472" cy="347472"/>
          </a:xfrm>
          <a:prstGeom prst="ellipse">
            <a:avLst/>
          </a:prstGeom>
          <a:solidFill>
            <a:srgbClr val="12756F"/>
          </a:solidFill>
          <a:ln/>
        </p:spPr>
      </p:sp>
      <p:sp>
        <p:nvSpPr>
          <p:cNvPr id="14" name="Text 12"/>
          <p:cNvSpPr txBox="1"/>
          <p:nvPr/>
        </p:nvSpPr>
        <p:spPr>
          <a:xfrm>
            <a:off x="694944" y="2574036"/>
            <a:ext cx="347472" cy="347472"/>
          </a:xfrm>
          <a:prstGeom prst="rect">
            <a:avLst/>
          </a:prstGeom>
          <a:noFill/>
          <a:ln/>
        </p:spPr>
        <p:txBody>
          <a:bodyPr wrap="square" lIns="0" tIns="0" rIns="0" bIns="0" rtlCol="0" anchor="ctr"/>
          <a:lstStyle/>
          <a:p>
            <a:pPr algn="ctr" indent="0" marL="0">
              <a:buNone/>
            </a:pPr>
            <a:r>
              <a:rPr lang="en-US" sz="1050" b="1" dirty="0">
                <a:solidFill>
                  <a:srgbClr val="FFFFFF"/>
                </a:solidFill>
                <a:latin typeface="Calibri" pitchFamily="34" charset="0"/>
                <a:ea typeface="Calibri" pitchFamily="34" charset="-122"/>
                <a:cs typeface="Calibri" pitchFamily="34" charset="-120"/>
              </a:rPr>
              <a:t>TA</a:t>
            </a:r>
            <a:endParaRPr lang="en-US" sz="1050" dirty="0"/>
          </a:p>
        </p:txBody>
      </p:sp>
      <p:sp>
        <p:nvSpPr>
          <p:cNvPr id="15" name="Text 13"/>
          <p:cNvSpPr txBox="1"/>
          <p:nvPr/>
        </p:nvSpPr>
        <p:spPr>
          <a:xfrm>
            <a:off x="1152144" y="2528316"/>
            <a:ext cx="1965960" cy="219456"/>
          </a:xfrm>
          <a:prstGeom prst="rect">
            <a:avLst/>
          </a:prstGeom>
          <a:noFill/>
          <a:ln/>
        </p:spPr>
        <p:txBody>
          <a:bodyPr wrap="square" lIns="0" tIns="0" rIns="0" bIns="0" rtlCol="0" anchor="ctr"/>
          <a:lstStyle/>
          <a:p>
            <a:pPr indent="0" marL="0">
              <a:buNone/>
            </a:pPr>
            <a:r>
              <a:rPr lang="en-US" sz="1100" b="1" dirty="0">
                <a:solidFill>
                  <a:srgbClr val="0C1E33"/>
                </a:solidFill>
                <a:latin typeface="Arial" pitchFamily="34" charset="0"/>
                <a:ea typeface="Arial" pitchFamily="34" charset="-122"/>
                <a:cs typeface="Arial" pitchFamily="34" charset="-120"/>
              </a:rPr>
              <a:t>Recruiter</a:t>
            </a:r>
            <a:endParaRPr lang="en-US" sz="1100" dirty="0"/>
          </a:p>
        </p:txBody>
      </p:sp>
      <p:sp>
        <p:nvSpPr>
          <p:cNvPr id="16" name="Text 14"/>
          <p:cNvSpPr txBox="1"/>
          <p:nvPr/>
        </p:nvSpPr>
        <p:spPr>
          <a:xfrm>
            <a:off x="1152144" y="2747772"/>
            <a:ext cx="1965960" cy="182880"/>
          </a:xfrm>
          <a:prstGeom prst="rect">
            <a:avLst/>
          </a:prstGeom>
          <a:noFill/>
          <a:ln/>
        </p:spPr>
        <p:txBody>
          <a:bodyPr wrap="square" lIns="0" tIns="0" rIns="0" bIns="0" rtlCol="0" anchor="ctr"/>
          <a:lstStyle/>
          <a:p>
            <a:pPr indent="0" marL="0">
              <a:buNone/>
            </a:pPr>
            <a:r>
              <a:rPr lang="en-US" sz="900" dirty="0">
                <a:solidFill>
                  <a:srgbClr val="12756F"/>
                </a:solidFill>
                <a:latin typeface="Calibri" pitchFamily="34" charset="0"/>
                <a:ea typeface="Calibri" pitchFamily="34" charset="-122"/>
                <a:cs typeface="Calibri" pitchFamily="34" charset="-120"/>
              </a:rPr>
              <a:t>Talent acquisition</a:t>
            </a:r>
            <a:endParaRPr lang="en-US" sz="900" dirty="0"/>
          </a:p>
        </p:txBody>
      </p:sp>
      <p:sp>
        <p:nvSpPr>
          <p:cNvPr id="17" name="Text 15"/>
          <p:cNvSpPr txBox="1"/>
          <p:nvPr/>
        </p:nvSpPr>
        <p:spPr>
          <a:xfrm>
            <a:off x="3200400" y="2542032"/>
            <a:ext cx="4956048" cy="475488"/>
          </a:xfrm>
          <a:prstGeom prst="rect">
            <a:avLst/>
          </a:prstGeom>
          <a:noFill/>
          <a:ln/>
        </p:spPr>
        <p:txBody>
          <a:bodyPr wrap="square" lIns="0" tIns="0" rIns="0" bIns="0" rtlCol="0" anchor="ctr"/>
          <a:lstStyle/>
          <a:p>
            <a:pPr marL="342900" indent="-342900">
              <a:lnSpc>
                <a:spcPts val="1100"/>
              </a:lnSpc>
              <a:buSzPct val="100000"/>
              <a:buChar char="•"/>
            </a:pPr>
            <a:r>
              <a:rPr lang="en-US" sz="860" dirty="0">
                <a:solidFill>
                  <a:srgbClr val="5A6C82"/>
                </a:solidFill>
                <a:latin typeface="Calibri" pitchFamily="34" charset="0"/>
                <a:ea typeface="Calibri" pitchFamily="34" charset="-122"/>
                <a:cs typeface="Calibri" pitchFamily="34" charset="-120"/>
              </a:rPr>
              <a:t>Checks visa availability before an offer goes out</a:t>
            </a:r>
            <a:endParaRPr lang="en-US" sz="860" dirty="0"/>
          </a:p>
          <a:p>
            <a:pPr marL="342900" indent="-342900">
              <a:lnSpc>
                <a:spcPts val="1100"/>
              </a:lnSpc>
              <a:buSzPct val="100000"/>
              <a:buChar char="•"/>
            </a:pPr>
            <a:r>
              <a:rPr lang="en-US" sz="860" dirty="0">
                <a:solidFill>
                  <a:srgbClr val="5A6C82"/>
                </a:solidFill>
                <a:latin typeface="Calibri" pitchFamily="34" charset="0"/>
                <a:ea typeface="Calibri" pitchFamily="34" charset="-122"/>
                <a:cs typeface="Calibri" pitchFamily="34" charset="-120"/>
              </a:rPr>
              <a:t>Releases accepted candidates from SF Recruiting</a:t>
            </a:r>
            <a:endParaRPr lang="en-US" sz="860" dirty="0"/>
          </a:p>
          <a:p>
            <a:pPr marL="342900" indent="-342900">
              <a:lnSpc>
                <a:spcPts val="1100"/>
              </a:lnSpc>
              <a:buSzPct val="100000"/>
              <a:buChar char="•"/>
            </a:pPr>
            <a:r>
              <a:rPr lang="en-US" sz="860" dirty="0">
                <a:solidFill>
                  <a:srgbClr val="5A6C82"/>
                </a:solidFill>
                <a:latin typeface="Calibri" pitchFamily="34" charset="0"/>
                <a:ea typeface="Calibri" pitchFamily="34" charset="-122"/>
                <a:cs typeface="Calibri" pitchFamily="34" charset="-120"/>
              </a:rPr>
              <a:t>Agrees the Qiwa profession code with the PRO</a:t>
            </a:r>
            <a:endParaRPr lang="en-US" sz="860" dirty="0"/>
          </a:p>
        </p:txBody>
      </p:sp>
      <p:sp>
        <p:nvSpPr>
          <p:cNvPr id="18" name="Text 16"/>
          <p:cNvSpPr txBox="1"/>
          <p:nvPr/>
        </p:nvSpPr>
        <p:spPr>
          <a:xfrm>
            <a:off x="8229600" y="2542032"/>
            <a:ext cx="2615184" cy="475488"/>
          </a:xfrm>
          <a:prstGeom prst="rect">
            <a:avLst/>
          </a:prstGeom>
          <a:noFill/>
          <a:ln/>
        </p:spPr>
        <p:txBody>
          <a:bodyPr wrap="square" lIns="0" tIns="0" rIns="0" bIns="0" rtlCol="0" anchor="ctr"/>
          <a:lstStyle/>
          <a:p>
            <a:pPr indent="0" marL="0">
              <a:lnSpc>
                <a:spcPts val="1160"/>
              </a:lnSpc>
              <a:buNone/>
            </a:pPr>
            <a:r>
              <a:rPr lang="en-US" sz="930" b="1" i="1" dirty="0">
                <a:solidFill>
                  <a:srgbClr val="17795E"/>
                </a:solidFill>
                <a:latin typeface="Calibri" pitchFamily="34" charset="0"/>
                <a:ea typeface="Calibri" pitchFamily="34" charset="-122"/>
                <a:cs typeface="Calibri" pitchFamily="34" charset="-120"/>
              </a:rPr>
              <a:t>Offers made against visas that actually exist.</a:t>
            </a:r>
            <a:endParaRPr lang="en-US" sz="930" dirty="0"/>
          </a:p>
        </p:txBody>
      </p:sp>
      <p:sp>
        <p:nvSpPr>
          <p:cNvPr id="19" name="Shape 17"/>
          <p:cNvSpPr/>
          <p:nvPr/>
        </p:nvSpPr>
        <p:spPr>
          <a:xfrm>
            <a:off x="548640" y="3118104"/>
            <a:ext cx="10424160" cy="603504"/>
          </a:xfrm>
          <a:prstGeom prst="roundRect">
            <a:avLst>
              <a:gd name="adj" fmla="val 9091"/>
            </a:avLst>
          </a:prstGeom>
          <a:solidFill>
            <a:srgbClr val="F4F6F7"/>
          </a:solidFill>
          <a:ln w="7620">
            <a:solidFill>
              <a:srgbClr val="E3E7EA"/>
            </a:solidFill>
            <a:prstDash val="solid"/>
          </a:ln>
        </p:spPr>
      </p:sp>
      <p:sp>
        <p:nvSpPr>
          <p:cNvPr id="20" name="Shape 18"/>
          <p:cNvSpPr/>
          <p:nvPr/>
        </p:nvSpPr>
        <p:spPr>
          <a:xfrm>
            <a:off x="694944" y="3218688"/>
            <a:ext cx="347472" cy="347472"/>
          </a:xfrm>
          <a:prstGeom prst="ellipse">
            <a:avLst/>
          </a:prstGeom>
          <a:solidFill>
            <a:srgbClr val="20A098"/>
          </a:solidFill>
          <a:ln/>
        </p:spPr>
      </p:sp>
      <p:sp>
        <p:nvSpPr>
          <p:cNvPr id="21" name="Text 19"/>
          <p:cNvSpPr txBox="1"/>
          <p:nvPr/>
        </p:nvSpPr>
        <p:spPr>
          <a:xfrm>
            <a:off x="694944" y="3218688"/>
            <a:ext cx="347472" cy="347472"/>
          </a:xfrm>
          <a:prstGeom prst="rect">
            <a:avLst/>
          </a:prstGeom>
          <a:noFill/>
          <a:ln/>
        </p:spPr>
        <p:txBody>
          <a:bodyPr wrap="square" lIns="0" tIns="0" rIns="0" bIns="0" rtlCol="0" anchor="ctr"/>
          <a:lstStyle/>
          <a:p>
            <a:pPr algn="ctr" indent="0" marL="0">
              <a:buNone/>
            </a:pPr>
            <a:r>
              <a:rPr lang="en-US" sz="1050" b="1" dirty="0">
                <a:solidFill>
                  <a:srgbClr val="FFFFFF"/>
                </a:solidFill>
                <a:latin typeface="Calibri" pitchFamily="34" charset="0"/>
                <a:ea typeface="Calibri" pitchFamily="34" charset="-122"/>
                <a:cs typeface="Calibri" pitchFamily="34" charset="-120"/>
              </a:rPr>
              <a:t>OB</a:t>
            </a:r>
            <a:endParaRPr lang="en-US" sz="1050" dirty="0"/>
          </a:p>
        </p:txBody>
      </p:sp>
      <p:sp>
        <p:nvSpPr>
          <p:cNvPr id="22" name="Text 20"/>
          <p:cNvSpPr txBox="1"/>
          <p:nvPr/>
        </p:nvSpPr>
        <p:spPr>
          <a:xfrm>
            <a:off x="1152144" y="3172968"/>
            <a:ext cx="1965960" cy="219456"/>
          </a:xfrm>
          <a:prstGeom prst="rect">
            <a:avLst/>
          </a:prstGeom>
          <a:noFill/>
          <a:ln/>
        </p:spPr>
        <p:txBody>
          <a:bodyPr wrap="square" lIns="0" tIns="0" rIns="0" bIns="0" rtlCol="0" anchor="ctr"/>
          <a:lstStyle/>
          <a:p>
            <a:pPr indent="0" marL="0">
              <a:buNone/>
            </a:pPr>
            <a:r>
              <a:rPr lang="en-US" sz="1100" b="1" dirty="0">
                <a:solidFill>
                  <a:srgbClr val="0C1E33"/>
                </a:solidFill>
                <a:latin typeface="Arial" pitchFamily="34" charset="0"/>
                <a:ea typeface="Arial" pitchFamily="34" charset="-122"/>
                <a:cs typeface="Arial" pitchFamily="34" charset="-120"/>
              </a:rPr>
              <a:t>Onboarding</a:t>
            </a:r>
            <a:endParaRPr lang="en-US" sz="1100" dirty="0"/>
          </a:p>
        </p:txBody>
      </p:sp>
      <p:sp>
        <p:nvSpPr>
          <p:cNvPr id="23" name="Text 21"/>
          <p:cNvSpPr txBox="1"/>
          <p:nvPr/>
        </p:nvSpPr>
        <p:spPr>
          <a:xfrm>
            <a:off x="1152144" y="3392424"/>
            <a:ext cx="1965960" cy="182880"/>
          </a:xfrm>
          <a:prstGeom prst="rect">
            <a:avLst/>
          </a:prstGeom>
          <a:noFill/>
          <a:ln/>
        </p:spPr>
        <p:txBody>
          <a:bodyPr wrap="square" lIns="0" tIns="0" rIns="0" bIns="0" rtlCol="0" anchor="ctr"/>
          <a:lstStyle/>
          <a:p>
            <a:pPr indent="0" marL="0">
              <a:buNone/>
            </a:pPr>
            <a:r>
              <a:rPr lang="en-US" sz="900" dirty="0">
                <a:solidFill>
                  <a:srgbClr val="12756F"/>
                </a:solidFill>
                <a:latin typeface="Calibri" pitchFamily="34" charset="0"/>
                <a:ea typeface="Calibri" pitchFamily="34" charset="-122"/>
                <a:cs typeface="Calibri" pitchFamily="34" charset="-120"/>
              </a:rPr>
              <a:t>Employee relations</a:t>
            </a:r>
            <a:endParaRPr lang="en-US" sz="900" dirty="0"/>
          </a:p>
        </p:txBody>
      </p:sp>
      <p:sp>
        <p:nvSpPr>
          <p:cNvPr id="24" name="Text 22"/>
          <p:cNvSpPr txBox="1"/>
          <p:nvPr/>
        </p:nvSpPr>
        <p:spPr>
          <a:xfrm>
            <a:off x="3200400" y="3186684"/>
            <a:ext cx="4956048" cy="475488"/>
          </a:xfrm>
          <a:prstGeom prst="rect">
            <a:avLst/>
          </a:prstGeom>
          <a:noFill/>
          <a:ln/>
        </p:spPr>
        <p:txBody>
          <a:bodyPr wrap="square" lIns="0" tIns="0" rIns="0" bIns="0" rtlCol="0" anchor="ctr"/>
          <a:lstStyle/>
          <a:p>
            <a:pPr marL="342900" indent="-342900">
              <a:lnSpc>
                <a:spcPts val="1100"/>
              </a:lnSpc>
              <a:buSzPct val="100000"/>
              <a:buChar char="•"/>
            </a:pPr>
            <a:r>
              <a:rPr lang="en-US" sz="860" dirty="0">
                <a:solidFill>
                  <a:srgbClr val="5A6C82"/>
                </a:solidFill>
                <a:latin typeface="Calibri" pitchFamily="34" charset="0"/>
                <a:ea typeface="Calibri" pitchFamily="34" charset="-122"/>
                <a:cs typeface="Calibri" pitchFamily="34" charset="-120"/>
              </a:rPr>
              <a:t>Records the arrival date that starts the Iqama clock</a:t>
            </a:r>
            <a:endParaRPr lang="en-US" sz="860" dirty="0"/>
          </a:p>
          <a:p>
            <a:pPr marL="342900" indent="-342900">
              <a:lnSpc>
                <a:spcPts val="1100"/>
              </a:lnSpc>
              <a:buSzPct val="100000"/>
              <a:buChar char="•"/>
            </a:pPr>
            <a:r>
              <a:rPr lang="en-US" sz="860" dirty="0">
                <a:solidFill>
                  <a:srgbClr val="5A6C82"/>
                </a:solidFill>
                <a:latin typeface="Calibri" pitchFamily="34" charset="0"/>
                <a:ea typeface="Calibri" pitchFamily="34" charset="-122"/>
                <a:cs typeface="Calibri" pitchFamily="34" charset="-120"/>
              </a:rPr>
              <a:t>Chases medicals and biometrics</a:t>
            </a:r>
            <a:endParaRPr lang="en-US" sz="860" dirty="0"/>
          </a:p>
          <a:p>
            <a:pPr marL="342900" indent="-342900">
              <a:lnSpc>
                <a:spcPts val="1100"/>
              </a:lnSpc>
              <a:buSzPct val="100000"/>
              <a:buChar char="•"/>
            </a:pPr>
            <a:r>
              <a:rPr lang="en-US" sz="860" dirty="0">
                <a:solidFill>
                  <a:srgbClr val="5A6C82"/>
                </a:solidFill>
                <a:latin typeface="Calibri" pitchFamily="34" charset="0"/>
                <a:ea typeface="Calibri" pitchFamily="34" charset="-122"/>
                <a:cs typeface="Calibri" pitchFamily="34" charset="-120"/>
              </a:rPr>
              <a:t>Registers Saudi hires with GOSI and Mudad</a:t>
            </a:r>
            <a:endParaRPr lang="en-US" sz="860" dirty="0"/>
          </a:p>
        </p:txBody>
      </p:sp>
      <p:sp>
        <p:nvSpPr>
          <p:cNvPr id="25" name="Text 23"/>
          <p:cNvSpPr txBox="1"/>
          <p:nvPr/>
        </p:nvSpPr>
        <p:spPr>
          <a:xfrm>
            <a:off x="8229600" y="3186684"/>
            <a:ext cx="2615184" cy="475488"/>
          </a:xfrm>
          <a:prstGeom prst="rect">
            <a:avLst/>
          </a:prstGeom>
          <a:noFill/>
          <a:ln/>
        </p:spPr>
        <p:txBody>
          <a:bodyPr wrap="square" lIns="0" tIns="0" rIns="0" bIns="0" rtlCol="0" anchor="ctr"/>
          <a:lstStyle/>
          <a:p>
            <a:pPr indent="0" marL="0">
              <a:lnSpc>
                <a:spcPts val="1160"/>
              </a:lnSpc>
              <a:buNone/>
            </a:pPr>
            <a:r>
              <a:rPr lang="en-US" sz="930" b="1" i="1" dirty="0">
                <a:solidFill>
                  <a:srgbClr val="17795E"/>
                </a:solidFill>
                <a:latin typeface="Calibri" pitchFamily="34" charset="0"/>
                <a:ea typeface="Calibri" pitchFamily="34" charset="-122"/>
                <a:cs typeface="Calibri" pitchFamily="34" charset="-120"/>
              </a:rPr>
              <a:t>Nobody works without the paperwork that makes it legal.</a:t>
            </a:r>
            <a:endParaRPr lang="en-US" sz="930" dirty="0"/>
          </a:p>
        </p:txBody>
      </p:sp>
      <p:sp>
        <p:nvSpPr>
          <p:cNvPr id="26" name="Shape 24"/>
          <p:cNvSpPr/>
          <p:nvPr/>
        </p:nvSpPr>
        <p:spPr>
          <a:xfrm>
            <a:off x="548640" y="3762756"/>
            <a:ext cx="10424160" cy="603504"/>
          </a:xfrm>
          <a:prstGeom prst="roundRect">
            <a:avLst>
              <a:gd name="adj" fmla="val 9091"/>
            </a:avLst>
          </a:prstGeom>
          <a:solidFill>
            <a:srgbClr val="FFFFFF"/>
          </a:solidFill>
          <a:ln w="7620">
            <a:solidFill>
              <a:srgbClr val="E3E7EA"/>
            </a:solidFill>
            <a:prstDash val="solid"/>
          </a:ln>
        </p:spPr>
      </p:sp>
      <p:sp>
        <p:nvSpPr>
          <p:cNvPr id="27" name="Shape 25"/>
          <p:cNvSpPr/>
          <p:nvPr/>
        </p:nvSpPr>
        <p:spPr>
          <a:xfrm>
            <a:off x="694944" y="3863340"/>
            <a:ext cx="347472" cy="347472"/>
          </a:xfrm>
          <a:prstGeom prst="ellipse">
            <a:avLst/>
          </a:prstGeom>
          <a:solidFill>
            <a:srgbClr val="12756F"/>
          </a:solidFill>
          <a:ln/>
        </p:spPr>
      </p:sp>
      <p:sp>
        <p:nvSpPr>
          <p:cNvPr id="28" name="Text 26"/>
          <p:cNvSpPr txBox="1"/>
          <p:nvPr/>
        </p:nvSpPr>
        <p:spPr>
          <a:xfrm>
            <a:off x="694944" y="3863340"/>
            <a:ext cx="347472" cy="347472"/>
          </a:xfrm>
          <a:prstGeom prst="rect">
            <a:avLst/>
          </a:prstGeom>
          <a:noFill/>
          <a:ln/>
        </p:spPr>
        <p:txBody>
          <a:bodyPr wrap="square" lIns="0" tIns="0" rIns="0" bIns="0" rtlCol="0" anchor="ctr"/>
          <a:lstStyle/>
          <a:p>
            <a:pPr algn="ctr" indent="0" marL="0">
              <a:buNone/>
            </a:pPr>
            <a:r>
              <a:rPr lang="en-US" sz="1050" b="1" dirty="0">
                <a:solidFill>
                  <a:srgbClr val="FFFFFF"/>
                </a:solidFill>
                <a:latin typeface="Calibri" pitchFamily="34" charset="0"/>
                <a:ea typeface="Calibri" pitchFamily="34" charset="-122"/>
                <a:cs typeface="Calibri" pitchFamily="34" charset="-120"/>
              </a:rPr>
              <a:t>BP</a:t>
            </a:r>
            <a:endParaRPr lang="en-US" sz="1050" dirty="0"/>
          </a:p>
        </p:txBody>
      </p:sp>
      <p:sp>
        <p:nvSpPr>
          <p:cNvPr id="29" name="Text 27"/>
          <p:cNvSpPr txBox="1"/>
          <p:nvPr/>
        </p:nvSpPr>
        <p:spPr>
          <a:xfrm>
            <a:off x="1152144" y="3817620"/>
            <a:ext cx="1965960" cy="219456"/>
          </a:xfrm>
          <a:prstGeom prst="rect">
            <a:avLst/>
          </a:prstGeom>
          <a:noFill/>
          <a:ln/>
        </p:spPr>
        <p:txBody>
          <a:bodyPr wrap="square" lIns="0" tIns="0" rIns="0" bIns="0" rtlCol="0" anchor="ctr"/>
          <a:lstStyle/>
          <a:p>
            <a:pPr indent="0" marL="0">
              <a:buNone/>
            </a:pPr>
            <a:r>
              <a:rPr lang="en-US" sz="1100" b="1" dirty="0">
                <a:solidFill>
                  <a:srgbClr val="0C1E33"/>
                </a:solidFill>
                <a:latin typeface="Arial" pitchFamily="34" charset="0"/>
                <a:ea typeface="Arial" pitchFamily="34" charset="-122"/>
                <a:cs typeface="Arial" pitchFamily="34" charset="-120"/>
              </a:rPr>
              <a:t>HR Business Partner</a:t>
            </a:r>
            <a:endParaRPr lang="en-US" sz="1100" dirty="0"/>
          </a:p>
        </p:txBody>
      </p:sp>
      <p:sp>
        <p:nvSpPr>
          <p:cNvPr id="30" name="Text 28"/>
          <p:cNvSpPr txBox="1"/>
          <p:nvPr/>
        </p:nvSpPr>
        <p:spPr>
          <a:xfrm>
            <a:off x="1152144" y="4037076"/>
            <a:ext cx="1965960" cy="182880"/>
          </a:xfrm>
          <a:prstGeom prst="rect">
            <a:avLst/>
          </a:prstGeom>
          <a:noFill/>
          <a:ln/>
        </p:spPr>
        <p:txBody>
          <a:bodyPr wrap="square" lIns="0" tIns="0" rIns="0" bIns="0" rtlCol="0" anchor="ctr"/>
          <a:lstStyle/>
          <a:p>
            <a:pPr indent="0" marL="0">
              <a:buNone/>
            </a:pPr>
            <a:r>
              <a:rPr lang="en-US" sz="900" dirty="0">
                <a:solidFill>
                  <a:srgbClr val="12756F"/>
                </a:solidFill>
                <a:latin typeface="Calibri" pitchFamily="34" charset="0"/>
                <a:ea typeface="Calibri" pitchFamily="34" charset="-122"/>
                <a:cs typeface="Calibri" pitchFamily="34" charset="-120"/>
              </a:rPr>
              <a:t>Employee relations</a:t>
            </a:r>
            <a:endParaRPr lang="en-US" sz="900" dirty="0"/>
          </a:p>
        </p:txBody>
      </p:sp>
      <p:sp>
        <p:nvSpPr>
          <p:cNvPr id="31" name="Text 29"/>
          <p:cNvSpPr txBox="1"/>
          <p:nvPr/>
        </p:nvSpPr>
        <p:spPr>
          <a:xfrm>
            <a:off x="3200400" y="3831336"/>
            <a:ext cx="4956048" cy="475488"/>
          </a:xfrm>
          <a:prstGeom prst="rect">
            <a:avLst/>
          </a:prstGeom>
          <a:noFill/>
          <a:ln/>
        </p:spPr>
        <p:txBody>
          <a:bodyPr wrap="square" lIns="0" tIns="0" rIns="0" bIns="0" rtlCol="0" anchor="ctr"/>
          <a:lstStyle/>
          <a:p>
            <a:pPr marL="342900" indent="-342900">
              <a:lnSpc>
                <a:spcPts val="1100"/>
              </a:lnSpc>
              <a:buSzPct val="100000"/>
              <a:buChar char="•"/>
            </a:pPr>
            <a:r>
              <a:rPr lang="en-US" sz="860" dirty="0">
                <a:solidFill>
                  <a:srgbClr val="5A6C82"/>
                </a:solidFill>
                <a:latin typeface="Calibri" pitchFamily="34" charset="0"/>
                <a:ea typeface="Calibri" pitchFamily="34" charset="-122"/>
                <a:cs typeface="Calibri" pitchFamily="34" charset="-120"/>
              </a:rPr>
              <a:t>Approves exit re-entry against dues and notice</a:t>
            </a:r>
            <a:endParaRPr lang="en-US" sz="860" dirty="0"/>
          </a:p>
          <a:p>
            <a:pPr marL="342900" indent="-342900">
              <a:lnSpc>
                <a:spcPts val="1100"/>
              </a:lnSpc>
              <a:buSzPct val="100000"/>
              <a:buChar char="•"/>
            </a:pPr>
            <a:r>
              <a:rPr lang="en-US" sz="860" dirty="0">
                <a:solidFill>
                  <a:srgbClr val="5A6C82"/>
                </a:solidFill>
                <a:latin typeface="Calibri" pitchFamily="34" charset="0"/>
                <a:ea typeface="Calibri" pitchFamily="34" charset="-122"/>
                <a:cs typeface="Calibri" pitchFamily="34" charset="-120"/>
              </a:rPr>
              <a:t>Sees the Nitaqat impact of a resignation before actioning it</a:t>
            </a:r>
            <a:endParaRPr lang="en-US" sz="860" dirty="0"/>
          </a:p>
          <a:p>
            <a:pPr marL="342900" indent="-342900">
              <a:lnSpc>
                <a:spcPts val="1100"/>
              </a:lnSpc>
              <a:buSzPct val="100000"/>
              <a:buChar char="•"/>
            </a:pPr>
            <a:r>
              <a:rPr lang="en-US" sz="860" dirty="0">
                <a:solidFill>
                  <a:srgbClr val="5A6C82"/>
                </a:solidFill>
                <a:latin typeface="Calibri" pitchFamily="34" charset="0"/>
                <a:ea typeface="Calibri" pitchFamily="34" charset="-122"/>
                <a:cs typeface="Calibri" pitchFamily="34" charset="-120"/>
              </a:rPr>
              <a:t>Starts final exit once settlement is agreed</a:t>
            </a:r>
            <a:endParaRPr lang="en-US" sz="860" dirty="0"/>
          </a:p>
        </p:txBody>
      </p:sp>
      <p:sp>
        <p:nvSpPr>
          <p:cNvPr id="32" name="Text 30"/>
          <p:cNvSpPr txBox="1"/>
          <p:nvPr/>
        </p:nvSpPr>
        <p:spPr>
          <a:xfrm>
            <a:off x="8229600" y="3831336"/>
            <a:ext cx="2615184" cy="475488"/>
          </a:xfrm>
          <a:prstGeom prst="rect">
            <a:avLst/>
          </a:prstGeom>
          <a:noFill/>
          <a:ln/>
        </p:spPr>
        <p:txBody>
          <a:bodyPr wrap="square" lIns="0" tIns="0" rIns="0" bIns="0" rtlCol="0" anchor="ctr"/>
          <a:lstStyle/>
          <a:p>
            <a:pPr indent="0" marL="0">
              <a:lnSpc>
                <a:spcPts val="1160"/>
              </a:lnSpc>
              <a:buNone/>
            </a:pPr>
            <a:r>
              <a:rPr lang="en-US" sz="930" b="1" i="1" dirty="0">
                <a:solidFill>
                  <a:srgbClr val="17795E"/>
                </a:solidFill>
                <a:latin typeface="Calibri" pitchFamily="34" charset="0"/>
                <a:ea typeface="Calibri" pitchFamily="34" charset="-122"/>
                <a:cs typeface="Calibri" pitchFamily="34" charset="-120"/>
              </a:rPr>
              <a:t>Told before a resignation moves the band, not after.</a:t>
            </a:r>
            <a:endParaRPr lang="en-US" sz="930" dirty="0"/>
          </a:p>
        </p:txBody>
      </p:sp>
      <p:sp>
        <p:nvSpPr>
          <p:cNvPr id="33" name="Shape 31"/>
          <p:cNvSpPr/>
          <p:nvPr/>
        </p:nvSpPr>
        <p:spPr>
          <a:xfrm>
            <a:off x="548640" y="4407408"/>
            <a:ext cx="10424160" cy="603504"/>
          </a:xfrm>
          <a:prstGeom prst="roundRect">
            <a:avLst>
              <a:gd name="adj" fmla="val 9091"/>
            </a:avLst>
          </a:prstGeom>
          <a:solidFill>
            <a:srgbClr val="F4F6F7"/>
          </a:solidFill>
          <a:ln w="7620">
            <a:solidFill>
              <a:srgbClr val="E3E7EA"/>
            </a:solidFill>
            <a:prstDash val="solid"/>
          </a:ln>
        </p:spPr>
      </p:sp>
      <p:sp>
        <p:nvSpPr>
          <p:cNvPr id="34" name="Shape 32"/>
          <p:cNvSpPr/>
          <p:nvPr/>
        </p:nvSpPr>
        <p:spPr>
          <a:xfrm>
            <a:off x="694944" y="4507992"/>
            <a:ext cx="347472" cy="347472"/>
          </a:xfrm>
          <a:prstGeom prst="ellipse">
            <a:avLst/>
          </a:prstGeom>
          <a:solidFill>
            <a:srgbClr val="20A098"/>
          </a:solidFill>
          <a:ln/>
        </p:spPr>
      </p:sp>
      <p:sp>
        <p:nvSpPr>
          <p:cNvPr id="35" name="Text 33"/>
          <p:cNvSpPr txBox="1"/>
          <p:nvPr/>
        </p:nvSpPr>
        <p:spPr>
          <a:xfrm>
            <a:off x="694944" y="4507992"/>
            <a:ext cx="347472" cy="347472"/>
          </a:xfrm>
          <a:prstGeom prst="rect">
            <a:avLst/>
          </a:prstGeom>
          <a:noFill/>
          <a:ln/>
        </p:spPr>
        <p:txBody>
          <a:bodyPr wrap="square" lIns="0" tIns="0" rIns="0" bIns="0" rtlCol="0" anchor="ctr"/>
          <a:lstStyle/>
          <a:p>
            <a:pPr algn="ctr" indent="0" marL="0">
              <a:buNone/>
            </a:pPr>
            <a:r>
              <a:rPr lang="en-US" sz="1050" b="1" dirty="0">
                <a:solidFill>
                  <a:srgbClr val="FFFFFF"/>
                </a:solidFill>
                <a:latin typeface="Calibri" pitchFamily="34" charset="0"/>
                <a:ea typeface="Calibri" pitchFamily="34" charset="-122"/>
                <a:cs typeface="Calibri" pitchFamily="34" charset="-120"/>
              </a:rPr>
              <a:t>EM</a:t>
            </a:r>
            <a:endParaRPr lang="en-US" sz="1050" dirty="0"/>
          </a:p>
        </p:txBody>
      </p:sp>
      <p:sp>
        <p:nvSpPr>
          <p:cNvPr id="36" name="Text 34"/>
          <p:cNvSpPr txBox="1"/>
          <p:nvPr/>
        </p:nvSpPr>
        <p:spPr>
          <a:xfrm>
            <a:off x="1152144" y="4462272"/>
            <a:ext cx="1965960" cy="219456"/>
          </a:xfrm>
          <a:prstGeom prst="rect">
            <a:avLst/>
          </a:prstGeom>
          <a:noFill/>
          <a:ln/>
        </p:spPr>
        <p:txBody>
          <a:bodyPr wrap="square" lIns="0" tIns="0" rIns="0" bIns="0" rtlCol="0" anchor="ctr"/>
          <a:lstStyle/>
          <a:p>
            <a:pPr indent="0" marL="0">
              <a:buNone/>
            </a:pPr>
            <a:r>
              <a:rPr lang="en-US" sz="1100" b="1" dirty="0">
                <a:solidFill>
                  <a:srgbClr val="0C1E33"/>
                </a:solidFill>
                <a:latin typeface="Arial" pitchFamily="34" charset="0"/>
                <a:ea typeface="Arial" pitchFamily="34" charset="-122"/>
                <a:cs typeface="Arial" pitchFamily="34" charset="-120"/>
              </a:rPr>
              <a:t>Employee</a:t>
            </a:r>
            <a:endParaRPr lang="en-US" sz="1100" dirty="0"/>
          </a:p>
        </p:txBody>
      </p:sp>
      <p:sp>
        <p:nvSpPr>
          <p:cNvPr id="37" name="Text 35"/>
          <p:cNvSpPr txBox="1"/>
          <p:nvPr/>
        </p:nvSpPr>
        <p:spPr>
          <a:xfrm>
            <a:off x="1152144" y="4681728"/>
            <a:ext cx="1965960" cy="182880"/>
          </a:xfrm>
          <a:prstGeom prst="rect">
            <a:avLst/>
          </a:prstGeom>
          <a:noFill/>
          <a:ln/>
        </p:spPr>
        <p:txBody>
          <a:bodyPr wrap="square" lIns="0" tIns="0" rIns="0" bIns="0" rtlCol="0" anchor="ctr"/>
          <a:lstStyle/>
          <a:p>
            <a:pPr indent="0" marL="0">
              <a:buNone/>
            </a:pPr>
            <a:r>
              <a:rPr lang="en-US" sz="900" dirty="0">
                <a:solidFill>
                  <a:srgbClr val="12756F"/>
                </a:solidFill>
                <a:latin typeface="Calibri" pitchFamily="34" charset="0"/>
                <a:ea typeface="Calibri" pitchFamily="34" charset="-122"/>
                <a:cs typeface="Calibri" pitchFamily="34" charset="-120"/>
              </a:rPr>
              <a:t>Self-service</a:t>
            </a:r>
            <a:endParaRPr lang="en-US" sz="900" dirty="0"/>
          </a:p>
        </p:txBody>
      </p:sp>
      <p:sp>
        <p:nvSpPr>
          <p:cNvPr id="38" name="Text 36"/>
          <p:cNvSpPr txBox="1"/>
          <p:nvPr/>
        </p:nvSpPr>
        <p:spPr>
          <a:xfrm>
            <a:off x="3200400" y="4475988"/>
            <a:ext cx="4956048" cy="475488"/>
          </a:xfrm>
          <a:prstGeom prst="rect">
            <a:avLst/>
          </a:prstGeom>
          <a:noFill/>
          <a:ln/>
        </p:spPr>
        <p:txBody>
          <a:bodyPr wrap="square" lIns="0" tIns="0" rIns="0" bIns="0" rtlCol="0" anchor="ctr"/>
          <a:lstStyle/>
          <a:p>
            <a:pPr marL="342900" indent="-342900">
              <a:lnSpc>
                <a:spcPts val="1100"/>
              </a:lnSpc>
              <a:buSzPct val="100000"/>
              <a:buChar char="•"/>
            </a:pPr>
            <a:r>
              <a:rPr lang="en-US" sz="860" dirty="0">
                <a:solidFill>
                  <a:srgbClr val="5A6C82"/>
                </a:solidFill>
                <a:latin typeface="Calibri" pitchFamily="34" charset="0"/>
                <a:ea typeface="Calibri" pitchFamily="34" charset="-122"/>
                <a:cs typeface="Calibri" pitchFamily="34" charset="-120"/>
              </a:rPr>
              <a:t>Requests exit re-entry with travel dates</a:t>
            </a:r>
            <a:endParaRPr lang="en-US" sz="860" dirty="0"/>
          </a:p>
          <a:p>
            <a:pPr marL="342900" indent="-342900">
              <a:lnSpc>
                <a:spcPts val="1100"/>
              </a:lnSpc>
              <a:buSzPct val="100000"/>
              <a:buChar char="•"/>
            </a:pPr>
            <a:r>
              <a:rPr lang="en-US" sz="860" dirty="0">
                <a:solidFill>
                  <a:srgbClr val="5A6C82"/>
                </a:solidFill>
                <a:latin typeface="Calibri" pitchFamily="34" charset="0"/>
                <a:ea typeface="Calibri" pitchFamily="34" charset="-122"/>
                <a:cs typeface="Calibri" pitchFamily="34" charset="-120"/>
              </a:rPr>
              <a:t>Signs the Qiwa contract, confirms medical and biometrics</a:t>
            </a:r>
            <a:endParaRPr lang="en-US" sz="860" dirty="0"/>
          </a:p>
          <a:p>
            <a:pPr marL="342900" indent="-342900">
              <a:lnSpc>
                <a:spcPts val="1100"/>
              </a:lnSpc>
              <a:buSzPct val="100000"/>
              <a:buChar char="•"/>
            </a:pPr>
            <a:r>
              <a:rPr lang="en-US" sz="860" dirty="0">
                <a:solidFill>
                  <a:srgbClr val="5A6C82"/>
                </a:solidFill>
                <a:latin typeface="Calibri" pitchFamily="34" charset="0"/>
                <a:ea typeface="Calibri" pitchFamily="34" charset="-122"/>
                <a:cs typeface="Calibri" pitchFamily="34" charset="-120"/>
              </a:rPr>
              <a:t>Confirms the renewed Iqama has reached them</a:t>
            </a:r>
            <a:endParaRPr lang="en-US" sz="860" dirty="0"/>
          </a:p>
        </p:txBody>
      </p:sp>
      <p:sp>
        <p:nvSpPr>
          <p:cNvPr id="39" name="Text 37"/>
          <p:cNvSpPr txBox="1"/>
          <p:nvPr/>
        </p:nvSpPr>
        <p:spPr>
          <a:xfrm>
            <a:off x="8229600" y="4475988"/>
            <a:ext cx="2615184" cy="475488"/>
          </a:xfrm>
          <a:prstGeom prst="rect">
            <a:avLst/>
          </a:prstGeom>
          <a:noFill/>
          <a:ln/>
        </p:spPr>
        <p:txBody>
          <a:bodyPr wrap="square" lIns="0" tIns="0" rIns="0" bIns="0" rtlCol="0" anchor="ctr"/>
          <a:lstStyle/>
          <a:p>
            <a:pPr indent="0" marL="0">
              <a:lnSpc>
                <a:spcPts val="1160"/>
              </a:lnSpc>
              <a:buNone/>
            </a:pPr>
            <a:r>
              <a:rPr lang="en-US" sz="930" b="1" i="1" dirty="0">
                <a:solidFill>
                  <a:srgbClr val="17795E"/>
                </a:solidFill>
                <a:latin typeface="Calibri" pitchFamily="34" charset="0"/>
                <a:ea typeface="Calibri" pitchFamily="34" charset="-122"/>
                <a:cs typeface="Calibri" pitchFamily="34" charset="-120"/>
              </a:rPr>
              <a:t>Sees their own Iqama expiry and their return-by date.</a:t>
            </a:r>
            <a:endParaRPr lang="en-US" sz="930" dirty="0"/>
          </a:p>
        </p:txBody>
      </p:sp>
      <p:sp>
        <p:nvSpPr>
          <p:cNvPr id="40" name="Shape 38"/>
          <p:cNvSpPr/>
          <p:nvPr/>
        </p:nvSpPr>
        <p:spPr>
          <a:xfrm>
            <a:off x="548640" y="5052060"/>
            <a:ext cx="10424160" cy="603504"/>
          </a:xfrm>
          <a:prstGeom prst="roundRect">
            <a:avLst>
              <a:gd name="adj" fmla="val 9091"/>
            </a:avLst>
          </a:prstGeom>
          <a:solidFill>
            <a:srgbClr val="FFFFFF"/>
          </a:solidFill>
          <a:ln w="7620">
            <a:solidFill>
              <a:srgbClr val="E3E7EA"/>
            </a:solidFill>
            <a:prstDash val="solid"/>
          </a:ln>
        </p:spPr>
      </p:sp>
      <p:sp>
        <p:nvSpPr>
          <p:cNvPr id="41" name="Shape 39"/>
          <p:cNvSpPr/>
          <p:nvPr/>
        </p:nvSpPr>
        <p:spPr>
          <a:xfrm>
            <a:off x="694944" y="5152644"/>
            <a:ext cx="347472" cy="347472"/>
          </a:xfrm>
          <a:prstGeom prst="ellipse">
            <a:avLst/>
          </a:prstGeom>
          <a:solidFill>
            <a:srgbClr val="12756F"/>
          </a:solidFill>
          <a:ln/>
        </p:spPr>
      </p:sp>
      <p:sp>
        <p:nvSpPr>
          <p:cNvPr id="42" name="Text 40"/>
          <p:cNvSpPr txBox="1"/>
          <p:nvPr/>
        </p:nvSpPr>
        <p:spPr>
          <a:xfrm>
            <a:off x="694944" y="5152644"/>
            <a:ext cx="347472" cy="347472"/>
          </a:xfrm>
          <a:prstGeom prst="rect">
            <a:avLst/>
          </a:prstGeom>
          <a:noFill/>
          <a:ln/>
        </p:spPr>
        <p:txBody>
          <a:bodyPr wrap="square" lIns="0" tIns="0" rIns="0" bIns="0" rtlCol="0" anchor="ctr"/>
          <a:lstStyle/>
          <a:p>
            <a:pPr algn="ctr" indent="0" marL="0">
              <a:buNone/>
            </a:pPr>
            <a:r>
              <a:rPr lang="en-US" sz="1050" b="1" dirty="0">
                <a:solidFill>
                  <a:srgbClr val="FFFFFF"/>
                </a:solidFill>
                <a:latin typeface="Calibri" pitchFamily="34" charset="0"/>
                <a:ea typeface="Calibri" pitchFamily="34" charset="-122"/>
                <a:cs typeface="Calibri" pitchFamily="34" charset="-120"/>
              </a:rPr>
              <a:t>FI</a:t>
            </a:r>
            <a:endParaRPr lang="en-US" sz="1050" dirty="0"/>
          </a:p>
        </p:txBody>
      </p:sp>
      <p:sp>
        <p:nvSpPr>
          <p:cNvPr id="43" name="Text 41"/>
          <p:cNvSpPr txBox="1"/>
          <p:nvPr/>
        </p:nvSpPr>
        <p:spPr>
          <a:xfrm>
            <a:off x="1152144" y="5106924"/>
            <a:ext cx="1965960" cy="219456"/>
          </a:xfrm>
          <a:prstGeom prst="rect">
            <a:avLst/>
          </a:prstGeom>
          <a:noFill/>
          <a:ln/>
        </p:spPr>
        <p:txBody>
          <a:bodyPr wrap="square" lIns="0" tIns="0" rIns="0" bIns="0" rtlCol="0" anchor="ctr"/>
          <a:lstStyle/>
          <a:p>
            <a:pPr indent="0" marL="0">
              <a:buNone/>
            </a:pPr>
            <a:r>
              <a:rPr lang="en-US" sz="1100" b="1" dirty="0">
                <a:solidFill>
                  <a:srgbClr val="0C1E33"/>
                </a:solidFill>
                <a:latin typeface="Arial" pitchFamily="34" charset="0"/>
                <a:ea typeface="Arial" pitchFamily="34" charset="-122"/>
                <a:cs typeface="Arial" pitchFamily="34" charset="-120"/>
              </a:rPr>
              <a:t>Finance Controller</a:t>
            </a:r>
            <a:endParaRPr lang="en-US" sz="1100" dirty="0"/>
          </a:p>
        </p:txBody>
      </p:sp>
      <p:sp>
        <p:nvSpPr>
          <p:cNvPr id="44" name="Text 42"/>
          <p:cNvSpPr txBox="1"/>
          <p:nvPr/>
        </p:nvSpPr>
        <p:spPr>
          <a:xfrm>
            <a:off x="1152144" y="5326380"/>
            <a:ext cx="1965960" cy="182880"/>
          </a:xfrm>
          <a:prstGeom prst="rect">
            <a:avLst/>
          </a:prstGeom>
          <a:noFill/>
          <a:ln/>
        </p:spPr>
        <p:txBody>
          <a:bodyPr wrap="square" lIns="0" tIns="0" rIns="0" bIns="0" rtlCol="0" anchor="ctr"/>
          <a:lstStyle/>
          <a:p>
            <a:pPr indent="0" marL="0">
              <a:buNone/>
            </a:pPr>
            <a:r>
              <a:rPr lang="en-US" sz="900" dirty="0">
                <a:solidFill>
                  <a:srgbClr val="12756F"/>
                </a:solidFill>
                <a:latin typeface="Calibri" pitchFamily="34" charset="0"/>
                <a:ea typeface="Calibri" pitchFamily="34" charset="-122"/>
                <a:cs typeface="Calibri" pitchFamily="34" charset="-120"/>
              </a:rPr>
              <a:t>Payments and GL</a:t>
            </a:r>
            <a:endParaRPr lang="en-US" sz="900" dirty="0"/>
          </a:p>
        </p:txBody>
      </p:sp>
      <p:sp>
        <p:nvSpPr>
          <p:cNvPr id="45" name="Text 43"/>
          <p:cNvSpPr txBox="1"/>
          <p:nvPr/>
        </p:nvSpPr>
        <p:spPr>
          <a:xfrm>
            <a:off x="3200400" y="5120640"/>
            <a:ext cx="4956048" cy="475488"/>
          </a:xfrm>
          <a:prstGeom prst="rect">
            <a:avLst/>
          </a:prstGeom>
          <a:noFill/>
          <a:ln/>
        </p:spPr>
        <p:txBody>
          <a:bodyPr wrap="square" lIns="0" tIns="0" rIns="0" bIns="0" rtlCol="0" anchor="ctr"/>
          <a:lstStyle/>
          <a:p>
            <a:pPr marL="342900" indent="-342900">
              <a:lnSpc>
                <a:spcPts val="1100"/>
              </a:lnSpc>
              <a:buSzPct val="100000"/>
              <a:buChar char="•"/>
            </a:pPr>
            <a:r>
              <a:rPr lang="en-US" sz="860" dirty="0">
                <a:solidFill>
                  <a:srgbClr val="5A6C82"/>
                </a:solidFill>
                <a:latin typeface="Calibri" pitchFamily="34" charset="0"/>
                <a:ea typeface="Calibri" pitchFamily="34" charset="-122"/>
                <a:cs typeface="Calibri" pitchFamily="34" charset="-120"/>
              </a:rPr>
              <a:t>Reconciles SADAD payments against receipts</a:t>
            </a:r>
            <a:endParaRPr lang="en-US" sz="860" dirty="0"/>
          </a:p>
          <a:p>
            <a:pPr marL="342900" indent="-342900">
              <a:lnSpc>
                <a:spcPts val="1100"/>
              </a:lnSpc>
              <a:buSzPct val="100000"/>
              <a:buChar char="•"/>
            </a:pPr>
            <a:r>
              <a:rPr lang="en-US" sz="860" dirty="0">
                <a:solidFill>
                  <a:srgbClr val="5A6C82"/>
                </a:solidFill>
                <a:latin typeface="Calibri" pitchFamily="34" charset="0"/>
                <a:ea typeface="Calibri" pitchFamily="34" charset="-122"/>
                <a:cs typeface="Calibri" pitchFamily="34" charset="-120"/>
              </a:rPr>
              <a:t>Posts permit and levy cost to the right GL account</a:t>
            </a:r>
            <a:endParaRPr lang="en-US" sz="860" dirty="0"/>
          </a:p>
          <a:p>
            <a:pPr marL="342900" indent="-342900">
              <a:lnSpc>
                <a:spcPts val="1100"/>
              </a:lnSpc>
              <a:buSzPct val="100000"/>
              <a:buChar char="•"/>
            </a:pPr>
            <a:r>
              <a:rPr lang="en-US" sz="860" dirty="0">
                <a:solidFill>
                  <a:srgbClr val="5A6C82"/>
                </a:solidFill>
                <a:latin typeface="Calibri" pitchFamily="34" charset="0"/>
                <a:ea typeface="Calibri" pitchFamily="34" charset="-122"/>
                <a:cs typeface="Calibri" pitchFamily="34" charset="-120"/>
              </a:rPr>
              <a:t>Forecasts expat levy against the renewal calendar</a:t>
            </a:r>
            <a:endParaRPr lang="en-US" sz="860" dirty="0"/>
          </a:p>
        </p:txBody>
      </p:sp>
      <p:sp>
        <p:nvSpPr>
          <p:cNvPr id="46" name="Text 44"/>
          <p:cNvSpPr txBox="1"/>
          <p:nvPr/>
        </p:nvSpPr>
        <p:spPr>
          <a:xfrm>
            <a:off x="8229600" y="5120640"/>
            <a:ext cx="2615184" cy="475488"/>
          </a:xfrm>
          <a:prstGeom prst="rect">
            <a:avLst/>
          </a:prstGeom>
          <a:noFill/>
          <a:ln/>
        </p:spPr>
        <p:txBody>
          <a:bodyPr wrap="square" lIns="0" tIns="0" rIns="0" bIns="0" rtlCol="0" anchor="ctr"/>
          <a:lstStyle/>
          <a:p>
            <a:pPr indent="0" marL="0">
              <a:lnSpc>
                <a:spcPts val="1160"/>
              </a:lnSpc>
              <a:buNone/>
            </a:pPr>
            <a:r>
              <a:rPr lang="en-US" sz="930" b="1" i="1" dirty="0">
                <a:solidFill>
                  <a:srgbClr val="17795E"/>
                </a:solidFill>
                <a:latin typeface="Calibri" pitchFamily="34" charset="0"/>
                <a:ea typeface="Calibri" pitchFamily="34" charset="-122"/>
                <a:cs typeface="Calibri" pitchFamily="34" charset="-120"/>
              </a:rPr>
              <a:t>The levy stops being a surprise.</a:t>
            </a:r>
            <a:endParaRPr lang="en-US" sz="930" dirty="0"/>
          </a:p>
        </p:txBody>
      </p:sp>
      <p:sp>
        <p:nvSpPr>
          <p:cNvPr id="47" name="Shape 45"/>
          <p:cNvSpPr/>
          <p:nvPr/>
        </p:nvSpPr>
        <p:spPr>
          <a:xfrm>
            <a:off x="548640" y="5696712"/>
            <a:ext cx="10424160" cy="603504"/>
          </a:xfrm>
          <a:prstGeom prst="roundRect">
            <a:avLst>
              <a:gd name="adj" fmla="val 9091"/>
            </a:avLst>
          </a:prstGeom>
          <a:solidFill>
            <a:srgbClr val="F4F6F7"/>
          </a:solidFill>
          <a:ln w="7620">
            <a:solidFill>
              <a:srgbClr val="E3E7EA"/>
            </a:solidFill>
            <a:prstDash val="solid"/>
          </a:ln>
        </p:spPr>
      </p:sp>
      <p:sp>
        <p:nvSpPr>
          <p:cNvPr id="48" name="Shape 46"/>
          <p:cNvSpPr/>
          <p:nvPr/>
        </p:nvSpPr>
        <p:spPr>
          <a:xfrm>
            <a:off x="694944" y="5797296"/>
            <a:ext cx="347472" cy="347472"/>
          </a:xfrm>
          <a:prstGeom prst="ellipse">
            <a:avLst/>
          </a:prstGeom>
          <a:solidFill>
            <a:srgbClr val="16304C"/>
          </a:solidFill>
          <a:ln/>
        </p:spPr>
      </p:sp>
      <p:sp>
        <p:nvSpPr>
          <p:cNvPr id="49" name="Text 47"/>
          <p:cNvSpPr txBox="1"/>
          <p:nvPr/>
        </p:nvSpPr>
        <p:spPr>
          <a:xfrm>
            <a:off x="694944" y="5797296"/>
            <a:ext cx="347472" cy="347472"/>
          </a:xfrm>
          <a:prstGeom prst="rect">
            <a:avLst/>
          </a:prstGeom>
          <a:noFill/>
          <a:ln/>
        </p:spPr>
        <p:txBody>
          <a:bodyPr wrap="square" lIns="0" tIns="0" rIns="0" bIns="0" rtlCol="0" anchor="ctr"/>
          <a:lstStyle/>
          <a:p>
            <a:pPr algn="ctr" indent="0" marL="0">
              <a:buNone/>
            </a:pPr>
            <a:r>
              <a:rPr lang="en-US" sz="1050" b="1" dirty="0">
                <a:solidFill>
                  <a:srgbClr val="FFFFFF"/>
                </a:solidFill>
                <a:latin typeface="Calibri" pitchFamily="34" charset="0"/>
                <a:ea typeface="Calibri" pitchFamily="34" charset="-122"/>
                <a:cs typeface="Calibri" pitchFamily="34" charset="-120"/>
              </a:rPr>
              <a:t>HR</a:t>
            </a:r>
            <a:endParaRPr lang="en-US" sz="1050" dirty="0"/>
          </a:p>
        </p:txBody>
      </p:sp>
      <p:sp>
        <p:nvSpPr>
          <p:cNvPr id="50" name="Text 48"/>
          <p:cNvSpPr txBox="1"/>
          <p:nvPr/>
        </p:nvSpPr>
        <p:spPr>
          <a:xfrm>
            <a:off x="1152144" y="5751576"/>
            <a:ext cx="1965960" cy="219456"/>
          </a:xfrm>
          <a:prstGeom prst="rect">
            <a:avLst/>
          </a:prstGeom>
          <a:noFill/>
          <a:ln/>
        </p:spPr>
        <p:txBody>
          <a:bodyPr wrap="square" lIns="0" tIns="0" rIns="0" bIns="0" rtlCol="0" anchor="ctr"/>
          <a:lstStyle/>
          <a:p>
            <a:pPr indent="0" marL="0">
              <a:buNone/>
            </a:pPr>
            <a:r>
              <a:rPr lang="en-US" sz="1100" b="1" dirty="0">
                <a:solidFill>
                  <a:srgbClr val="0C1E33"/>
                </a:solidFill>
                <a:latin typeface="Arial" pitchFamily="34" charset="0"/>
                <a:ea typeface="Arial" pitchFamily="34" charset="-122"/>
                <a:cs typeface="Arial" pitchFamily="34" charset="-120"/>
              </a:rPr>
              <a:t>Head of HR</a:t>
            </a:r>
            <a:endParaRPr lang="en-US" sz="1100" dirty="0"/>
          </a:p>
        </p:txBody>
      </p:sp>
      <p:sp>
        <p:nvSpPr>
          <p:cNvPr id="51" name="Text 49"/>
          <p:cNvSpPr txBox="1"/>
          <p:nvPr/>
        </p:nvSpPr>
        <p:spPr>
          <a:xfrm>
            <a:off x="1152144" y="5971032"/>
            <a:ext cx="1965960" cy="182880"/>
          </a:xfrm>
          <a:prstGeom prst="rect">
            <a:avLst/>
          </a:prstGeom>
          <a:noFill/>
          <a:ln/>
        </p:spPr>
        <p:txBody>
          <a:bodyPr wrap="square" lIns="0" tIns="0" rIns="0" bIns="0" rtlCol="0" anchor="ctr"/>
          <a:lstStyle/>
          <a:p>
            <a:pPr indent="0" marL="0">
              <a:buNone/>
            </a:pPr>
            <a:r>
              <a:rPr lang="en-US" sz="900" dirty="0">
                <a:solidFill>
                  <a:srgbClr val="12756F"/>
                </a:solidFill>
                <a:latin typeface="Calibri" pitchFamily="34" charset="0"/>
                <a:ea typeface="Calibri" pitchFamily="34" charset="-122"/>
                <a:cs typeface="Calibri" pitchFamily="34" charset="-120"/>
              </a:rPr>
              <a:t>Governance and risk</a:t>
            </a:r>
            <a:endParaRPr lang="en-US" sz="900" dirty="0"/>
          </a:p>
        </p:txBody>
      </p:sp>
      <p:sp>
        <p:nvSpPr>
          <p:cNvPr id="52" name="Text 50"/>
          <p:cNvSpPr txBox="1"/>
          <p:nvPr/>
        </p:nvSpPr>
        <p:spPr>
          <a:xfrm>
            <a:off x="3200400" y="5765292"/>
            <a:ext cx="4956048" cy="475488"/>
          </a:xfrm>
          <a:prstGeom prst="rect">
            <a:avLst/>
          </a:prstGeom>
          <a:noFill/>
          <a:ln/>
        </p:spPr>
        <p:txBody>
          <a:bodyPr wrap="square" lIns="0" tIns="0" rIns="0" bIns="0" rtlCol="0" anchor="ctr"/>
          <a:lstStyle/>
          <a:p>
            <a:pPr marL="342900" indent="-342900">
              <a:lnSpc>
                <a:spcPts val="1100"/>
              </a:lnSpc>
              <a:buSzPct val="100000"/>
              <a:buChar char="•"/>
            </a:pPr>
            <a:r>
              <a:rPr lang="en-US" sz="860" dirty="0">
                <a:solidFill>
                  <a:srgbClr val="5A6C82"/>
                </a:solidFill>
                <a:latin typeface="Calibri" pitchFamily="34" charset="0"/>
                <a:ea typeface="Calibri" pitchFamily="34" charset="-122"/>
                <a:cs typeface="Calibri" pitchFamily="34" charset="-120"/>
              </a:rPr>
              <a:t>Watches band position for every establishment</a:t>
            </a:r>
            <a:endParaRPr lang="en-US" sz="860" dirty="0"/>
          </a:p>
          <a:p>
            <a:pPr marL="342900" indent="-342900">
              <a:lnSpc>
                <a:spcPts val="1100"/>
              </a:lnSpc>
              <a:buSzPct val="100000"/>
              <a:buChar char="•"/>
            </a:pPr>
            <a:r>
              <a:rPr lang="en-US" sz="860" dirty="0">
                <a:solidFill>
                  <a:srgbClr val="5A6C82"/>
                </a:solidFill>
                <a:latin typeface="Calibri" pitchFamily="34" charset="0"/>
                <a:ea typeface="Calibri" pitchFamily="34" charset="-122"/>
                <a:cs typeface="Calibri" pitchFamily="34" charset="-120"/>
              </a:rPr>
              <a:t>Reviews Saudization against Vision 2030 commitments</a:t>
            </a:r>
            <a:endParaRPr lang="en-US" sz="860" dirty="0"/>
          </a:p>
          <a:p>
            <a:pPr marL="342900" indent="-342900">
              <a:lnSpc>
                <a:spcPts val="1100"/>
              </a:lnSpc>
              <a:buSzPct val="100000"/>
              <a:buChar char="•"/>
            </a:pPr>
            <a:r>
              <a:rPr lang="en-US" sz="860" dirty="0">
                <a:solidFill>
                  <a:srgbClr val="5A6C82"/>
                </a:solidFill>
                <a:latin typeface="Calibri" pitchFamily="34" charset="0"/>
                <a:ea typeface="Calibri" pitchFamily="34" charset="-122"/>
                <a:cs typeface="Calibri" pitchFamily="34" charset="-120"/>
              </a:rPr>
              <a:t>Signs off the localisation hiring plan</a:t>
            </a:r>
            <a:endParaRPr lang="en-US" sz="860" dirty="0"/>
          </a:p>
        </p:txBody>
      </p:sp>
      <p:sp>
        <p:nvSpPr>
          <p:cNvPr id="53" name="Text 51"/>
          <p:cNvSpPr txBox="1"/>
          <p:nvPr/>
        </p:nvSpPr>
        <p:spPr>
          <a:xfrm>
            <a:off x="8229600" y="5765292"/>
            <a:ext cx="2615184" cy="475488"/>
          </a:xfrm>
          <a:prstGeom prst="rect">
            <a:avLst/>
          </a:prstGeom>
          <a:noFill/>
          <a:ln/>
        </p:spPr>
        <p:txBody>
          <a:bodyPr wrap="square" lIns="0" tIns="0" rIns="0" bIns="0" rtlCol="0" anchor="ctr"/>
          <a:lstStyle/>
          <a:p>
            <a:pPr indent="0" marL="0">
              <a:lnSpc>
                <a:spcPts val="1160"/>
              </a:lnSpc>
              <a:buNone/>
            </a:pPr>
            <a:r>
              <a:rPr lang="en-US" sz="930" b="1" i="1" dirty="0">
                <a:solidFill>
                  <a:srgbClr val="17795E"/>
                </a:solidFill>
                <a:latin typeface="Calibri" pitchFamily="34" charset="0"/>
                <a:ea typeface="Calibri" pitchFamily="34" charset="-122"/>
                <a:cs typeface="Calibri" pitchFamily="34" charset="-120"/>
              </a:rPr>
              <a:t>Nitaqat exposure answerable from one screen.</a:t>
            </a:r>
            <a:endParaRPr lang="en-US" sz="930" dirty="0"/>
          </a:p>
        </p:txBody>
      </p:sp>
      <p:sp>
        <p:nvSpPr>
          <p:cNvPr id="54" name="Text 52"/>
          <p:cNvSpPr txBox="1"/>
          <p:nvPr/>
        </p:nvSpPr>
        <p:spPr>
          <a:xfrm>
            <a:off x="1152144" y="1609344"/>
            <a:ext cx="1920240" cy="182880"/>
          </a:xfrm>
          <a:prstGeom prst="rect">
            <a:avLst/>
          </a:prstGeom>
          <a:noFill/>
          <a:ln/>
        </p:spPr>
        <p:txBody>
          <a:bodyPr wrap="square" lIns="0" tIns="0" rIns="0" bIns="0" rtlCol="0" anchor="ctr"/>
          <a:lstStyle/>
          <a:p>
            <a:pPr indent="0" marL="0">
              <a:buNone/>
            </a:pPr>
            <a:r>
              <a:rPr lang="en-US" sz="850" b="1" spc="140" kern="0" dirty="0">
                <a:solidFill>
                  <a:srgbClr val="96A3AE"/>
                </a:solidFill>
                <a:latin typeface="Calibri" pitchFamily="34" charset="0"/>
                <a:ea typeface="Calibri" pitchFamily="34" charset="-122"/>
                <a:cs typeface="Calibri" pitchFamily="34" charset="-120"/>
              </a:rPr>
              <a:t>ROLE</a:t>
            </a:r>
            <a:endParaRPr lang="en-US" sz="850" dirty="0"/>
          </a:p>
        </p:txBody>
      </p:sp>
      <p:sp>
        <p:nvSpPr>
          <p:cNvPr id="55" name="Text 53"/>
          <p:cNvSpPr txBox="1"/>
          <p:nvPr/>
        </p:nvSpPr>
        <p:spPr>
          <a:xfrm>
            <a:off x="3246120" y="1609344"/>
            <a:ext cx="4846320" cy="182880"/>
          </a:xfrm>
          <a:prstGeom prst="rect">
            <a:avLst/>
          </a:prstGeom>
          <a:noFill/>
          <a:ln/>
        </p:spPr>
        <p:txBody>
          <a:bodyPr wrap="square" lIns="0" tIns="0" rIns="0" bIns="0" rtlCol="0" anchor="ctr"/>
          <a:lstStyle/>
          <a:p>
            <a:pPr indent="0" marL="0">
              <a:buNone/>
            </a:pPr>
            <a:r>
              <a:rPr lang="en-US" sz="850" b="1" spc="140" kern="0" dirty="0">
                <a:solidFill>
                  <a:srgbClr val="96A3AE"/>
                </a:solidFill>
                <a:latin typeface="Calibri" pitchFamily="34" charset="0"/>
                <a:ea typeface="Calibri" pitchFamily="34" charset="-122"/>
                <a:cs typeface="Calibri" pitchFamily="34" charset="-120"/>
              </a:rPr>
              <a:t>WHAT THEY DO IN THE SYSTEM</a:t>
            </a:r>
            <a:endParaRPr lang="en-US" sz="850" dirty="0"/>
          </a:p>
        </p:txBody>
      </p:sp>
      <p:sp>
        <p:nvSpPr>
          <p:cNvPr id="56" name="Text 54"/>
          <p:cNvSpPr txBox="1"/>
          <p:nvPr/>
        </p:nvSpPr>
        <p:spPr>
          <a:xfrm>
            <a:off x="8229600" y="1609344"/>
            <a:ext cx="2615184" cy="182880"/>
          </a:xfrm>
          <a:prstGeom prst="rect">
            <a:avLst/>
          </a:prstGeom>
          <a:noFill/>
          <a:ln/>
        </p:spPr>
        <p:txBody>
          <a:bodyPr wrap="square" lIns="0" tIns="0" rIns="0" bIns="0" rtlCol="0" anchor="ctr"/>
          <a:lstStyle/>
          <a:p>
            <a:pPr indent="0" marL="0">
              <a:buNone/>
            </a:pPr>
            <a:r>
              <a:rPr lang="en-US" sz="850" b="1" spc="140" kern="0" dirty="0">
                <a:solidFill>
                  <a:srgbClr val="96A3AE"/>
                </a:solidFill>
                <a:latin typeface="Calibri" pitchFamily="34" charset="0"/>
                <a:ea typeface="Calibri" pitchFamily="34" charset="-122"/>
                <a:cs typeface="Calibri" pitchFamily="34" charset="-120"/>
              </a:rPr>
              <a:t>WHAT THEY GET</a:t>
            </a:r>
            <a:endParaRPr lang="en-US" sz="850" dirty="0"/>
          </a:p>
        </p:txBody>
      </p:sp>
      <p:sp>
        <p:nvSpPr>
          <p:cNvPr id="57" name="Text 55"/>
          <p:cNvSpPr txBox="1"/>
          <p:nvPr/>
        </p:nvSpPr>
        <p:spPr>
          <a:xfrm>
            <a:off x="548640" y="6419088"/>
            <a:ext cx="8595360" cy="237744"/>
          </a:xfrm>
          <a:prstGeom prst="rect">
            <a:avLst/>
          </a:prstGeom>
          <a:noFill/>
          <a:ln/>
        </p:spPr>
        <p:txBody>
          <a:bodyPr wrap="square" lIns="0" tIns="0" rIns="0" bIns="0" rtlCol="0" anchor="ctr"/>
          <a:lstStyle/>
          <a:p>
            <a:pPr indent="0" marL="0">
              <a:buNone/>
            </a:pPr>
            <a:r>
              <a:rPr lang="en-US" sz="900" dirty="0">
                <a:solidFill>
                  <a:srgbClr val="96A3AE"/>
                </a:solidFill>
                <a:latin typeface="Calibri" pitchFamily="34" charset="0"/>
                <a:ea typeface="Calibri" pitchFamily="34" charset="-122"/>
                <a:cs typeface="Calibri" pitchFamily="34" charset="-120"/>
              </a:rPr>
              <a:t>INK IT Business Solutions  ·  Visa &amp; Permits Management  ·  Kingdom of Saudi Arabia</a:t>
            </a:r>
            <a:endParaRPr lang="en-US" sz="900" dirty="0"/>
          </a:p>
        </p:txBody>
      </p:sp>
      <p:sp>
        <p:nvSpPr>
          <p:cNvPr id="58" name="Text 56"/>
          <p:cNvSpPr txBox="1"/>
          <p:nvPr/>
        </p:nvSpPr>
        <p:spPr>
          <a:xfrm>
            <a:off x="11155680" y="6419088"/>
            <a:ext cx="457200" cy="237744"/>
          </a:xfrm>
          <a:prstGeom prst="rect">
            <a:avLst/>
          </a:prstGeom>
          <a:noFill/>
          <a:ln/>
        </p:spPr>
        <p:txBody>
          <a:bodyPr wrap="square" lIns="0" tIns="0" rIns="0" bIns="0" rtlCol="0" anchor="ctr"/>
          <a:lstStyle/>
          <a:p>
            <a:pPr algn="r" indent="0" marL="0">
              <a:buNone/>
            </a:pPr>
            <a:r>
              <a:rPr lang="en-US" sz="900" dirty="0">
                <a:solidFill>
                  <a:srgbClr val="96A3AE"/>
                </a:solidFill>
                <a:latin typeface="Calibri" pitchFamily="34" charset="0"/>
                <a:ea typeface="Calibri" pitchFamily="34" charset="-122"/>
                <a:cs typeface="Calibri" pitchFamily="34" charset="-120"/>
              </a:rPr>
              <a:t>10</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02336"/>
            <a:ext cx="11064240" cy="237744"/>
          </a:xfrm>
          <a:prstGeom prst="rect">
            <a:avLst/>
          </a:prstGeom>
          <a:noFill/>
          <a:ln/>
        </p:spPr>
        <p:txBody>
          <a:bodyPr wrap="square" lIns="0" tIns="0" rIns="0" bIns="0" rtlCol="0" anchor="ctr"/>
          <a:lstStyle/>
          <a:p>
            <a:pPr indent="0" marL="0">
              <a:buNone/>
            </a:pPr>
            <a:r>
              <a:rPr lang="en-US" sz="1100" b="1" spc="220" kern="0" dirty="0">
                <a:solidFill>
                  <a:srgbClr val="20A098"/>
                </a:solidFill>
                <a:latin typeface="Calibri" pitchFamily="34" charset="0"/>
                <a:ea typeface="Calibri" pitchFamily="34" charset="-122"/>
                <a:cs typeface="Calibri" pitchFamily="34" charset="-120"/>
              </a:rPr>
              <a:t>ACCOUNTABILITY &amp; COST CONTROL</a:t>
            </a:r>
            <a:endParaRPr lang="en-US" sz="1100" dirty="0"/>
          </a:p>
        </p:txBody>
      </p:sp>
      <p:sp>
        <p:nvSpPr>
          <p:cNvPr id="3" name="Text 1"/>
          <p:cNvSpPr txBox="1"/>
          <p:nvPr/>
        </p:nvSpPr>
        <p:spPr>
          <a:xfrm>
            <a:off x="548640" y="658368"/>
            <a:ext cx="11064240" cy="566928"/>
          </a:xfrm>
          <a:prstGeom prst="rect">
            <a:avLst/>
          </a:prstGeom>
          <a:noFill/>
          <a:ln/>
        </p:spPr>
        <p:txBody>
          <a:bodyPr wrap="square" lIns="0" tIns="0" rIns="0" bIns="0" rtlCol="0" anchor="ctr"/>
          <a:lstStyle/>
          <a:p>
            <a:pPr indent="0" marL="0">
              <a:buNone/>
            </a:pPr>
            <a:r>
              <a:rPr lang="en-US" sz="3000" b="1" dirty="0">
                <a:solidFill>
                  <a:srgbClr val="0C1E33"/>
                </a:solidFill>
                <a:latin typeface="Arial" pitchFamily="34" charset="0"/>
                <a:ea typeface="Arial" pitchFamily="34" charset="-122"/>
                <a:cs typeface="Arial" pitchFamily="34" charset="-120"/>
              </a:rPr>
              <a:t>Every step owned. Every riyal accounted for.</a:t>
            </a:r>
            <a:endParaRPr lang="en-US" sz="3000" dirty="0"/>
          </a:p>
        </p:txBody>
      </p:sp>
      <p:sp>
        <p:nvSpPr>
          <p:cNvPr id="4" name="Text 2"/>
          <p:cNvSpPr txBox="1"/>
          <p:nvPr/>
        </p:nvSpPr>
        <p:spPr>
          <a:xfrm>
            <a:off x="548640" y="1243584"/>
            <a:ext cx="10424160" cy="310896"/>
          </a:xfrm>
          <a:prstGeom prst="rect">
            <a:avLst/>
          </a:prstGeom>
          <a:noFill/>
          <a:ln/>
        </p:spPr>
        <p:txBody>
          <a:bodyPr wrap="square" lIns="0" tIns="0" rIns="0" bIns="0" rtlCol="0" anchor="ctr"/>
          <a:lstStyle/>
          <a:p>
            <a:pPr indent="0" marL="0">
              <a:buNone/>
            </a:pPr>
            <a:r>
              <a:rPr lang="en-US" sz="1300" dirty="0">
                <a:solidFill>
                  <a:srgbClr val="5A6C82"/>
                </a:solidFill>
                <a:latin typeface="Calibri" pitchFamily="34" charset="0"/>
                <a:ea typeface="Calibri" pitchFamily="34" charset="-122"/>
                <a:cs typeface="Calibri" pitchFamily="34" charset="-120"/>
              </a:rPr>
              <a:t>Statutory deadlines need named owners, and Saudi permit costs are large enough that finance has to see them coming.</a:t>
            </a:r>
            <a:endParaRPr lang="en-US" sz="1300" dirty="0"/>
          </a:p>
        </p:txBody>
      </p:sp>
      <p:sp>
        <p:nvSpPr>
          <p:cNvPr id="5" name="Shape 3"/>
          <p:cNvSpPr/>
          <p:nvPr/>
        </p:nvSpPr>
        <p:spPr>
          <a:xfrm>
            <a:off x="548640" y="1792224"/>
            <a:ext cx="5394960" cy="676656"/>
          </a:xfrm>
          <a:prstGeom prst="roundRect">
            <a:avLst>
              <a:gd name="adj" fmla="val 10811"/>
            </a:avLst>
          </a:prstGeom>
          <a:solidFill>
            <a:srgbClr val="F4F6F7"/>
          </a:solidFill>
          <a:ln w="9525">
            <a:solidFill>
              <a:srgbClr val="E3E7EA"/>
            </a:solidFill>
            <a:prstDash val="solid"/>
          </a:ln>
        </p:spPr>
      </p:sp>
      <p:sp>
        <p:nvSpPr>
          <p:cNvPr id="6" name="Shape 4"/>
          <p:cNvSpPr/>
          <p:nvPr/>
        </p:nvSpPr>
        <p:spPr>
          <a:xfrm>
            <a:off x="731520" y="1956816"/>
            <a:ext cx="365760" cy="365760"/>
          </a:xfrm>
          <a:prstGeom prst="ellipse">
            <a:avLst/>
          </a:prstGeom>
          <a:solidFill>
            <a:srgbClr val="20A098"/>
          </a:solidFill>
          <a:ln/>
        </p:spPr>
      </p:sp>
      <p:sp>
        <p:nvSpPr>
          <p:cNvPr id="7" name="Text 5"/>
          <p:cNvSpPr txBox="1"/>
          <p:nvPr/>
        </p:nvSpPr>
        <p:spPr>
          <a:xfrm>
            <a:off x="731520" y="1956816"/>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8" name="Text 6"/>
          <p:cNvSpPr txBox="1"/>
          <p:nvPr/>
        </p:nvSpPr>
        <p:spPr>
          <a:xfrm>
            <a:off x="1225296" y="1874520"/>
            <a:ext cx="4480560" cy="219456"/>
          </a:xfrm>
          <a:prstGeom prst="rect">
            <a:avLst/>
          </a:prstGeom>
          <a:noFill/>
          <a:ln/>
        </p:spPr>
        <p:txBody>
          <a:bodyPr wrap="square" lIns="0" tIns="0" rIns="0" bIns="0" rtlCol="0" anchor="ctr"/>
          <a:lstStyle/>
          <a:p>
            <a:pPr indent="0" marL="0">
              <a:buNone/>
            </a:pPr>
            <a:r>
              <a:rPr lang="en-US" sz="1250" b="1" dirty="0">
                <a:solidFill>
                  <a:srgbClr val="0C1E33"/>
                </a:solidFill>
                <a:latin typeface="Arial" pitchFamily="34" charset="0"/>
                <a:ea typeface="Arial" pitchFamily="34" charset="-122"/>
                <a:cs typeface="Arial" pitchFamily="34" charset="-120"/>
              </a:rPr>
              <a:t>Assign</a:t>
            </a:r>
            <a:endParaRPr lang="en-US" sz="1250" dirty="0"/>
          </a:p>
        </p:txBody>
      </p:sp>
      <p:sp>
        <p:nvSpPr>
          <p:cNvPr id="9" name="Text 7"/>
          <p:cNvSpPr txBox="1"/>
          <p:nvPr/>
        </p:nvSpPr>
        <p:spPr>
          <a:xfrm>
            <a:off x="1225296" y="2103120"/>
            <a:ext cx="4526280" cy="310896"/>
          </a:xfrm>
          <a:prstGeom prst="rect">
            <a:avLst/>
          </a:prstGeom>
          <a:noFill/>
          <a:ln/>
        </p:spPr>
        <p:txBody>
          <a:bodyPr wrap="square" lIns="0" tIns="0" rIns="0" bIns="0" rtlCol="0" anchor="ctr"/>
          <a:lstStyle/>
          <a:p>
            <a:pPr indent="0" marL="0">
              <a:lnSpc>
                <a:spcPts val="1250"/>
              </a:lnSpc>
              <a:buNone/>
            </a:pPr>
            <a:r>
              <a:rPr lang="en-US" sz="940" dirty="0">
                <a:solidFill>
                  <a:srgbClr val="5A6C82"/>
                </a:solidFill>
                <a:latin typeface="Calibri" pitchFamily="34" charset="0"/>
                <a:ea typeface="Calibri" pitchFamily="34" charset="-122"/>
                <a:cs typeface="Calibri" pitchFamily="34" charset="-120"/>
              </a:rPr>
              <a:t>Routed to a role, claimed by a named officer. Due dates come from the statutory deadline, not a guess.</a:t>
            </a:r>
            <a:endParaRPr lang="en-US" sz="940" dirty="0"/>
          </a:p>
        </p:txBody>
      </p:sp>
      <p:sp>
        <p:nvSpPr>
          <p:cNvPr id="10" name="Shape 8"/>
          <p:cNvSpPr/>
          <p:nvPr/>
        </p:nvSpPr>
        <p:spPr>
          <a:xfrm>
            <a:off x="548640" y="2569464"/>
            <a:ext cx="5394960" cy="676656"/>
          </a:xfrm>
          <a:prstGeom prst="roundRect">
            <a:avLst>
              <a:gd name="adj" fmla="val 10811"/>
            </a:avLst>
          </a:prstGeom>
          <a:solidFill>
            <a:srgbClr val="FFFFFF"/>
          </a:solidFill>
          <a:ln w="9525">
            <a:solidFill>
              <a:srgbClr val="E3E7EA"/>
            </a:solidFill>
            <a:prstDash val="solid"/>
          </a:ln>
        </p:spPr>
      </p:sp>
      <p:sp>
        <p:nvSpPr>
          <p:cNvPr id="11" name="Shape 9"/>
          <p:cNvSpPr/>
          <p:nvPr/>
        </p:nvSpPr>
        <p:spPr>
          <a:xfrm>
            <a:off x="731520" y="2734056"/>
            <a:ext cx="365760" cy="365760"/>
          </a:xfrm>
          <a:prstGeom prst="ellipse">
            <a:avLst/>
          </a:prstGeom>
          <a:solidFill>
            <a:srgbClr val="B5730F"/>
          </a:solidFill>
          <a:ln/>
        </p:spPr>
      </p:sp>
      <p:sp>
        <p:nvSpPr>
          <p:cNvPr id="12" name="Text 10"/>
          <p:cNvSpPr txBox="1"/>
          <p:nvPr/>
        </p:nvSpPr>
        <p:spPr>
          <a:xfrm>
            <a:off x="731520" y="2734056"/>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13" name="Text 11"/>
          <p:cNvSpPr txBox="1"/>
          <p:nvPr/>
        </p:nvSpPr>
        <p:spPr>
          <a:xfrm>
            <a:off x="1225296" y="2651760"/>
            <a:ext cx="4480560" cy="219456"/>
          </a:xfrm>
          <a:prstGeom prst="rect">
            <a:avLst/>
          </a:prstGeom>
          <a:noFill/>
          <a:ln/>
        </p:spPr>
        <p:txBody>
          <a:bodyPr wrap="square" lIns="0" tIns="0" rIns="0" bIns="0" rtlCol="0" anchor="ctr"/>
          <a:lstStyle/>
          <a:p>
            <a:pPr indent="0" marL="0">
              <a:buNone/>
            </a:pPr>
            <a:r>
              <a:rPr lang="en-US" sz="1250" b="1" dirty="0">
                <a:solidFill>
                  <a:srgbClr val="0C1E33"/>
                </a:solidFill>
                <a:latin typeface="Arial" pitchFamily="34" charset="0"/>
                <a:ea typeface="Arial" pitchFamily="34" charset="-122"/>
                <a:cs typeface="Arial" pitchFamily="34" charset="-120"/>
              </a:rPr>
              <a:t>Nudge</a:t>
            </a:r>
            <a:endParaRPr lang="en-US" sz="1250" dirty="0"/>
          </a:p>
        </p:txBody>
      </p:sp>
      <p:sp>
        <p:nvSpPr>
          <p:cNvPr id="14" name="Text 12"/>
          <p:cNvSpPr txBox="1"/>
          <p:nvPr/>
        </p:nvSpPr>
        <p:spPr>
          <a:xfrm>
            <a:off x="1225296" y="2880360"/>
            <a:ext cx="4526280" cy="310896"/>
          </a:xfrm>
          <a:prstGeom prst="rect">
            <a:avLst/>
          </a:prstGeom>
          <a:noFill/>
          <a:ln/>
        </p:spPr>
        <p:txBody>
          <a:bodyPr wrap="square" lIns="0" tIns="0" rIns="0" bIns="0" rtlCol="0" anchor="ctr"/>
          <a:lstStyle/>
          <a:p>
            <a:pPr indent="0" marL="0">
              <a:lnSpc>
                <a:spcPts val="1250"/>
              </a:lnSpc>
              <a:buNone/>
            </a:pPr>
            <a:r>
              <a:rPr lang="en-US" sz="940" dirty="0">
                <a:solidFill>
                  <a:srgbClr val="5A6C82"/>
                </a:solidFill>
                <a:latin typeface="Calibri" pitchFamily="34" charset="0"/>
                <a:ea typeface="Calibri" pitchFamily="34" charset="-122"/>
                <a:cs typeface="Calibri" pitchFamily="34" charset="-120"/>
              </a:rPr>
              <a:t>Every 2 days while open. Iqama expiries six weeks out, exit re-entry returns at 14, 7 and 2 days.</a:t>
            </a:r>
            <a:endParaRPr lang="en-US" sz="940" dirty="0"/>
          </a:p>
        </p:txBody>
      </p:sp>
      <p:sp>
        <p:nvSpPr>
          <p:cNvPr id="15" name="Shape 13"/>
          <p:cNvSpPr/>
          <p:nvPr/>
        </p:nvSpPr>
        <p:spPr>
          <a:xfrm>
            <a:off x="548640" y="3346704"/>
            <a:ext cx="5394960" cy="676656"/>
          </a:xfrm>
          <a:prstGeom prst="roundRect">
            <a:avLst>
              <a:gd name="adj" fmla="val 10811"/>
            </a:avLst>
          </a:prstGeom>
          <a:solidFill>
            <a:srgbClr val="F4F6F7"/>
          </a:solidFill>
          <a:ln w="9525">
            <a:solidFill>
              <a:srgbClr val="E3E7EA"/>
            </a:solidFill>
            <a:prstDash val="solid"/>
          </a:ln>
        </p:spPr>
      </p:sp>
      <p:sp>
        <p:nvSpPr>
          <p:cNvPr id="16" name="Shape 14"/>
          <p:cNvSpPr/>
          <p:nvPr/>
        </p:nvSpPr>
        <p:spPr>
          <a:xfrm>
            <a:off x="731520" y="3511296"/>
            <a:ext cx="365760" cy="365760"/>
          </a:xfrm>
          <a:prstGeom prst="ellipse">
            <a:avLst/>
          </a:prstGeom>
          <a:solidFill>
            <a:srgbClr val="B23A2F"/>
          </a:solidFill>
          <a:ln/>
        </p:spPr>
      </p:sp>
      <p:sp>
        <p:nvSpPr>
          <p:cNvPr id="17" name="Text 15"/>
          <p:cNvSpPr txBox="1"/>
          <p:nvPr/>
        </p:nvSpPr>
        <p:spPr>
          <a:xfrm>
            <a:off x="731520" y="3511296"/>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18" name="Text 16"/>
          <p:cNvSpPr txBox="1"/>
          <p:nvPr/>
        </p:nvSpPr>
        <p:spPr>
          <a:xfrm>
            <a:off x="1225296" y="3429000"/>
            <a:ext cx="4480560" cy="219456"/>
          </a:xfrm>
          <a:prstGeom prst="rect">
            <a:avLst/>
          </a:prstGeom>
          <a:noFill/>
          <a:ln/>
        </p:spPr>
        <p:txBody>
          <a:bodyPr wrap="square" lIns="0" tIns="0" rIns="0" bIns="0" rtlCol="0" anchor="ctr"/>
          <a:lstStyle/>
          <a:p>
            <a:pPr indent="0" marL="0">
              <a:buNone/>
            </a:pPr>
            <a:r>
              <a:rPr lang="en-US" sz="1250" b="1" dirty="0">
                <a:solidFill>
                  <a:srgbClr val="0C1E33"/>
                </a:solidFill>
                <a:latin typeface="Arial" pitchFamily="34" charset="0"/>
                <a:ea typeface="Arial" pitchFamily="34" charset="-122"/>
                <a:cs typeface="Arial" pitchFamily="34" charset="-120"/>
              </a:rPr>
              <a:t>Escalate</a:t>
            </a:r>
            <a:endParaRPr lang="en-US" sz="1250" dirty="0"/>
          </a:p>
        </p:txBody>
      </p:sp>
      <p:sp>
        <p:nvSpPr>
          <p:cNvPr id="19" name="Text 17"/>
          <p:cNvSpPr txBox="1"/>
          <p:nvPr/>
        </p:nvSpPr>
        <p:spPr>
          <a:xfrm>
            <a:off x="1225296" y="3657600"/>
            <a:ext cx="4526280" cy="310896"/>
          </a:xfrm>
          <a:prstGeom prst="rect">
            <a:avLst/>
          </a:prstGeom>
          <a:noFill/>
          <a:ln/>
        </p:spPr>
        <p:txBody>
          <a:bodyPr wrap="square" lIns="0" tIns="0" rIns="0" bIns="0" rtlCol="0" anchor="ctr"/>
          <a:lstStyle/>
          <a:p>
            <a:pPr indent="0" marL="0">
              <a:lnSpc>
                <a:spcPts val="1250"/>
              </a:lnSpc>
              <a:buNone/>
            </a:pPr>
            <a:r>
              <a:rPr lang="en-US" sz="940" dirty="0">
                <a:solidFill>
                  <a:srgbClr val="5A6C82"/>
                </a:solidFill>
                <a:latin typeface="Calibri" pitchFamily="34" charset="0"/>
                <a:ea typeface="Calibri" pitchFamily="34" charset="-122"/>
                <a:cs typeface="Calibri" pitchFamily="34" charset="-120"/>
              </a:rPr>
              <a:t>Past the due date it reaches the line manager and HRBP on its own, while something can still be done.</a:t>
            </a:r>
            <a:endParaRPr lang="en-US" sz="940" dirty="0"/>
          </a:p>
        </p:txBody>
      </p:sp>
      <p:sp>
        <p:nvSpPr>
          <p:cNvPr id="20" name="Shape 18"/>
          <p:cNvSpPr/>
          <p:nvPr/>
        </p:nvSpPr>
        <p:spPr>
          <a:xfrm>
            <a:off x="548640" y="4123944"/>
            <a:ext cx="5394960" cy="676656"/>
          </a:xfrm>
          <a:prstGeom prst="roundRect">
            <a:avLst>
              <a:gd name="adj" fmla="val 10811"/>
            </a:avLst>
          </a:prstGeom>
          <a:solidFill>
            <a:srgbClr val="FFFFFF"/>
          </a:solidFill>
          <a:ln w="9525">
            <a:solidFill>
              <a:srgbClr val="E3E7EA"/>
            </a:solidFill>
            <a:prstDash val="solid"/>
          </a:ln>
        </p:spPr>
      </p:sp>
      <p:sp>
        <p:nvSpPr>
          <p:cNvPr id="21" name="Shape 19"/>
          <p:cNvSpPr/>
          <p:nvPr/>
        </p:nvSpPr>
        <p:spPr>
          <a:xfrm>
            <a:off x="731520" y="4288536"/>
            <a:ext cx="365760" cy="365760"/>
          </a:xfrm>
          <a:prstGeom prst="ellipse">
            <a:avLst/>
          </a:prstGeom>
          <a:solidFill>
            <a:srgbClr val="17795E"/>
          </a:solidFill>
          <a:ln/>
        </p:spPr>
      </p:sp>
      <p:sp>
        <p:nvSpPr>
          <p:cNvPr id="22" name="Text 20"/>
          <p:cNvSpPr txBox="1"/>
          <p:nvPr/>
        </p:nvSpPr>
        <p:spPr>
          <a:xfrm>
            <a:off x="731520" y="4288536"/>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4</a:t>
            </a:r>
            <a:endParaRPr lang="en-US" sz="1200" dirty="0"/>
          </a:p>
        </p:txBody>
      </p:sp>
      <p:sp>
        <p:nvSpPr>
          <p:cNvPr id="23" name="Text 21"/>
          <p:cNvSpPr txBox="1"/>
          <p:nvPr/>
        </p:nvSpPr>
        <p:spPr>
          <a:xfrm>
            <a:off x="1225296" y="4206240"/>
            <a:ext cx="4480560" cy="219456"/>
          </a:xfrm>
          <a:prstGeom prst="rect">
            <a:avLst/>
          </a:prstGeom>
          <a:noFill/>
          <a:ln/>
        </p:spPr>
        <p:txBody>
          <a:bodyPr wrap="square" lIns="0" tIns="0" rIns="0" bIns="0" rtlCol="0" anchor="ctr"/>
          <a:lstStyle/>
          <a:p>
            <a:pPr indent="0" marL="0">
              <a:buNone/>
            </a:pPr>
            <a:r>
              <a:rPr lang="en-US" sz="1250" b="1" dirty="0">
                <a:solidFill>
                  <a:srgbClr val="0C1E33"/>
                </a:solidFill>
                <a:latin typeface="Arial" pitchFamily="34" charset="0"/>
                <a:ea typeface="Arial" pitchFamily="34" charset="-122"/>
                <a:cs typeface="Arial" pitchFamily="34" charset="-120"/>
              </a:rPr>
              <a:t>Prove</a:t>
            </a:r>
            <a:endParaRPr lang="en-US" sz="1250" dirty="0"/>
          </a:p>
        </p:txBody>
      </p:sp>
      <p:sp>
        <p:nvSpPr>
          <p:cNvPr id="24" name="Text 22"/>
          <p:cNvSpPr txBox="1"/>
          <p:nvPr/>
        </p:nvSpPr>
        <p:spPr>
          <a:xfrm>
            <a:off x="1225296" y="4434840"/>
            <a:ext cx="4526280" cy="310896"/>
          </a:xfrm>
          <a:prstGeom prst="rect">
            <a:avLst/>
          </a:prstGeom>
          <a:noFill/>
          <a:ln/>
        </p:spPr>
        <p:txBody>
          <a:bodyPr wrap="square" lIns="0" tIns="0" rIns="0" bIns="0" rtlCol="0" anchor="ctr"/>
          <a:lstStyle/>
          <a:p>
            <a:pPr indent="0" marL="0">
              <a:lnSpc>
                <a:spcPts val="1250"/>
              </a:lnSpc>
              <a:buNone/>
            </a:pPr>
            <a:r>
              <a:rPr lang="en-US" sz="940" dirty="0">
                <a:solidFill>
                  <a:srgbClr val="5A6C82"/>
                </a:solidFill>
                <a:latin typeface="Calibri" pitchFamily="34" charset="0"/>
                <a:ea typeface="Calibri" pitchFamily="34" charset="-122"/>
                <a:cs typeface="Calibri" pitchFamily="34" charset="-120"/>
              </a:rPr>
              <a:t>Who had it, when they were reminded, what they uploaded. A Qiwa or GOSI inspection becomes a report.</a:t>
            </a:r>
            <a:endParaRPr lang="en-US" sz="940" dirty="0"/>
          </a:p>
        </p:txBody>
      </p:sp>
      <p:sp>
        <p:nvSpPr>
          <p:cNvPr id="25" name="Shape 23"/>
          <p:cNvSpPr/>
          <p:nvPr/>
        </p:nvSpPr>
        <p:spPr>
          <a:xfrm>
            <a:off x="548640" y="4956048"/>
            <a:ext cx="5394960" cy="1335024"/>
          </a:xfrm>
          <a:prstGeom prst="roundRect">
            <a:avLst>
              <a:gd name="adj" fmla="val 5479"/>
            </a:avLst>
          </a:prstGeom>
          <a:solidFill>
            <a:srgbClr val="E4F5F3"/>
          </a:solidFill>
          <a:ln w="11430">
            <a:solidFill>
              <a:srgbClr val="20A098"/>
            </a:solidFill>
            <a:prstDash val="solid"/>
          </a:ln>
        </p:spPr>
      </p:sp>
      <p:sp>
        <p:nvSpPr>
          <p:cNvPr id="26" name="Text 24"/>
          <p:cNvSpPr txBox="1"/>
          <p:nvPr/>
        </p:nvSpPr>
        <p:spPr>
          <a:xfrm>
            <a:off x="749808" y="5065776"/>
            <a:ext cx="5029200" cy="219456"/>
          </a:xfrm>
          <a:prstGeom prst="rect">
            <a:avLst/>
          </a:prstGeom>
          <a:noFill/>
          <a:ln/>
        </p:spPr>
        <p:txBody>
          <a:bodyPr wrap="square" lIns="0" tIns="0" rIns="0" bIns="0" rtlCol="0" anchor="ctr"/>
          <a:lstStyle/>
          <a:p>
            <a:pPr indent="0" marL="0">
              <a:buNone/>
            </a:pPr>
            <a:r>
              <a:rPr lang="en-US" sz="1150" b="1" dirty="0">
                <a:solidFill>
                  <a:srgbClr val="12756F"/>
                </a:solidFill>
                <a:latin typeface="Arial" pitchFamily="34" charset="0"/>
                <a:ea typeface="Arial" pitchFamily="34" charset="-122"/>
                <a:cs typeface="Arial" pitchFamily="34" charset="-120"/>
              </a:rPr>
              <a:t>The Saudi cost line finance actually worries about</a:t>
            </a:r>
            <a:endParaRPr lang="en-US" sz="1150" dirty="0"/>
          </a:p>
        </p:txBody>
      </p:sp>
      <p:sp>
        <p:nvSpPr>
          <p:cNvPr id="27" name="Text 25"/>
          <p:cNvSpPr txBox="1"/>
          <p:nvPr/>
        </p:nvSpPr>
        <p:spPr>
          <a:xfrm>
            <a:off x="749808" y="5321808"/>
            <a:ext cx="5029200" cy="859536"/>
          </a:xfrm>
          <a:prstGeom prst="rect">
            <a:avLst/>
          </a:prstGeom>
          <a:noFill/>
          <a:ln/>
        </p:spPr>
        <p:txBody>
          <a:bodyPr wrap="square" lIns="0" tIns="0" rIns="0" bIns="0" rtlCol="0" anchor="ctr"/>
          <a:lstStyle/>
          <a:p>
            <a:pPr indent="0" marL="0">
              <a:lnSpc>
                <a:spcPts val="1300"/>
              </a:lnSpc>
              <a:buNone/>
            </a:pPr>
            <a:r>
              <a:rPr lang="en-US" sz="960" dirty="0">
                <a:solidFill>
                  <a:srgbClr val="0C1E33"/>
                </a:solidFill>
                <a:latin typeface="Calibri" pitchFamily="34" charset="0"/>
                <a:ea typeface="Calibri" pitchFamily="34" charset="-122"/>
                <a:cs typeface="Calibri" pitchFamily="34" charset="-120"/>
              </a:rPr>
              <a:t>The expat levy is charged per employee per year and renewals cluster around hiring dates. We forecast levy and fees against the renewal calendar, so a heavy quarter is budgeted rather than absorbed. Every payment carries a SADAD reference, a receipt and a GL account.</a:t>
            </a:r>
            <a:endParaRPr lang="en-US" sz="960" dirty="0"/>
          </a:p>
        </p:txBody>
      </p:sp>
      <p:pic>
        <p:nvPicPr>
          <p:cNvPr id="28" name="Image 0" descr="./img/report-payment.jpg">    </p:cNvPr>
          <p:cNvPicPr>
            <a:picLocks noChangeAspect="1"/>
          </p:cNvPicPr>
          <p:nvPr/>
        </p:nvPicPr>
        <p:blipFill>
          <a:blip r:embed="rId1"/>
          <a:stretch>
            <a:fillRect/>
          </a:stretch>
        </p:blipFill>
        <p:spPr>
          <a:xfrm>
            <a:off x="6172200" y="1792224"/>
            <a:ext cx="5440680" cy="914400"/>
          </a:xfrm>
          <a:prstGeom prst="rect">
            <a:avLst/>
          </a:prstGeom>
          <a:effectLst>
            <a:outerShdw sx="100000" sy="100000" kx="0" ky="0" algn="bl" rotWithShape="0" blurRad="177800" dist="38100" dir="5400000">
              <a:srgbClr val="000000">
                <a:alpha val="20000"/>
              </a:srgbClr>
            </a:outerShdw>
          </a:effectLst>
        </p:spPr>
      </p:pic>
      <p:sp>
        <p:nvSpPr>
          <p:cNvPr id="29" name="Text 26"/>
          <p:cNvSpPr txBox="1"/>
          <p:nvPr/>
        </p:nvSpPr>
        <p:spPr>
          <a:xfrm>
            <a:off x="6172200" y="5230368"/>
            <a:ext cx="5440680" cy="457200"/>
          </a:xfrm>
          <a:prstGeom prst="rect">
            <a:avLst/>
          </a:prstGeom>
          <a:noFill/>
          <a:ln/>
        </p:spPr>
        <p:txBody>
          <a:bodyPr wrap="square" lIns="0" tIns="0" rIns="0" bIns="0" rtlCol="0" anchor="ctr"/>
          <a:lstStyle/>
          <a:p>
            <a:pPr indent="0" marL="0">
              <a:lnSpc>
                <a:spcPts val="1350"/>
              </a:lnSpc>
              <a:buNone/>
            </a:pPr>
            <a:r>
              <a:rPr lang="en-US" sz="1000" i="1" dirty="0">
                <a:solidFill>
                  <a:srgbClr val="5A6C82"/>
                </a:solidFill>
                <a:latin typeface="Calibri" pitchFamily="34" charset="0"/>
                <a:ea typeface="Calibri" pitchFamily="34" charset="-122"/>
                <a:cs typeface="Calibri" pitchFamily="34" charset="-120"/>
              </a:rPr>
              <a:t>Qiwa contract fee, expat levy, Iqama issue fee, exit re-entry, transfer fee, medical insurance. Each with its own GL account and its own receipt, one click away.</a:t>
            </a:r>
            <a:endParaRPr lang="en-US" sz="1000" dirty="0"/>
          </a:p>
        </p:txBody>
      </p:sp>
      <p:sp>
        <p:nvSpPr>
          <p:cNvPr id="30" name="Text 27"/>
          <p:cNvSpPr txBox="1"/>
          <p:nvPr/>
        </p:nvSpPr>
        <p:spPr>
          <a:xfrm>
            <a:off x="548640" y="6419088"/>
            <a:ext cx="8595360" cy="237744"/>
          </a:xfrm>
          <a:prstGeom prst="rect">
            <a:avLst/>
          </a:prstGeom>
          <a:noFill/>
          <a:ln/>
        </p:spPr>
        <p:txBody>
          <a:bodyPr wrap="square" lIns="0" tIns="0" rIns="0" bIns="0" rtlCol="0" anchor="ctr"/>
          <a:lstStyle/>
          <a:p>
            <a:pPr indent="0" marL="0">
              <a:buNone/>
            </a:pPr>
            <a:r>
              <a:rPr lang="en-US" sz="900" dirty="0">
                <a:solidFill>
                  <a:srgbClr val="96A3AE"/>
                </a:solidFill>
                <a:latin typeface="Calibri" pitchFamily="34" charset="0"/>
                <a:ea typeface="Calibri" pitchFamily="34" charset="-122"/>
                <a:cs typeface="Calibri" pitchFamily="34" charset="-120"/>
              </a:rPr>
              <a:t>INK IT Business Solutions  ·  Visa &amp; Permits Management  ·  Kingdom of Saudi Arabia</a:t>
            </a:r>
            <a:endParaRPr lang="en-US" sz="900" dirty="0"/>
          </a:p>
        </p:txBody>
      </p:sp>
      <p:sp>
        <p:nvSpPr>
          <p:cNvPr id="31" name="Text 28"/>
          <p:cNvSpPr txBox="1"/>
          <p:nvPr/>
        </p:nvSpPr>
        <p:spPr>
          <a:xfrm>
            <a:off x="11155680" y="6419088"/>
            <a:ext cx="457200" cy="237744"/>
          </a:xfrm>
          <a:prstGeom prst="rect">
            <a:avLst/>
          </a:prstGeom>
          <a:noFill/>
          <a:ln/>
        </p:spPr>
        <p:txBody>
          <a:bodyPr wrap="square" lIns="0" tIns="0" rIns="0" bIns="0" rtlCol="0" anchor="ctr"/>
          <a:lstStyle/>
          <a:p>
            <a:pPr algn="r" indent="0" marL="0">
              <a:buNone/>
            </a:pPr>
            <a:r>
              <a:rPr lang="en-US" sz="900" dirty="0">
                <a:solidFill>
                  <a:srgbClr val="96A3AE"/>
                </a:solidFill>
                <a:latin typeface="Calibri" pitchFamily="34" charset="0"/>
                <a:ea typeface="Calibri" pitchFamily="34" charset="-122"/>
                <a:cs typeface="Calibri" pitchFamily="34" charset="-120"/>
              </a:rPr>
              <a:t>11</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02336"/>
            <a:ext cx="11064240" cy="237744"/>
          </a:xfrm>
          <a:prstGeom prst="rect">
            <a:avLst/>
          </a:prstGeom>
          <a:noFill/>
          <a:ln/>
        </p:spPr>
        <p:txBody>
          <a:bodyPr wrap="square" lIns="0" tIns="0" rIns="0" bIns="0" rtlCol="0" anchor="ctr"/>
          <a:lstStyle/>
          <a:p>
            <a:pPr indent="0" marL="0">
              <a:buNone/>
            </a:pPr>
            <a:r>
              <a:rPr lang="en-US" sz="1100" b="1" spc="220" kern="0" dirty="0">
                <a:solidFill>
                  <a:srgbClr val="20A098"/>
                </a:solidFill>
                <a:latin typeface="Calibri" pitchFamily="34" charset="0"/>
                <a:ea typeface="Calibri" pitchFamily="34" charset="-122"/>
                <a:cs typeface="Calibri" pitchFamily="34" charset="-120"/>
              </a:rPr>
              <a:t>SOLUTION ARCHITECTURE</a:t>
            </a:r>
            <a:endParaRPr lang="en-US" sz="1100" dirty="0"/>
          </a:p>
        </p:txBody>
      </p:sp>
      <p:sp>
        <p:nvSpPr>
          <p:cNvPr id="3" name="Text 1"/>
          <p:cNvSpPr txBox="1"/>
          <p:nvPr/>
        </p:nvSpPr>
        <p:spPr>
          <a:xfrm>
            <a:off x="548640" y="658368"/>
            <a:ext cx="11064240" cy="566928"/>
          </a:xfrm>
          <a:prstGeom prst="rect">
            <a:avLst/>
          </a:prstGeom>
          <a:noFill/>
          <a:ln/>
        </p:spPr>
        <p:txBody>
          <a:bodyPr wrap="square" lIns="0" tIns="0" rIns="0" bIns="0" rtlCol="0" anchor="ctr"/>
          <a:lstStyle/>
          <a:p>
            <a:pPr indent="0" marL="0">
              <a:buNone/>
            </a:pPr>
            <a:r>
              <a:rPr lang="en-US" sz="3000" b="1" dirty="0">
                <a:solidFill>
                  <a:srgbClr val="0C1E33"/>
                </a:solidFill>
                <a:latin typeface="Arial" pitchFamily="34" charset="0"/>
                <a:ea typeface="Arial" pitchFamily="34" charset="-122"/>
                <a:cs typeface="Arial" pitchFamily="34" charset="-120"/>
              </a:rPr>
              <a:t>Every system, and what moves between them.</a:t>
            </a:r>
            <a:endParaRPr lang="en-US" sz="3000" dirty="0"/>
          </a:p>
        </p:txBody>
      </p:sp>
      <p:pic>
        <p:nvPicPr>
          <p:cNvPr id="4" name="Image 0" descr="./img/architecture.png">    </p:cNvPr>
          <p:cNvPicPr>
            <a:picLocks noChangeAspect="1"/>
          </p:cNvPicPr>
          <p:nvPr/>
        </p:nvPicPr>
        <p:blipFill>
          <a:blip r:embed="rId1"/>
          <a:stretch>
            <a:fillRect/>
          </a:stretch>
        </p:blipFill>
        <p:spPr>
          <a:xfrm>
            <a:off x="548640" y="1152144"/>
            <a:ext cx="7543800" cy="5120640"/>
          </a:xfrm>
          <a:prstGeom prst="rect">
            <a:avLst/>
          </a:prstGeom>
        </p:spPr>
      </p:pic>
      <p:sp>
        <p:nvSpPr>
          <p:cNvPr id="5" name="Shape 2"/>
          <p:cNvSpPr/>
          <p:nvPr/>
        </p:nvSpPr>
        <p:spPr>
          <a:xfrm>
            <a:off x="8275320" y="1152144"/>
            <a:ext cx="3364992" cy="1188720"/>
          </a:xfrm>
          <a:prstGeom prst="roundRect">
            <a:avLst>
              <a:gd name="adj" fmla="val 5385"/>
            </a:avLst>
          </a:prstGeom>
          <a:solidFill>
            <a:srgbClr val="F4F6F7"/>
          </a:solidFill>
          <a:ln w="11430">
            <a:solidFill>
              <a:srgbClr val="E3E7EA"/>
            </a:solidFill>
            <a:prstDash val="solid"/>
          </a:ln>
        </p:spPr>
      </p:sp>
      <p:sp>
        <p:nvSpPr>
          <p:cNvPr id="6" name="Text 3"/>
          <p:cNvSpPr txBox="1"/>
          <p:nvPr/>
        </p:nvSpPr>
        <p:spPr>
          <a:xfrm>
            <a:off x="8449056" y="1252728"/>
            <a:ext cx="3017520" cy="219456"/>
          </a:xfrm>
          <a:prstGeom prst="rect">
            <a:avLst/>
          </a:prstGeom>
          <a:noFill/>
          <a:ln/>
        </p:spPr>
        <p:txBody>
          <a:bodyPr wrap="square" lIns="0" tIns="0" rIns="0" bIns="0" rtlCol="0" anchor="ctr"/>
          <a:lstStyle/>
          <a:p>
            <a:pPr indent="0" marL="0">
              <a:buNone/>
            </a:pPr>
            <a:r>
              <a:rPr lang="en-US" sz="1150" b="1" dirty="0">
                <a:solidFill>
                  <a:srgbClr val="0C1E33"/>
                </a:solidFill>
                <a:latin typeface="Arial" pitchFamily="34" charset="0"/>
                <a:ea typeface="Arial" pitchFamily="34" charset="-122"/>
                <a:cs typeface="Arial" pitchFamily="34" charset="-120"/>
              </a:rPr>
              <a:t>What flows in</a:t>
            </a:r>
            <a:endParaRPr lang="en-US" sz="1150" dirty="0"/>
          </a:p>
        </p:txBody>
      </p:sp>
      <p:sp>
        <p:nvSpPr>
          <p:cNvPr id="7" name="Text 4"/>
          <p:cNvSpPr txBox="1"/>
          <p:nvPr/>
        </p:nvSpPr>
        <p:spPr>
          <a:xfrm>
            <a:off x="8449056" y="1481328"/>
            <a:ext cx="3035808" cy="786384"/>
          </a:xfrm>
          <a:prstGeom prst="rect">
            <a:avLst/>
          </a:prstGeom>
          <a:noFill/>
          <a:ln/>
        </p:spPr>
        <p:txBody>
          <a:bodyPr wrap="square" lIns="0" tIns="0" rIns="0" bIns="0" rtlCol="0" anchor="ctr"/>
          <a:lstStyle/>
          <a:p>
            <a:pPr indent="0" marL="0">
              <a:lnSpc>
                <a:spcPts val="1140"/>
              </a:lnSpc>
              <a:buNone/>
            </a:pPr>
            <a:r>
              <a:rPr lang="en-US" sz="850" dirty="0">
                <a:solidFill>
                  <a:srgbClr val="5A6C82"/>
                </a:solidFill>
                <a:latin typeface="Calibri" pitchFamily="34" charset="0"/>
                <a:ea typeface="Calibri" pitchFamily="34" charset="-122"/>
                <a:cs typeface="Calibri" pitchFamily="34" charset="-120"/>
              </a:rPr>
              <a:t>Candidates who accepted an offer, the employee master, separations and the Iqama expiry dates that start a renewal. All through SAP Integration Suite, monitored and retried like any other SAP integration.</a:t>
            </a:r>
            <a:endParaRPr lang="en-US" sz="850" dirty="0"/>
          </a:p>
        </p:txBody>
      </p:sp>
      <p:sp>
        <p:nvSpPr>
          <p:cNvPr id="8" name="Shape 5"/>
          <p:cNvSpPr/>
          <p:nvPr/>
        </p:nvSpPr>
        <p:spPr>
          <a:xfrm>
            <a:off x="8275320" y="2450592"/>
            <a:ext cx="3364992" cy="1188720"/>
          </a:xfrm>
          <a:prstGeom prst="roundRect">
            <a:avLst>
              <a:gd name="adj" fmla="val 5385"/>
            </a:avLst>
          </a:prstGeom>
          <a:solidFill>
            <a:srgbClr val="F4F6F7"/>
          </a:solidFill>
          <a:ln w="11430">
            <a:solidFill>
              <a:srgbClr val="E3E7EA"/>
            </a:solidFill>
            <a:prstDash val="solid"/>
          </a:ln>
        </p:spPr>
      </p:sp>
      <p:sp>
        <p:nvSpPr>
          <p:cNvPr id="9" name="Text 6"/>
          <p:cNvSpPr txBox="1"/>
          <p:nvPr/>
        </p:nvSpPr>
        <p:spPr>
          <a:xfrm>
            <a:off x="8449056" y="2551176"/>
            <a:ext cx="3017520" cy="219456"/>
          </a:xfrm>
          <a:prstGeom prst="rect">
            <a:avLst/>
          </a:prstGeom>
          <a:noFill/>
          <a:ln/>
        </p:spPr>
        <p:txBody>
          <a:bodyPr wrap="square" lIns="0" tIns="0" rIns="0" bIns="0" rtlCol="0" anchor="ctr"/>
          <a:lstStyle/>
          <a:p>
            <a:pPr indent="0" marL="0">
              <a:buNone/>
            </a:pPr>
            <a:r>
              <a:rPr lang="en-US" sz="1150" b="1" dirty="0">
                <a:solidFill>
                  <a:srgbClr val="0C1E33"/>
                </a:solidFill>
                <a:latin typeface="Arial" pitchFamily="34" charset="0"/>
                <a:ea typeface="Arial" pitchFamily="34" charset="-122"/>
                <a:cs typeface="Arial" pitchFamily="34" charset="-120"/>
              </a:rPr>
              <a:t>What flows back</a:t>
            </a:r>
            <a:endParaRPr lang="en-US" sz="1150" dirty="0"/>
          </a:p>
        </p:txBody>
      </p:sp>
      <p:sp>
        <p:nvSpPr>
          <p:cNvPr id="10" name="Text 7"/>
          <p:cNvSpPr txBox="1"/>
          <p:nvPr/>
        </p:nvSpPr>
        <p:spPr>
          <a:xfrm>
            <a:off x="8449056" y="2779776"/>
            <a:ext cx="3035808" cy="786384"/>
          </a:xfrm>
          <a:prstGeom prst="rect">
            <a:avLst/>
          </a:prstGeom>
          <a:noFill/>
          <a:ln/>
        </p:spPr>
        <p:txBody>
          <a:bodyPr wrap="square" lIns="0" tIns="0" rIns="0" bIns="0" rtlCol="0" anchor="ctr"/>
          <a:lstStyle/>
          <a:p>
            <a:pPr indent="0" marL="0">
              <a:lnSpc>
                <a:spcPts val="1140"/>
              </a:lnSpc>
              <a:buNone/>
            </a:pPr>
            <a:r>
              <a:rPr lang="en-US" sz="850" dirty="0">
                <a:solidFill>
                  <a:srgbClr val="5A6C82"/>
                </a:solidFill>
                <a:latin typeface="Calibri" pitchFamily="34" charset="0"/>
                <a:ea typeface="Calibri" pitchFamily="34" charset="-122"/>
                <a:cs typeface="Calibri" pitchFamily="34" charset="-120"/>
              </a:rPr>
              <a:t>Iqama number, expiry, profession as registered in Qiwa and work permit status, straight into Employee Central. Nobody re-types anything.</a:t>
            </a:r>
            <a:endParaRPr lang="en-US" sz="850" dirty="0"/>
          </a:p>
        </p:txBody>
      </p:sp>
      <p:sp>
        <p:nvSpPr>
          <p:cNvPr id="11" name="Shape 8"/>
          <p:cNvSpPr/>
          <p:nvPr/>
        </p:nvSpPr>
        <p:spPr>
          <a:xfrm>
            <a:off x="8275320" y="3749040"/>
            <a:ext cx="3364992" cy="1188720"/>
          </a:xfrm>
          <a:prstGeom prst="roundRect">
            <a:avLst>
              <a:gd name="adj" fmla="val 5385"/>
            </a:avLst>
          </a:prstGeom>
          <a:solidFill>
            <a:srgbClr val="F4F6F7"/>
          </a:solidFill>
          <a:ln w="11430">
            <a:solidFill>
              <a:srgbClr val="E3E7EA"/>
            </a:solidFill>
            <a:prstDash val="solid"/>
          </a:ln>
        </p:spPr>
      </p:sp>
      <p:sp>
        <p:nvSpPr>
          <p:cNvPr id="12" name="Text 9"/>
          <p:cNvSpPr txBox="1"/>
          <p:nvPr/>
        </p:nvSpPr>
        <p:spPr>
          <a:xfrm>
            <a:off x="8449056" y="3849624"/>
            <a:ext cx="3017520" cy="219456"/>
          </a:xfrm>
          <a:prstGeom prst="rect">
            <a:avLst/>
          </a:prstGeom>
          <a:noFill/>
          <a:ln/>
        </p:spPr>
        <p:txBody>
          <a:bodyPr wrap="square" lIns="0" tIns="0" rIns="0" bIns="0" rtlCol="0" anchor="ctr"/>
          <a:lstStyle/>
          <a:p>
            <a:pPr indent="0" marL="0">
              <a:buNone/>
            </a:pPr>
            <a:r>
              <a:rPr lang="en-US" sz="1150" b="1" dirty="0">
                <a:solidFill>
                  <a:srgbClr val="0C1E33"/>
                </a:solidFill>
                <a:latin typeface="Arial" pitchFamily="34" charset="0"/>
                <a:ea typeface="Arial" pitchFamily="34" charset="-122"/>
                <a:cs typeface="Arial" pitchFamily="34" charset="-120"/>
              </a:rPr>
              <a:t>What flows down</a:t>
            </a:r>
            <a:endParaRPr lang="en-US" sz="1150" dirty="0"/>
          </a:p>
        </p:txBody>
      </p:sp>
      <p:sp>
        <p:nvSpPr>
          <p:cNvPr id="13" name="Text 10"/>
          <p:cNvSpPr txBox="1"/>
          <p:nvPr/>
        </p:nvSpPr>
        <p:spPr>
          <a:xfrm>
            <a:off x="8449056" y="4078224"/>
            <a:ext cx="3035808" cy="786384"/>
          </a:xfrm>
          <a:prstGeom prst="rect">
            <a:avLst/>
          </a:prstGeom>
          <a:noFill/>
          <a:ln/>
        </p:spPr>
        <p:txBody>
          <a:bodyPr wrap="square" lIns="0" tIns="0" rIns="0" bIns="0" rtlCol="0" anchor="ctr"/>
          <a:lstStyle/>
          <a:p>
            <a:pPr indent="0" marL="0">
              <a:lnSpc>
                <a:spcPts val="1140"/>
              </a:lnSpc>
              <a:buNone/>
            </a:pPr>
            <a:r>
              <a:rPr lang="en-US" sz="850" dirty="0">
                <a:solidFill>
                  <a:srgbClr val="5A6C82"/>
                </a:solidFill>
                <a:latin typeface="Calibri" pitchFamily="34" charset="0"/>
                <a:ea typeface="Calibri" pitchFamily="34" charset="-122"/>
                <a:cs typeface="Calibri" pitchFamily="34" charset="-120"/>
              </a:rPr>
              <a:t>Every payment with its amount, VAT, SADAD reference, receipt and GL account, posted to S/4HANA as a journal. Levy accruals included.</a:t>
            </a:r>
            <a:endParaRPr lang="en-US" sz="850" dirty="0"/>
          </a:p>
        </p:txBody>
      </p:sp>
      <p:sp>
        <p:nvSpPr>
          <p:cNvPr id="14" name="Shape 11"/>
          <p:cNvSpPr/>
          <p:nvPr/>
        </p:nvSpPr>
        <p:spPr>
          <a:xfrm>
            <a:off x="8275320" y="5047488"/>
            <a:ext cx="3364992" cy="1188720"/>
          </a:xfrm>
          <a:prstGeom prst="roundRect">
            <a:avLst>
              <a:gd name="adj" fmla="val 5385"/>
            </a:avLst>
          </a:prstGeom>
          <a:solidFill>
            <a:srgbClr val="FCF6E4"/>
          </a:solidFill>
          <a:ln w="11430">
            <a:solidFill>
              <a:srgbClr val="C9A227"/>
            </a:solidFill>
            <a:prstDash val="solid"/>
          </a:ln>
        </p:spPr>
      </p:sp>
      <p:sp>
        <p:nvSpPr>
          <p:cNvPr id="15" name="Text 12"/>
          <p:cNvSpPr txBox="1"/>
          <p:nvPr/>
        </p:nvSpPr>
        <p:spPr>
          <a:xfrm>
            <a:off x="8449056" y="5148072"/>
            <a:ext cx="3017520" cy="219456"/>
          </a:xfrm>
          <a:prstGeom prst="rect">
            <a:avLst/>
          </a:prstGeom>
          <a:noFill/>
          <a:ln/>
        </p:spPr>
        <p:txBody>
          <a:bodyPr wrap="square" lIns="0" tIns="0" rIns="0" bIns="0" rtlCol="0" anchor="ctr"/>
          <a:lstStyle/>
          <a:p>
            <a:pPr indent="0" marL="0">
              <a:buNone/>
            </a:pPr>
            <a:r>
              <a:rPr lang="en-US" sz="1150" b="1" dirty="0">
                <a:solidFill>
                  <a:srgbClr val="7A6410"/>
                </a:solidFill>
                <a:latin typeface="Arial" pitchFamily="34" charset="0"/>
                <a:ea typeface="Arial" pitchFamily="34" charset="-122"/>
                <a:cs typeface="Arial" pitchFamily="34" charset="-120"/>
              </a:rPr>
              <a:t>The dashed arrows</a:t>
            </a:r>
            <a:endParaRPr lang="en-US" sz="1150" dirty="0"/>
          </a:p>
        </p:txBody>
      </p:sp>
      <p:sp>
        <p:nvSpPr>
          <p:cNvPr id="16" name="Text 13"/>
          <p:cNvSpPr txBox="1"/>
          <p:nvPr/>
        </p:nvSpPr>
        <p:spPr>
          <a:xfrm>
            <a:off x="8449056" y="5376672"/>
            <a:ext cx="3035808" cy="786384"/>
          </a:xfrm>
          <a:prstGeom prst="rect">
            <a:avLst/>
          </a:prstGeom>
          <a:noFill/>
          <a:ln/>
        </p:spPr>
        <p:txBody>
          <a:bodyPr wrap="square" lIns="0" tIns="0" rIns="0" bIns="0" rtlCol="0" anchor="ctr"/>
          <a:lstStyle/>
          <a:p>
            <a:pPr indent="0" marL="0">
              <a:lnSpc>
                <a:spcPts val="1140"/>
              </a:lnSpc>
              <a:buNone/>
            </a:pPr>
            <a:r>
              <a:rPr lang="en-US" sz="850" dirty="0">
                <a:solidFill>
                  <a:srgbClr val="5A6C82"/>
                </a:solidFill>
                <a:latin typeface="Calibri" pitchFamily="34" charset="0"/>
                <a:ea typeface="Calibri" pitchFamily="34" charset="-122"/>
                <a:cs typeface="Calibri" pitchFamily="34" charset="-120"/>
              </a:rPr>
              <a:t>Qiwa and Muqeem grant API access to the employer under their own establishment registration, never to a software vendor. Those credentials come from you. The connectors are already built.</a:t>
            </a:r>
            <a:endParaRPr lang="en-US" sz="850" dirty="0"/>
          </a:p>
        </p:txBody>
      </p:sp>
      <p:sp>
        <p:nvSpPr>
          <p:cNvPr id="17" name="Text 14"/>
          <p:cNvSpPr txBox="1"/>
          <p:nvPr/>
        </p:nvSpPr>
        <p:spPr>
          <a:xfrm>
            <a:off x="548640" y="6419088"/>
            <a:ext cx="8595360" cy="237744"/>
          </a:xfrm>
          <a:prstGeom prst="rect">
            <a:avLst/>
          </a:prstGeom>
          <a:noFill/>
          <a:ln/>
        </p:spPr>
        <p:txBody>
          <a:bodyPr wrap="square" lIns="0" tIns="0" rIns="0" bIns="0" rtlCol="0" anchor="ctr"/>
          <a:lstStyle/>
          <a:p>
            <a:pPr indent="0" marL="0">
              <a:buNone/>
            </a:pPr>
            <a:r>
              <a:rPr lang="en-US" sz="900" dirty="0">
                <a:solidFill>
                  <a:srgbClr val="96A3AE"/>
                </a:solidFill>
                <a:latin typeface="Calibri" pitchFamily="34" charset="0"/>
                <a:ea typeface="Calibri" pitchFamily="34" charset="-122"/>
                <a:cs typeface="Calibri" pitchFamily="34" charset="-120"/>
              </a:rPr>
              <a:t>INK IT Business Solutions  ·  Visa &amp; Permits Management  ·  Kingdom of Saudi Arabia</a:t>
            </a:r>
            <a:endParaRPr lang="en-US" sz="900" dirty="0"/>
          </a:p>
        </p:txBody>
      </p:sp>
      <p:sp>
        <p:nvSpPr>
          <p:cNvPr id="18" name="Text 15"/>
          <p:cNvSpPr txBox="1"/>
          <p:nvPr/>
        </p:nvSpPr>
        <p:spPr>
          <a:xfrm>
            <a:off x="11155680" y="6419088"/>
            <a:ext cx="457200" cy="237744"/>
          </a:xfrm>
          <a:prstGeom prst="rect">
            <a:avLst/>
          </a:prstGeom>
          <a:noFill/>
          <a:ln/>
        </p:spPr>
        <p:txBody>
          <a:bodyPr wrap="square" lIns="0" tIns="0" rIns="0" bIns="0" rtlCol="0" anchor="ctr"/>
          <a:lstStyle/>
          <a:p>
            <a:pPr algn="r" indent="0" marL="0">
              <a:buNone/>
            </a:pPr>
            <a:r>
              <a:rPr lang="en-US" sz="900" dirty="0">
                <a:solidFill>
                  <a:srgbClr val="96A3AE"/>
                </a:solidFill>
                <a:latin typeface="Calibri" pitchFamily="34" charset="0"/>
                <a:ea typeface="Calibri" pitchFamily="34" charset="-122"/>
                <a:cs typeface="Calibri" pitchFamily="34" charset="-120"/>
              </a:rPr>
              <a:t>12</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0C1E33"/>
        </a:solidFill>
      </p:bgPr>
    </p:bg>
    <p:spTree>
      <p:nvGrpSpPr>
        <p:cNvPr id="1" name=""/>
        <p:cNvGrpSpPr/>
        <p:nvPr/>
      </p:nvGrpSpPr>
      <p:grpSpPr>
        <a:xfrm>
          <a:off x="0" y="0"/>
          <a:ext cx="0" cy="0"/>
          <a:chOff x="0" y="0"/>
          <a:chExt cx="0" cy="0"/>
        </a:xfrm>
      </p:grpSpPr>
      <p:sp>
        <p:nvSpPr>
          <p:cNvPr id="2" name="Shape 0"/>
          <p:cNvSpPr/>
          <p:nvPr/>
        </p:nvSpPr>
        <p:spPr>
          <a:xfrm>
            <a:off x="-2194560" y="3840480"/>
            <a:ext cx="6035040" cy="6035040"/>
          </a:xfrm>
          <a:prstGeom prst="ellipse">
            <a:avLst/>
          </a:prstGeom>
          <a:solidFill>
            <a:srgbClr val="20A098">
              <a:alpha val="9000"/>
            </a:srgbClr>
          </a:solidFill>
          <a:ln/>
        </p:spPr>
      </p:sp>
      <p:sp>
        <p:nvSpPr>
          <p:cNvPr id="3" name="Text 1"/>
          <p:cNvSpPr txBox="1"/>
          <p:nvPr/>
        </p:nvSpPr>
        <p:spPr>
          <a:xfrm>
            <a:off x="548640" y="402336"/>
            <a:ext cx="11064240" cy="237744"/>
          </a:xfrm>
          <a:prstGeom prst="rect">
            <a:avLst/>
          </a:prstGeom>
          <a:noFill/>
          <a:ln/>
        </p:spPr>
        <p:txBody>
          <a:bodyPr wrap="square" lIns="0" tIns="0" rIns="0" bIns="0" rtlCol="0" anchor="ctr"/>
          <a:lstStyle/>
          <a:p>
            <a:pPr indent="0" marL="0">
              <a:buNone/>
            </a:pPr>
            <a:r>
              <a:rPr lang="en-US" sz="1100" b="1" spc="220" kern="0" dirty="0">
                <a:solidFill>
                  <a:srgbClr val="C9A227"/>
                </a:solidFill>
                <a:latin typeface="Calibri" pitchFamily="34" charset="0"/>
                <a:ea typeface="Calibri" pitchFamily="34" charset="-122"/>
                <a:cs typeface="Calibri" pitchFamily="34" charset="-120"/>
              </a:rPr>
              <a:t>WHAT IT RUNS ON</a:t>
            </a:r>
            <a:endParaRPr lang="en-US" sz="1100" dirty="0"/>
          </a:p>
        </p:txBody>
      </p:sp>
      <p:sp>
        <p:nvSpPr>
          <p:cNvPr id="4" name="Text 2"/>
          <p:cNvSpPr txBox="1"/>
          <p:nvPr/>
        </p:nvSpPr>
        <p:spPr>
          <a:xfrm>
            <a:off x="548640" y="658368"/>
            <a:ext cx="11064240" cy="566928"/>
          </a:xfrm>
          <a:prstGeom prst="rect">
            <a:avLst/>
          </a:prstGeom>
          <a:noFill/>
          <a:ln/>
        </p:spPr>
        <p:txBody>
          <a:bodyPr wrap="square" lIns="0" tIns="0" rIns="0" bIns="0" rtlCol="0" anchor="ctr"/>
          <a:lstStyle/>
          <a:p>
            <a:pPr indent="0" marL="0">
              <a:buNone/>
            </a:pPr>
            <a:r>
              <a:rPr lang="en-US" sz="3000" b="1" dirty="0">
                <a:solidFill>
                  <a:srgbClr val="FFFFFF"/>
                </a:solidFill>
                <a:latin typeface="Arial" pitchFamily="34" charset="0"/>
                <a:ea typeface="Arial" pitchFamily="34" charset="-122"/>
                <a:cs typeface="Arial" pitchFamily="34" charset="-120"/>
              </a:rPr>
              <a:t>SAP BTP services, and what it takes to deploy.</a:t>
            </a:r>
            <a:endParaRPr lang="en-US" sz="3000" dirty="0"/>
          </a:p>
        </p:txBody>
      </p:sp>
      <p:sp>
        <p:nvSpPr>
          <p:cNvPr id="5" name="Text 3"/>
          <p:cNvSpPr txBox="1"/>
          <p:nvPr/>
        </p:nvSpPr>
        <p:spPr>
          <a:xfrm>
            <a:off x="548640" y="1481328"/>
            <a:ext cx="5120640" cy="219456"/>
          </a:xfrm>
          <a:prstGeom prst="rect">
            <a:avLst/>
          </a:prstGeom>
          <a:noFill/>
          <a:ln/>
        </p:spPr>
        <p:txBody>
          <a:bodyPr wrap="square" lIns="0" tIns="0" rIns="0" bIns="0" rtlCol="0" anchor="ctr"/>
          <a:lstStyle/>
          <a:p>
            <a:pPr indent="0" marL="0">
              <a:buNone/>
            </a:pPr>
            <a:r>
              <a:rPr lang="en-US" sz="900" b="1" spc="150" kern="0" dirty="0">
                <a:solidFill>
                  <a:srgbClr val="20A098"/>
                </a:solidFill>
                <a:latin typeface="Calibri" pitchFamily="34" charset="0"/>
                <a:ea typeface="Calibri" pitchFamily="34" charset="-122"/>
                <a:cs typeface="Calibri" pitchFamily="34" charset="-120"/>
              </a:rPr>
              <a:t>CORE — REQUIRED FOR ANY DEPLOYMENT</a:t>
            </a:r>
            <a:endParaRPr lang="en-US" sz="900" dirty="0"/>
          </a:p>
        </p:txBody>
      </p:sp>
      <p:sp>
        <p:nvSpPr>
          <p:cNvPr id="6" name="Shape 4"/>
          <p:cNvSpPr/>
          <p:nvPr/>
        </p:nvSpPr>
        <p:spPr>
          <a:xfrm>
            <a:off x="548640" y="1773936"/>
            <a:ext cx="5138928" cy="448056"/>
          </a:xfrm>
          <a:prstGeom prst="roundRect">
            <a:avLst>
              <a:gd name="adj" fmla="val 10204"/>
            </a:avLst>
          </a:prstGeom>
          <a:solidFill>
            <a:srgbClr val="16304C"/>
          </a:solidFill>
          <a:ln w="7620">
            <a:solidFill>
              <a:srgbClr val="27415C"/>
            </a:solidFill>
            <a:prstDash val="solid"/>
          </a:ln>
        </p:spPr>
      </p:sp>
      <p:sp>
        <p:nvSpPr>
          <p:cNvPr id="7" name="Shape 5"/>
          <p:cNvSpPr/>
          <p:nvPr/>
        </p:nvSpPr>
        <p:spPr>
          <a:xfrm>
            <a:off x="676656" y="1911096"/>
            <a:ext cx="173736" cy="173736"/>
          </a:xfrm>
          <a:prstGeom prst="roundRect">
            <a:avLst>
              <a:gd name="adj" fmla="val 21053"/>
            </a:avLst>
          </a:prstGeom>
          <a:solidFill>
            <a:srgbClr val="20A098"/>
          </a:solidFill>
          <a:ln/>
        </p:spPr>
      </p:sp>
      <p:sp>
        <p:nvSpPr>
          <p:cNvPr id="8" name="Text 6"/>
          <p:cNvSpPr txBox="1"/>
          <p:nvPr/>
        </p:nvSpPr>
        <p:spPr>
          <a:xfrm>
            <a:off x="950976" y="1815084"/>
            <a:ext cx="4617720" cy="201168"/>
          </a:xfrm>
          <a:prstGeom prst="rect">
            <a:avLst/>
          </a:prstGeom>
          <a:noFill/>
          <a:ln/>
        </p:spPr>
        <p:txBody>
          <a:bodyPr wrap="square" lIns="0" tIns="0" rIns="0" bIns="0" rtlCol="0" anchor="ctr"/>
          <a:lstStyle/>
          <a:p>
            <a:pPr indent="0" marL="0">
              <a:buNone/>
            </a:pPr>
            <a:r>
              <a:rPr lang="en-US" sz="1000" b="1" dirty="0">
                <a:solidFill>
                  <a:srgbClr val="FFFFFF"/>
                </a:solidFill>
                <a:latin typeface="Arial" pitchFamily="34" charset="0"/>
                <a:ea typeface="Arial" pitchFamily="34" charset="-122"/>
                <a:cs typeface="Arial" pitchFamily="34" charset="-120"/>
              </a:rPr>
              <a:t>Cloud Foundry Runtime</a:t>
            </a:r>
            <a:endParaRPr lang="en-US" sz="1000" dirty="0"/>
          </a:p>
        </p:txBody>
      </p:sp>
      <p:sp>
        <p:nvSpPr>
          <p:cNvPr id="9" name="Text 7"/>
          <p:cNvSpPr txBox="1"/>
          <p:nvPr/>
        </p:nvSpPr>
        <p:spPr>
          <a:xfrm>
            <a:off x="950976" y="2007108"/>
            <a:ext cx="4617720" cy="182880"/>
          </a:xfrm>
          <a:prstGeom prst="rect">
            <a:avLst/>
          </a:prstGeom>
          <a:noFill/>
          <a:ln/>
        </p:spPr>
        <p:txBody>
          <a:bodyPr wrap="square" lIns="0" tIns="0" rIns="0" bIns="0" rtlCol="0" anchor="ctr"/>
          <a:lstStyle/>
          <a:p>
            <a:pPr indent="0" marL="0">
              <a:buNone/>
            </a:pPr>
            <a:r>
              <a:rPr lang="en-US" sz="840" dirty="0">
                <a:solidFill>
                  <a:srgbClr val="A9C2DA"/>
                </a:solidFill>
                <a:latin typeface="Calibri" pitchFamily="34" charset="0"/>
                <a:ea typeface="Calibri" pitchFamily="34" charset="-122"/>
                <a:cs typeface="Calibri" pitchFamily="34" charset="-120"/>
              </a:rPr>
              <a:t>Hosts the application, workflow engine and APIs</a:t>
            </a:r>
            <a:endParaRPr lang="en-US" sz="840" dirty="0"/>
          </a:p>
        </p:txBody>
      </p:sp>
      <p:sp>
        <p:nvSpPr>
          <p:cNvPr id="10" name="Shape 8"/>
          <p:cNvSpPr/>
          <p:nvPr/>
        </p:nvSpPr>
        <p:spPr>
          <a:xfrm>
            <a:off x="548640" y="2272284"/>
            <a:ext cx="5138928" cy="448056"/>
          </a:xfrm>
          <a:prstGeom prst="roundRect">
            <a:avLst>
              <a:gd name="adj" fmla="val 10204"/>
            </a:avLst>
          </a:prstGeom>
          <a:solidFill>
            <a:srgbClr val="16304C"/>
          </a:solidFill>
          <a:ln w="7620">
            <a:solidFill>
              <a:srgbClr val="27415C"/>
            </a:solidFill>
            <a:prstDash val="solid"/>
          </a:ln>
        </p:spPr>
      </p:sp>
      <p:sp>
        <p:nvSpPr>
          <p:cNvPr id="11" name="Shape 9"/>
          <p:cNvSpPr/>
          <p:nvPr/>
        </p:nvSpPr>
        <p:spPr>
          <a:xfrm>
            <a:off x="676656" y="2409444"/>
            <a:ext cx="173736" cy="173736"/>
          </a:xfrm>
          <a:prstGeom prst="roundRect">
            <a:avLst>
              <a:gd name="adj" fmla="val 21053"/>
            </a:avLst>
          </a:prstGeom>
          <a:solidFill>
            <a:srgbClr val="20A098"/>
          </a:solidFill>
          <a:ln/>
        </p:spPr>
      </p:sp>
      <p:sp>
        <p:nvSpPr>
          <p:cNvPr id="12" name="Text 10"/>
          <p:cNvSpPr txBox="1"/>
          <p:nvPr/>
        </p:nvSpPr>
        <p:spPr>
          <a:xfrm>
            <a:off x="950976" y="2313432"/>
            <a:ext cx="4617720" cy="201168"/>
          </a:xfrm>
          <a:prstGeom prst="rect">
            <a:avLst/>
          </a:prstGeom>
          <a:noFill/>
          <a:ln/>
        </p:spPr>
        <p:txBody>
          <a:bodyPr wrap="square" lIns="0" tIns="0" rIns="0" bIns="0" rtlCol="0" anchor="ctr"/>
          <a:lstStyle/>
          <a:p>
            <a:pPr indent="0" marL="0">
              <a:buNone/>
            </a:pPr>
            <a:r>
              <a:rPr lang="en-US" sz="1000" b="1" dirty="0">
                <a:solidFill>
                  <a:srgbClr val="FFFFFF"/>
                </a:solidFill>
                <a:latin typeface="Arial" pitchFamily="34" charset="0"/>
                <a:ea typeface="Arial" pitchFamily="34" charset="-122"/>
                <a:cs typeface="Arial" pitchFamily="34" charset="-120"/>
              </a:rPr>
              <a:t>SAP HANA Cloud</a:t>
            </a:r>
            <a:endParaRPr lang="en-US" sz="1000" dirty="0"/>
          </a:p>
        </p:txBody>
      </p:sp>
      <p:sp>
        <p:nvSpPr>
          <p:cNvPr id="13" name="Text 11"/>
          <p:cNvSpPr txBox="1"/>
          <p:nvPr/>
        </p:nvSpPr>
        <p:spPr>
          <a:xfrm>
            <a:off x="950976" y="2505456"/>
            <a:ext cx="4617720" cy="182880"/>
          </a:xfrm>
          <a:prstGeom prst="rect">
            <a:avLst/>
          </a:prstGeom>
          <a:noFill/>
          <a:ln/>
        </p:spPr>
        <p:txBody>
          <a:bodyPr wrap="square" lIns="0" tIns="0" rIns="0" bIns="0" rtlCol="0" anchor="ctr"/>
          <a:lstStyle/>
          <a:p>
            <a:pPr indent="0" marL="0">
              <a:buNone/>
            </a:pPr>
            <a:r>
              <a:rPr lang="en-US" sz="840" dirty="0">
                <a:solidFill>
                  <a:srgbClr val="A9C2DA"/>
                </a:solidFill>
                <a:latin typeface="Calibri" pitchFamily="34" charset="0"/>
                <a:ea typeface="Calibri" pitchFamily="34" charset="-122"/>
                <a:cs typeface="Calibri" pitchFamily="34" charset="-120"/>
              </a:rPr>
              <a:t>Iqama records, Nitaqat headcount, payments, audit trail</a:t>
            </a:r>
            <a:endParaRPr lang="en-US" sz="840" dirty="0"/>
          </a:p>
        </p:txBody>
      </p:sp>
      <p:sp>
        <p:nvSpPr>
          <p:cNvPr id="14" name="Shape 12"/>
          <p:cNvSpPr/>
          <p:nvPr/>
        </p:nvSpPr>
        <p:spPr>
          <a:xfrm>
            <a:off x="548640" y="2770632"/>
            <a:ext cx="5138928" cy="448056"/>
          </a:xfrm>
          <a:prstGeom prst="roundRect">
            <a:avLst>
              <a:gd name="adj" fmla="val 10204"/>
            </a:avLst>
          </a:prstGeom>
          <a:solidFill>
            <a:srgbClr val="16304C"/>
          </a:solidFill>
          <a:ln w="7620">
            <a:solidFill>
              <a:srgbClr val="27415C"/>
            </a:solidFill>
            <a:prstDash val="solid"/>
          </a:ln>
        </p:spPr>
      </p:sp>
      <p:sp>
        <p:nvSpPr>
          <p:cNvPr id="15" name="Shape 13"/>
          <p:cNvSpPr/>
          <p:nvPr/>
        </p:nvSpPr>
        <p:spPr>
          <a:xfrm>
            <a:off x="676656" y="2907792"/>
            <a:ext cx="173736" cy="173736"/>
          </a:xfrm>
          <a:prstGeom prst="roundRect">
            <a:avLst>
              <a:gd name="adj" fmla="val 21053"/>
            </a:avLst>
          </a:prstGeom>
          <a:solidFill>
            <a:srgbClr val="20A098"/>
          </a:solidFill>
          <a:ln/>
        </p:spPr>
      </p:sp>
      <p:sp>
        <p:nvSpPr>
          <p:cNvPr id="16" name="Text 14"/>
          <p:cNvSpPr txBox="1"/>
          <p:nvPr/>
        </p:nvSpPr>
        <p:spPr>
          <a:xfrm>
            <a:off x="950976" y="2811780"/>
            <a:ext cx="4617720" cy="201168"/>
          </a:xfrm>
          <a:prstGeom prst="rect">
            <a:avLst/>
          </a:prstGeom>
          <a:noFill/>
          <a:ln/>
        </p:spPr>
        <p:txBody>
          <a:bodyPr wrap="square" lIns="0" tIns="0" rIns="0" bIns="0" rtlCol="0" anchor="ctr"/>
          <a:lstStyle/>
          <a:p>
            <a:pPr indent="0" marL="0">
              <a:buNone/>
            </a:pPr>
            <a:r>
              <a:rPr lang="en-US" sz="1000" b="1" dirty="0">
                <a:solidFill>
                  <a:srgbClr val="FFFFFF"/>
                </a:solidFill>
                <a:latin typeface="Arial" pitchFamily="34" charset="0"/>
                <a:ea typeface="Arial" pitchFamily="34" charset="-122"/>
                <a:cs typeface="Arial" pitchFamily="34" charset="-120"/>
              </a:rPr>
              <a:t>SAP Build Work Zone</a:t>
            </a:r>
            <a:endParaRPr lang="en-US" sz="1000" dirty="0"/>
          </a:p>
        </p:txBody>
      </p:sp>
      <p:sp>
        <p:nvSpPr>
          <p:cNvPr id="17" name="Text 15"/>
          <p:cNvSpPr txBox="1"/>
          <p:nvPr/>
        </p:nvSpPr>
        <p:spPr>
          <a:xfrm>
            <a:off x="950976" y="3003804"/>
            <a:ext cx="4617720" cy="182880"/>
          </a:xfrm>
          <a:prstGeom prst="rect">
            <a:avLst/>
          </a:prstGeom>
          <a:noFill/>
          <a:ln/>
        </p:spPr>
        <p:txBody>
          <a:bodyPr wrap="square" lIns="0" tIns="0" rIns="0" bIns="0" rtlCol="0" anchor="ctr"/>
          <a:lstStyle/>
          <a:p>
            <a:pPr indent="0" marL="0">
              <a:buNone/>
            </a:pPr>
            <a:r>
              <a:rPr lang="en-US" sz="840" dirty="0">
                <a:solidFill>
                  <a:srgbClr val="A9C2DA"/>
                </a:solidFill>
                <a:latin typeface="Calibri" pitchFamily="34" charset="0"/>
                <a:ea typeface="Calibri" pitchFamily="34" charset="-122"/>
                <a:cs typeface="Calibri" pitchFamily="34" charset="-120"/>
              </a:rPr>
              <a:t>Role-based portal for PRO, HR, finance and employees</a:t>
            </a:r>
            <a:endParaRPr lang="en-US" sz="840" dirty="0"/>
          </a:p>
        </p:txBody>
      </p:sp>
      <p:sp>
        <p:nvSpPr>
          <p:cNvPr id="18" name="Shape 16"/>
          <p:cNvSpPr/>
          <p:nvPr/>
        </p:nvSpPr>
        <p:spPr>
          <a:xfrm>
            <a:off x="548640" y="3268980"/>
            <a:ext cx="5138928" cy="448056"/>
          </a:xfrm>
          <a:prstGeom prst="roundRect">
            <a:avLst>
              <a:gd name="adj" fmla="val 10204"/>
            </a:avLst>
          </a:prstGeom>
          <a:solidFill>
            <a:srgbClr val="16304C"/>
          </a:solidFill>
          <a:ln w="7620">
            <a:solidFill>
              <a:srgbClr val="27415C"/>
            </a:solidFill>
            <a:prstDash val="solid"/>
          </a:ln>
        </p:spPr>
      </p:sp>
      <p:sp>
        <p:nvSpPr>
          <p:cNvPr id="19" name="Shape 17"/>
          <p:cNvSpPr/>
          <p:nvPr/>
        </p:nvSpPr>
        <p:spPr>
          <a:xfrm>
            <a:off x="676656" y="3406140"/>
            <a:ext cx="173736" cy="173736"/>
          </a:xfrm>
          <a:prstGeom prst="roundRect">
            <a:avLst>
              <a:gd name="adj" fmla="val 21053"/>
            </a:avLst>
          </a:prstGeom>
          <a:solidFill>
            <a:srgbClr val="20A098"/>
          </a:solidFill>
          <a:ln/>
        </p:spPr>
      </p:sp>
      <p:sp>
        <p:nvSpPr>
          <p:cNvPr id="20" name="Text 18"/>
          <p:cNvSpPr txBox="1"/>
          <p:nvPr/>
        </p:nvSpPr>
        <p:spPr>
          <a:xfrm>
            <a:off x="950976" y="3310128"/>
            <a:ext cx="4617720" cy="201168"/>
          </a:xfrm>
          <a:prstGeom prst="rect">
            <a:avLst/>
          </a:prstGeom>
          <a:noFill/>
          <a:ln/>
        </p:spPr>
        <p:txBody>
          <a:bodyPr wrap="square" lIns="0" tIns="0" rIns="0" bIns="0" rtlCol="0" anchor="ctr"/>
          <a:lstStyle/>
          <a:p>
            <a:pPr indent="0" marL="0">
              <a:buNone/>
            </a:pPr>
            <a:r>
              <a:rPr lang="en-US" sz="1000" b="1" dirty="0">
                <a:solidFill>
                  <a:srgbClr val="FFFFFF"/>
                </a:solidFill>
                <a:latin typeface="Arial" pitchFamily="34" charset="0"/>
                <a:ea typeface="Arial" pitchFamily="34" charset="-122"/>
                <a:cs typeface="Arial" pitchFamily="34" charset="-120"/>
              </a:rPr>
              <a:t>SAP Build Process Automation</a:t>
            </a:r>
            <a:endParaRPr lang="en-US" sz="1000" dirty="0"/>
          </a:p>
        </p:txBody>
      </p:sp>
      <p:sp>
        <p:nvSpPr>
          <p:cNvPr id="21" name="Text 19"/>
          <p:cNvSpPr txBox="1"/>
          <p:nvPr/>
        </p:nvSpPr>
        <p:spPr>
          <a:xfrm>
            <a:off x="950976" y="3502152"/>
            <a:ext cx="4617720" cy="182880"/>
          </a:xfrm>
          <a:prstGeom prst="rect">
            <a:avLst/>
          </a:prstGeom>
          <a:noFill/>
          <a:ln/>
        </p:spPr>
        <p:txBody>
          <a:bodyPr wrap="square" lIns="0" tIns="0" rIns="0" bIns="0" rtlCol="0" anchor="ctr"/>
          <a:lstStyle/>
          <a:p>
            <a:pPr indent="0" marL="0">
              <a:buNone/>
            </a:pPr>
            <a:r>
              <a:rPr lang="en-US" sz="840" dirty="0">
                <a:solidFill>
                  <a:srgbClr val="A9C2DA"/>
                </a:solidFill>
                <a:latin typeface="Calibri" pitchFamily="34" charset="0"/>
                <a:ea typeface="Calibri" pitchFamily="34" charset="-122"/>
                <a:cs typeface="Calibri" pitchFamily="34" charset="-120"/>
              </a:rPr>
              <a:t>Steps, statutory due dates, reminders, escalation</a:t>
            </a:r>
            <a:endParaRPr lang="en-US" sz="840" dirty="0"/>
          </a:p>
        </p:txBody>
      </p:sp>
      <p:sp>
        <p:nvSpPr>
          <p:cNvPr id="22" name="Shape 20"/>
          <p:cNvSpPr/>
          <p:nvPr/>
        </p:nvSpPr>
        <p:spPr>
          <a:xfrm>
            <a:off x="548640" y="3767328"/>
            <a:ext cx="5138928" cy="448056"/>
          </a:xfrm>
          <a:prstGeom prst="roundRect">
            <a:avLst>
              <a:gd name="adj" fmla="val 10204"/>
            </a:avLst>
          </a:prstGeom>
          <a:solidFill>
            <a:srgbClr val="16304C"/>
          </a:solidFill>
          <a:ln w="7620">
            <a:solidFill>
              <a:srgbClr val="27415C"/>
            </a:solidFill>
            <a:prstDash val="solid"/>
          </a:ln>
        </p:spPr>
      </p:sp>
      <p:sp>
        <p:nvSpPr>
          <p:cNvPr id="23" name="Shape 21"/>
          <p:cNvSpPr/>
          <p:nvPr/>
        </p:nvSpPr>
        <p:spPr>
          <a:xfrm>
            <a:off x="676656" y="3904488"/>
            <a:ext cx="173736" cy="173736"/>
          </a:xfrm>
          <a:prstGeom prst="roundRect">
            <a:avLst>
              <a:gd name="adj" fmla="val 21053"/>
            </a:avLst>
          </a:prstGeom>
          <a:solidFill>
            <a:srgbClr val="20A098"/>
          </a:solidFill>
          <a:ln/>
        </p:spPr>
      </p:sp>
      <p:sp>
        <p:nvSpPr>
          <p:cNvPr id="24" name="Text 22"/>
          <p:cNvSpPr txBox="1"/>
          <p:nvPr/>
        </p:nvSpPr>
        <p:spPr>
          <a:xfrm>
            <a:off x="950976" y="3808476"/>
            <a:ext cx="4617720" cy="201168"/>
          </a:xfrm>
          <a:prstGeom prst="rect">
            <a:avLst/>
          </a:prstGeom>
          <a:noFill/>
          <a:ln/>
        </p:spPr>
        <p:txBody>
          <a:bodyPr wrap="square" lIns="0" tIns="0" rIns="0" bIns="0" rtlCol="0" anchor="ctr"/>
          <a:lstStyle/>
          <a:p>
            <a:pPr indent="0" marL="0">
              <a:buNone/>
            </a:pPr>
            <a:r>
              <a:rPr lang="en-US" sz="1000" b="1" dirty="0">
                <a:solidFill>
                  <a:srgbClr val="FFFFFF"/>
                </a:solidFill>
                <a:latin typeface="Arial" pitchFamily="34" charset="0"/>
                <a:ea typeface="Arial" pitchFamily="34" charset="-122"/>
                <a:cs typeface="Arial" pitchFamily="34" charset="-120"/>
              </a:rPr>
              <a:t>SAP Identity Authentication</a:t>
            </a:r>
            <a:endParaRPr lang="en-US" sz="1000" dirty="0"/>
          </a:p>
        </p:txBody>
      </p:sp>
      <p:sp>
        <p:nvSpPr>
          <p:cNvPr id="25" name="Text 23"/>
          <p:cNvSpPr txBox="1"/>
          <p:nvPr/>
        </p:nvSpPr>
        <p:spPr>
          <a:xfrm>
            <a:off x="950976" y="4000500"/>
            <a:ext cx="4617720" cy="182880"/>
          </a:xfrm>
          <a:prstGeom prst="rect">
            <a:avLst/>
          </a:prstGeom>
          <a:noFill/>
          <a:ln/>
        </p:spPr>
        <p:txBody>
          <a:bodyPr wrap="square" lIns="0" tIns="0" rIns="0" bIns="0" rtlCol="0" anchor="ctr"/>
          <a:lstStyle/>
          <a:p>
            <a:pPr indent="0" marL="0">
              <a:buNone/>
            </a:pPr>
            <a:r>
              <a:rPr lang="en-US" sz="840" dirty="0">
                <a:solidFill>
                  <a:srgbClr val="A9C2DA"/>
                </a:solidFill>
                <a:latin typeface="Calibri" pitchFamily="34" charset="0"/>
                <a:ea typeface="Calibri" pitchFamily="34" charset="-122"/>
                <a:cs typeface="Calibri" pitchFamily="34" charset="-120"/>
              </a:rPr>
              <a:t>Single sign-on and directory federation</a:t>
            </a:r>
            <a:endParaRPr lang="en-US" sz="840" dirty="0"/>
          </a:p>
        </p:txBody>
      </p:sp>
      <p:sp>
        <p:nvSpPr>
          <p:cNvPr id="26" name="Shape 24"/>
          <p:cNvSpPr/>
          <p:nvPr/>
        </p:nvSpPr>
        <p:spPr>
          <a:xfrm>
            <a:off x="548640" y="4265676"/>
            <a:ext cx="5138928" cy="448056"/>
          </a:xfrm>
          <a:prstGeom prst="roundRect">
            <a:avLst>
              <a:gd name="adj" fmla="val 10204"/>
            </a:avLst>
          </a:prstGeom>
          <a:solidFill>
            <a:srgbClr val="16304C"/>
          </a:solidFill>
          <a:ln w="7620">
            <a:solidFill>
              <a:srgbClr val="27415C"/>
            </a:solidFill>
            <a:prstDash val="solid"/>
          </a:ln>
        </p:spPr>
      </p:sp>
      <p:sp>
        <p:nvSpPr>
          <p:cNvPr id="27" name="Shape 25"/>
          <p:cNvSpPr/>
          <p:nvPr/>
        </p:nvSpPr>
        <p:spPr>
          <a:xfrm>
            <a:off x="676656" y="4402836"/>
            <a:ext cx="173736" cy="173736"/>
          </a:xfrm>
          <a:prstGeom prst="roundRect">
            <a:avLst>
              <a:gd name="adj" fmla="val 21053"/>
            </a:avLst>
          </a:prstGeom>
          <a:solidFill>
            <a:srgbClr val="20A098"/>
          </a:solidFill>
          <a:ln/>
        </p:spPr>
      </p:sp>
      <p:sp>
        <p:nvSpPr>
          <p:cNvPr id="28" name="Text 26"/>
          <p:cNvSpPr txBox="1"/>
          <p:nvPr/>
        </p:nvSpPr>
        <p:spPr>
          <a:xfrm>
            <a:off x="950976" y="4306824"/>
            <a:ext cx="4617720" cy="201168"/>
          </a:xfrm>
          <a:prstGeom prst="rect">
            <a:avLst/>
          </a:prstGeom>
          <a:noFill/>
          <a:ln/>
        </p:spPr>
        <p:txBody>
          <a:bodyPr wrap="square" lIns="0" tIns="0" rIns="0" bIns="0" rtlCol="0" anchor="ctr"/>
          <a:lstStyle/>
          <a:p>
            <a:pPr indent="0" marL="0">
              <a:buNone/>
            </a:pPr>
            <a:r>
              <a:rPr lang="en-US" sz="1000" b="1" dirty="0">
                <a:solidFill>
                  <a:srgbClr val="FFFFFF"/>
                </a:solidFill>
                <a:latin typeface="Arial" pitchFamily="34" charset="0"/>
                <a:ea typeface="Arial" pitchFamily="34" charset="-122"/>
                <a:cs typeface="Arial" pitchFamily="34" charset="-120"/>
              </a:rPr>
              <a:t>Destination &amp; Connectivity</a:t>
            </a:r>
            <a:endParaRPr lang="en-US" sz="1000" dirty="0"/>
          </a:p>
        </p:txBody>
      </p:sp>
      <p:sp>
        <p:nvSpPr>
          <p:cNvPr id="29" name="Text 27"/>
          <p:cNvSpPr txBox="1"/>
          <p:nvPr/>
        </p:nvSpPr>
        <p:spPr>
          <a:xfrm>
            <a:off x="950976" y="4498848"/>
            <a:ext cx="4617720" cy="182880"/>
          </a:xfrm>
          <a:prstGeom prst="rect">
            <a:avLst/>
          </a:prstGeom>
          <a:noFill/>
          <a:ln/>
        </p:spPr>
        <p:txBody>
          <a:bodyPr wrap="square" lIns="0" tIns="0" rIns="0" bIns="0" rtlCol="0" anchor="ctr"/>
          <a:lstStyle/>
          <a:p>
            <a:pPr indent="0" marL="0">
              <a:buNone/>
            </a:pPr>
            <a:r>
              <a:rPr lang="en-US" sz="840" dirty="0">
                <a:solidFill>
                  <a:srgbClr val="A9C2DA"/>
                </a:solidFill>
                <a:latin typeface="Calibri" pitchFamily="34" charset="0"/>
                <a:ea typeface="Calibri" pitchFamily="34" charset="-122"/>
                <a:cs typeface="Calibri" pitchFamily="34" charset="-120"/>
              </a:rPr>
              <a:t>Secure outbound to SF, S/4HANA and Saudi endpoints</a:t>
            </a:r>
            <a:endParaRPr lang="en-US" sz="840" dirty="0"/>
          </a:p>
        </p:txBody>
      </p:sp>
      <p:sp>
        <p:nvSpPr>
          <p:cNvPr id="30" name="Text 28"/>
          <p:cNvSpPr txBox="1"/>
          <p:nvPr/>
        </p:nvSpPr>
        <p:spPr>
          <a:xfrm>
            <a:off x="5852160" y="1481328"/>
            <a:ext cx="5120640" cy="219456"/>
          </a:xfrm>
          <a:prstGeom prst="rect">
            <a:avLst/>
          </a:prstGeom>
          <a:noFill/>
          <a:ln/>
        </p:spPr>
        <p:txBody>
          <a:bodyPr wrap="square" lIns="0" tIns="0" rIns="0" bIns="0" rtlCol="0" anchor="ctr"/>
          <a:lstStyle/>
          <a:p>
            <a:pPr indent="0" marL="0">
              <a:buNone/>
            </a:pPr>
            <a:r>
              <a:rPr lang="en-US" sz="900" b="1" spc="150" kern="0" dirty="0">
                <a:solidFill>
                  <a:srgbClr val="C9A227"/>
                </a:solidFill>
                <a:latin typeface="Calibri" pitchFamily="34" charset="0"/>
                <a:ea typeface="Calibri" pitchFamily="34" charset="-122"/>
                <a:cs typeface="Calibri" pitchFamily="34" charset="-120"/>
              </a:rPr>
              <a:t>INTEGRATION &amp; SCALE — AS REQUIRED</a:t>
            </a:r>
            <a:endParaRPr lang="en-US" sz="900" dirty="0"/>
          </a:p>
        </p:txBody>
      </p:sp>
      <p:sp>
        <p:nvSpPr>
          <p:cNvPr id="31" name="Shape 29"/>
          <p:cNvSpPr/>
          <p:nvPr/>
        </p:nvSpPr>
        <p:spPr>
          <a:xfrm>
            <a:off x="5852160" y="1773936"/>
            <a:ext cx="5138928" cy="448056"/>
          </a:xfrm>
          <a:prstGeom prst="roundRect">
            <a:avLst>
              <a:gd name="adj" fmla="val 10204"/>
            </a:avLst>
          </a:prstGeom>
          <a:solidFill>
            <a:srgbClr val="16304C"/>
          </a:solidFill>
          <a:ln w="7620">
            <a:solidFill>
              <a:srgbClr val="27415C"/>
            </a:solidFill>
            <a:prstDash val="solid"/>
          </a:ln>
        </p:spPr>
      </p:sp>
      <p:sp>
        <p:nvSpPr>
          <p:cNvPr id="32" name="Shape 30"/>
          <p:cNvSpPr/>
          <p:nvPr/>
        </p:nvSpPr>
        <p:spPr>
          <a:xfrm>
            <a:off x="5980176" y="1911096"/>
            <a:ext cx="173736" cy="173736"/>
          </a:xfrm>
          <a:prstGeom prst="roundRect">
            <a:avLst>
              <a:gd name="adj" fmla="val 21053"/>
            </a:avLst>
          </a:prstGeom>
          <a:solidFill>
            <a:srgbClr val="C9A227"/>
          </a:solidFill>
          <a:ln/>
        </p:spPr>
      </p:sp>
      <p:sp>
        <p:nvSpPr>
          <p:cNvPr id="33" name="Text 31"/>
          <p:cNvSpPr txBox="1"/>
          <p:nvPr/>
        </p:nvSpPr>
        <p:spPr>
          <a:xfrm>
            <a:off x="6254496" y="1815084"/>
            <a:ext cx="4617720" cy="201168"/>
          </a:xfrm>
          <a:prstGeom prst="rect">
            <a:avLst/>
          </a:prstGeom>
          <a:noFill/>
          <a:ln/>
        </p:spPr>
        <p:txBody>
          <a:bodyPr wrap="square" lIns="0" tIns="0" rIns="0" bIns="0" rtlCol="0" anchor="ctr"/>
          <a:lstStyle/>
          <a:p>
            <a:pPr indent="0" marL="0">
              <a:buNone/>
            </a:pPr>
            <a:r>
              <a:rPr lang="en-US" sz="1000" b="1" dirty="0">
                <a:solidFill>
                  <a:srgbClr val="FFFFFF"/>
                </a:solidFill>
                <a:latin typeface="Arial" pitchFamily="34" charset="0"/>
                <a:ea typeface="Arial" pitchFamily="34" charset="-122"/>
                <a:cs typeface="Arial" pitchFamily="34" charset="-120"/>
              </a:rPr>
              <a:t>SAP Integration Suite (CPI)</a:t>
            </a:r>
            <a:endParaRPr lang="en-US" sz="1000" dirty="0"/>
          </a:p>
        </p:txBody>
      </p:sp>
      <p:sp>
        <p:nvSpPr>
          <p:cNvPr id="34" name="Text 32"/>
          <p:cNvSpPr txBox="1"/>
          <p:nvPr/>
        </p:nvSpPr>
        <p:spPr>
          <a:xfrm>
            <a:off x="6254496" y="2007108"/>
            <a:ext cx="4617720" cy="182880"/>
          </a:xfrm>
          <a:prstGeom prst="rect">
            <a:avLst/>
          </a:prstGeom>
          <a:noFill/>
          <a:ln/>
        </p:spPr>
        <p:txBody>
          <a:bodyPr wrap="square" lIns="0" tIns="0" rIns="0" bIns="0" rtlCol="0" anchor="ctr"/>
          <a:lstStyle/>
          <a:p>
            <a:pPr indent="0" marL="0">
              <a:buNone/>
            </a:pPr>
            <a:r>
              <a:rPr lang="en-US" sz="840" dirty="0">
                <a:solidFill>
                  <a:srgbClr val="A9C2DA"/>
                </a:solidFill>
                <a:latin typeface="Calibri" pitchFamily="34" charset="0"/>
                <a:ea typeface="Calibri" pitchFamily="34" charset="-122"/>
                <a:cs typeface="Calibri" pitchFamily="34" charset="-120"/>
              </a:rPr>
              <a:t>Flows to SF Recruiting, Onboarding, EC and S/4HANA</a:t>
            </a:r>
            <a:endParaRPr lang="en-US" sz="840" dirty="0"/>
          </a:p>
        </p:txBody>
      </p:sp>
      <p:sp>
        <p:nvSpPr>
          <p:cNvPr id="35" name="Shape 33"/>
          <p:cNvSpPr/>
          <p:nvPr/>
        </p:nvSpPr>
        <p:spPr>
          <a:xfrm>
            <a:off x="5852160" y="2272284"/>
            <a:ext cx="5138928" cy="448056"/>
          </a:xfrm>
          <a:prstGeom prst="roundRect">
            <a:avLst>
              <a:gd name="adj" fmla="val 10204"/>
            </a:avLst>
          </a:prstGeom>
          <a:solidFill>
            <a:srgbClr val="16304C"/>
          </a:solidFill>
          <a:ln w="7620">
            <a:solidFill>
              <a:srgbClr val="27415C"/>
            </a:solidFill>
            <a:prstDash val="solid"/>
          </a:ln>
        </p:spPr>
      </p:sp>
      <p:sp>
        <p:nvSpPr>
          <p:cNvPr id="36" name="Shape 34"/>
          <p:cNvSpPr/>
          <p:nvPr/>
        </p:nvSpPr>
        <p:spPr>
          <a:xfrm>
            <a:off x="5980176" y="2409444"/>
            <a:ext cx="173736" cy="173736"/>
          </a:xfrm>
          <a:prstGeom prst="roundRect">
            <a:avLst>
              <a:gd name="adj" fmla="val 21053"/>
            </a:avLst>
          </a:prstGeom>
          <a:solidFill>
            <a:srgbClr val="C9A227"/>
          </a:solidFill>
          <a:ln/>
        </p:spPr>
      </p:sp>
      <p:sp>
        <p:nvSpPr>
          <p:cNvPr id="37" name="Text 35"/>
          <p:cNvSpPr txBox="1"/>
          <p:nvPr/>
        </p:nvSpPr>
        <p:spPr>
          <a:xfrm>
            <a:off x="6254496" y="2313432"/>
            <a:ext cx="4617720" cy="201168"/>
          </a:xfrm>
          <a:prstGeom prst="rect">
            <a:avLst/>
          </a:prstGeom>
          <a:noFill/>
          <a:ln/>
        </p:spPr>
        <p:txBody>
          <a:bodyPr wrap="square" lIns="0" tIns="0" rIns="0" bIns="0" rtlCol="0" anchor="ctr"/>
          <a:lstStyle/>
          <a:p>
            <a:pPr indent="0" marL="0">
              <a:buNone/>
            </a:pPr>
            <a:r>
              <a:rPr lang="en-US" sz="1000" b="1" dirty="0">
                <a:solidFill>
                  <a:srgbClr val="FFFFFF"/>
                </a:solidFill>
                <a:latin typeface="Arial" pitchFamily="34" charset="0"/>
                <a:ea typeface="Arial" pitchFamily="34" charset="-122"/>
                <a:cs typeface="Arial" pitchFamily="34" charset="-120"/>
              </a:rPr>
              <a:t>Document Management</a:t>
            </a:r>
            <a:endParaRPr lang="en-US" sz="1000" dirty="0"/>
          </a:p>
        </p:txBody>
      </p:sp>
      <p:sp>
        <p:nvSpPr>
          <p:cNvPr id="38" name="Text 36"/>
          <p:cNvSpPr txBox="1"/>
          <p:nvPr/>
        </p:nvSpPr>
        <p:spPr>
          <a:xfrm>
            <a:off x="6254496" y="2505456"/>
            <a:ext cx="4617720" cy="182880"/>
          </a:xfrm>
          <a:prstGeom prst="rect">
            <a:avLst/>
          </a:prstGeom>
          <a:noFill/>
          <a:ln/>
        </p:spPr>
        <p:txBody>
          <a:bodyPr wrap="square" lIns="0" tIns="0" rIns="0" bIns="0" rtlCol="0" anchor="ctr"/>
          <a:lstStyle/>
          <a:p>
            <a:pPr indent="0" marL="0">
              <a:buNone/>
            </a:pPr>
            <a:r>
              <a:rPr lang="en-US" sz="840" dirty="0">
                <a:solidFill>
                  <a:srgbClr val="A9C2DA"/>
                </a:solidFill>
                <a:latin typeface="Calibri" pitchFamily="34" charset="0"/>
                <a:ea typeface="Calibri" pitchFamily="34" charset="-122"/>
                <a:cs typeface="Calibri" pitchFamily="34" charset="-120"/>
              </a:rPr>
              <a:t>Qiwa contracts, SADAD receipts, SCFHS certificates</a:t>
            </a:r>
            <a:endParaRPr lang="en-US" sz="840" dirty="0"/>
          </a:p>
        </p:txBody>
      </p:sp>
      <p:sp>
        <p:nvSpPr>
          <p:cNvPr id="39" name="Shape 37"/>
          <p:cNvSpPr/>
          <p:nvPr/>
        </p:nvSpPr>
        <p:spPr>
          <a:xfrm>
            <a:off x="5852160" y="2770632"/>
            <a:ext cx="5138928" cy="448056"/>
          </a:xfrm>
          <a:prstGeom prst="roundRect">
            <a:avLst>
              <a:gd name="adj" fmla="val 10204"/>
            </a:avLst>
          </a:prstGeom>
          <a:solidFill>
            <a:srgbClr val="16304C"/>
          </a:solidFill>
          <a:ln w="7620">
            <a:solidFill>
              <a:srgbClr val="27415C"/>
            </a:solidFill>
            <a:prstDash val="solid"/>
          </a:ln>
        </p:spPr>
      </p:sp>
      <p:sp>
        <p:nvSpPr>
          <p:cNvPr id="40" name="Shape 38"/>
          <p:cNvSpPr/>
          <p:nvPr/>
        </p:nvSpPr>
        <p:spPr>
          <a:xfrm>
            <a:off x="5980176" y="2907792"/>
            <a:ext cx="173736" cy="173736"/>
          </a:xfrm>
          <a:prstGeom prst="roundRect">
            <a:avLst>
              <a:gd name="adj" fmla="val 21053"/>
            </a:avLst>
          </a:prstGeom>
          <a:solidFill>
            <a:srgbClr val="C9A227"/>
          </a:solidFill>
          <a:ln/>
        </p:spPr>
      </p:sp>
      <p:sp>
        <p:nvSpPr>
          <p:cNvPr id="41" name="Text 39"/>
          <p:cNvSpPr txBox="1"/>
          <p:nvPr/>
        </p:nvSpPr>
        <p:spPr>
          <a:xfrm>
            <a:off x="6254496" y="2811780"/>
            <a:ext cx="4617720" cy="201168"/>
          </a:xfrm>
          <a:prstGeom prst="rect">
            <a:avLst/>
          </a:prstGeom>
          <a:noFill/>
          <a:ln/>
        </p:spPr>
        <p:txBody>
          <a:bodyPr wrap="square" lIns="0" tIns="0" rIns="0" bIns="0" rtlCol="0" anchor="ctr"/>
          <a:lstStyle/>
          <a:p>
            <a:pPr indent="0" marL="0">
              <a:buNone/>
            </a:pPr>
            <a:r>
              <a:rPr lang="en-US" sz="1000" b="1" dirty="0">
                <a:solidFill>
                  <a:srgbClr val="FFFFFF"/>
                </a:solidFill>
                <a:latin typeface="Arial" pitchFamily="34" charset="0"/>
                <a:ea typeface="Arial" pitchFamily="34" charset="-122"/>
                <a:cs typeface="Arial" pitchFamily="34" charset="-120"/>
              </a:rPr>
              <a:t>Alert Notification / Email</a:t>
            </a:r>
            <a:endParaRPr lang="en-US" sz="1000" dirty="0"/>
          </a:p>
        </p:txBody>
      </p:sp>
      <p:sp>
        <p:nvSpPr>
          <p:cNvPr id="42" name="Text 40"/>
          <p:cNvSpPr txBox="1"/>
          <p:nvPr/>
        </p:nvSpPr>
        <p:spPr>
          <a:xfrm>
            <a:off x="6254496" y="3003804"/>
            <a:ext cx="4617720" cy="182880"/>
          </a:xfrm>
          <a:prstGeom prst="rect">
            <a:avLst/>
          </a:prstGeom>
          <a:noFill/>
          <a:ln/>
        </p:spPr>
        <p:txBody>
          <a:bodyPr wrap="square" lIns="0" tIns="0" rIns="0" bIns="0" rtlCol="0" anchor="ctr"/>
          <a:lstStyle/>
          <a:p>
            <a:pPr indent="0" marL="0">
              <a:buNone/>
            </a:pPr>
            <a:r>
              <a:rPr lang="en-US" sz="840" dirty="0">
                <a:solidFill>
                  <a:srgbClr val="A9C2DA"/>
                </a:solidFill>
                <a:latin typeface="Calibri" pitchFamily="34" charset="0"/>
                <a:ea typeface="Calibri" pitchFamily="34" charset="-122"/>
                <a:cs typeface="Calibri" pitchFamily="34" charset="-120"/>
              </a:rPr>
              <a:t>Iqama expiry, return-by alerts, escalation mail</a:t>
            </a:r>
            <a:endParaRPr lang="en-US" sz="840" dirty="0"/>
          </a:p>
        </p:txBody>
      </p:sp>
      <p:sp>
        <p:nvSpPr>
          <p:cNvPr id="43" name="Shape 41"/>
          <p:cNvSpPr/>
          <p:nvPr/>
        </p:nvSpPr>
        <p:spPr>
          <a:xfrm>
            <a:off x="5852160" y="3268980"/>
            <a:ext cx="5138928" cy="448056"/>
          </a:xfrm>
          <a:prstGeom prst="roundRect">
            <a:avLst>
              <a:gd name="adj" fmla="val 10204"/>
            </a:avLst>
          </a:prstGeom>
          <a:solidFill>
            <a:srgbClr val="16304C"/>
          </a:solidFill>
          <a:ln w="7620">
            <a:solidFill>
              <a:srgbClr val="27415C"/>
            </a:solidFill>
            <a:prstDash val="solid"/>
          </a:ln>
        </p:spPr>
      </p:sp>
      <p:sp>
        <p:nvSpPr>
          <p:cNvPr id="44" name="Shape 42"/>
          <p:cNvSpPr/>
          <p:nvPr/>
        </p:nvSpPr>
        <p:spPr>
          <a:xfrm>
            <a:off x="5980176" y="3406140"/>
            <a:ext cx="173736" cy="173736"/>
          </a:xfrm>
          <a:prstGeom prst="roundRect">
            <a:avLst>
              <a:gd name="adj" fmla="val 21053"/>
            </a:avLst>
          </a:prstGeom>
          <a:solidFill>
            <a:srgbClr val="C9A227"/>
          </a:solidFill>
          <a:ln/>
        </p:spPr>
      </p:sp>
      <p:sp>
        <p:nvSpPr>
          <p:cNvPr id="45" name="Text 43"/>
          <p:cNvSpPr txBox="1"/>
          <p:nvPr/>
        </p:nvSpPr>
        <p:spPr>
          <a:xfrm>
            <a:off x="6254496" y="3310128"/>
            <a:ext cx="4617720" cy="201168"/>
          </a:xfrm>
          <a:prstGeom prst="rect">
            <a:avLst/>
          </a:prstGeom>
          <a:noFill/>
          <a:ln/>
        </p:spPr>
        <p:txBody>
          <a:bodyPr wrap="square" lIns="0" tIns="0" rIns="0" bIns="0" rtlCol="0" anchor="ctr"/>
          <a:lstStyle/>
          <a:p>
            <a:pPr indent="0" marL="0">
              <a:buNone/>
            </a:pPr>
            <a:r>
              <a:rPr lang="en-US" sz="1000" b="1" dirty="0">
                <a:solidFill>
                  <a:srgbClr val="FFFFFF"/>
                </a:solidFill>
                <a:latin typeface="Arial" pitchFamily="34" charset="0"/>
                <a:ea typeface="Arial" pitchFamily="34" charset="-122"/>
                <a:cs typeface="Arial" pitchFamily="34" charset="-120"/>
              </a:rPr>
              <a:t>Job Scheduling</a:t>
            </a:r>
            <a:endParaRPr lang="en-US" sz="1000" dirty="0"/>
          </a:p>
        </p:txBody>
      </p:sp>
      <p:sp>
        <p:nvSpPr>
          <p:cNvPr id="46" name="Text 44"/>
          <p:cNvSpPr txBox="1"/>
          <p:nvPr/>
        </p:nvSpPr>
        <p:spPr>
          <a:xfrm>
            <a:off x="6254496" y="3502152"/>
            <a:ext cx="4617720" cy="182880"/>
          </a:xfrm>
          <a:prstGeom prst="rect">
            <a:avLst/>
          </a:prstGeom>
          <a:noFill/>
          <a:ln/>
        </p:spPr>
        <p:txBody>
          <a:bodyPr wrap="square" lIns="0" tIns="0" rIns="0" bIns="0" rtlCol="0" anchor="ctr"/>
          <a:lstStyle/>
          <a:p>
            <a:pPr indent="0" marL="0">
              <a:buNone/>
            </a:pPr>
            <a:r>
              <a:rPr lang="en-US" sz="840" dirty="0">
                <a:solidFill>
                  <a:srgbClr val="A9C2DA"/>
                </a:solidFill>
                <a:latin typeface="Calibri" pitchFamily="34" charset="0"/>
                <a:ea typeface="Calibri" pitchFamily="34" charset="-122"/>
                <a:cs typeface="Calibri" pitchFamily="34" charset="-120"/>
              </a:rPr>
              <a:t>Nightly expiry and return-by scans, Nitaqat recalculation</a:t>
            </a:r>
            <a:endParaRPr lang="en-US" sz="840" dirty="0"/>
          </a:p>
        </p:txBody>
      </p:sp>
      <p:sp>
        <p:nvSpPr>
          <p:cNvPr id="47" name="Shape 45"/>
          <p:cNvSpPr/>
          <p:nvPr/>
        </p:nvSpPr>
        <p:spPr>
          <a:xfrm>
            <a:off x="5852160" y="3767328"/>
            <a:ext cx="5138928" cy="448056"/>
          </a:xfrm>
          <a:prstGeom prst="roundRect">
            <a:avLst>
              <a:gd name="adj" fmla="val 10204"/>
            </a:avLst>
          </a:prstGeom>
          <a:solidFill>
            <a:srgbClr val="16304C"/>
          </a:solidFill>
          <a:ln w="7620">
            <a:solidFill>
              <a:srgbClr val="27415C"/>
            </a:solidFill>
            <a:prstDash val="solid"/>
          </a:ln>
        </p:spPr>
      </p:sp>
      <p:sp>
        <p:nvSpPr>
          <p:cNvPr id="48" name="Shape 46"/>
          <p:cNvSpPr/>
          <p:nvPr/>
        </p:nvSpPr>
        <p:spPr>
          <a:xfrm>
            <a:off x="5980176" y="3904488"/>
            <a:ext cx="173736" cy="173736"/>
          </a:xfrm>
          <a:prstGeom prst="roundRect">
            <a:avLst>
              <a:gd name="adj" fmla="val 21053"/>
            </a:avLst>
          </a:prstGeom>
          <a:solidFill>
            <a:srgbClr val="C9A227"/>
          </a:solidFill>
          <a:ln/>
        </p:spPr>
      </p:sp>
      <p:sp>
        <p:nvSpPr>
          <p:cNvPr id="49" name="Text 47"/>
          <p:cNvSpPr txBox="1"/>
          <p:nvPr/>
        </p:nvSpPr>
        <p:spPr>
          <a:xfrm>
            <a:off x="6254496" y="3808476"/>
            <a:ext cx="4617720" cy="201168"/>
          </a:xfrm>
          <a:prstGeom prst="rect">
            <a:avLst/>
          </a:prstGeom>
          <a:noFill/>
          <a:ln/>
        </p:spPr>
        <p:txBody>
          <a:bodyPr wrap="square" lIns="0" tIns="0" rIns="0" bIns="0" rtlCol="0" anchor="ctr"/>
          <a:lstStyle/>
          <a:p>
            <a:pPr indent="0" marL="0">
              <a:buNone/>
            </a:pPr>
            <a:r>
              <a:rPr lang="en-US" sz="1000" b="1" dirty="0">
                <a:solidFill>
                  <a:srgbClr val="FFFFFF"/>
                </a:solidFill>
                <a:latin typeface="Arial" pitchFamily="34" charset="0"/>
                <a:ea typeface="Arial" pitchFamily="34" charset="-122"/>
                <a:cs typeface="Arial" pitchFamily="34" charset="-120"/>
              </a:rPr>
              <a:t>SAP Analytics Cloud</a:t>
            </a:r>
            <a:endParaRPr lang="en-US" sz="1000" dirty="0"/>
          </a:p>
        </p:txBody>
      </p:sp>
      <p:sp>
        <p:nvSpPr>
          <p:cNvPr id="50" name="Text 48"/>
          <p:cNvSpPr txBox="1"/>
          <p:nvPr/>
        </p:nvSpPr>
        <p:spPr>
          <a:xfrm>
            <a:off x="6254496" y="4000500"/>
            <a:ext cx="4617720" cy="182880"/>
          </a:xfrm>
          <a:prstGeom prst="rect">
            <a:avLst/>
          </a:prstGeom>
          <a:noFill/>
          <a:ln/>
        </p:spPr>
        <p:txBody>
          <a:bodyPr wrap="square" lIns="0" tIns="0" rIns="0" bIns="0" rtlCol="0" anchor="ctr"/>
          <a:lstStyle/>
          <a:p>
            <a:pPr indent="0" marL="0">
              <a:buNone/>
            </a:pPr>
            <a:r>
              <a:rPr lang="en-US" sz="840" dirty="0">
                <a:solidFill>
                  <a:srgbClr val="A9C2DA"/>
                </a:solidFill>
                <a:latin typeface="Calibri" pitchFamily="34" charset="0"/>
                <a:ea typeface="Calibri" pitchFamily="34" charset="-122"/>
                <a:cs typeface="Calibri" pitchFamily="34" charset="-120"/>
              </a:rPr>
              <a:t>Nitaqat forecasting, levy budgeting, exec dashboards</a:t>
            </a:r>
            <a:endParaRPr lang="en-US" sz="840" dirty="0"/>
          </a:p>
        </p:txBody>
      </p:sp>
      <p:sp>
        <p:nvSpPr>
          <p:cNvPr id="51" name="Shape 49"/>
          <p:cNvSpPr/>
          <p:nvPr/>
        </p:nvSpPr>
        <p:spPr>
          <a:xfrm>
            <a:off x="5852160" y="4265676"/>
            <a:ext cx="5138928" cy="448056"/>
          </a:xfrm>
          <a:prstGeom prst="roundRect">
            <a:avLst>
              <a:gd name="adj" fmla="val 10204"/>
            </a:avLst>
          </a:prstGeom>
          <a:solidFill>
            <a:srgbClr val="16304C"/>
          </a:solidFill>
          <a:ln w="7620">
            <a:solidFill>
              <a:srgbClr val="27415C"/>
            </a:solidFill>
            <a:prstDash val="solid"/>
          </a:ln>
        </p:spPr>
      </p:sp>
      <p:sp>
        <p:nvSpPr>
          <p:cNvPr id="52" name="Shape 50"/>
          <p:cNvSpPr/>
          <p:nvPr/>
        </p:nvSpPr>
        <p:spPr>
          <a:xfrm>
            <a:off x="5980176" y="4402836"/>
            <a:ext cx="173736" cy="173736"/>
          </a:xfrm>
          <a:prstGeom prst="roundRect">
            <a:avLst>
              <a:gd name="adj" fmla="val 21053"/>
            </a:avLst>
          </a:prstGeom>
          <a:solidFill>
            <a:srgbClr val="C9A227"/>
          </a:solidFill>
          <a:ln/>
        </p:spPr>
      </p:sp>
      <p:sp>
        <p:nvSpPr>
          <p:cNvPr id="53" name="Text 51"/>
          <p:cNvSpPr txBox="1"/>
          <p:nvPr/>
        </p:nvSpPr>
        <p:spPr>
          <a:xfrm>
            <a:off x="6254496" y="4306824"/>
            <a:ext cx="4617720" cy="201168"/>
          </a:xfrm>
          <a:prstGeom prst="rect">
            <a:avLst/>
          </a:prstGeom>
          <a:noFill/>
          <a:ln/>
        </p:spPr>
        <p:txBody>
          <a:bodyPr wrap="square" lIns="0" tIns="0" rIns="0" bIns="0" rtlCol="0" anchor="ctr"/>
          <a:lstStyle/>
          <a:p>
            <a:pPr indent="0" marL="0">
              <a:buNone/>
            </a:pPr>
            <a:r>
              <a:rPr lang="en-US" sz="1000" b="1" dirty="0">
                <a:solidFill>
                  <a:srgbClr val="FFFFFF"/>
                </a:solidFill>
                <a:latin typeface="Arial" pitchFamily="34" charset="0"/>
                <a:ea typeface="Arial" pitchFamily="34" charset="-122"/>
                <a:cs typeface="Arial" pitchFamily="34" charset="-120"/>
              </a:rPr>
              <a:t>Business Application Studio</a:t>
            </a:r>
            <a:endParaRPr lang="en-US" sz="1000" dirty="0"/>
          </a:p>
        </p:txBody>
      </p:sp>
      <p:sp>
        <p:nvSpPr>
          <p:cNvPr id="54" name="Text 52"/>
          <p:cNvSpPr txBox="1"/>
          <p:nvPr/>
        </p:nvSpPr>
        <p:spPr>
          <a:xfrm>
            <a:off x="6254496" y="4498848"/>
            <a:ext cx="4617720" cy="182880"/>
          </a:xfrm>
          <a:prstGeom prst="rect">
            <a:avLst/>
          </a:prstGeom>
          <a:noFill/>
          <a:ln/>
        </p:spPr>
        <p:txBody>
          <a:bodyPr wrap="square" lIns="0" tIns="0" rIns="0" bIns="0" rtlCol="0" anchor="ctr"/>
          <a:lstStyle/>
          <a:p>
            <a:pPr indent="0" marL="0">
              <a:buNone/>
            </a:pPr>
            <a:r>
              <a:rPr lang="en-US" sz="840" dirty="0">
                <a:solidFill>
                  <a:srgbClr val="A9C2DA"/>
                </a:solidFill>
                <a:latin typeface="Calibri" pitchFamily="34" charset="0"/>
                <a:ea typeface="Calibri" pitchFamily="34" charset="-122"/>
                <a:cs typeface="Calibri" pitchFamily="34" charset="-120"/>
              </a:rPr>
              <a:t>Localisation, Arabic package, change requests</a:t>
            </a:r>
            <a:endParaRPr lang="en-US" sz="840" dirty="0"/>
          </a:p>
        </p:txBody>
      </p:sp>
      <p:sp>
        <p:nvSpPr>
          <p:cNvPr id="55" name="Shape 53"/>
          <p:cNvSpPr/>
          <p:nvPr/>
        </p:nvSpPr>
        <p:spPr>
          <a:xfrm>
            <a:off x="548640" y="4846320"/>
            <a:ext cx="10442448" cy="804672"/>
          </a:xfrm>
          <a:prstGeom prst="roundRect">
            <a:avLst>
              <a:gd name="adj" fmla="val 7955"/>
            </a:avLst>
          </a:prstGeom>
          <a:solidFill>
            <a:srgbClr val="123A4E"/>
          </a:solidFill>
          <a:ln w="12700">
            <a:solidFill>
              <a:srgbClr val="12756F"/>
            </a:solidFill>
            <a:prstDash val="solid"/>
          </a:ln>
        </p:spPr>
      </p:sp>
      <p:sp>
        <p:nvSpPr>
          <p:cNvPr id="56" name="Text 54"/>
          <p:cNvSpPr txBox="1"/>
          <p:nvPr/>
        </p:nvSpPr>
        <p:spPr>
          <a:xfrm>
            <a:off x="749808" y="4956048"/>
            <a:ext cx="3200400" cy="201168"/>
          </a:xfrm>
          <a:prstGeom prst="rect">
            <a:avLst/>
          </a:prstGeom>
          <a:noFill/>
          <a:ln/>
        </p:spPr>
        <p:txBody>
          <a:bodyPr wrap="square" lIns="0" tIns="0" rIns="0" bIns="0" rtlCol="0" anchor="ctr"/>
          <a:lstStyle/>
          <a:p>
            <a:pPr indent="0" marL="0">
              <a:buNone/>
            </a:pPr>
            <a:r>
              <a:rPr lang="en-US" sz="1050" b="1" dirty="0">
                <a:solidFill>
                  <a:srgbClr val="20A098"/>
                </a:solidFill>
                <a:latin typeface="Arial" pitchFamily="34" charset="0"/>
                <a:ea typeface="Arial" pitchFamily="34" charset="-122"/>
                <a:cs typeface="Arial" pitchFamily="34" charset="-120"/>
              </a:rPr>
              <a:t>Data residency</a:t>
            </a:r>
            <a:endParaRPr lang="en-US" sz="1050" dirty="0"/>
          </a:p>
        </p:txBody>
      </p:sp>
      <p:sp>
        <p:nvSpPr>
          <p:cNvPr id="57" name="Text 55"/>
          <p:cNvSpPr txBox="1"/>
          <p:nvPr/>
        </p:nvSpPr>
        <p:spPr>
          <a:xfrm>
            <a:off x="749808" y="5157216"/>
            <a:ext cx="3200400" cy="420624"/>
          </a:xfrm>
          <a:prstGeom prst="rect">
            <a:avLst/>
          </a:prstGeom>
          <a:noFill/>
          <a:ln/>
        </p:spPr>
        <p:txBody>
          <a:bodyPr wrap="square" lIns="0" tIns="0" rIns="0" bIns="0" rtlCol="0" anchor="ctr"/>
          <a:lstStyle/>
          <a:p>
            <a:pPr indent="0" marL="0">
              <a:lnSpc>
                <a:spcPts val="1150"/>
              </a:lnSpc>
              <a:buNone/>
            </a:pPr>
            <a:r>
              <a:rPr lang="en-US" sz="840" dirty="0">
                <a:solidFill>
                  <a:srgbClr val="A9C2DA"/>
                </a:solidFill>
                <a:latin typeface="Calibri" pitchFamily="34" charset="0"/>
                <a:ea typeface="Calibri" pitchFamily="34" charset="-122"/>
                <a:cs typeface="Calibri" pitchFamily="34" charset="-120"/>
              </a:rPr>
              <a:t>Deployable in an SAP BTP region that meets Saudi data residency expectations, which is usually the first question a Saudi CIO asks.</a:t>
            </a:r>
            <a:endParaRPr lang="en-US" sz="840" dirty="0"/>
          </a:p>
        </p:txBody>
      </p:sp>
      <p:sp>
        <p:nvSpPr>
          <p:cNvPr id="58" name="Text 56"/>
          <p:cNvSpPr txBox="1"/>
          <p:nvPr/>
        </p:nvSpPr>
        <p:spPr>
          <a:xfrm>
            <a:off x="4187952" y="4956048"/>
            <a:ext cx="3200400" cy="201168"/>
          </a:xfrm>
          <a:prstGeom prst="rect">
            <a:avLst/>
          </a:prstGeom>
          <a:noFill/>
          <a:ln/>
        </p:spPr>
        <p:txBody>
          <a:bodyPr wrap="square" lIns="0" tIns="0" rIns="0" bIns="0" rtlCol="0" anchor="ctr"/>
          <a:lstStyle/>
          <a:p>
            <a:pPr indent="0" marL="0">
              <a:buNone/>
            </a:pPr>
            <a:r>
              <a:rPr lang="en-US" sz="1050" b="1" dirty="0">
                <a:solidFill>
                  <a:srgbClr val="20A098"/>
                </a:solidFill>
                <a:latin typeface="Arial" pitchFamily="34" charset="0"/>
                <a:ea typeface="Arial" pitchFamily="34" charset="-122"/>
                <a:cs typeface="Arial" pitchFamily="34" charset="-120"/>
              </a:rPr>
              <a:t>Arabic when you need it</a:t>
            </a:r>
            <a:endParaRPr lang="en-US" sz="1050" dirty="0"/>
          </a:p>
        </p:txBody>
      </p:sp>
      <p:sp>
        <p:nvSpPr>
          <p:cNvPr id="59" name="Text 57"/>
          <p:cNvSpPr txBox="1"/>
          <p:nvPr/>
        </p:nvSpPr>
        <p:spPr>
          <a:xfrm>
            <a:off x="4187952" y="5157216"/>
            <a:ext cx="3200400" cy="420624"/>
          </a:xfrm>
          <a:prstGeom prst="rect">
            <a:avLst/>
          </a:prstGeom>
          <a:noFill/>
          <a:ln/>
        </p:spPr>
        <p:txBody>
          <a:bodyPr wrap="square" lIns="0" tIns="0" rIns="0" bIns="0" rtlCol="0" anchor="ctr"/>
          <a:lstStyle/>
          <a:p>
            <a:pPr indent="0" marL="0">
              <a:lnSpc>
                <a:spcPts val="1150"/>
              </a:lnSpc>
              <a:buNone/>
            </a:pPr>
            <a:r>
              <a:rPr lang="en-US" sz="840" dirty="0">
                <a:solidFill>
                  <a:srgbClr val="A9C2DA"/>
                </a:solidFill>
                <a:latin typeface="Calibri" pitchFamily="34" charset="0"/>
                <a:ea typeface="Calibri" pitchFamily="34" charset="-122"/>
                <a:cs typeface="Calibri" pitchFamily="34" charset="-120"/>
              </a:rPr>
              <a:t>The interface ships in English. Arabic and right-to-left layout are a defined localisation package, not a rebuild.</a:t>
            </a:r>
            <a:endParaRPr lang="en-US" sz="840" dirty="0"/>
          </a:p>
        </p:txBody>
      </p:sp>
      <p:sp>
        <p:nvSpPr>
          <p:cNvPr id="60" name="Text 58"/>
          <p:cNvSpPr txBox="1"/>
          <p:nvPr/>
        </p:nvSpPr>
        <p:spPr>
          <a:xfrm>
            <a:off x="7626096" y="4956048"/>
            <a:ext cx="3200400" cy="201168"/>
          </a:xfrm>
          <a:prstGeom prst="rect">
            <a:avLst/>
          </a:prstGeom>
          <a:noFill/>
          <a:ln/>
        </p:spPr>
        <p:txBody>
          <a:bodyPr wrap="square" lIns="0" tIns="0" rIns="0" bIns="0" rtlCol="0" anchor="ctr"/>
          <a:lstStyle/>
          <a:p>
            <a:pPr indent="0" marL="0">
              <a:buNone/>
            </a:pPr>
            <a:r>
              <a:rPr lang="en-US" sz="1050" b="1" dirty="0">
                <a:solidFill>
                  <a:srgbClr val="20A098"/>
                </a:solidFill>
                <a:latin typeface="Arial" pitchFamily="34" charset="0"/>
                <a:ea typeface="Arial" pitchFamily="34" charset="-122"/>
                <a:cs typeface="Arial" pitchFamily="34" charset="-120"/>
              </a:rPr>
              <a:t>Weeks, not quarters</a:t>
            </a:r>
            <a:endParaRPr lang="en-US" sz="1050" dirty="0"/>
          </a:p>
        </p:txBody>
      </p:sp>
      <p:sp>
        <p:nvSpPr>
          <p:cNvPr id="61" name="Text 59"/>
          <p:cNvSpPr txBox="1"/>
          <p:nvPr/>
        </p:nvSpPr>
        <p:spPr>
          <a:xfrm>
            <a:off x="7626096" y="5157216"/>
            <a:ext cx="3200400" cy="420624"/>
          </a:xfrm>
          <a:prstGeom prst="rect">
            <a:avLst/>
          </a:prstGeom>
          <a:noFill/>
          <a:ln/>
        </p:spPr>
        <p:txBody>
          <a:bodyPr wrap="square" lIns="0" tIns="0" rIns="0" bIns="0" rtlCol="0" anchor="ctr"/>
          <a:lstStyle/>
          <a:p>
            <a:pPr indent="0" marL="0">
              <a:lnSpc>
                <a:spcPts val="1150"/>
              </a:lnSpc>
              <a:buNone/>
            </a:pPr>
            <a:r>
              <a:rPr lang="en-US" sz="840" dirty="0">
                <a:solidFill>
                  <a:srgbClr val="A9C2DA"/>
                </a:solidFill>
                <a:latin typeface="Calibri" pitchFamily="34" charset="0"/>
                <a:ea typeface="Calibri" pitchFamily="34" charset="-122"/>
                <a:cs typeface="Calibri" pitchFamily="34" charset="-120"/>
              </a:rPr>
              <a:t>Pre-built and configured rather than written from scratch. Environment and configuration, then integration, then localisation.</a:t>
            </a:r>
            <a:endParaRPr lang="en-US" sz="840" dirty="0"/>
          </a:p>
        </p:txBody>
      </p:sp>
      <p:sp>
        <p:nvSpPr>
          <p:cNvPr id="62" name="Text 60"/>
          <p:cNvSpPr txBox="1"/>
          <p:nvPr/>
        </p:nvSpPr>
        <p:spPr>
          <a:xfrm>
            <a:off x="548640" y="6419088"/>
            <a:ext cx="8595360" cy="237744"/>
          </a:xfrm>
          <a:prstGeom prst="rect">
            <a:avLst/>
          </a:prstGeom>
          <a:noFill/>
          <a:ln/>
        </p:spPr>
        <p:txBody>
          <a:bodyPr wrap="square" lIns="0" tIns="0" rIns="0" bIns="0" rtlCol="0" anchor="ctr"/>
          <a:lstStyle/>
          <a:p>
            <a:pPr indent="0" marL="0">
              <a:buNone/>
            </a:pPr>
            <a:r>
              <a:rPr lang="en-US" sz="900" dirty="0">
                <a:solidFill>
                  <a:srgbClr val="7E99B4"/>
                </a:solidFill>
                <a:latin typeface="Calibri" pitchFamily="34" charset="0"/>
                <a:ea typeface="Calibri" pitchFamily="34" charset="-122"/>
                <a:cs typeface="Calibri" pitchFamily="34" charset="-120"/>
              </a:rPr>
              <a:t>INK IT Business Solutions  ·  Visa &amp; Permits Management  ·  Kingdom of Saudi Arabia</a:t>
            </a:r>
            <a:endParaRPr lang="en-US" sz="900" dirty="0"/>
          </a:p>
        </p:txBody>
      </p:sp>
      <p:sp>
        <p:nvSpPr>
          <p:cNvPr id="63" name="Text 61"/>
          <p:cNvSpPr txBox="1"/>
          <p:nvPr/>
        </p:nvSpPr>
        <p:spPr>
          <a:xfrm>
            <a:off x="11155680" y="6419088"/>
            <a:ext cx="457200" cy="237744"/>
          </a:xfrm>
          <a:prstGeom prst="rect">
            <a:avLst/>
          </a:prstGeom>
          <a:noFill/>
          <a:ln/>
        </p:spPr>
        <p:txBody>
          <a:bodyPr wrap="square" lIns="0" tIns="0" rIns="0" bIns="0" rtlCol="0" anchor="ctr"/>
          <a:lstStyle/>
          <a:p>
            <a:pPr algn="r" indent="0" marL="0">
              <a:buNone/>
            </a:pPr>
            <a:r>
              <a:rPr lang="en-US" sz="900" dirty="0">
                <a:solidFill>
                  <a:srgbClr val="7E99B4"/>
                </a:solidFill>
                <a:latin typeface="Calibri" pitchFamily="34" charset="0"/>
                <a:ea typeface="Calibri" pitchFamily="34" charset="-122"/>
                <a:cs typeface="Calibri" pitchFamily="34" charset="-120"/>
              </a:rPr>
              <a:t>13</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0C1E33"/>
        </a:solidFill>
      </p:bgPr>
    </p:bg>
    <p:spTree>
      <p:nvGrpSpPr>
        <p:cNvPr id="1" name=""/>
        <p:cNvGrpSpPr/>
        <p:nvPr/>
      </p:nvGrpSpPr>
      <p:grpSpPr>
        <a:xfrm>
          <a:off x="0" y="0"/>
          <a:ext cx="0" cy="0"/>
          <a:chOff x="0" y="0"/>
          <a:chExt cx="0" cy="0"/>
        </a:xfrm>
      </p:grpSpPr>
      <p:sp>
        <p:nvSpPr>
          <p:cNvPr id="2" name="Shape 0"/>
          <p:cNvSpPr/>
          <p:nvPr/>
        </p:nvSpPr>
        <p:spPr>
          <a:xfrm>
            <a:off x="8961120" y="-2194560"/>
            <a:ext cx="6217920" cy="6217920"/>
          </a:xfrm>
          <a:prstGeom prst="ellipse">
            <a:avLst/>
          </a:prstGeom>
          <a:solidFill>
            <a:srgbClr val="20A098">
              <a:alpha val="11000"/>
            </a:srgbClr>
          </a:solidFill>
          <a:ln/>
        </p:spPr>
      </p:sp>
      <p:sp>
        <p:nvSpPr>
          <p:cNvPr id="3" name="Text 1"/>
          <p:cNvSpPr txBox="1"/>
          <p:nvPr/>
        </p:nvSpPr>
        <p:spPr>
          <a:xfrm>
            <a:off x="548640" y="402336"/>
            <a:ext cx="11064240" cy="237744"/>
          </a:xfrm>
          <a:prstGeom prst="rect">
            <a:avLst/>
          </a:prstGeom>
          <a:noFill/>
          <a:ln/>
        </p:spPr>
        <p:txBody>
          <a:bodyPr wrap="square" lIns="0" tIns="0" rIns="0" bIns="0" rtlCol="0" anchor="ctr"/>
          <a:lstStyle/>
          <a:p>
            <a:pPr indent="0" marL="0">
              <a:buNone/>
            </a:pPr>
            <a:r>
              <a:rPr lang="en-US" sz="1100" b="1" spc="220" kern="0" dirty="0">
                <a:solidFill>
                  <a:srgbClr val="C9A227"/>
                </a:solidFill>
                <a:latin typeface="Calibri" pitchFamily="34" charset="0"/>
                <a:ea typeface="Calibri" pitchFamily="34" charset="-122"/>
                <a:cs typeface="Calibri" pitchFamily="34" charset="-120"/>
              </a:rPr>
              <a:t>BEYOND THE KINGDOM</a:t>
            </a:r>
            <a:endParaRPr lang="en-US" sz="1100" dirty="0"/>
          </a:p>
        </p:txBody>
      </p:sp>
      <p:sp>
        <p:nvSpPr>
          <p:cNvPr id="4" name="Text 2"/>
          <p:cNvSpPr txBox="1"/>
          <p:nvPr/>
        </p:nvSpPr>
        <p:spPr>
          <a:xfrm>
            <a:off x="548640" y="658368"/>
            <a:ext cx="11064240" cy="566928"/>
          </a:xfrm>
          <a:prstGeom prst="rect">
            <a:avLst/>
          </a:prstGeom>
          <a:noFill/>
          <a:ln/>
        </p:spPr>
        <p:txBody>
          <a:bodyPr wrap="square" lIns="0" tIns="0" rIns="0" bIns="0" rtlCol="0" anchor="ctr"/>
          <a:lstStyle/>
          <a:p>
            <a:pPr indent="0" marL="0">
              <a:buNone/>
            </a:pPr>
            <a:r>
              <a:rPr lang="en-US" sz="3000" b="1" dirty="0">
                <a:solidFill>
                  <a:srgbClr val="FFFFFF"/>
                </a:solidFill>
                <a:latin typeface="Arial" pitchFamily="34" charset="0"/>
                <a:ea typeface="Arial" pitchFamily="34" charset="-122"/>
                <a:cs typeface="Arial" pitchFamily="34" charset="-120"/>
              </a:rPr>
              <a:t>Saudi Arabia is one pack. There are seven.</a:t>
            </a:r>
            <a:endParaRPr lang="en-US" sz="3000" dirty="0"/>
          </a:p>
        </p:txBody>
      </p:sp>
      <p:sp>
        <p:nvSpPr>
          <p:cNvPr id="5" name="Text 3"/>
          <p:cNvSpPr txBox="1"/>
          <p:nvPr/>
        </p:nvSpPr>
        <p:spPr>
          <a:xfrm>
            <a:off x="548640" y="1243584"/>
            <a:ext cx="10424160" cy="310896"/>
          </a:xfrm>
          <a:prstGeom prst="rect">
            <a:avLst/>
          </a:prstGeom>
          <a:noFill/>
          <a:ln/>
        </p:spPr>
        <p:txBody>
          <a:bodyPr wrap="square" lIns="0" tIns="0" rIns="0" bIns="0" rtlCol="0" anchor="ctr"/>
          <a:lstStyle/>
          <a:p>
            <a:pPr indent="0" marL="0">
              <a:buNone/>
            </a:pPr>
            <a:r>
              <a:rPr lang="en-US" sz="1250" dirty="0">
                <a:solidFill>
                  <a:srgbClr val="A9C2DA"/>
                </a:solidFill>
                <a:latin typeface="Calibri" pitchFamily="34" charset="0"/>
                <a:ea typeface="Calibri" pitchFamily="34" charset="-122"/>
                <a:cs typeface="Calibri" pitchFamily="34" charset="-120"/>
              </a:rPr>
              <a:t>The engine underneath runs six more markets, so your second country is a configuration, not another project.</a:t>
            </a:r>
            <a:endParaRPr lang="en-US" sz="1250" dirty="0"/>
          </a:p>
        </p:txBody>
      </p:sp>
      <p:sp>
        <p:nvSpPr>
          <p:cNvPr id="6" name="Shape 4"/>
          <p:cNvSpPr/>
          <p:nvPr/>
        </p:nvSpPr>
        <p:spPr>
          <a:xfrm>
            <a:off x="548640" y="1773936"/>
            <a:ext cx="2670048" cy="1207008"/>
          </a:xfrm>
          <a:prstGeom prst="roundRect">
            <a:avLst>
              <a:gd name="adj" fmla="val 6061"/>
            </a:avLst>
          </a:prstGeom>
          <a:solidFill>
            <a:srgbClr val="123A4E"/>
          </a:solidFill>
          <a:ln w="20320">
            <a:solidFill>
              <a:srgbClr val="20A098"/>
            </a:solidFill>
            <a:prstDash val="solid"/>
          </a:ln>
        </p:spPr>
      </p:sp>
      <p:sp>
        <p:nvSpPr>
          <p:cNvPr id="7" name="Text 5"/>
          <p:cNvSpPr txBox="1"/>
          <p:nvPr/>
        </p:nvSpPr>
        <p:spPr>
          <a:xfrm>
            <a:off x="704088" y="1883664"/>
            <a:ext cx="1463040" cy="237744"/>
          </a:xfrm>
          <a:prstGeom prst="rect">
            <a:avLst/>
          </a:prstGeom>
          <a:noFill/>
          <a:ln/>
        </p:spPr>
        <p:txBody>
          <a:bodyPr wrap="square" lIns="0" tIns="0" rIns="0" bIns="0" rtlCol="0" anchor="ctr"/>
          <a:lstStyle/>
          <a:p>
            <a:pPr indent="0" marL="0">
              <a:buNone/>
            </a:pPr>
            <a:r>
              <a:rPr lang="en-US" sz="1250" b="1" dirty="0">
                <a:solidFill>
                  <a:srgbClr val="FFFFFF"/>
                </a:solidFill>
                <a:latin typeface="Arial" pitchFamily="34" charset="0"/>
                <a:ea typeface="Arial" pitchFamily="34" charset="-122"/>
                <a:cs typeface="Arial" pitchFamily="34" charset="-120"/>
              </a:rPr>
              <a:t>Saudi Arabia</a:t>
            </a:r>
            <a:endParaRPr lang="en-US" sz="1250" dirty="0"/>
          </a:p>
        </p:txBody>
      </p:sp>
      <p:sp>
        <p:nvSpPr>
          <p:cNvPr id="8" name="Text 6"/>
          <p:cNvSpPr txBox="1"/>
          <p:nvPr/>
        </p:nvSpPr>
        <p:spPr>
          <a:xfrm>
            <a:off x="704088" y="2157984"/>
            <a:ext cx="2359152" cy="201168"/>
          </a:xfrm>
          <a:prstGeom prst="rect">
            <a:avLst/>
          </a:prstGeom>
          <a:noFill/>
          <a:ln/>
        </p:spPr>
        <p:txBody>
          <a:bodyPr wrap="square" lIns="0" tIns="0" rIns="0" bIns="0" rtlCol="0" anchor="ctr"/>
          <a:lstStyle/>
          <a:p>
            <a:pPr indent="0" marL="0">
              <a:buNone/>
            </a:pPr>
            <a:r>
              <a:rPr lang="en-US" sz="900" dirty="0">
                <a:solidFill>
                  <a:srgbClr val="20A098"/>
                </a:solidFill>
                <a:latin typeface="Calibri" pitchFamily="34" charset="0"/>
                <a:ea typeface="Calibri" pitchFamily="34" charset="-122"/>
                <a:cs typeface="Calibri" pitchFamily="34" charset="-120"/>
              </a:rPr>
              <a:t>Qiwa / Muqeem / Absher</a:t>
            </a:r>
            <a:endParaRPr lang="en-US" sz="900" dirty="0"/>
          </a:p>
        </p:txBody>
      </p:sp>
      <p:sp>
        <p:nvSpPr>
          <p:cNvPr id="9" name="Text 7"/>
          <p:cNvSpPr txBox="1"/>
          <p:nvPr/>
        </p:nvSpPr>
        <p:spPr>
          <a:xfrm>
            <a:off x="704088" y="2377440"/>
            <a:ext cx="2359152" cy="493776"/>
          </a:xfrm>
          <a:prstGeom prst="rect">
            <a:avLst/>
          </a:prstGeom>
          <a:noFill/>
          <a:ln/>
        </p:spPr>
        <p:txBody>
          <a:bodyPr wrap="square" lIns="0" tIns="0" rIns="0" bIns="0" rtlCol="0" anchor="ctr"/>
          <a:lstStyle/>
          <a:p>
            <a:pPr indent="0" marL="0">
              <a:lnSpc>
                <a:spcPts val="1220"/>
              </a:lnSpc>
              <a:buNone/>
            </a:pPr>
            <a:r>
              <a:rPr lang="en-US" sz="920" dirty="0">
                <a:solidFill>
                  <a:srgbClr val="A9C2DA"/>
                </a:solidFill>
                <a:latin typeface="Calibri" pitchFamily="34" charset="0"/>
                <a:ea typeface="Calibri" pitchFamily="34" charset="-122"/>
                <a:cs typeface="Calibri" pitchFamily="34" charset="-120"/>
              </a:rPr>
              <a:t>Nitaqat gates everything. Exit and re-entry is the trap.</a:t>
            </a:r>
            <a:endParaRPr lang="en-US" sz="920" dirty="0"/>
          </a:p>
        </p:txBody>
      </p:sp>
      <p:sp>
        <p:nvSpPr>
          <p:cNvPr id="10" name="Shape 8"/>
          <p:cNvSpPr/>
          <p:nvPr/>
        </p:nvSpPr>
        <p:spPr>
          <a:xfrm>
            <a:off x="2212848" y="1892808"/>
            <a:ext cx="850392" cy="201168"/>
          </a:xfrm>
          <a:prstGeom prst="roundRect">
            <a:avLst>
              <a:gd name="adj" fmla="val 50000"/>
            </a:avLst>
          </a:prstGeom>
          <a:solidFill>
            <a:srgbClr val="20A098"/>
          </a:solidFill>
          <a:ln/>
        </p:spPr>
      </p:sp>
      <p:sp>
        <p:nvSpPr>
          <p:cNvPr id="11" name="Text 9"/>
          <p:cNvSpPr txBox="1"/>
          <p:nvPr/>
        </p:nvSpPr>
        <p:spPr>
          <a:xfrm>
            <a:off x="2212848" y="1892808"/>
            <a:ext cx="850392" cy="201168"/>
          </a:xfrm>
          <a:prstGeom prst="rect">
            <a:avLst/>
          </a:prstGeom>
          <a:noFill/>
          <a:ln/>
        </p:spPr>
        <p:txBody>
          <a:bodyPr wrap="square" lIns="0" tIns="0" rIns="0" bIns="0" rtlCol="0" anchor="ctr"/>
          <a:lstStyle/>
          <a:p>
            <a:pPr algn="ctr" indent="0" marL="0">
              <a:buNone/>
            </a:pPr>
            <a:r>
              <a:rPr lang="en-US" sz="740" b="1" dirty="0">
                <a:solidFill>
                  <a:srgbClr val="0C1E33"/>
                </a:solidFill>
                <a:latin typeface="Calibri" pitchFamily="34" charset="0"/>
                <a:ea typeface="Calibri" pitchFamily="34" charset="-122"/>
                <a:cs typeface="Calibri" pitchFamily="34" charset="-120"/>
              </a:rPr>
              <a:t>You are here</a:t>
            </a:r>
            <a:endParaRPr lang="en-US" sz="740" dirty="0"/>
          </a:p>
        </p:txBody>
      </p:sp>
      <p:sp>
        <p:nvSpPr>
          <p:cNvPr id="12" name="Shape 10"/>
          <p:cNvSpPr/>
          <p:nvPr/>
        </p:nvSpPr>
        <p:spPr>
          <a:xfrm>
            <a:off x="3374136" y="1773936"/>
            <a:ext cx="2670048" cy="1207008"/>
          </a:xfrm>
          <a:prstGeom prst="roundRect">
            <a:avLst>
              <a:gd name="adj" fmla="val 6061"/>
            </a:avLst>
          </a:prstGeom>
          <a:solidFill>
            <a:srgbClr val="16304C"/>
          </a:solidFill>
          <a:ln w="10160">
            <a:solidFill>
              <a:srgbClr val="27415C"/>
            </a:solidFill>
            <a:prstDash val="solid"/>
          </a:ln>
        </p:spPr>
      </p:sp>
      <p:sp>
        <p:nvSpPr>
          <p:cNvPr id="13" name="Text 11"/>
          <p:cNvSpPr txBox="1"/>
          <p:nvPr/>
        </p:nvSpPr>
        <p:spPr>
          <a:xfrm>
            <a:off x="3529584" y="1883664"/>
            <a:ext cx="2359152" cy="237744"/>
          </a:xfrm>
          <a:prstGeom prst="rect">
            <a:avLst/>
          </a:prstGeom>
          <a:noFill/>
          <a:ln/>
        </p:spPr>
        <p:txBody>
          <a:bodyPr wrap="square" lIns="0" tIns="0" rIns="0" bIns="0" rtlCol="0" anchor="ctr"/>
          <a:lstStyle/>
          <a:p>
            <a:pPr indent="0" marL="0">
              <a:buNone/>
            </a:pPr>
            <a:r>
              <a:rPr lang="en-US" sz="1250" b="1" dirty="0">
                <a:solidFill>
                  <a:srgbClr val="FFFFFF"/>
                </a:solidFill>
                <a:latin typeface="Arial" pitchFamily="34" charset="0"/>
                <a:ea typeface="Arial" pitchFamily="34" charset="-122"/>
                <a:cs typeface="Arial" pitchFamily="34" charset="-120"/>
              </a:rPr>
              <a:t>United Arab Emirates</a:t>
            </a:r>
            <a:endParaRPr lang="en-US" sz="1250" dirty="0"/>
          </a:p>
        </p:txBody>
      </p:sp>
      <p:sp>
        <p:nvSpPr>
          <p:cNvPr id="14" name="Text 12"/>
          <p:cNvSpPr txBox="1"/>
          <p:nvPr/>
        </p:nvSpPr>
        <p:spPr>
          <a:xfrm>
            <a:off x="3529584" y="2157984"/>
            <a:ext cx="2359152" cy="201168"/>
          </a:xfrm>
          <a:prstGeom prst="rect">
            <a:avLst/>
          </a:prstGeom>
          <a:noFill/>
          <a:ln/>
        </p:spPr>
        <p:txBody>
          <a:bodyPr wrap="square" lIns="0" tIns="0" rIns="0" bIns="0" rtlCol="0" anchor="ctr"/>
          <a:lstStyle/>
          <a:p>
            <a:pPr indent="0" marL="0">
              <a:buNone/>
            </a:pPr>
            <a:r>
              <a:rPr lang="en-US" sz="900" dirty="0">
                <a:solidFill>
                  <a:srgbClr val="20A098"/>
                </a:solidFill>
                <a:latin typeface="Calibri" pitchFamily="34" charset="0"/>
                <a:ea typeface="Calibri" pitchFamily="34" charset="-122"/>
                <a:cs typeface="Calibri" pitchFamily="34" charset="-120"/>
              </a:rPr>
              <a:t>MOHRE / ICP / GDRFA</a:t>
            </a:r>
            <a:endParaRPr lang="en-US" sz="900" dirty="0"/>
          </a:p>
        </p:txBody>
      </p:sp>
      <p:sp>
        <p:nvSpPr>
          <p:cNvPr id="15" name="Text 13"/>
          <p:cNvSpPr txBox="1"/>
          <p:nvPr/>
        </p:nvSpPr>
        <p:spPr>
          <a:xfrm>
            <a:off x="3529584" y="2377440"/>
            <a:ext cx="2359152" cy="493776"/>
          </a:xfrm>
          <a:prstGeom prst="rect">
            <a:avLst/>
          </a:prstGeom>
          <a:noFill/>
          <a:ln/>
        </p:spPr>
        <p:txBody>
          <a:bodyPr wrap="square" lIns="0" tIns="0" rIns="0" bIns="0" rtlCol="0" anchor="ctr"/>
          <a:lstStyle/>
          <a:p>
            <a:pPr indent="0" marL="0">
              <a:lnSpc>
                <a:spcPts val="1220"/>
              </a:lnSpc>
              <a:buNone/>
            </a:pPr>
            <a:r>
              <a:rPr lang="en-US" sz="920" dirty="0">
                <a:solidFill>
                  <a:srgbClr val="A9C2DA"/>
                </a:solidFill>
                <a:latin typeface="Calibri" pitchFamily="34" charset="0"/>
                <a:ea typeface="Calibri" pitchFamily="34" charset="-122"/>
                <a:cs typeface="Calibri" pitchFamily="34" charset="-120"/>
              </a:rPr>
              <a:t>Golden Visa splits residence from work permit. Two clocks.</a:t>
            </a:r>
            <a:endParaRPr lang="en-US" sz="920" dirty="0"/>
          </a:p>
        </p:txBody>
      </p:sp>
      <p:sp>
        <p:nvSpPr>
          <p:cNvPr id="16" name="Shape 14"/>
          <p:cNvSpPr/>
          <p:nvPr/>
        </p:nvSpPr>
        <p:spPr>
          <a:xfrm>
            <a:off x="6199632" y="1773936"/>
            <a:ext cx="2670048" cy="1207008"/>
          </a:xfrm>
          <a:prstGeom prst="roundRect">
            <a:avLst>
              <a:gd name="adj" fmla="val 6061"/>
            </a:avLst>
          </a:prstGeom>
          <a:solidFill>
            <a:srgbClr val="16304C"/>
          </a:solidFill>
          <a:ln w="10160">
            <a:solidFill>
              <a:srgbClr val="27415C"/>
            </a:solidFill>
            <a:prstDash val="solid"/>
          </a:ln>
        </p:spPr>
      </p:sp>
      <p:sp>
        <p:nvSpPr>
          <p:cNvPr id="17" name="Text 15"/>
          <p:cNvSpPr txBox="1"/>
          <p:nvPr/>
        </p:nvSpPr>
        <p:spPr>
          <a:xfrm>
            <a:off x="6355080" y="1883664"/>
            <a:ext cx="2359152" cy="237744"/>
          </a:xfrm>
          <a:prstGeom prst="rect">
            <a:avLst/>
          </a:prstGeom>
          <a:noFill/>
          <a:ln/>
        </p:spPr>
        <p:txBody>
          <a:bodyPr wrap="square" lIns="0" tIns="0" rIns="0" bIns="0" rtlCol="0" anchor="ctr"/>
          <a:lstStyle/>
          <a:p>
            <a:pPr indent="0" marL="0">
              <a:buNone/>
            </a:pPr>
            <a:r>
              <a:rPr lang="en-US" sz="1250" b="1" dirty="0">
                <a:solidFill>
                  <a:srgbClr val="FFFFFF"/>
                </a:solidFill>
                <a:latin typeface="Arial" pitchFamily="34" charset="0"/>
                <a:ea typeface="Arial" pitchFamily="34" charset="-122"/>
                <a:cs typeface="Arial" pitchFamily="34" charset="-120"/>
              </a:rPr>
              <a:t>Qatar</a:t>
            </a:r>
            <a:endParaRPr lang="en-US" sz="1250" dirty="0"/>
          </a:p>
        </p:txBody>
      </p:sp>
      <p:sp>
        <p:nvSpPr>
          <p:cNvPr id="18" name="Text 16"/>
          <p:cNvSpPr txBox="1"/>
          <p:nvPr/>
        </p:nvSpPr>
        <p:spPr>
          <a:xfrm>
            <a:off x="6355080" y="2157984"/>
            <a:ext cx="2359152" cy="201168"/>
          </a:xfrm>
          <a:prstGeom prst="rect">
            <a:avLst/>
          </a:prstGeom>
          <a:noFill/>
          <a:ln/>
        </p:spPr>
        <p:txBody>
          <a:bodyPr wrap="square" lIns="0" tIns="0" rIns="0" bIns="0" rtlCol="0" anchor="ctr"/>
          <a:lstStyle/>
          <a:p>
            <a:pPr indent="0" marL="0">
              <a:buNone/>
            </a:pPr>
            <a:r>
              <a:rPr lang="en-US" sz="900" dirty="0">
                <a:solidFill>
                  <a:srgbClr val="20A098"/>
                </a:solidFill>
                <a:latin typeface="Calibri" pitchFamily="34" charset="0"/>
                <a:ea typeface="Calibri" pitchFamily="34" charset="-122"/>
                <a:cs typeface="Calibri" pitchFamily="34" charset="-120"/>
              </a:rPr>
              <a:t>ADLSA / MOI / QVC</a:t>
            </a:r>
            <a:endParaRPr lang="en-US" sz="900" dirty="0"/>
          </a:p>
        </p:txBody>
      </p:sp>
      <p:sp>
        <p:nvSpPr>
          <p:cNvPr id="19" name="Text 17"/>
          <p:cNvSpPr txBox="1"/>
          <p:nvPr/>
        </p:nvSpPr>
        <p:spPr>
          <a:xfrm>
            <a:off x="6355080" y="2377440"/>
            <a:ext cx="2359152" cy="493776"/>
          </a:xfrm>
          <a:prstGeom prst="rect">
            <a:avLst/>
          </a:prstGeom>
          <a:noFill/>
          <a:ln/>
        </p:spPr>
        <p:txBody>
          <a:bodyPr wrap="square" lIns="0" tIns="0" rIns="0" bIns="0" rtlCol="0" anchor="ctr"/>
          <a:lstStyle/>
          <a:p>
            <a:pPr indent="0" marL="0">
              <a:lnSpc>
                <a:spcPts val="1220"/>
              </a:lnSpc>
              <a:buNone/>
            </a:pPr>
            <a:r>
              <a:rPr lang="en-US" sz="920" dirty="0">
                <a:solidFill>
                  <a:srgbClr val="A9C2DA"/>
                </a:solidFill>
                <a:latin typeface="Calibri" pitchFamily="34" charset="0"/>
                <a:ea typeface="Calibri" pitchFamily="34" charset="-122"/>
                <a:cs typeface="Calibri" pitchFamily="34" charset="-120"/>
              </a:rPr>
              <a:t>Most of the work happens before the employee travels.</a:t>
            </a:r>
            <a:endParaRPr lang="en-US" sz="920" dirty="0"/>
          </a:p>
        </p:txBody>
      </p:sp>
      <p:sp>
        <p:nvSpPr>
          <p:cNvPr id="20" name="Shape 18"/>
          <p:cNvSpPr/>
          <p:nvPr/>
        </p:nvSpPr>
        <p:spPr>
          <a:xfrm>
            <a:off x="9025128" y="1773936"/>
            <a:ext cx="2670048" cy="1207008"/>
          </a:xfrm>
          <a:prstGeom prst="roundRect">
            <a:avLst>
              <a:gd name="adj" fmla="val 6061"/>
            </a:avLst>
          </a:prstGeom>
          <a:solidFill>
            <a:srgbClr val="16304C"/>
          </a:solidFill>
          <a:ln w="10160">
            <a:solidFill>
              <a:srgbClr val="27415C"/>
            </a:solidFill>
            <a:prstDash val="solid"/>
          </a:ln>
        </p:spPr>
      </p:sp>
      <p:sp>
        <p:nvSpPr>
          <p:cNvPr id="21" name="Text 19"/>
          <p:cNvSpPr txBox="1"/>
          <p:nvPr/>
        </p:nvSpPr>
        <p:spPr>
          <a:xfrm>
            <a:off x="9180576" y="1883664"/>
            <a:ext cx="2359152" cy="237744"/>
          </a:xfrm>
          <a:prstGeom prst="rect">
            <a:avLst/>
          </a:prstGeom>
          <a:noFill/>
          <a:ln/>
        </p:spPr>
        <p:txBody>
          <a:bodyPr wrap="square" lIns="0" tIns="0" rIns="0" bIns="0" rtlCol="0" anchor="ctr"/>
          <a:lstStyle/>
          <a:p>
            <a:pPr indent="0" marL="0">
              <a:buNone/>
            </a:pPr>
            <a:r>
              <a:rPr lang="en-US" sz="1250" b="1" dirty="0">
                <a:solidFill>
                  <a:srgbClr val="FFFFFF"/>
                </a:solidFill>
                <a:latin typeface="Arial" pitchFamily="34" charset="0"/>
                <a:ea typeface="Arial" pitchFamily="34" charset="-122"/>
                <a:cs typeface="Arial" pitchFamily="34" charset="-120"/>
              </a:rPr>
              <a:t>Kuwait</a:t>
            </a:r>
            <a:endParaRPr lang="en-US" sz="1250" dirty="0"/>
          </a:p>
        </p:txBody>
      </p:sp>
      <p:sp>
        <p:nvSpPr>
          <p:cNvPr id="22" name="Text 20"/>
          <p:cNvSpPr txBox="1"/>
          <p:nvPr/>
        </p:nvSpPr>
        <p:spPr>
          <a:xfrm>
            <a:off x="9180576" y="2157984"/>
            <a:ext cx="2359152" cy="201168"/>
          </a:xfrm>
          <a:prstGeom prst="rect">
            <a:avLst/>
          </a:prstGeom>
          <a:noFill/>
          <a:ln/>
        </p:spPr>
        <p:txBody>
          <a:bodyPr wrap="square" lIns="0" tIns="0" rIns="0" bIns="0" rtlCol="0" anchor="ctr"/>
          <a:lstStyle/>
          <a:p>
            <a:pPr indent="0" marL="0">
              <a:buNone/>
            </a:pPr>
            <a:r>
              <a:rPr lang="en-US" sz="900" dirty="0">
                <a:solidFill>
                  <a:srgbClr val="20A098"/>
                </a:solidFill>
                <a:latin typeface="Calibri" pitchFamily="34" charset="0"/>
                <a:ea typeface="Calibri" pitchFamily="34" charset="-122"/>
                <a:cs typeface="Calibri" pitchFamily="34" charset="-120"/>
              </a:rPr>
              <a:t>PAM / MOI / PACI</a:t>
            </a:r>
            <a:endParaRPr lang="en-US" sz="900" dirty="0"/>
          </a:p>
        </p:txBody>
      </p:sp>
      <p:sp>
        <p:nvSpPr>
          <p:cNvPr id="23" name="Text 21"/>
          <p:cNvSpPr txBox="1"/>
          <p:nvPr/>
        </p:nvSpPr>
        <p:spPr>
          <a:xfrm>
            <a:off x="9180576" y="2377440"/>
            <a:ext cx="2359152" cy="493776"/>
          </a:xfrm>
          <a:prstGeom prst="rect">
            <a:avLst/>
          </a:prstGeom>
          <a:noFill/>
          <a:ln/>
        </p:spPr>
        <p:txBody>
          <a:bodyPr wrap="square" lIns="0" tIns="0" rIns="0" bIns="0" rtlCol="0" anchor="ctr"/>
          <a:lstStyle/>
          <a:p>
            <a:pPr indent="0" marL="0">
              <a:lnSpc>
                <a:spcPts val="1220"/>
              </a:lnSpc>
              <a:buNone/>
            </a:pPr>
            <a:r>
              <a:rPr lang="en-US" sz="920" dirty="0">
                <a:solidFill>
                  <a:srgbClr val="A9C2DA"/>
                </a:solidFill>
                <a:latin typeface="Calibri" pitchFamily="34" charset="0"/>
                <a:ea typeface="Calibri" pitchFamily="34" charset="-122"/>
                <a:cs typeface="Calibri" pitchFamily="34" charset="-120"/>
              </a:rPr>
              <a:t>Permit and residency on two clocks, two authorities.</a:t>
            </a:r>
            <a:endParaRPr lang="en-US" sz="920" dirty="0"/>
          </a:p>
        </p:txBody>
      </p:sp>
      <p:sp>
        <p:nvSpPr>
          <p:cNvPr id="24" name="Shape 22"/>
          <p:cNvSpPr/>
          <p:nvPr/>
        </p:nvSpPr>
        <p:spPr>
          <a:xfrm>
            <a:off x="548640" y="3163824"/>
            <a:ext cx="2670048" cy="1207008"/>
          </a:xfrm>
          <a:prstGeom prst="roundRect">
            <a:avLst>
              <a:gd name="adj" fmla="val 6061"/>
            </a:avLst>
          </a:prstGeom>
          <a:solidFill>
            <a:srgbClr val="16304C"/>
          </a:solidFill>
          <a:ln w="10160">
            <a:solidFill>
              <a:srgbClr val="27415C"/>
            </a:solidFill>
            <a:prstDash val="solid"/>
          </a:ln>
        </p:spPr>
      </p:sp>
      <p:sp>
        <p:nvSpPr>
          <p:cNvPr id="25" name="Text 23"/>
          <p:cNvSpPr txBox="1"/>
          <p:nvPr/>
        </p:nvSpPr>
        <p:spPr>
          <a:xfrm>
            <a:off x="704088" y="3273552"/>
            <a:ext cx="2359152" cy="237744"/>
          </a:xfrm>
          <a:prstGeom prst="rect">
            <a:avLst/>
          </a:prstGeom>
          <a:noFill/>
          <a:ln/>
        </p:spPr>
        <p:txBody>
          <a:bodyPr wrap="square" lIns="0" tIns="0" rIns="0" bIns="0" rtlCol="0" anchor="ctr"/>
          <a:lstStyle/>
          <a:p>
            <a:pPr indent="0" marL="0">
              <a:buNone/>
            </a:pPr>
            <a:r>
              <a:rPr lang="en-US" sz="1250" b="1" dirty="0">
                <a:solidFill>
                  <a:srgbClr val="FFFFFF"/>
                </a:solidFill>
                <a:latin typeface="Arial" pitchFamily="34" charset="0"/>
                <a:ea typeface="Arial" pitchFamily="34" charset="-122"/>
                <a:cs typeface="Arial" pitchFamily="34" charset="-120"/>
              </a:rPr>
              <a:t>Oman</a:t>
            </a:r>
            <a:endParaRPr lang="en-US" sz="1250" dirty="0"/>
          </a:p>
        </p:txBody>
      </p:sp>
      <p:sp>
        <p:nvSpPr>
          <p:cNvPr id="26" name="Text 24"/>
          <p:cNvSpPr txBox="1"/>
          <p:nvPr/>
        </p:nvSpPr>
        <p:spPr>
          <a:xfrm>
            <a:off x="704088" y="3547872"/>
            <a:ext cx="2359152" cy="201168"/>
          </a:xfrm>
          <a:prstGeom prst="rect">
            <a:avLst/>
          </a:prstGeom>
          <a:noFill/>
          <a:ln/>
        </p:spPr>
        <p:txBody>
          <a:bodyPr wrap="square" lIns="0" tIns="0" rIns="0" bIns="0" rtlCol="0" anchor="ctr"/>
          <a:lstStyle/>
          <a:p>
            <a:pPr indent="0" marL="0">
              <a:buNone/>
            </a:pPr>
            <a:r>
              <a:rPr lang="en-US" sz="900" dirty="0">
                <a:solidFill>
                  <a:srgbClr val="20A098"/>
                </a:solidFill>
                <a:latin typeface="Calibri" pitchFamily="34" charset="0"/>
                <a:ea typeface="Calibri" pitchFamily="34" charset="-122"/>
                <a:cs typeface="Calibri" pitchFamily="34" charset="-120"/>
              </a:rPr>
              <a:t>Ministry of Labour / ROP</a:t>
            </a:r>
            <a:endParaRPr lang="en-US" sz="900" dirty="0"/>
          </a:p>
        </p:txBody>
      </p:sp>
      <p:sp>
        <p:nvSpPr>
          <p:cNvPr id="27" name="Text 25"/>
          <p:cNvSpPr txBox="1"/>
          <p:nvPr/>
        </p:nvSpPr>
        <p:spPr>
          <a:xfrm>
            <a:off x="704088" y="3767328"/>
            <a:ext cx="2359152" cy="493776"/>
          </a:xfrm>
          <a:prstGeom prst="rect">
            <a:avLst/>
          </a:prstGeom>
          <a:noFill/>
          <a:ln/>
        </p:spPr>
        <p:txBody>
          <a:bodyPr wrap="square" lIns="0" tIns="0" rIns="0" bIns="0" rtlCol="0" anchor="ctr"/>
          <a:lstStyle/>
          <a:p>
            <a:pPr indent="0" marL="0">
              <a:lnSpc>
                <a:spcPts val="1220"/>
              </a:lnSpc>
              <a:buNone/>
            </a:pPr>
            <a:r>
              <a:rPr lang="en-US" sz="920" dirty="0">
                <a:solidFill>
                  <a:srgbClr val="A9C2DA"/>
                </a:solidFill>
                <a:latin typeface="Calibri" pitchFamily="34" charset="0"/>
                <a:ea typeface="Calibri" pitchFamily="34" charset="-122"/>
                <a:cs typeface="Calibri" pitchFamily="34" charset="-120"/>
              </a:rPr>
              <a:t>Omanisation gates clearance, as Nitaqat does here.</a:t>
            </a:r>
            <a:endParaRPr lang="en-US" sz="920" dirty="0"/>
          </a:p>
        </p:txBody>
      </p:sp>
      <p:sp>
        <p:nvSpPr>
          <p:cNvPr id="28" name="Shape 26"/>
          <p:cNvSpPr/>
          <p:nvPr/>
        </p:nvSpPr>
        <p:spPr>
          <a:xfrm>
            <a:off x="3374136" y="3163824"/>
            <a:ext cx="2670048" cy="1207008"/>
          </a:xfrm>
          <a:prstGeom prst="roundRect">
            <a:avLst>
              <a:gd name="adj" fmla="val 6061"/>
            </a:avLst>
          </a:prstGeom>
          <a:solidFill>
            <a:srgbClr val="16304C"/>
          </a:solidFill>
          <a:ln w="10160">
            <a:solidFill>
              <a:srgbClr val="27415C"/>
            </a:solidFill>
            <a:prstDash val="solid"/>
          </a:ln>
        </p:spPr>
      </p:sp>
      <p:sp>
        <p:nvSpPr>
          <p:cNvPr id="29" name="Text 27"/>
          <p:cNvSpPr txBox="1"/>
          <p:nvPr/>
        </p:nvSpPr>
        <p:spPr>
          <a:xfrm>
            <a:off x="3529584" y="3273552"/>
            <a:ext cx="2359152" cy="237744"/>
          </a:xfrm>
          <a:prstGeom prst="rect">
            <a:avLst/>
          </a:prstGeom>
          <a:noFill/>
          <a:ln/>
        </p:spPr>
        <p:txBody>
          <a:bodyPr wrap="square" lIns="0" tIns="0" rIns="0" bIns="0" rtlCol="0" anchor="ctr"/>
          <a:lstStyle/>
          <a:p>
            <a:pPr indent="0" marL="0">
              <a:buNone/>
            </a:pPr>
            <a:r>
              <a:rPr lang="en-US" sz="1250" b="1" dirty="0">
                <a:solidFill>
                  <a:srgbClr val="FFFFFF"/>
                </a:solidFill>
                <a:latin typeface="Arial" pitchFamily="34" charset="0"/>
                <a:ea typeface="Arial" pitchFamily="34" charset="-122"/>
                <a:cs typeface="Arial" pitchFamily="34" charset="-120"/>
              </a:rPr>
              <a:t>Bahrain</a:t>
            </a:r>
            <a:endParaRPr lang="en-US" sz="1250" dirty="0"/>
          </a:p>
        </p:txBody>
      </p:sp>
      <p:sp>
        <p:nvSpPr>
          <p:cNvPr id="30" name="Text 28"/>
          <p:cNvSpPr txBox="1"/>
          <p:nvPr/>
        </p:nvSpPr>
        <p:spPr>
          <a:xfrm>
            <a:off x="3529584" y="3547872"/>
            <a:ext cx="2359152" cy="201168"/>
          </a:xfrm>
          <a:prstGeom prst="rect">
            <a:avLst/>
          </a:prstGeom>
          <a:noFill/>
          <a:ln/>
        </p:spPr>
        <p:txBody>
          <a:bodyPr wrap="square" lIns="0" tIns="0" rIns="0" bIns="0" rtlCol="0" anchor="ctr"/>
          <a:lstStyle/>
          <a:p>
            <a:pPr indent="0" marL="0">
              <a:buNone/>
            </a:pPr>
            <a:r>
              <a:rPr lang="en-US" sz="900" dirty="0">
                <a:solidFill>
                  <a:srgbClr val="20A098"/>
                </a:solidFill>
                <a:latin typeface="Calibri" pitchFamily="34" charset="0"/>
                <a:ea typeface="Calibri" pitchFamily="34" charset="-122"/>
                <a:cs typeface="Calibri" pitchFamily="34" charset="-120"/>
              </a:rPr>
              <a:t>LMRA / NPRA / GOSI</a:t>
            </a:r>
            <a:endParaRPr lang="en-US" sz="900" dirty="0"/>
          </a:p>
        </p:txBody>
      </p:sp>
      <p:sp>
        <p:nvSpPr>
          <p:cNvPr id="31" name="Text 29"/>
          <p:cNvSpPr txBox="1"/>
          <p:nvPr/>
        </p:nvSpPr>
        <p:spPr>
          <a:xfrm>
            <a:off x="3529584" y="3767328"/>
            <a:ext cx="2359152" cy="493776"/>
          </a:xfrm>
          <a:prstGeom prst="rect">
            <a:avLst/>
          </a:prstGeom>
          <a:noFill/>
          <a:ln/>
        </p:spPr>
        <p:txBody>
          <a:bodyPr wrap="square" lIns="0" tIns="0" rIns="0" bIns="0" rtlCol="0" anchor="ctr"/>
          <a:lstStyle/>
          <a:p>
            <a:pPr indent="0" marL="0">
              <a:lnSpc>
                <a:spcPts val="1220"/>
              </a:lnSpc>
              <a:buNone/>
            </a:pPr>
            <a:r>
              <a:rPr lang="en-US" sz="920" dirty="0">
                <a:solidFill>
                  <a:srgbClr val="A9C2DA"/>
                </a:solidFill>
                <a:latin typeface="Calibri" pitchFamily="34" charset="0"/>
                <a:ea typeface="Calibri" pitchFamily="34" charset="-122"/>
                <a:cs typeface="Calibri" pitchFamily="34" charset="-120"/>
              </a:rPr>
              <a:t>One authority runs the whole permit. Cleanest API candidate.</a:t>
            </a:r>
            <a:endParaRPr lang="en-US" sz="920" dirty="0"/>
          </a:p>
        </p:txBody>
      </p:sp>
      <p:sp>
        <p:nvSpPr>
          <p:cNvPr id="32" name="Shape 30"/>
          <p:cNvSpPr/>
          <p:nvPr/>
        </p:nvSpPr>
        <p:spPr>
          <a:xfrm>
            <a:off x="6199632" y="3163824"/>
            <a:ext cx="2670048" cy="1207008"/>
          </a:xfrm>
          <a:prstGeom prst="roundRect">
            <a:avLst>
              <a:gd name="adj" fmla="val 6061"/>
            </a:avLst>
          </a:prstGeom>
          <a:solidFill>
            <a:srgbClr val="16304C"/>
          </a:solidFill>
          <a:ln w="10160">
            <a:solidFill>
              <a:srgbClr val="27415C"/>
            </a:solidFill>
            <a:prstDash val="solid"/>
          </a:ln>
        </p:spPr>
      </p:sp>
      <p:sp>
        <p:nvSpPr>
          <p:cNvPr id="33" name="Text 31"/>
          <p:cNvSpPr txBox="1"/>
          <p:nvPr/>
        </p:nvSpPr>
        <p:spPr>
          <a:xfrm>
            <a:off x="6355080" y="3273552"/>
            <a:ext cx="2359152" cy="237744"/>
          </a:xfrm>
          <a:prstGeom prst="rect">
            <a:avLst/>
          </a:prstGeom>
          <a:noFill/>
          <a:ln/>
        </p:spPr>
        <p:txBody>
          <a:bodyPr wrap="square" lIns="0" tIns="0" rIns="0" bIns="0" rtlCol="0" anchor="ctr"/>
          <a:lstStyle/>
          <a:p>
            <a:pPr indent="0" marL="0">
              <a:buNone/>
            </a:pPr>
            <a:r>
              <a:rPr lang="en-US" sz="1250" b="1" dirty="0">
                <a:solidFill>
                  <a:srgbClr val="FFFFFF"/>
                </a:solidFill>
                <a:latin typeface="Arial" pitchFamily="34" charset="0"/>
                <a:ea typeface="Arial" pitchFamily="34" charset="-122"/>
                <a:cs typeface="Arial" pitchFamily="34" charset="-120"/>
              </a:rPr>
              <a:t>Libya</a:t>
            </a:r>
            <a:endParaRPr lang="en-US" sz="1250" dirty="0"/>
          </a:p>
        </p:txBody>
      </p:sp>
      <p:sp>
        <p:nvSpPr>
          <p:cNvPr id="34" name="Text 32"/>
          <p:cNvSpPr txBox="1"/>
          <p:nvPr/>
        </p:nvSpPr>
        <p:spPr>
          <a:xfrm>
            <a:off x="6355080" y="3547872"/>
            <a:ext cx="2359152" cy="201168"/>
          </a:xfrm>
          <a:prstGeom prst="rect">
            <a:avLst/>
          </a:prstGeom>
          <a:noFill/>
          <a:ln/>
        </p:spPr>
        <p:txBody>
          <a:bodyPr wrap="square" lIns="0" tIns="0" rIns="0" bIns="0" rtlCol="0" anchor="ctr"/>
          <a:lstStyle/>
          <a:p>
            <a:pPr indent="0" marL="0">
              <a:buNone/>
            </a:pPr>
            <a:r>
              <a:rPr lang="en-US" sz="900" dirty="0">
                <a:solidFill>
                  <a:srgbClr val="20A098"/>
                </a:solidFill>
                <a:latin typeface="Calibri" pitchFamily="34" charset="0"/>
                <a:ea typeface="Calibri" pitchFamily="34" charset="-122"/>
                <a:cs typeface="Calibri" pitchFamily="34" charset="-120"/>
              </a:rPr>
              <a:t>Ministry of Labour / PNA</a:t>
            </a:r>
            <a:endParaRPr lang="en-US" sz="900" dirty="0"/>
          </a:p>
        </p:txBody>
      </p:sp>
      <p:sp>
        <p:nvSpPr>
          <p:cNvPr id="35" name="Text 33"/>
          <p:cNvSpPr txBox="1"/>
          <p:nvPr/>
        </p:nvSpPr>
        <p:spPr>
          <a:xfrm>
            <a:off x="6355080" y="3767328"/>
            <a:ext cx="2359152" cy="493776"/>
          </a:xfrm>
          <a:prstGeom prst="rect">
            <a:avLst/>
          </a:prstGeom>
          <a:noFill/>
          <a:ln/>
        </p:spPr>
        <p:txBody>
          <a:bodyPr wrap="square" lIns="0" tIns="0" rIns="0" bIns="0" rtlCol="0" anchor="ctr"/>
          <a:lstStyle/>
          <a:p>
            <a:pPr indent="0" marL="0">
              <a:lnSpc>
                <a:spcPts val="1220"/>
              </a:lnSpc>
              <a:buNone/>
            </a:pPr>
            <a:r>
              <a:rPr lang="en-US" sz="920" dirty="0">
                <a:solidFill>
                  <a:srgbClr val="A9C2DA"/>
                </a:solidFill>
                <a:latin typeface="Calibri" pitchFamily="34" charset="0"/>
                <a:ea typeface="Calibri" pitchFamily="34" charset="-122"/>
                <a:cs typeface="Calibri" pitchFamily="34" charset="-120"/>
              </a:rPr>
              <a:t>Rotating crews. Proof matters more than volume.</a:t>
            </a:r>
            <a:endParaRPr lang="en-US" sz="920" dirty="0"/>
          </a:p>
        </p:txBody>
      </p:sp>
      <p:sp>
        <p:nvSpPr>
          <p:cNvPr id="36" name="Shape 34"/>
          <p:cNvSpPr/>
          <p:nvPr/>
        </p:nvSpPr>
        <p:spPr>
          <a:xfrm>
            <a:off x="9043416" y="3163824"/>
            <a:ext cx="2596896" cy="1207008"/>
          </a:xfrm>
          <a:prstGeom prst="roundRect">
            <a:avLst>
              <a:gd name="adj" fmla="val 6061"/>
            </a:avLst>
          </a:prstGeom>
          <a:solidFill>
            <a:srgbClr val="12756F"/>
          </a:solidFill>
          <a:ln w="15240">
            <a:solidFill>
              <a:srgbClr val="20A098"/>
            </a:solidFill>
            <a:prstDash val="solid"/>
          </a:ln>
        </p:spPr>
      </p:sp>
      <p:sp>
        <p:nvSpPr>
          <p:cNvPr id="37" name="Text 35"/>
          <p:cNvSpPr txBox="1"/>
          <p:nvPr/>
        </p:nvSpPr>
        <p:spPr>
          <a:xfrm>
            <a:off x="9198864" y="3291840"/>
            <a:ext cx="2286000" cy="237744"/>
          </a:xfrm>
          <a:prstGeom prst="rect">
            <a:avLst/>
          </a:prstGeom>
          <a:noFill/>
          <a:ln/>
        </p:spPr>
        <p:txBody>
          <a:bodyPr wrap="square" lIns="0" tIns="0" rIns="0" bIns="0" rtlCol="0" anchor="ctr"/>
          <a:lstStyle/>
          <a:p>
            <a:pPr indent="0" marL="0">
              <a:buNone/>
            </a:pPr>
            <a:r>
              <a:rPr lang="en-US" sz="1400" b="1" dirty="0">
                <a:solidFill>
                  <a:srgbClr val="FFFFFF"/>
                </a:solidFill>
                <a:latin typeface="Arial" pitchFamily="34" charset="0"/>
                <a:ea typeface="Arial" pitchFamily="34" charset="-122"/>
                <a:cs typeface="Arial" pitchFamily="34" charset="-120"/>
              </a:rPr>
              <a:t>36 permit types</a:t>
            </a:r>
            <a:endParaRPr lang="en-US" sz="1400" dirty="0"/>
          </a:p>
        </p:txBody>
      </p:sp>
      <p:sp>
        <p:nvSpPr>
          <p:cNvPr id="38" name="Text 36"/>
          <p:cNvSpPr txBox="1"/>
          <p:nvPr/>
        </p:nvSpPr>
        <p:spPr>
          <a:xfrm>
            <a:off x="9198864" y="3566160"/>
            <a:ext cx="2304288" cy="694944"/>
          </a:xfrm>
          <a:prstGeom prst="rect">
            <a:avLst/>
          </a:prstGeom>
          <a:noFill/>
          <a:ln/>
        </p:spPr>
        <p:txBody>
          <a:bodyPr wrap="square" lIns="0" tIns="0" rIns="0" bIns="0" rtlCol="0" anchor="ctr"/>
          <a:lstStyle/>
          <a:p>
            <a:pPr indent="0" marL="0">
              <a:lnSpc>
                <a:spcPts val="1240"/>
              </a:lnSpc>
              <a:buNone/>
            </a:pPr>
            <a:r>
              <a:rPr lang="en-US" sz="940" dirty="0">
                <a:solidFill>
                  <a:srgbClr val="CFEFEB"/>
                </a:solidFill>
                <a:latin typeface="Calibri" pitchFamily="34" charset="0"/>
                <a:ea typeface="Calibri" pitchFamily="34" charset="-122"/>
                <a:cs typeface="Calibri" pitchFamily="34" charset="-120"/>
              </a:rPr>
              <a:t>across seven country packs, on one engine, in one BTP subscription.</a:t>
            </a:r>
            <a:endParaRPr lang="en-US" sz="940" dirty="0"/>
          </a:p>
        </p:txBody>
      </p:sp>
      <p:sp>
        <p:nvSpPr>
          <p:cNvPr id="39" name="Shape 37"/>
          <p:cNvSpPr/>
          <p:nvPr/>
        </p:nvSpPr>
        <p:spPr>
          <a:xfrm>
            <a:off x="548640" y="4553712"/>
            <a:ext cx="3611880" cy="969264"/>
          </a:xfrm>
          <a:prstGeom prst="roundRect">
            <a:avLst>
              <a:gd name="adj" fmla="val 7547"/>
            </a:avLst>
          </a:prstGeom>
          <a:solidFill>
            <a:srgbClr val="16304C"/>
          </a:solidFill>
          <a:ln w="10160">
            <a:solidFill>
              <a:srgbClr val="27415C"/>
            </a:solidFill>
            <a:prstDash val="solid"/>
          </a:ln>
        </p:spPr>
      </p:sp>
      <p:sp>
        <p:nvSpPr>
          <p:cNvPr id="40" name="Text 38"/>
          <p:cNvSpPr txBox="1"/>
          <p:nvPr/>
        </p:nvSpPr>
        <p:spPr>
          <a:xfrm>
            <a:off x="713232" y="4663440"/>
            <a:ext cx="3291840" cy="219456"/>
          </a:xfrm>
          <a:prstGeom prst="rect">
            <a:avLst/>
          </a:prstGeom>
          <a:noFill/>
          <a:ln/>
        </p:spPr>
        <p:txBody>
          <a:bodyPr wrap="square" lIns="0" tIns="0" rIns="0" bIns="0" rtlCol="0" anchor="ctr"/>
          <a:lstStyle/>
          <a:p>
            <a:pPr indent="0" marL="0">
              <a:buNone/>
            </a:pPr>
            <a:r>
              <a:rPr lang="en-US" sz="1150" b="1" dirty="0">
                <a:solidFill>
                  <a:srgbClr val="20A098"/>
                </a:solidFill>
                <a:latin typeface="Arial" pitchFamily="34" charset="0"/>
                <a:ea typeface="Arial" pitchFamily="34" charset="-122"/>
                <a:cs typeface="Arial" pitchFamily="34" charset="-120"/>
              </a:rPr>
              <a:t>One engine</a:t>
            </a:r>
            <a:endParaRPr lang="en-US" sz="1150" dirty="0"/>
          </a:p>
        </p:txBody>
      </p:sp>
      <p:sp>
        <p:nvSpPr>
          <p:cNvPr id="41" name="Text 39"/>
          <p:cNvSpPr txBox="1"/>
          <p:nvPr/>
        </p:nvSpPr>
        <p:spPr>
          <a:xfrm>
            <a:off x="713232" y="4901184"/>
            <a:ext cx="3291840" cy="530352"/>
          </a:xfrm>
          <a:prstGeom prst="rect">
            <a:avLst/>
          </a:prstGeom>
          <a:noFill/>
          <a:ln/>
        </p:spPr>
        <p:txBody>
          <a:bodyPr wrap="square" lIns="0" tIns="0" rIns="0" bIns="0" rtlCol="0" anchor="ctr"/>
          <a:lstStyle/>
          <a:p>
            <a:pPr indent="0" marL="0">
              <a:lnSpc>
                <a:spcPts val="1200"/>
              </a:lnSpc>
              <a:buNone/>
            </a:pPr>
            <a:r>
              <a:rPr lang="en-US" sz="900" dirty="0">
                <a:solidFill>
                  <a:srgbClr val="A9C2DA"/>
                </a:solidFill>
                <a:latin typeface="Calibri" pitchFamily="34" charset="0"/>
                <a:ea typeface="Calibri" pitchFamily="34" charset="-122"/>
                <a:cs typeface="Calibri" pitchFamily="34" charset="-120"/>
              </a:rPr>
              <a:t>Workflow, tasks, payment capture and reporting are identical everywhere. Only the steps, authorities and thresholds change.</a:t>
            </a:r>
            <a:endParaRPr lang="en-US" sz="900" dirty="0"/>
          </a:p>
        </p:txBody>
      </p:sp>
      <p:sp>
        <p:nvSpPr>
          <p:cNvPr id="42" name="Shape 40"/>
          <p:cNvSpPr/>
          <p:nvPr/>
        </p:nvSpPr>
        <p:spPr>
          <a:xfrm>
            <a:off x="4288536" y="4553712"/>
            <a:ext cx="3611880" cy="969264"/>
          </a:xfrm>
          <a:prstGeom prst="roundRect">
            <a:avLst>
              <a:gd name="adj" fmla="val 7547"/>
            </a:avLst>
          </a:prstGeom>
          <a:solidFill>
            <a:srgbClr val="16304C"/>
          </a:solidFill>
          <a:ln w="10160">
            <a:solidFill>
              <a:srgbClr val="27415C"/>
            </a:solidFill>
            <a:prstDash val="solid"/>
          </a:ln>
        </p:spPr>
      </p:sp>
      <p:sp>
        <p:nvSpPr>
          <p:cNvPr id="43" name="Text 41"/>
          <p:cNvSpPr txBox="1"/>
          <p:nvPr/>
        </p:nvSpPr>
        <p:spPr>
          <a:xfrm>
            <a:off x="4453128" y="4663440"/>
            <a:ext cx="3291840" cy="219456"/>
          </a:xfrm>
          <a:prstGeom prst="rect">
            <a:avLst/>
          </a:prstGeom>
          <a:noFill/>
          <a:ln/>
        </p:spPr>
        <p:txBody>
          <a:bodyPr wrap="square" lIns="0" tIns="0" rIns="0" bIns="0" rtlCol="0" anchor="ctr"/>
          <a:lstStyle/>
          <a:p>
            <a:pPr indent="0" marL="0">
              <a:buNone/>
            </a:pPr>
            <a:r>
              <a:rPr lang="en-US" sz="1150" b="1" dirty="0">
                <a:solidFill>
                  <a:srgbClr val="20A098"/>
                </a:solidFill>
                <a:latin typeface="Arial" pitchFamily="34" charset="0"/>
                <a:ea typeface="Arial" pitchFamily="34" charset="-122"/>
                <a:cs typeface="Arial" pitchFamily="34" charset="-120"/>
              </a:rPr>
              <a:t>One training course</a:t>
            </a:r>
            <a:endParaRPr lang="en-US" sz="1150" dirty="0"/>
          </a:p>
        </p:txBody>
      </p:sp>
      <p:sp>
        <p:nvSpPr>
          <p:cNvPr id="44" name="Text 42"/>
          <p:cNvSpPr txBox="1"/>
          <p:nvPr/>
        </p:nvSpPr>
        <p:spPr>
          <a:xfrm>
            <a:off x="4453128" y="4901184"/>
            <a:ext cx="3291840" cy="530352"/>
          </a:xfrm>
          <a:prstGeom prst="rect">
            <a:avLst/>
          </a:prstGeom>
          <a:noFill/>
          <a:ln/>
        </p:spPr>
        <p:txBody>
          <a:bodyPr wrap="square" lIns="0" tIns="0" rIns="0" bIns="0" rtlCol="0" anchor="ctr"/>
          <a:lstStyle/>
          <a:p>
            <a:pPr indent="0" marL="0">
              <a:lnSpc>
                <a:spcPts val="1200"/>
              </a:lnSpc>
              <a:buNone/>
            </a:pPr>
            <a:r>
              <a:rPr lang="en-US" sz="900" dirty="0">
                <a:solidFill>
                  <a:srgbClr val="A9C2DA"/>
                </a:solidFill>
                <a:latin typeface="Calibri" pitchFamily="34" charset="0"/>
                <a:ea typeface="Calibri" pitchFamily="34" charset="-122"/>
                <a:cs typeface="Calibri" pitchFamily="34" charset="-120"/>
              </a:rPr>
              <a:t>A PRO who learns the Saudi screens already knows the Emirati ones. Same queue, same inbox, same escalation.</a:t>
            </a:r>
            <a:endParaRPr lang="en-US" sz="900" dirty="0"/>
          </a:p>
        </p:txBody>
      </p:sp>
      <p:sp>
        <p:nvSpPr>
          <p:cNvPr id="45" name="Shape 43"/>
          <p:cNvSpPr/>
          <p:nvPr/>
        </p:nvSpPr>
        <p:spPr>
          <a:xfrm>
            <a:off x="8028432" y="4553712"/>
            <a:ext cx="3611880" cy="969264"/>
          </a:xfrm>
          <a:prstGeom prst="roundRect">
            <a:avLst>
              <a:gd name="adj" fmla="val 7547"/>
            </a:avLst>
          </a:prstGeom>
          <a:solidFill>
            <a:srgbClr val="16304C"/>
          </a:solidFill>
          <a:ln w="10160">
            <a:solidFill>
              <a:srgbClr val="27415C"/>
            </a:solidFill>
            <a:prstDash val="solid"/>
          </a:ln>
        </p:spPr>
      </p:sp>
      <p:sp>
        <p:nvSpPr>
          <p:cNvPr id="46" name="Text 44"/>
          <p:cNvSpPr txBox="1"/>
          <p:nvPr/>
        </p:nvSpPr>
        <p:spPr>
          <a:xfrm>
            <a:off x="8193024" y="4663440"/>
            <a:ext cx="3291840" cy="219456"/>
          </a:xfrm>
          <a:prstGeom prst="rect">
            <a:avLst/>
          </a:prstGeom>
          <a:noFill/>
          <a:ln/>
        </p:spPr>
        <p:txBody>
          <a:bodyPr wrap="square" lIns="0" tIns="0" rIns="0" bIns="0" rtlCol="0" anchor="ctr"/>
          <a:lstStyle/>
          <a:p>
            <a:pPr indent="0" marL="0">
              <a:buNone/>
            </a:pPr>
            <a:r>
              <a:rPr lang="en-US" sz="1150" b="1" dirty="0">
                <a:solidFill>
                  <a:srgbClr val="20A098"/>
                </a:solidFill>
                <a:latin typeface="Arial" pitchFamily="34" charset="0"/>
                <a:ea typeface="Arial" pitchFamily="34" charset="-122"/>
                <a:cs typeface="Arial" pitchFamily="34" charset="-120"/>
              </a:rPr>
              <a:t>One line in your BTP account</a:t>
            </a:r>
            <a:endParaRPr lang="en-US" sz="1150" dirty="0"/>
          </a:p>
        </p:txBody>
      </p:sp>
      <p:sp>
        <p:nvSpPr>
          <p:cNvPr id="47" name="Text 45"/>
          <p:cNvSpPr txBox="1"/>
          <p:nvPr/>
        </p:nvSpPr>
        <p:spPr>
          <a:xfrm>
            <a:off x="8193024" y="4901184"/>
            <a:ext cx="3291840" cy="530352"/>
          </a:xfrm>
          <a:prstGeom prst="rect">
            <a:avLst/>
          </a:prstGeom>
          <a:noFill/>
          <a:ln/>
        </p:spPr>
        <p:txBody>
          <a:bodyPr wrap="square" lIns="0" tIns="0" rIns="0" bIns="0" rtlCol="0" anchor="ctr"/>
          <a:lstStyle/>
          <a:p>
            <a:pPr indent="0" marL="0">
              <a:lnSpc>
                <a:spcPts val="1200"/>
              </a:lnSpc>
              <a:buNone/>
            </a:pPr>
            <a:r>
              <a:rPr lang="en-US" sz="900" dirty="0">
                <a:solidFill>
                  <a:srgbClr val="A9C2DA"/>
                </a:solidFill>
                <a:latin typeface="Calibri" pitchFamily="34" charset="0"/>
                <a:ea typeface="Calibri" pitchFamily="34" charset="-122"/>
                <a:cs typeface="Calibri" pitchFamily="34" charset="-120"/>
              </a:rPr>
              <a:t>Adding a country does not add a platform, a contract or a separate support model. It adds a pack.</a:t>
            </a:r>
            <a:endParaRPr lang="en-US" sz="900" dirty="0"/>
          </a:p>
        </p:txBody>
      </p:sp>
      <p:sp>
        <p:nvSpPr>
          <p:cNvPr id="48" name="Text 46"/>
          <p:cNvSpPr txBox="1"/>
          <p:nvPr/>
        </p:nvSpPr>
        <p:spPr>
          <a:xfrm>
            <a:off x="548640" y="5742432"/>
            <a:ext cx="6766560" cy="347472"/>
          </a:xfrm>
          <a:prstGeom prst="rect">
            <a:avLst/>
          </a:prstGeom>
          <a:noFill/>
          <a:ln/>
        </p:spPr>
        <p:txBody>
          <a:bodyPr wrap="square" lIns="0" tIns="0" rIns="0" bIns="0" rtlCol="0" anchor="ctr"/>
          <a:lstStyle/>
          <a:p>
            <a:pPr indent="0" marL="0">
              <a:buNone/>
            </a:pPr>
            <a:r>
              <a:rPr lang="en-US" sz="2100" b="1" dirty="0">
                <a:solidFill>
                  <a:srgbClr val="FFFFFF"/>
                </a:solidFill>
                <a:latin typeface="Arial" pitchFamily="34" charset="0"/>
                <a:ea typeface="Arial" pitchFamily="34" charset="-122"/>
                <a:cs typeface="Arial" pitchFamily="34" charset="-120"/>
              </a:rPr>
              <a:t>Built for the Kingdom. Ready for the Gulf.</a:t>
            </a:r>
            <a:endParaRPr lang="en-US" sz="2100" dirty="0"/>
          </a:p>
        </p:txBody>
      </p:sp>
      <p:sp>
        <p:nvSpPr>
          <p:cNvPr id="49" name="Text 47"/>
          <p:cNvSpPr txBox="1"/>
          <p:nvPr/>
        </p:nvSpPr>
        <p:spPr>
          <a:xfrm>
            <a:off x="548640" y="6144768"/>
            <a:ext cx="8229600" cy="274320"/>
          </a:xfrm>
          <a:prstGeom prst="rect">
            <a:avLst/>
          </a:prstGeom>
          <a:noFill/>
          <a:ln/>
        </p:spPr>
        <p:txBody>
          <a:bodyPr wrap="square" lIns="0" tIns="0" rIns="0" bIns="0" rtlCol="0" anchor="ctr"/>
          <a:lstStyle/>
          <a:p>
            <a:pPr indent="0" marL="0">
              <a:buNone/>
            </a:pPr>
            <a:r>
              <a:rPr lang="en-US" sz="1000" dirty="0">
                <a:solidFill>
                  <a:srgbClr val="A9C2DA"/>
                </a:solidFill>
                <a:latin typeface="Calibri" pitchFamily="34" charset="0"/>
                <a:ea typeface="Calibri" pitchFamily="34" charset="-122"/>
                <a:cs typeface="Calibri" pitchFamily="34" charset="-120"/>
              </a:rPr>
              <a:t>Qiwa, Muqeem and Absher in step   ·   Nitaqat calculated before it bites   ·   Exit and re-entry tracked to the day</a:t>
            </a:r>
            <a:endParaRPr lang="en-US" sz="1000" dirty="0"/>
          </a:p>
        </p:txBody>
      </p:sp>
      <p:pic>
        <p:nvPicPr>
          <p:cNvPr id="50" name="Image 0" descr="./img/logo-white.png">    </p:cNvPr>
          <p:cNvPicPr>
            <a:picLocks noChangeAspect="1"/>
          </p:cNvPicPr>
          <p:nvPr/>
        </p:nvPicPr>
        <p:blipFill>
          <a:blip r:embed="rId1"/>
          <a:stretch>
            <a:fillRect/>
          </a:stretch>
        </p:blipFill>
        <p:spPr>
          <a:xfrm>
            <a:off x="9464040" y="5760720"/>
            <a:ext cx="1828800" cy="448056"/>
          </a:xfrm>
          <a:prstGeom prst="rect">
            <a:avLst/>
          </a:prstGeom>
        </p:spPr>
      </p:pic>
      <p:sp>
        <p:nvSpPr>
          <p:cNvPr id="51" name="Text 48"/>
          <p:cNvSpPr txBox="1"/>
          <p:nvPr/>
        </p:nvSpPr>
        <p:spPr>
          <a:xfrm>
            <a:off x="8778240" y="6291072"/>
            <a:ext cx="2514600" cy="201168"/>
          </a:xfrm>
          <a:prstGeom prst="rect">
            <a:avLst/>
          </a:prstGeom>
          <a:noFill/>
          <a:ln/>
        </p:spPr>
        <p:txBody>
          <a:bodyPr wrap="square" lIns="0" tIns="0" rIns="0" bIns="0" rtlCol="0" anchor="ctr"/>
          <a:lstStyle/>
          <a:p>
            <a:pPr algn="r" indent="0" marL="0">
              <a:buNone/>
            </a:pPr>
            <a:r>
              <a:rPr lang="en-US" sz="900" dirty="0">
                <a:solidFill>
                  <a:srgbClr val="7E99B4"/>
                </a:solidFill>
                <a:latin typeface="Calibri" pitchFamily="34" charset="0"/>
                <a:ea typeface="Calibri" pitchFamily="34" charset="-122"/>
                <a:cs typeface="Calibri" pitchFamily="34" charset="-120"/>
              </a:rPr>
              <a:t>info@inkitsolutions.com</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14</Slides>
  <Notes>14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14</vt:i4>
      </vt:variant>
    </vt:vector>
  </HeadingPairs>
  <TitlesOfParts>
    <vt:vector size="1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vector>
  </TitlesOfParts>
  <Company>INK IT Business Solutions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Visa &amp; Permits Management — Saudi Arabia</dc:title>
  <dc:subject>PptxGenJS Presentation</dc:subject>
  <dc:creator>INK IT Business Solutions</dc:creator>
  <cp:lastModifiedBy>INK IT Business Solutions</cp:lastModifiedBy>
  <cp:revision>1</cp:revision>
  <dcterms:created xsi:type="dcterms:W3CDTF">2026-09-22T12:14:30Z</dcterms:created>
  <dcterms:modified xsi:type="dcterms:W3CDTF">2026-09-22T12:14:30Z</dcterms:modified>
</cp:coreProperties>
</file>