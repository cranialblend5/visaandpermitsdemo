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band. Saudi Arabia is the one GCC market where a compliance score decides whether you can hire at all, and that is the hook for both the HR buyer and the SAP account team. Everything else in the deck hangs off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of the six they recognise. In Saudi engagements the answer is usually all of them, and number one is the one that gets a CHRO leaning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 in this deck are the application configured for Saudi Arabia. Say plainly that they are representative KSA screens rather than captures of a live Saudi tenant, and that the engine underneath is the one running in the UAE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slow down on with a mixed audience. Business people read the lanes, technical people read the arrows, and both end up at the same conclusion about where the risk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land one slide with a Saudi customer, land this one. Every HR leader in the Kingdom has a story about someone who could not get back, and this is the slide where they tell it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deal widens. Visa tracking is a PRO-desk purchase; Nitaqat forecasting is a CHRO and CFO purchase, and it ties straight to Vision 2030 localisation commitments. For an SAP account team this is the slide that justifies the platform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integration slide a Saudi CIO is waiting for. Be precise: access is granted to the employer under their establishment registration, not to a software vendor, so the credentials have to come from the customer. Saying that plainly earns more trust than promising automation you cannot deliver.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mixed audience, let people find their own row. The GRO row is the operational win; the Head of HR row is the one an SAP account executive should point at when the conversation turns to platform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buyers on one slide. The ladder is for the HR operations lead, the levy box is for the CFO. The levy is usually the number that turns this from a nice-to-have into a budgeted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slide. Walk the four sides, then land the dashed arrows. Being straight that government API access belongs to the employer is what earns credibility with a Saudi CIO, and it is the question they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provisioning and the three questions a Saudi buyer always asks: where does the data sit, is there Arabic, and how long does it take. Have answers ready rather than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widening. The Saudi deal is the entry point; the platform argument is that the second and third country cost configuration rather than another project. For an SAP account executive this is the slide that turns one country into a regional account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691640"/>
            <a:ext cx="7863840" cy="1737360"/>
          </a:xfrm>
          <a:prstGeom prst="rect">
            <a:avLst/>
          </a:prstGeom>
          <a:noFill/>
          <a:ln/>
        </p:spPr>
        <p:txBody>
          <a:bodyPr wrap="square" lIns="0" tIns="0" rIns="0" bIns="0" rtlCol="0" anchor="ctr"/>
          <a:lstStyle/>
          <a:p>
            <a:pPr indent="0" marL="0">
              <a:lnSpc>
                <a:spcPts val="5000"/>
              </a:lnSpc>
              <a:buNone/>
            </a:pPr>
            <a:r>
              <a:rPr lang="en-US" sz="4600" b="1" dirty="0">
                <a:solidFill>
                  <a:srgbClr val="FFFFFF"/>
                </a:solidFill>
                <a:latin typeface="Arial" pitchFamily="34" charset="0"/>
                <a:ea typeface="Arial" pitchFamily="34" charset="-122"/>
                <a:cs typeface="Arial" pitchFamily="34" charset="-120"/>
              </a:rPr>
              <a:t>Visa &amp; Permits</a:t>
            </a:r>
            <a:endParaRPr lang="en-US" sz="4600" dirty="0"/>
          </a:p>
          <a:p>
            <a:pPr indent="0" marL="0">
              <a:lnSpc>
                <a:spcPts val="5000"/>
              </a:lnSpc>
              <a:buNone/>
            </a:pPr>
            <a:r>
              <a:rPr lang="en-US" sz="4600" b="1" dirty="0">
                <a:solidFill>
                  <a:srgbClr val="FFFFFF"/>
                </a:solidFill>
                <a:latin typeface="Arial" pitchFamily="34" charset="0"/>
                <a:ea typeface="Arial" pitchFamily="34" charset="-122"/>
                <a:cs typeface="Arial" pitchFamily="34" charset="-120"/>
              </a:rPr>
              <a:t>Management</a:t>
            </a:r>
            <a:endParaRPr lang="en-US" sz="4600" dirty="0"/>
          </a:p>
        </p:txBody>
      </p:sp>
      <p:sp>
        <p:nvSpPr>
          <p:cNvPr id="6" name="Text 3"/>
          <p:cNvSpPr txBox="1"/>
          <p:nvPr/>
        </p:nvSpPr>
        <p:spPr>
          <a:xfrm>
            <a:off x="658368" y="3401568"/>
            <a:ext cx="7863840" cy="457200"/>
          </a:xfrm>
          <a:prstGeom prst="rect">
            <a:avLst/>
          </a:prstGeom>
          <a:noFill/>
          <a:ln/>
        </p:spPr>
        <p:txBody>
          <a:bodyPr wrap="square" lIns="0" tIns="0" rIns="0" bIns="0" rtlCol="0" anchor="ctr"/>
          <a:lstStyle/>
          <a:p>
            <a:pPr indent="0" marL="0">
              <a:buNone/>
            </a:pPr>
            <a:r>
              <a:rPr lang="en-US" sz="2800" b="1" dirty="0">
                <a:solidFill>
                  <a:srgbClr val="20A098"/>
                </a:solidFill>
                <a:latin typeface="Arial" pitchFamily="34" charset="0"/>
                <a:ea typeface="Arial" pitchFamily="34" charset="-122"/>
                <a:cs typeface="Arial" pitchFamily="34" charset="-120"/>
              </a:rPr>
              <a:t>Kingdom of Saudi Arabia</a:t>
            </a:r>
            <a:endParaRPr lang="en-US" sz="2800" dirty="0"/>
          </a:p>
        </p:txBody>
      </p:sp>
      <p:sp>
        <p:nvSpPr>
          <p:cNvPr id="7" name="Text 4"/>
          <p:cNvSpPr txBox="1"/>
          <p:nvPr/>
        </p:nvSpPr>
        <p:spPr>
          <a:xfrm>
            <a:off x="658368" y="3895344"/>
            <a:ext cx="7863840" cy="310896"/>
          </a:xfrm>
          <a:prstGeom prst="rect">
            <a:avLst/>
          </a:prstGeom>
          <a:noFill/>
          <a:ln/>
        </p:spPr>
        <p:txBody>
          <a:bodyPr wrap="square" lIns="0" tIns="0" rIns="0" bIns="0" rtlCol="0" anchor="ctr"/>
          <a:lstStyle/>
          <a:p>
            <a:pPr indent="0" marL="0">
              <a:buNone/>
            </a:pPr>
            <a:r>
              <a:rPr lang="en-US" sz="1600" b="1" dirty="0">
                <a:solidFill>
                  <a:srgbClr val="A9C2DA"/>
                </a:solidFill>
                <a:latin typeface="Calibri" pitchFamily="34" charset="0"/>
                <a:ea typeface="Calibri" pitchFamily="34" charset="-122"/>
                <a:cs typeface="Calibri" pitchFamily="34" charset="-120"/>
              </a:rPr>
              <a:t>Built on SAP BTP  ·  Qiwa, Muqeem and Absher in step</a:t>
            </a:r>
            <a:endParaRPr lang="en-US" sz="1600" dirty="0"/>
          </a:p>
        </p:txBody>
      </p:sp>
      <p:sp>
        <p:nvSpPr>
          <p:cNvPr id="8" name="Text 5"/>
          <p:cNvSpPr txBox="1"/>
          <p:nvPr/>
        </p:nvSpPr>
        <p:spPr>
          <a:xfrm>
            <a:off x="658368" y="4315968"/>
            <a:ext cx="7589520" cy="822960"/>
          </a:xfrm>
          <a:prstGeom prst="rect">
            <a:avLst/>
          </a:prstGeom>
          <a:noFill/>
          <a:ln/>
        </p:spPr>
        <p:txBody>
          <a:bodyPr wrap="square" lIns="0" tIns="0" rIns="0" bIns="0" rtlCol="0" anchor="ctr"/>
          <a:lstStyle/>
          <a:p>
            <a:pPr indent="0" marL="0">
              <a:lnSpc>
                <a:spcPts val="2100"/>
              </a:lnSpc>
              <a:buNone/>
            </a:pPr>
            <a:r>
              <a:rPr lang="en-US" sz="1400" dirty="0">
                <a:solidFill>
                  <a:srgbClr val="A9C2DA"/>
                </a:solidFill>
                <a:latin typeface="Calibri" pitchFamily="34" charset="0"/>
                <a:ea typeface="Calibri" pitchFamily="34" charset="-122"/>
                <a:cs typeface="Calibri" pitchFamily="34" charset="-120"/>
              </a:rPr>
              <a:t>Iqama lifecycle, exit and re-entry tracked to the day, and a live Nitaqat band position, so you know what you can do before Qiwa tells you what you cannot.</a:t>
            </a:r>
            <a:endParaRPr lang="en-US" sz="1400" dirty="0"/>
          </a:p>
        </p:txBody>
      </p:sp>
      <p:sp>
        <p:nvSpPr>
          <p:cNvPr id="9" name="Shape 6"/>
          <p:cNvSpPr/>
          <p:nvPr/>
        </p:nvSpPr>
        <p:spPr>
          <a:xfrm>
            <a:off x="658368" y="5266944"/>
            <a:ext cx="603504" cy="329184"/>
          </a:xfrm>
          <a:prstGeom prst="roundRect">
            <a:avLst>
              <a:gd name="adj" fmla="val 47222"/>
            </a:avLst>
          </a:prstGeom>
          <a:solidFill>
            <a:srgbClr val="16304C"/>
          </a:solidFill>
          <a:ln w="9525">
            <a:solidFill>
              <a:srgbClr val="2C4A6A"/>
            </a:solidFill>
            <a:prstDash val="solid"/>
          </a:ln>
        </p:spPr>
      </p:sp>
      <p:sp>
        <p:nvSpPr>
          <p:cNvPr id="10" name="Text 7"/>
          <p:cNvSpPr txBox="1"/>
          <p:nvPr/>
        </p:nvSpPr>
        <p:spPr>
          <a:xfrm>
            <a:off x="658368"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Qiwa</a:t>
            </a:r>
            <a:endParaRPr lang="en-US" sz="1150" dirty="0"/>
          </a:p>
        </p:txBody>
      </p:sp>
      <p:sp>
        <p:nvSpPr>
          <p:cNvPr id="11" name="Shape 8"/>
          <p:cNvSpPr/>
          <p:nvPr/>
        </p:nvSpPr>
        <p:spPr>
          <a:xfrm>
            <a:off x="1389888" y="5266944"/>
            <a:ext cx="813816" cy="329184"/>
          </a:xfrm>
          <a:prstGeom prst="roundRect">
            <a:avLst>
              <a:gd name="adj" fmla="val 47222"/>
            </a:avLst>
          </a:prstGeom>
          <a:solidFill>
            <a:srgbClr val="16304C"/>
          </a:solidFill>
          <a:ln w="9525">
            <a:solidFill>
              <a:srgbClr val="2C4A6A"/>
            </a:solidFill>
            <a:prstDash val="solid"/>
          </a:ln>
        </p:spPr>
      </p:sp>
      <p:sp>
        <p:nvSpPr>
          <p:cNvPr id="12" name="Text 9"/>
          <p:cNvSpPr txBox="1"/>
          <p:nvPr/>
        </p:nvSpPr>
        <p:spPr>
          <a:xfrm>
            <a:off x="1389888"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Muqeem</a:t>
            </a:r>
            <a:endParaRPr lang="en-US" sz="1150" dirty="0"/>
          </a:p>
        </p:txBody>
      </p:sp>
      <p:sp>
        <p:nvSpPr>
          <p:cNvPr id="13" name="Shape 10"/>
          <p:cNvSpPr/>
          <p:nvPr/>
        </p:nvSpPr>
        <p:spPr>
          <a:xfrm>
            <a:off x="2331720" y="5266944"/>
            <a:ext cx="813816" cy="329184"/>
          </a:xfrm>
          <a:prstGeom prst="roundRect">
            <a:avLst>
              <a:gd name="adj" fmla="val 47222"/>
            </a:avLst>
          </a:prstGeom>
          <a:solidFill>
            <a:srgbClr val="16304C"/>
          </a:solidFill>
          <a:ln w="9525">
            <a:solidFill>
              <a:srgbClr val="2C4A6A"/>
            </a:solidFill>
            <a:prstDash val="solid"/>
          </a:ln>
        </p:spPr>
      </p:sp>
      <p:sp>
        <p:nvSpPr>
          <p:cNvPr id="14" name="Text 11"/>
          <p:cNvSpPr txBox="1"/>
          <p:nvPr/>
        </p:nvSpPr>
        <p:spPr>
          <a:xfrm>
            <a:off x="2331720" y="5266944"/>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Absher</a:t>
            </a:r>
            <a:endParaRPr lang="en-US" sz="1150" dirty="0"/>
          </a:p>
        </p:txBody>
      </p:sp>
      <p:sp>
        <p:nvSpPr>
          <p:cNvPr id="15" name="Shape 12"/>
          <p:cNvSpPr/>
          <p:nvPr/>
        </p:nvSpPr>
        <p:spPr>
          <a:xfrm>
            <a:off x="3273552" y="5266944"/>
            <a:ext cx="603504" cy="329184"/>
          </a:xfrm>
          <a:prstGeom prst="roundRect">
            <a:avLst>
              <a:gd name="adj" fmla="val 47222"/>
            </a:avLst>
          </a:prstGeom>
          <a:solidFill>
            <a:srgbClr val="16304C"/>
          </a:solidFill>
          <a:ln w="9525">
            <a:solidFill>
              <a:srgbClr val="2C4A6A"/>
            </a:solidFill>
            <a:prstDash val="solid"/>
          </a:ln>
        </p:spPr>
      </p:sp>
      <p:sp>
        <p:nvSpPr>
          <p:cNvPr id="16" name="Text 13"/>
          <p:cNvSpPr txBox="1"/>
          <p:nvPr/>
        </p:nvSpPr>
        <p:spPr>
          <a:xfrm>
            <a:off x="3273552" y="5266944"/>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GOSI</a:t>
            </a:r>
            <a:endParaRPr lang="en-US" sz="1150" dirty="0"/>
          </a:p>
        </p:txBody>
      </p:sp>
      <p:sp>
        <p:nvSpPr>
          <p:cNvPr id="17" name="Shape 14"/>
          <p:cNvSpPr/>
          <p:nvPr/>
        </p:nvSpPr>
        <p:spPr>
          <a:xfrm>
            <a:off x="4005072" y="5266944"/>
            <a:ext cx="708660" cy="329184"/>
          </a:xfrm>
          <a:prstGeom prst="roundRect">
            <a:avLst>
              <a:gd name="adj" fmla="val 47222"/>
            </a:avLst>
          </a:prstGeom>
          <a:solidFill>
            <a:srgbClr val="16304C"/>
          </a:solidFill>
          <a:ln w="9525">
            <a:solidFill>
              <a:srgbClr val="2C4A6A"/>
            </a:solidFill>
            <a:prstDash val="solid"/>
          </a:ln>
        </p:spPr>
      </p:sp>
      <p:sp>
        <p:nvSpPr>
          <p:cNvPr id="18" name="Text 15"/>
          <p:cNvSpPr txBox="1"/>
          <p:nvPr/>
        </p:nvSpPr>
        <p:spPr>
          <a:xfrm>
            <a:off x="4005072"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Mudad</a:t>
            </a:r>
            <a:endParaRPr lang="en-US" sz="1150" dirty="0"/>
          </a:p>
        </p:txBody>
      </p:sp>
      <p:sp>
        <p:nvSpPr>
          <p:cNvPr id="19" name="Shape 16"/>
          <p:cNvSpPr/>
          <p:nvPr/>
        </p:nvSpPr>
        <p:spPr>
          <a:xfrm>
            <a:off x="4841748" y="5266944"/>
            <a:ext cx="708660" cy="329184"/>
          </a:xfrm>
          <a:prstGeom prst="roundRect">
            <a:avLst>
              <a:gd name="adj" fmla="val 47222"/>
            </a:avLst>
          </a:prstGeom>
          <a:solidFill>
            <a:srgbClr val="16304C"/>
          </a:solidFill>
          <a:ln w="9525">
            <a:solidFill>
              <a:srgbClr val="2C4A6A"/>
            </a:solidFill>
            <a:prstDash val="solid"/>
          </a:ln>
        </p:spPr>
      </p:sp>
      <p:sp>
        <p:nvSpPr>
          <p:cNvPr id="20" name="Text 17"/>
          <p:cNvSpPr txBox="1"/>
          <p:nvPr/>
        </p:nvSpPr>
        <p:spPr>
          <a:xfrm>
            <a:off x="4841748"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SCFHS</a:t>
            </a:r>
            <a:endParaRPr lang="en-US" sz="1150" dirty="0"/>
          </a:p>
        </p:txBody>
      </p:sp>
      <p:sp>
        <p:nvSpPr>
          <p:cNvPr id="21" name="Shape 18"/>
          <p:cNvSpPr/>
          <p:nvPr/>
        </p:nvSpPr>
        <p:spPr>
          <a:xfrm>
            <a:off x="5678424" y="5266944"/>
            <a:ext cx="708660" cy="329184"/>
          </a:xfrm>
          <a:prstGeom prst="roundRect">
            <a:avLst>
              <a:gd name="adj" fmla="val 47222"/>
            </a:avLst>
          </a:prstGeom>
          <a:solidFill>
            <a:srgbClr val="16304C"/>
          </a:solidFill>
          <a:ln w="9525">
            <a:solidFill>
              <a:srgbClr val="2C4A6A"/>
            </a:solidFill>
            <a:prstDash val="solid"/>
          </a:ln>
        </p:spPr>
      </p:sp>
      <p:sp>
        <p:nvSpPr>
          <p:cNvPr id="22" name="Text 19"/>
          <p:cNvSpPr txBox="1"/>
          <p:nvPr/>
        </p:nvSpPr>
        <p:spPr>
          <a:xfrm>
            <a:off x="5678424" y="5266944"/>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Enjaz</a:t>
            </a:r>
            <a:endParaRPr lang="en-US" sz="1150" dirty="0"/>
          </a:p>
        </p:txBody>
      </p:sp>
      <p:sp>
        <p:nvSpPr>
          <p:cNvPr id="23" name="Text 20"/>
          <p:cNvSpPr txBox="1"/>
          <p:nvPr/>
        </p:nvSpPr>
        <p:spPr>
          <a:xfrm>
            <a:off x="658368" y="5797296"/>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Saudization  ·  Healthcare licensing  ·  SAP SuccessFactors integrated</a:t>
            </a:r>
            <a:endParaRPr lang="en-US" sz="1200" dirty="0"/>
          </a:p>
        </p:txBody>
      </p:sp>
      <p:sp>
        <p:nvSpPr>
          <p:cNvPr id="24" name="Text 21"/>
          <p:cNvSpPr txBox="1"/>
          <p:nvPr/>
        </p:nvSpPr>
        <p:spPr>
          <a:xfrm>
            <a:off x="658368" y="6236208"/>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account teams and enterprise customers in the Kingdom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Three systems, one employee, nobody joining them up.</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Saudi Arabia is the hardest GCC market to govern, and not because the rules are unclear. The rules live in three places, each with its own clock, and one of them can switch the others off.</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band gates everything</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Drop a Nitaqat band and block visas stop, Iqama renewals stop, transfers stop. Most companies find out after it happens, from a rejection in Qiwa.</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90-day clock starts on arrival</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An employee lands and a statutory window opens to issue the Iqama. Nobody is counting it for you, and the penalty is not a warning letter.</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Exit re-entry is a trap</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Someone travels, the visa expires while they are away, the Iqama is cancelled. They cannot come back. The most expensive admin mistake in the Kingdom.</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levy is a real number</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The expat levy per employee per year gets budgeted once and forgotten, then lands as a cost nobody forecast in a month nobody planned for.</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Renewals cluster</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Iqamas bunch around hiring dates. One quarter is quiet, the next carries three hundred renewals and the fees that come with them.</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SuccessFactors does not know</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HR system holds the employee. Qiwa and Muqeem hold the truth about whether they may legally work. Nothing keeps the two in agreement.</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a hiring freeze you did not choose, employees stranded outside the Kingdom, levy costs that arrive unplanned, and a compliance position nobody can prove to an inspector.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Five Saudi lifecycles on one track.</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Pre-built, configured for the Kingdom, and running the authorities as one process instead of three.</a:t>
            </a:r>
            <a:endParaRPr lang="en-US" sz="1350" dirty="0"/>
          </a:p>
        </p:txBody>
      </p:sp>
      <p:sp>
        <p:nvSpPr>
          <p:cNvPr id="5" name="Shape 3"/>
          <p:cNvSpPr/>
          <p:nvPr/>
        </p:nvSpPr>
        <p:spPr>
          <a:xfrm>
            <a:off x="548640" y="1773936"/>
            <a:ext cx="5120640" cy="768096"/>
          </a:xfrm>
          <a:prstGeom prst="roundRect">
            <a:avLst>
              <a:gd name="adj" fmla="val 9524"/>
            </a:avLst>
          </a:prstGeom>
          <a:solidFill>
            <a:srgbClr val="F4F6F7"/>
          </a:solidFill>
          <a:ln w="9525">
            <a:solidFill>
              <a:srgbClr val="E3E7EA"/>
            </a:solidFill>
            <a:prstDash val="solid"/>
          </a:ln>
        </p:spPr>
      </p:sp>
      <p:sp>
        <p:nvSpPr>
          <p:cNvPr id="6" name="Shape 4"/>
          <p:cNvSpPr/>
          <p:nvPr/>
        </p:nvSpPr>
        <p:spPr>
          <a:xfrm>
            <a:off x="548640" y="1773936"/>
            <a:ext cx="68580" cy="768096"/>
          </a:xfrm>
          <a:prstGeom prst="roundRect">
            <a:avLst>
              <a:gd name="adj" fmla="val 40000"/>
            </a:avLst>
          </a:prstGeom>
          <a:solidFill>
            <a:srgbClr val="20A098"/>
          </a:solidFill>
          <a:ln/>
        </p:spPr>
      </p:sp>
      <p:sp>
        <p:nvSpPr>
          <p:cNvPr id="7" name="Text 5"/>
          <p:cNvSpPr txBox="1"/>
          <p:nvPr/>
        </p:nvSpPr>
        <p:spPr>
          <a:xfrm>
            <a:off x="841248" y="1865376"/>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New Work Visa &amp; Iqama</a:t>
            </a:r>
            <a:endParaRPr lang="en-US" sz="1350" dirty="0"/>
          </a:p>
        </p:txBody>
      </p:sp>
      <p:sp>
        <p:nvSpPr>
          <p:cNvPr id="8" name="Text 6"/>
          <p:cNvSpPr txBox="1"/>
          <p:nvPr/>
        </p:nvSpPr>
        <p:spPr>
          <a:xfrm>
            <a:off x="4041648" y="1883664"/>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12 steps</a:t>
            </a:r>
            <a:endParaRPr lang="en-US" sz="1050" dirty="0"/>
          </a:p>
        </p:txBody>
      </p:sp>
      <p:sp>
        <p:nvSpPr>
          <p:cNvPr id="9" name="Text 7"/>
          <p:cNvSpPr txBox="1"/>
          <p:nvPr/>
        </p:nvSpPr>
        <p:spPr>
          <a:xfrm>
            <a:off x="841248" y="2121408"/>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Block visa through Qiwa contract, arrival, medical, Iqama on Muqeem, GOSI and Mudad.</a:t>
            </a:r>
            <a:endParaRPr lang="en-US" sz="1020" dirty="0"/>
          </a:p>
        </p:txBody>
      </p:sp>
      <p:sp>
        <p:nvSpPr>
          <p:cNvPr id="10" name="Shape 8"/>
          <p:cNvSpPr/>
          <p:nvPr/>
        </p:nvSpPr>
        <p:spPr>
          <a:xfrm>
            <a:off x="548640" y="2651760"/>
            <a:ext cx="5120640" cy="768096"/>
          </a:xfrm>
          <a:prstGeom prst="roundRect">
            <a:avLst>
              <a:gd name="adj" fmla="val 9524"/>
            </a:avLst>
          </a:prstGeom>
          <a:solidFill>
            <a:srgbClr val="FFFFFF"/>
          </a:solidFill>
          <a:ln w="9525">
            <a:solidFill>
              <a:srgbClr val="E3E7EA"/>
            </a:solidFill>
            <a:prstDash val="solid"/>
          </a:ln>
        </p:spPr>
      </p:sp>
      <p:sp>
        <p:nvSpPr>
          <p:cNvPr id="11" name="Shape 9"/>
          <p:cNvSpPr/>
          <p:nvPr/>
        </p:nvSpPr>
        <p:spPr>
          <a:xfrm>
            <a:off x="548640" y="2651760"/>
            <a:ext cx="68580" cy="768096"/>
          </a:xfrm>
          <a:prstGeom prst="roundRect">
            <a:avLst>
              <a:gd name="adj" fmla="val 40000"/>
            </a:avLst>
          </a:prstGeom>
          <a:solidFill>
            <a:srgbClr val="12756F"/>
          </a:solidFill>
          <a:ln/>
        </p:spPr>
      </p:sp>
      <p:sp>
        <p:nvSpPr>
          <p:cNvPr id="12" name="Text 10"/>
          <p:cNvSpPr txBox="1"/>
          <p:nvPr/>
        </p:nvSpPr>
        <p:spPr>
          <a:xfrm>
            <a:off x="841248" y="2743200"/>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Iqama Renewal</a:t>
            </a:r>
            <a:endParaRPr lang="en-US" sz="1350" dirty="0"/>
          </a:p>
        </p:txBody>
      </p:sp>
      <p:sp>
        <p:nvSpPr>
          <p:cNvPr id="13" name="Text 11"/>
          <p:cNvSpPr txBox="1"/>
          <p:nvPr/>
        </p:nvSpPr>
        <p:spPr>
          <a:xfrm>
            <a:off x="4041648" y="2761488"/>
            <a:ext cx="1463040" cy="219456"/>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8 steps</a:t>
            </a:r>
            <a:endParaRPr lang="en-US" sz="1050" dirty="0"/>
          </a:p>
        </p:txBody>
      </p:sp>
      <p:sp>
        <p:nvSpPr>
          <p:cNvPr id="14" name="Text 12"/>
          <p:cNvSpPr txBox="1"/>
          <p:nvPr/>
        </p:nvSpPr>
        <p:spPr>
          <a:xfrm>
            <a:off x="841248" y="2999232"/>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Alert six weeks out, band gate check, levy and fees, Muqeem renewal, write-back.</a:t>
            </a:r>
            <a:endParaRPr lang="en-US" sz="1020" dirty="0"/>
          </a:p>
        </p:txBody>
      </p:sp>
      <p:sp>
        <p:nvSpPr>
          <p:cNvPr id="15" name="Shape 13"/>
          <p:cNvSpPr/>
          <p:nvPr/>
        </p:nvSpPr>
        <p:spPr>
          <a:xfrm>
            <a:off x="548640" y="3529584"/>
            <a:ext cx="5120640" cy="768096"/>
          </a:xfrm>
          <a:prstGeom prst="roundRect">
            <a:avLst>
              <a:gd name="adj" fmla="val 9524"/>
            </a:avLst>
          </a:prstGeom>
          <a:solidFill>
            <a:srgbClr val="F4F6F7"/>
          </a:solidFill>
          <a:ln w="9525">
            <a:solidFill>
              <a:srgbClr val="E3E7EA"/>
            </a:solidFill>
            <a:prstDash val="solid"/>
          </a:ln>
        </p:spPr>
      </p:sp>
      <p:sp>
        <p:nvSpPr>
          <p:cNvPr id="16" name="Shape 14"/>
          <p:cNvSpPr/>
          <p:nvPr/>
        </p:nvSpPr>
        <p:spPr>
          <a:xfrm>
            <a:off x="548640" y="3529584"/>
            <a:ext cx="68580" cy="768096"/>
          </a:xfrm>
          <a:prstGeom prst="roundRect">
            <a:avLst>
              <a:gd name="adj" fmla="val 40000"/>
            </a:avLst>
          </a:prstGeom>
          <a:solidFill>
            <a:srgbClr val="C9821A"/>
          </a:solidFill>
          <a:ln/>
        </p:spPr>
      </p:sp>
      <p:sp>
        <p:nvSpPr>
          <p:cNvPr id="17" name="Text 15"/>
          <p:cNvSpPr txBox="1"/>
          <p:nvPr/>
        </p:nvSpPr>
        <p:spPr>
          <a:xfrm>
            <a:off x="841248" y="3621024"/>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Exit &amp; Re-entry</a:t>
            </a:r>
            <a:endParaRPr lang="en-US" sz="1350" dirty="0"/>
          </a:p>
        </p:txBody>
      </p:sp>
      <p:sp>
        <p:nvSpPr>
          <p:cNvPr id="18" name="Text 16"/>
          <p:cNvSpPr txBox="1"/>
          <p:nvPr/>
        </p:nvSpPr>
        <p:spPr>
          <a:xfrm>
            <a:off x="4041648" y="3639312"/>
            <a:ext cx="1463040" cy="219456"/>
          </a:xfrm>
          <a:prstGeom prst="rect">
            <a:avLst/>
          </a:prstGeom>
          <a:noFill/>
          <a:ln/>
        </p:spPr>
        <p:txBody>
          <a:bodyPr wrap="square" lIns="0" tIns="0" rIns="0" bIns="0" rtlCol="0" anchor="ctr"/>
          <a:lstStyle/>
          <a:p>
            <a:pPr algn="r" indent="0" marL="0">
              <a:buNone/>
            </a:pPr>
            <a:r>
              <a:rPr lang="en-US" sz="1050" b="1" dirty="0">
                <a:solidFill>
                  <a:srgbClr val="C9821A"/>
                </a:solidFill>
                <a:latin typeface="Calibri" pitchFamily="34" charset="0"/>
                <a:ea typeface="Calibri" pitchFamily="34" charset="-122"/>
                <a:cs typeface="Calibri" pitchFamily="34" charset="-120"/>
              </a:rPr>
              <a:t>9 steps</a:t>
            </a:r>
            <a:endParaRPr lang="en-US" sz="1050" dirty="0"/>
          </a:p>
        </p:txBody>
      </p:sp>
      <p:sp>
        <p:nvSpPr>
          <p:cNvPr id="19" name="Text 17"/>
          <p:cNvSpPr txBox="1"/>
          <p:nvPr/>
        </p:nvSpPr>
        <p:spPr>
          <a:xfrm>
            <a:off x="841248" y="3877056"/>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Request, approval, Muqeem visa, and return-by tracked from actual departure.</a:t>
            </a:r>
            <a:endParaRPr lang="en-US" sz="1020" dirty="0"/>
          </a:p>
        </p:txBody>
      </p:sp>
      <p:sp>
        <p:nvSpPr>
          <p:cNvPr id="20" name="Shape 18"/>
          <p:cNvSpPr/>
          <p:nvPr/>
        </p:nvSpPr>
        <p:spPr>
          <a:xfrm>
            <a:off x="548640" y="4407408"/>
            <a:ext cx="5120640" cy="768096"/>
          </a:xfrm>
          <a:prstGeom prst="roundRect">
            <a:avLst>
              <a:gd name="adj" fmla="val 9524"/>
            </a:avLst>
          </a:prstGeom>
          <a:solidFill>
            <a:srgbClr val="FFFFFF"/>
          </a:solidFill>
          <a:ln w="9525">
            <a:solidFill>
              <a:srgbClr val="E3E7EA"/>
            </a:solidFill>
            <a:prstDash val="solid"/>
          </a:ln>
        </p:spPr>
      </p:sp>
      <p:sp>
        <p:nvSpPr>
          <p:cNvPr id="21" name="Shape 19"/>
          <p:cNvSpPr/>
          <p:nvPr/>
        </p:nvSpPr>
        <p:spPr>
          <a:xfrm>
            <a:off x="548640" y="4407408"/>
            <a:ext cx="68580" cy="768096"/>
          </a:xfrm>
          <a:prstGeom prst="roundRect">
            <a:avLst>
              <a:gd name="adj" fmla="val 40000"/>
            </a:avLst>
          </a:prstGeom>
          <a:solidFill>
            <a:srgbClr val="20A098"/>
          </a:solidFill>
          <a:ln/>
        </p:spPr>
      </p:sp>
      <p:sp>
        <p:nvSpPr>
          <p:cNvPr id="22" name="Text 20"/>
          <p:cNvSpPr txBox="1"/>
          <p:nvPr/>
        </p:nvSpPr>
        <p:spPr>
          <a:xfrm>
            <a:off x="841248" y="4498848"/>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Sponsorship Transfer</a:t>
            </a:r>
            <a:endParaRPr lang="en-US" sz="1350" dirty="0"/>
          </a:p>
        </p:txBody>
      </p:sp>
      <p:sp>
        <p:nvSpPr>
          <p:cNvPr id="23" name="Text 21"/>
          <p:cNvSpPr txBox="1"/>
          <p:nvPr/>
        </p:nvSpPr>
        <p:spPr>
          <a:xfrm>
            <a:off x="4041648" y="4517136"/>
            <a:ext cx="1463040" cy="219456"/>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6 steps</a:t>
            </a:r>
            <a:endParaRPr lang="en-US" sz="1050" dirty="0"/>
          </a:p>
        </p:txBody>
      </p:sp>
      <p:sp>
        <p:nvSpPr>
          <p:cNvPr id="24" name="Text 22"/>
          <p:cNvSpPr txBox="1"/>
          <p:nvPr/>
        </p:nvSpPr>
        <p:spPr>
          <a:xfrm>
            <a:off x="841248" y="4754880"/>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Qiwa status check, Nitaqat impact, transfer, new contract, Iqama moved.</a:t>
            </a:r>
            <a:endParaRPr lang="en-US" sz="1020" dirty="0"/>
          </a:p>
        </p:txBody>
      </p:sp>
      <p:sp>
        <p:nvSpPr>
          <p:cNvPr id="25" name="Shape 23"/>
          <p:cNvSpPr/>
          <p:nvPr/>
        </p:nvSpPr>
        <p:spPr>
          <a:xfrm>
            <a:off x="548640" y="5285232"/>
            <a:ext cx="5120640" cy="768096"/>
          </a:xfrm>
          <a:prstGeom prst="roundRect">
            <a:avLst>
              <a:gd name="adj" fmla="val 9524"/>
            </a:avLst>
          </a:prstGeom>
          <a:solidFill>
            <a:srgbClr val="F4F6F7"/>
          </a:solidFill>
          <a:ln w="9525">
            <a:solidFill>
              <a:srgbClr val="E3E7EA"/>
            </a:solidFill>
            <a:prstDash val="solid"/>
          </a:ln>
        </p:spPr>
      </p:sp>
      <p:sp>
        <p:nvSpPr>
          <p:cNvPr id="26" name="Shape 24"/>
          <p:cNvSpPr/>
          <p:nvPr/>
        </p:nvSpPr>
        <p:spPr>
          <a:xfrm>
            <a:off x="548640" y="5285232"/>
            <a:ext cx="68580" cy="768096"/>
          </a:xfrm>
          <a:prstGeom prst="roundRect">
            <a:avLst>
              <a:gd name="adj" fmla="val 40000"/>
            </a:avLst>
          </a:prstGeom>
          <a:solidFill>
            <a:srgbClr val="16304C"/>
          </a:solidFill>
          <a:ln/>
        </p:spPr>
      </p:sp>
      <p:sp>
        <p:nvSpPr>
          <p:cNvPr id="27" name="Text 25"/>
          <p:cNvSpPr txBox="1"/>
          <p:nvPr/>
        </p:nvSpPr>
        <p:spPr>
          <a:xfrm>
            <a:off x="841248" y="5376672"/>
            <a:ext cx="3200400" cy="237744"/>
          </a:xfrm>
          <a:prstGeom prst="rect">
            <a:avLst/>
          </a:prstGeom>
          <a:noFill/>
          <a:ln/>
        </p:spPr>
        <p:txBody>
          <a:bodyPr wrap="square" lIns="0" tIns="0" rIns="0" bIns="0" rtlCol="0" anchor="ctr"/>
          <a:lstStyle/>
          <a:p>
            <a:pPr indent="0" marL="0">
              <a:buNone/>
            </a:pPr>
            <a:r>
              <a:rPr lang="en-US" sz="1350" b="1" dirty="0">
                <a:solidFill>
                  <a:srgbClr val="0C1E33"/>
                </a:solidFill>
                <a:latin typeface="Arial" pitchFamily="34" charset="0"/>
                <a:ea typeface="Arial" pitchFamily="34" charset="-122"/>
                <a:cs typeface="Arial" pitchFamily="34" charset="-120"/>
              </a:rPr>
              <a:t>Final Exit</a:t>
            </a:r>
            <a:endParaRPr lang="en-US" sz="1350" dirty="0"/>
          </a:p>
        </p:txBody>
      </p:sp>
      <p:sp>
        <p:nvSpPr>
          <p:cNvPr id="28" name="Text 26"/>
          <p:cNvSpPr txBox="1"/>
          <p:nvPr/>
        </p:nvSpPr>
        <p:spPr>
          <a:xfrm>
            <a:off x="4041648" y="5394960"/>
            <a:ext cx="1463040" cy="219456"/>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6 steps</a:t>
            </a:r>
            <a:endParaRPr lang="en-US" sz="1050" dirty="0"/>
          </a:p>
        </p:txBody>
      </p:sp>
      <p:sp>
        <p:nvSpPr>
          <p:cNvPr id="29" name="Text 27"/>
          <p:cNvSpPr txBox="1"/>
          <p:nvPr/>
        </p:nvSpPr>
        <p:spPr>
          <a:xfrm>
            <a:off x="841248" y="5632704"/>
            <a:ext cx="4663440" cy="365760"/>
          </a:xfrm>
          <a:prstGeom prst="rect">
            <a:avLst/>
          </a:prstGeom>
          <a:noFill/>
          <a:ln/>
        </p:spPr>
        <p:txBody>
          <a:bodyPr wrap="square" lIns="0" tIns="0" rIns="0" bIns="0" rtlCol="0" anchor="ctr"/>
          <a:lstStyle/>
          <a:p>
            <a:pPr indent="0" marL="0">
              <a:lnSpc>
                <a:spcPts val="1400"/>
              </a:lnSpc>
              <a:buNone/>
            </a:pPr>
            <a:r>
              <a:rPr lang="en-US" sz="1020" dirty="0">
                <a:solidFill>
                  <a:srgbClr val="5A6C82"/>
                </a:solidFill>
                <a:latin typeface="Calibri" pitchFamily="34" charset="0"/>
                <a:ea typeface="Calibri" pitchFamily="34" charset="-122"/>
                <a:cs typeface="Calibri" pitchFamily="34" charset="-120"/>
              </a:rPr>
              <a:t>End of service settled, dues cleared, contract terminated, Iqama cancelled.</a:t>
            </a:r>
            <a:endParaRPr lang="en-US" sz="1020" dirty="0"/>
          </a:p>
        </p:txBody>
      </p:sp>
      <p:pic>
        <p:nvPicPr>
          <p:cNvPr id="30" name="Image 0" descr="./img/home.jpg">    </p:cNvPr>
          <p:cNvPicPr>
            <a:picLocks noChangeAspect="1"/>
          </p:cNvPicPr>
          <p:nvPr/>
        </p:nvPicPr>
        <p:blipFill>
          <a:blip r:embed="rId1"/>
          <a:stretch>
            <a:fillRect/>
          </a:stretch>
        </p:blipFill>
        <p:spPr>
          <a:xfrm>
            <a:off x="5943600" y="1773936"/>
            <a:ext cx="5669280" cy="914400"/>
          </a:xfrm>
          <a:prstGeom prst="rect">
            <a:avLst/>
          </a:prstGeom>
          <a:effectLst>
            <a:outerShdw sx="100000" sy="100000" kx="0" ky="0" algn="bl" rotWithShape="0" blurRad="177800" dist="38100" dir="5400000">
              <a:srgbClr val="000000">
                <a:alpha val="20000"/>
              </a:srgbClr>
            </a:outerShdw>
          </a:effectLst>
        </p:spPr>
      </p:pic>
      <p:sp>
        <p:nvSpPr>
          <p:cNvPr id="31" name="Text 28"/>
          <p:cNvSpPr txBox="1"/>
          <p:nvPr/>
        </p:nvSpPr>
        <p:spPr>
          <a:xfrm>
            <a:off x="5943600" y="5431536"/>
            <a:ext cx="5669280"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Saudi home dashboard. Four lifecycles with live counts, over a queue where the overdue exit re-entry sits at the top with a name against it.</a:t>
            </a:r>
            <a:endParaRPr lang="en-US" sz="1000" dirty="0"/>
          </a:p>
        </p:txBody>
      </p:sp>
      <p:sp>
        <p:nvSpPr>
          <p:cNvPr id="32" name="Text 29"/>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3" name="Text 30"/>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JOURNEY MAP</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Iqama, five people, seven stages.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Stages run left to right in the order they happen. Each lane is a person. Every arrow is a hand-off, and every hand-off is where the process stalls today.</a:t>
            </a:r>
            <a:endParaRPr lang="en-US" sz="1300" dirty="0"/>
          </a:p>
        </p:txBody>
      </p:sp>
      <p:pic>
        <p:nvPicPr>
          <p:cNvPr id="5" name="Image 0" descr="./img/journeymap.png">    </p:cNvPr>
          <p:cNvPicPr>
            <a:picLocks noChangeAspect="1"/>
          </p:cNvPicPr>
          <p:nvPr/>
        </p:nvPicPr>
        <p:blipFill>
          <a:blip r:embed="rId1"/>
          <a:stretch>
            <a:fillRect/>
          </a:stretch>
        </p:blipFill>
        <p:spPr>
          <a:xfrm>
            <a:off x="548640" y="1700784"/>
            <a:ext cx="11091672" cy="4023360"/>
          </a:xfrm>
          <a:prstGeom prst="rect">
            <a:avLst/>
          </a:prstGeom>
        </p:spPr>
      </p:pic>
      <p:sp>
        <p:nvSpPr>
          <p:cNvPr id="6" name="Shape 3"/>
          <p:cNvSpPr/>
          <p:nvPr/>
        </p:nvSpPr>
        <p:spPr>
          <a:xfrm>
            <a:off x="548640" y="5870448"/>
            <a:ext cx="11091672" cy="457200"/>
          </a:xfrm>
          <a:prstGeom prst="roundRect">
            <a:avLst>
              <a:gd name="adj" fmla="val 16000"/>
            </a:avLst>
          </a:prstGeom>
          <a:solidFill>
            <a:srgbClr val="FCF6E4"/>
          </a:solidFill>
          <a:ln w="11430">
            <a:solidFill>
              <a:srgbClr val="C9A227"/>
            </a:solidFill>
            <a:prstDash val="solid"/>
          </a:ln>
        </p:spPr>
      </p:sp>
      <p:sp>
        <p:nvSpPr>
          <p:cNvPr id="7" name="Text 4"/>
          <p:cNvSpPr txBox="1"/>
          <p:nvPr/>
        </p:nvSpPr>
        <p:spPr>
          <a:xfrm>
            <a:off x="777240" y="5870448"/>
            <a:ext cx="10607040" cy="457200"/>
          </a:xfrm>
          <a:prstGeom prst="rect">
            <a:avLst/>
          </a:prstGeom>
          <a:noFill/>
          <a:ln/>
        </p:spPr>
        <p:txBody>
          <a:bodyPr wrap="square" lIns="0" tIns="0" rIns="0" bIns="0" rtlCol="0" anchor="ctr"/>
          <a:lstStyle/>
          <a:p>
            <a:pPr indent="0" marL="0">
              <a:buNone/>
            </a:pPr>
            <a:r>
              <a:rPr lang="en-US" sz="1100" b="1" dirty="0">
                <a:solidFill>
                  <a:srgbClr val="7A6410"/>
                </a:solidFill>
                <a:latin typeface="Calibri" pitchFamily="34" charset="0"/>
                <a:ea typeface="Calibri" pitchFamily="34" charset="-122"/>
                <a:cs typeface="Calibri" pitchFamily="34" charset="-120"/>
              </a:rPr>
              <a:t>Look at stage one.  </a:t>
            </a:r>
            <a:pPr indent="0" marL="0">
              <a:buNone/>
            </a:pPr>
            <a:r>
              <a:rPr lang="en-US" sz="1100" dirty="0">
                <a:solidFill>
                  <a:srgbClr val="0C1E33"/>
                </a:solidFill>
                <a:latin typeface="Calibri" pitchFamily="34" charset="0"/>
                <a:ea typeface="Calibri" pitchFamily="34" charset="-122"/>
                <a:cs typeface="Calibri" pitchFamily="34" charset="-120"/>
              </a:rPr>
              <a:t>In the UAE a permit starts with a quota check. In Saudi Arabia it starts with a Nitaqat check, because the band decides whether a block visa can be requested at all. That is why a KSA rollout is not a UAE rollout with the names changed.</a:t>
            </a:r>
            <a:endParaRPr lang="en-US" sz="1100" dirty="0"/>
          </a:p>
        </p:txBody>
      </p:sp>
      <p:sp>
        <p:nvSpPr>
          <p:cNvPr id="8" name="Text 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9" name="Text 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EXIT &amp; RE-ENTRY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The process that costs the most when it goes wrong.</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expatriate leaving the Kingdom and intending to return needs an exit re-entry visa. Miss the return date and the Iqama is cancelled, and they cannot come back.</a:t>
            </a:r>
            <a:endParaRPr lang="en-US" sz="1300" dirty="0"/>
          </a:p>
        </p:txBody>
      </p:sp>
      <p:sp>
        <p:nvSpPr>
          <p:cNvPr id="5" name="Shape 3"/>
          <p:cNvSpPr/>
          <p:nvPr/>
        </p:nvSpPr>
        <p:spPr>
          <a:xfrm>
            <a:off x="548640" y="1810512"/>
            <a:ext cx="5394960" cy="621792"/>
          </a:xfrm>
          <a:prstGeom prst="roundRect">
            <a:avLst>
              <a:gd name="adj" fmla="val 11765"/>
            </a:avLst>
          </a:prstGeom>
          <a:solidFill>
            <a:srgbClr val="F4F6F7"/>
          </a:solidFill>
          <a:ln w="9525">
            <a:solidFill>
              <a:srgbClr val="E3E7EA"/>
            </a:solidFill>
            <a:prstDash val="solid"/>
          </a:ln>
        </p:spPr>
      </p:sp>
      <p:sp>
        <p:nvSpPr>
          <p:cNvPr id="6" name="Shape 4"/>
          <p:cNvSpPr/>
          <p:nvPr/>
        </p:nvSpPr>
        <p:spPr>
          <a:xfrm>
            <a:off x="713232" y="1947672"/>
            <a:ext cx="347472" cy="347472"/>
          </a:xfrm>
          <a:prstGeom prst="ellipse">
            <a:avLst/>
          </a:prstGeom>
          <a:solidFill>
            <a:srgbClr val="20A098"/>
          </a:solidFill>
          <a:ln/>
        </p:spPr>
      </p:sp>
      <p:sp>
        <p:nvSpPr>
          <p:cNvPr id="7" name="Text 5"/>
          <p:cNvSpPr txBox="1"/>
          <p:nvPr/>
        </p:nvSpPr>
        <p:spPr>
          <a:xfrm>
            <a:off x="713232" y="19476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txBox="1"/>
          <p:nvPr/>
        </p:nvSpPr>
        <p:spPr>
          <a:xfrm>
            <a:off x="1188720" y="187452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Employee requests</a:t>
            </a:r>
            <a:endParaRPr lang="en-US" sz="1200" dirty="0"/>
          </a:p>
        </p:txBody>
      </p:sp>
      <p:sp>
        <p:nvSpPr>
          <p:cNvPr id="9" name="Text 7"/>
          <p:cNvSpPr txBox="1"/>
          <p:nvPr/>
        </p:nvSpPr>
        <p:spPr>
          <a:xfrm>
            <a:off x="1188720" y="209397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Travel dates come from the person travelling, in self-service, not second hand.</a:t>
            </a:r>
            <a:endParaRPr lang="en-US" sz="940" dirty="0"/>
          </a:p>
        </p:txBody>
      </p:sp>
      <p:sp>
        <p:nvSpPr>
          <p:cNvPr id="10" name="Shape 8"/>
          <p:cNvSpPr/>
          <p:nvPr/>
        </p:nvSpPr>
        <p:spPr>
          <a:xfrm>
            <a:off x="548640" y="2532888"/>
            <a:ext cx="5394960" cy="621792"/>
          </a:xfrm>
          <a:prstGeom prst="roundRect">
            <a:avLst>
              <a:gd name="adj" fmla="val 11765"/>
            </a:avLst>
          </a:prstGeom>
          <a:solidFill>
            <a:srgbClr val="FFFFFF"/>
          </a:solidFill>
          <a:ln w="9525">
            <a:solidFill>
              <a:srgbClr val="E3E7EA"/>
            </a:solidFill>
            <a:prstDash val="solid"/>
          </a:ln>
        </p:spPr>
      </p:sp>
      <p:sp>
        <p:nvSpPr>
          <p:cNvPr id="11" name="Shape 9"/>
          <p:cNvSpPr/>
          <p:nvPr/>
        </p:nvSpPr>
        <p:spPr>
          <a:xfrm>
            <a:off x="713232" y="2670048"/>
            <a:ext cx="347472" cy="347472"/>
          </a:xfrm>
          <a:prstGeom prst="ellipse">
            <a:avLst/>
          </a:prstGeom>
          <a:solidFill>
            <a:srgbClr val="20A098"/>
          </a:solidFill>
          <a:ln/>
        </p:spPr>
      </p:sp>
      <p:sp>
        <p:nvSpPr>
          <p:cNvPr id="12" name="Text 10"/>
          <p:cNvSpPr txBox="1"/>
          <p:nvPr/>
        </p:nvSpPr>
        <p:spPr>
          <a:xfrm>
            <a:off x="713232" y="267004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1188720" y="2596896"/>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Manager and HR approve</a:t>
            </a:r>
            <a:endParaRPr lang="en-US" sz="1200" dirty="0"/>
          </a:p>
        </p:txBody>
      </p:sp>
      <p:sp>
        <p:nvSpPr>
          <p:cNvPr id="14" name="Text 12"/>
          <p:cNvSpPr txBox="1"/>
          <p:nvPr/>
        </p:nvSpPr>
        <p:spPr>
          <a:xfrm>
            <a:off x="1188720" y="2816352"/>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Absence against the leave calendar, then Iqama validity, dues, loans and notice.</a:t>
            </a:r>
            <a:endParaRPr lang="en-US" sz="940" dirty="0"/>
          </a:p>
        </p:txBody>
      </p:sp>
      <p:sp>
        <p:nvSpPr>
          <p:cNvPr id="15" name="Shape 13"/>
          <p:cNvSpPr/>
          <p:nvPr/>
        </p:nvSpPr>
        <p:spPr>
          <a:xfrm>
            <a:off x="548640" y="3255264"/>
            <a:ext cx="5394960" cy="621792"/>
          </a:xfrm>
          <a:prstGeom prst="roundRect">
            <a:avLst>
              <a:gd name="adj" fmla="val 11765"/>
            </a:avLst>
          </a:prstGeom>
          <a:solidFill>
            <a:srgbClr val="F4F6F7"/>
          </a:solidFill>
          <a:ln w="9525">
            <a:solidFill>
              <a:srgbClr val="E3E7EA"/>
            </a:solidFill>
            <a:prstDash val="solid"/>
          </a:ln>
        </p:spPr>
      </p:sp>
      <p:sp>
        <p:nvSpPr>
          <p:cNvPr id="16" name="Shape 14"/>
          <p:cNvSpPr/>
          <p:nvPr/>
        </p:nvSpPr>
        <p:spPr>
          <a:xfrm>
            <a:off x="713232" y="3392424"/>
            <a:ext cx="347472" cy="347472"/>
          </a:xfrm>
          <a:prstGeom prst="ellipse">
            <a:avLst/>
          </a:prstGeom>
          <a:solidFill>
            <a:srgbClr val="20A098"/>
          </a:solidFill>
          <a:ln/>
        </p:spPr>
      </p:sp>
      <p:sp>
        <p:nvSpPr>
          <p:cNvPr id="17" name="Text 15"/>
          <p:cNvSpPr txBox="1"/>
          <p:nvPr/>
        </p:nvSpPr>
        <p:spPr>
          <a:xfrm>
            <a:off x="713232" y="339242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8" name="Text 16"/>
          <p:cNvSpPr txBox="1"/>
          <p:nvPr/>
        </p:nvSpPr>
        <p:spPr>
          <a:xfrm>
            <a:off x="1188720" y="3319272"/>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Muqeem visa issued</a:t>
            </a:r>
            <a:endParaRPr lang="en-US" sz="1200" dirty="0"/>
          </a:p>
        </p:txBody>
      </p:sp>
      <p:sp>
        <p:nvSpPr>
          <p:cNvPr id="19" name="Text 17"/>
          <p:cNvSpPr txBox="1"/>
          <p:nvPr/>
        </p:nvSpPr>
        <p:spPr>
          <a:xfrm>
            <a:off x="1188720" y="3538728"/>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Single or multiple, duration recorded, SADAD fee captured with the receipt.</a:t>
            </a:r>
            <a:endParaRPr lang="en-US" sz="940" dirty="0"/>
          </a:p>
        </p:txBody>
      </p:sp>
      <p:sp>
        <p:nvSpPr>
          <p:cNvPr id="20" name="Shape 18"/>
          <p:cNvSpPr/>
          <p:nvPr/>
        </p:nvSpPr>
        <p:spPr>
          <a:xfrm>
            <a:off x="548640" y="3977640"/>
            <a:ext cx="5394960" cy="621792"/>
          </a:xfrm>
          <a:prstGeom prst="roundRect">
            <a:avLst>
              <a:gd name="adj" fmla="val 11765"/>
            </a:avLst>
          </a:prstGeom>
          <a:solidFill>
            <a:srgbClr val="FFFFFF"/>
          </a:solidFill>
          <a:ln w="9525">
            <a:solidFill>
              <a:srgbClr val="E3E7EA"/>
            </a:solidFill>
            <a:prstDash val="solid"/>
          </a:ln>
        </p:spPr>
      </p:sp>
      <p:sp>
        <p:nvSpPr>
          <p:cNvPr id="21" name="Shape 19"/>
          <p:cNvSpPr/>
          <p:nvPr/>
        </p:nvSpPr>
        <p:spPr>
          <a:xfrm>
            <a:off x="713232" y="4114800"/>
            <a:ext cx="347472" cy="347472"/>
          </a:xfrm>
          <a:prstGeom prst="ellipse">
            <a:avLst/>
          </a:prstGeom>
          <a:solidFill>
            <a:srgbClr val="20A098"/>
          </a:solidFill>
          <a:ln/>
        </p:spPr>
      </p:sp>
      <p:sp>
        <p:nvSpPr>
          <p:cNvPr id="22" name="Text 20"/>
          <p:cNvSpPr txBox="1"/>
          <p:nvPr/>
        </p:nvSpPr>
        <p:spPr>
          <a:xfrm>
            <a:off x="713232" y="411480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3" name="Text 21"/>
          <p:cNvSpPr txBox="1"/>
          <p:nvPr/>
        </p:nvSpPr>
        <p:spPr>
          <a:xfrm>
            <a:off x="1188720" y="4041648"/>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Departure recorded</a:t>
            </a:r>
            <a:endParaRPr lang="en-US" sz="1200" dirty="0"/>
          </a:p>
        </p:txBody>
      </p:sp>
      <p:sp>
        <p:nvSpPr>
          <p:cNvPr id="24" name="Text 22"/>
          <p:cNvSpPr txBox="1"/>
          <p:nvPr/>
        </p:nvSpPr>
        <p:spPr>
          <a:xfrm>
            <a:off x="1188720" y="4261104"/>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The return-by clock is calculated from the actual departure, not the application.</a:t>
            </a:r>
            <a:endParaRPr lang="en-US" sz="940" dirty="0"/>
          </a:p>
        </p:txBody>
      </p:sp>
      <p:sp>
        <p:nvSpPr>
          <p:cNvPr id="25" name="Shape 23"/>
          <p:cNvSpPr/>
          <p:nvPr/>
        </p:nvSpPr>
        <p:spPr>
          <a:xfrm>
            <a:off x="548640" y="4700016"/>
            <a:ext cx="5394960" cy="621792"/>
          </a:xfrm>
          <a:prstGeom prst="roundRect">
            <a:avLst>
              <a:gd name="adj" fmla="val 11765"/>
            </a:avLst>
          </a:prstGeom>
          <a:solidFill>
            <a:srgbClr val="F4F6F7"/>
          </a:solidFill>
          <a:ln w="9525">
            <a:solidFill>
              <a:srgbClr val="E3E7EA"/>
            </a:solidFill>
            <a:prstDash val="solid"/>
          </a:ln>
        </p:spPr>
      </p:sp>
      <p:sp>
        <p:nvSpPr>
          <p:cNvPr id="26" name="Shape 24"/>
          <p:cNvSpPr/>
          <p:nvPr/>
        </p:nvSpPr>
        <p:spPr>
          <a:xfrm>
            <a:off x="713232" y="4837176"/>
            <a:ext cx="347472" cy="347472"/>
          </a:xfrm>
          <a:prstGeom prst="ellipse">
            <a:avLst/>
          </a:prstGeom>
          <a:solidFill>
            <a:srgbClr val="C9821A"/>
          </a:solidFill>
          <a:ln/>
        </p:spPr>
      </p:sp>
      <p:sp>
        <p:nvSpPr>
          <p:cNvPr id="27" name="Text 25"/>
          <p:cNvSpPr txBox="1"/>
          <p:nvPr/>
        </p:nvSpPr>
        <p:spPr>
          <a:xfrm>
            <a:off x="713232" y="483717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8" name="Text 26"/>
          <p:cNvSpPr txBox="1"/>
          <p:nvPr/>
        </p:nvSpPr>
        <p:spPr>
          <a:xfrm>
            <a:off x="1188720" y="4764024"/>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Return monitored</a:t>
            </a:r>
            <a:endParaRPr lang="en-US" sz="1200" dirty="0"/>
          </a:p>
        </p:txBody>
      </p:sp>
      <p:sp>
        <p:nvSpPr>
          <p:cNvPr id="29" name="Text 27"/>
          <p:cNvSpPr txBox="1"/>
          <p:nvPr/>
        </p:nvSpPr>
        <p:spPr>
          <a:xfrm>
            <a:off x="1188720" y="4983480"/>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Alerts at 14, 7 and 2 days to employee, line manager and HRBP.</a:t>
            </a:r>
            <a:endParaRPr lang="en-US" sz="940" dirty="0"/>
          </a:p>
        </p:txBody>
      </p:sp>
      <p:sp>
        <p:nvSpPr>
          <p:cNvPr id="30" name="Shape 28"/>
          <p:cNvSpPr/>
          <p:nvPr/>
        </p:nvSpPr>
        <p:spPr>
          <a:xfrm>
            <a:off x="548640" y="5422392"/>
            <a:ext cx="5394960" cy="621792"/>
          </a:xfrm>
          <a:prstGeom prst="roundRect">
            <a:avLst>
              <a:gd name="adj" fmla="val 11765"/>
            </a:avLst>
          </a:prstGeom>
          <a:solidFill>
            <a:srgbClr val="FFFFFF"/>
          </a:solidFill>
          <a:ln w="9525">
            <a:solidFill>
              <a:srgbClr val="E3E7EA"/>
            </a:solidFill>
            <a:prstDash val="solid"/>
          </a:ln>
        </p:spPr>
      </p:sp>
      <p:sp>
        <p:nvSpPr>
          <p:cNvPr id="31" name="Shape 29"/>
          <p:cNvSpPr/>
          <p:nvPr/>
        </p:nvSpPr>
        <p:spPr>
          <a:xfrm>
            <a:off x="713232" y="5559552"/>
            <a:ext cx="347472" cy="347472"/>
          </a:xfrm>
          <a:prstGeom prst="ellipse">
            <a:avLst/>
          </a:prstGeom>
          <a:solidFill>
            <a:srgbClr val="C9821A"/>
          </a:solidFill>
          <a:ln/>
        </p:spPr>
      </p:sp>
      <p:sp>
        <p:nvSpPr>
          <p:cNvPr id="32" name="Text 30"/>
          <p:cNvSpPr txBox="1"/>
          <p:nvPr/>
        </p:nvSpPr>
        <p:spPr>
          <a:xfrm>
            <a:off x="713232" y="555955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1"/>
          <p:cNvSpPr txBox="1"/>
          <p:nvPr/>
        </p:nvSpPr>
        <p:spPr>
          <a:xfrm>
            <a:off x="1188720" y="5486400"/>
            <a:ext cx="4480560" cy="219456"/>
          </a:xfrm>
          <a:prstGeom prst="rect">
            <a:avLst/>
          </a:prstGeom>
          <a:noFill/>
          <a:ln/>
        </p:spPr>
        <p:txBody>
          <a:bodyPr wrap="square" lIns="0" tIns="0" rIns="0" bIns="0" rtlCol="0" anchor="ctr"/>
          <a:lstStyle/>
          <a:p>
            <a:pPr indent="0" marL="0">
              <a:buNone/>
            </a:pPr>
            <a:r>
              <a:rPr lang="en-US" sz="1200" b="1" dirty="0">
                <a:solidFill>
                  <a:srgbClr val="0C1E33"/>
                </a:solidFill>
                <a:latin typeface="Arial" pitchFamily="34" charset="0"/>
                <a:ea typeface="Arial" pitchFamily="34" charset="-122"/>
                <a:cs typeface="Arial" pitchFamily="34" charset="-120"/>
              </a:rPr>
              <a:t>Re-entry confirmed</a:t>
            </a:r>
            <a:endParaRPr lang="en-US" sz="1200" dirty="0"/>
          </a:p>
        </p:txBody>
      </p:sp>
      <p:sp>
        <p:nvSpPr>
          <p:cNvPr id="34" name="Text 32"/>
          <p:cNvSpPr txBox="1"/>
          <p:nvPr/>
        </p:nvSpPr>
        <p:spPr>
          <a:xfrm>
            <a:off x="1188720" y="5705856"/>
            <a:ext cx="4572000" cy="292608"/>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Arrival recorded, Iqama remains valid, case closes.</a:t>
            </a:r>
            <a:endParaRPr lang="en-US" sz="940" dirty="0"/>
          </a:p>
        </p:txBody>
      </p:sp>
      <p:pic>
        <p:nvPicPr>
          <p:cNvPr id="35" name="Image 0" descr="./img/exit-tracker.jpg">    </p:cNvPr>
          <p:cNvPicPr>
            <a:picLocks noChangeAspect="1"/>
          </p:cNvPicPr>
          <p:nvPr/>
        </p:nvPicPr>
        <p:blipFill>
          <a:blip r:embed="rId1"/>
          <a:stretch>
            <a:fillRect/>
          </a:stretch>
        </p:blipFill>
        <p:spPr>
          <a:xfrm>
            <a:off x="6172200" y="1810512"/>
            <a:ext cx="5440680" cy="914400"/>
          </a:xfrm>
          <a:prstGeom prst="rect">
            <a:avLst/>
          </a:prstGeom>
          <a:effectLst>
            <a:outerShdw sx="100000" sy="100000" kx="0" ky="0" algn="bl" rotWithShape="0" blurRad="177800" dist="38100" dir="5400000">
              <a:srgbClr val="000000">
                <a:alpha val="20000"/>
              </a:srgbClr>
            </a:outerShdw>
          </a:effectLst>
        </p:spPr>
      </p:pic>
      <p:sp>
        <p:nvSpPr>
          <p:cNvPr id="36" name="Shape 33"/>
          <p:cNvSpPr/>
          <p:nvPr/>
        </p:nvSpPr>
        <p:spPr>
          <a:xfrm>
            <a:off x="6172200" y="5230368"/>
            <a:ext cx="5440680" cy="1060704"/>
          </a:xfrm>
          <a:prstGeom prst="roundRect">
            <a:avLst>
              <a:gd name="adj" fmla="val 6897"/>
            </a:avLst>
          </a:prstGeom>
          <a:solidFill>
            <a:srgbClr val="FDECE9"/>
          </a:solidFill>
          <a:ln w="11430">
            <a:solidFill>
              <a:srgbClr val="E0A79D"/>
            </a:solidFill>
            <a:prstDash val="solid"/>
          </a:ln>
        </p:spPr>
      </p:sp>
      <p:sp>
        <p:nvSpPr>
          <p:cNvPr id="37" name="Text 34"/>
          <p:cNvSpPr txBox="1"/>
          <p:nvPr/>
        </p:nvSpPr>
        <p:spPr>
          <a:xfrm>
            <a:off x="6355080" y="5340096"/>
            <a:ext cx="5074920" cy="256032"/>
          </a:xfrm>
          <a:prstGeom prst="rect">
            <a:avLst/>
          </a:prstGeom>
          <a:noFill/>
          <a:ln/>
        </p:spPr>
        <p:txBody>
          <a:bodyPr wrap="square" lIns="0" tIns="0" rIns="0" bIns="0" rtlCol="0" anchor="ctr"/>
          <a:lstStyle/>
          <a:p>
            <a:pPr indent="0" marL="0">
              <a:buNone/>
            </a:pPr>
            <a:r>
              <a:rPr lang="en-US" sz="1150" b="1" dirty="0">
                <a:solidFill>
                  <a:srgbClr val="8E3428"/>
                </a:solidFill>
                <a:latin typeface="Arial" pitchFamily="34" charset="0"/>
                <a:ea typeface="Arial" pitchFamily="34" charset="-122"/>
                <a:cs typeface="Arial" pitchFamily="34" charset="-120"/>
              </a:rPr>
              <a:t>Forty-seven outside the Kingdom. Two already overdue.</a:t>
            </a:r>
            <a:endParaRPr lang="en-US" sz="1150" dirty="0"/>
          </a:p>
        </p:txBody>
      </p:sp>
      <p:sp>
        <p:nvSpPr>
          <p:cNvPr id="38" name="Text 35"/>
          <p:cNvSpPr txBox="1"/>
          <p:nvPr/>
        </p:nvSpPr>
        <p:spPr>
          <a:xfrm>
            <a:off x="6355080" y="5614416"/>
            <a:ext cx="5074920" cy="585216"/>
          </a:xfrm>
          <a:prstGeom prst="rect">
            <a:avLst/>
          </a:prstGeom>
          <a:noFill/>
          <a:ln/>
        </p:spPr>
        <p:txBody>
          <a:bodyPr wrap="square" lIns="0" tIns="0" rIns="0" bIns="0" rtlCol="0" anchor="ctr"/>
          <a:lstStyle/>
          <a:p>
            <a:pPr indent="0" marL="0">
              <a:lnSpc>
                <a:spcPts val="1300"/>
              </a:lnSpc>
              <a:buNone/>
            </a:pPr>
            <a:r>
              <a:rPr lang="en-US" sz="960" dirty="0">
                <a:solidFill>
                  <a:srgbClr val="5A6C82"/>
                </a:solidFill>
                <a:latin typeface="Calibri" pitchFamily="34" charset="0"/>
                <a:ea typeface="Calibri" pitchFamily="34" charset="-122"/>
                <a:cs typeface="Calibri" pitchFamily="34" charset="-120"/>
              </a:rPr>
              <a:t>Twelve more return inside a fortnight. That is a question your HR director cannot answer today. Here it is one screen, and the overdue rows have already escalated to their line managers.</a:t>
            </a:r>
            <a:endParaRPr lang="en-US" sz="960" dirty="0"/>
          </a:p>
        </p:txBody>
      </p:sp>
      <p:sp>
        <p:nvSpPr>
          <p:cNvPr id="39" name="Text 3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40" name="Text 3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69264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SAUDIZATION &amp; NITAQAT</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number that decides whether you can hire at all.</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Nitaqat scores every establishment on the share of Saudi nationals it employs and puts it in a band. The band is not a report card, it is a switch.</a:t>
            </a:r>
            <a:endParaRPr lang="en-US" sz="1250" dirty="0"/>
          </a:p>
        </p:txBody>
      </p:sp>
      <p:sp>
        <p:nvSpPr>
          <p:cNvPr id="6" name="Shape 4"/>
          <p:cNvSpPr/>
          <p:nvPr/>
        </p:nvSpPr>
        <p:spPr>
          <a:xfrm>
            <a:off x="548640" y="1773936"/>
            <a:ext cx="5394960" cy="640080"/>
          </a:xfrm>
          <a:prstGeom prst="roundRect">
            <a:avLst>
              <a:gd name="adj" fmla="val 10000"/>
            </a:avLst>
          </a:prstGeom>
          <a:solidFill>
            <a:srgbClr val="16304C"/>
          </a:solidFill>
          <a:ln w="10160">
            <a:solidFill>
              <a:srgbClr val="27415C"/>
            </a:solidFill>
            <a:prstDash val="solid"/>
          </a:ln>
        </p:spPr>
      </p:sp>
      <p:sp>
        <p:nvSpPr>
          <p:cNvPr id="7" name="Shape 5"/>
          <p:cNvSpPr/>
          <p:nvPr/>
        </p:nvSpPr>
        <p:spPr>
          <a:xfrm>
            <a:off x="713232" y="1975104"/>
            <a:ext cx="987552" cy="237744"/>
          </a:xfrm>
          <a:prstGeom prst="roundRect">
            <a:avLst>
              <a:gd name="adj" fmla="val 50000"/>
            </a:avLst>
          </a:prstGeom>
          <a:solidFill>
            <a:srgbClr val="17795E"/>
          </a:solidFill>
          <a:ln/>
        </p:spPr>
      </p:sp>
      <p:sp>
        <p:nvSpPr>
          <p:cNvPr id="8" name="Text 6"/>
          <p:cNvSpPr txBox="1"/>
          <p:nvPr/>
        </p:nvSpPr>
        <p:spPr>
          <a:xfrm>
            <a:off x="713232" y="1975104"/>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PLATINUM</a:t>
            </a:r>
            <a:endParaRPr lang="en-US" sz="850" dirty="0"/>
          </a:p>
        </p:txBody>
      </p:sp>
      <p:sp>
        <p:nvSpPr>
          <p:cNvPr id="9" name="Text 7"/>
          <p:cNvSpPr txBox="1"/>
          <p:nvPr/>
        </p:nvSpPr>
        <p:spPr>
          <a:xfrm>
            <a:off x="1847088" y="1856232"/>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All services open</a:t>
            </a:r>
            <a:endParaRPr lang="en-US" sz="1200" dirty="0"/>
          </a:p>
        </p:txBody>
      </p:sp>
      <p:sp>
        <p:nvSpPr>
          <p:cNvPr id="10" name="Text 8"/>
          <p:cNvSpPr txBox="1"/>
          <p:nvPr/>
        </p:nvSpPr>
        <p:spPr>
          <a:xfrm>
            <a:off x="1847088" y="2084832"/>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Block visas, renewals and transfers all available</a:t>
            </a:r>
            <a:endParaRPr lang="en-US" sz="940" dirty="0"/>
          </a:p>
        </p:txBody>
      </p:sp>
      <p:sp>
        <p:nvSpPr>
          <p:cNvPr id="11" name="Shape 9"/>
          <p:cNvSpPr/>
          <p:nvPr/>
        </p:nvSpPr>
        <p:spPr>
          <a:xfrm>
            <a:off x="548640" y="2523744"/>
            <a:ext cx="5394960" cy="640080"/>
          </a:xfrm>
          <a:prstGeom prst="roundRect">
            <a:avLst>
              <a:gd name="adj" fmla="val 10000"/>
            </a:avLst>
          </a:prstGeom>
          <a:solidFill>
            <a:srgbClr val="16304C"/>
          </a:solidFill>
          <a:ln w="10160">
            <a:solidFill>
              <a:srgbClr val="27415C"/>
            </a:solidFill>
            <a:prstDash val="solid"/>
          </a:ln>
        </p:spPr>
      </p:sp>
      <p:sp>
        <p:nvSpPr>
          <p:cNvPr id="12" name="Shape 10"/>
          <p:cNvSpPr/>
          <p:nvPr/>
        </p:nvSpPr>
        <p:spPr>
          <a:xfrm>
            <a:off x="713232" y="2724912"/>
            <a:ext cx="987552" cy="237744"/>
          </a:xfrm>
          <a:prstGeom prst="roundRect">
            <a:avLst>
              <a:gd name="adj" fmla="val 50000"/>
            </a:avLst>
          </a:prstGeom>
          <a:solidFill>
            <a:srgbClr val="17795E"/>
          </a:solidFill>
          <a:ln/>
        </p:spPr>
      </p:sp>
      <p:sp>
        <p:nvSpPr>
          <p:cNvPr id="13" name="Text 11"/>
          <p:cNvSpPr txBox="1"/>
          <p:nvPr/>
        </p:nvSpPr>
        <p:spPr>
          <a:xfrm>
            <a:off x="713232" y="2724912"/>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GREEN</a:t>
            </a:r>
            <a:endParaRPr lang="en-US" sz="850" dirty="0"/>
          </a:p>
        </p:txBody>
      </p:sp>
      <p:sp>
        <p:nvSpPr>
          <p:cNvPr id="14" name="Text 12"/>
          <p:cNvSpPr txBox="1"/>
          <p:nvPr/>
        </p:nvSpPr>
        <p:spPr>
          <a:xfrm>
            <a:off x="1847088" y="2606040"/>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Open, with headroom</a:t>
            </a:r>
            <a:endParaRPr lang="en-US" sz="1200" dirty="0"/>
          </a:p>
        </p:txBody>
      </p:sp>
      <p:sp>
        <p:nvSpPr>
          <p:cNvPr id="15" name="Text 13"/>
          <p:cNvSpPr txBox="1"/>
          <p:nvPr/>
        </p:nvSpPr>
        <p:spPr>
          <a:xfrm>
            <a:off x="1847088" y="2834640"/>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Services available while the ratio holds</a:t>
            </a:r>
            <a:endParaRPr lang="en-US" sz="940" dirty="0"/>
          </a:p>
        </p:txBody>
      </p:sp>
      <p:sp>
        <p:nvSpPr>
          <p:cNvPr id="16" name="Shape 14"/>
          <p:cNvSpPr/>
          <p:nvPr/>
        </p:nvSpPr>
        <p:spPr>
          <a:xfrm>
            <a:off x="548640" y="3273552"/>
            <a:ext cx="5394960" cy="640080"/>
          </a:xfrm>
          <a:prstGeom prst="roundRect">
            <a:avLst>
              <a:gd name="adj" fmla="val 10000"/>
            </a:avLst>
          </a:prstGeom>
          <a:solidFill>
            <a:srgbClr val="16304C"/>
          </a:solidFill>
          <a:ln w="10160">
            <a:solidFill>
              <a:srgbClr val="27415C"/>
            </a:solidFill>
            <a:prstDash val="solid"/>
          </a:ln>
        </p:spPr>
      </p:sp>
      <p:sp>
        <p:nvSpPr>
          <p:cNvPr id="17" name="Shape 15"/>
          <p:cNvSpPr/>
          <p:nvPr/>
        </p:nvSpPr>
        <p:spPr>
          <a:xfrm>
            <a:off x="713232" y="3474720"/>
            <a:ext cx="987552" cy="237744"/>
          </a:xfrm>
          <a:prstGeom prst="roundRect">
            <a:avLst>
              <a:gd name="adj" fmla="val 50000"/>
            </a:avLst>
          </a:prstGeom>
          <a:solidFill>
            <a:srgbClr val="B5730F"/>
          </a:solidFill>
          <a:ln/>
        </p:spPr>
      </p:sp>
      <p:sp>
        <p:nvSpPr>
          <p:cNvPr id="18" name="Text 16"/>
          <p:cNvSpPr txBox="1"/>
          <p:nvPr/>
        </p:nvSpPr>
        <p:spPr>
          <a:xfrm>
            <a:off x="713232" y="3474720"/>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YELLOW</a:t>
            </a:r>
            <a:endParaRPr lang="en-US" sz="850" dirty="0"/>
          </a:p>
        </p:txBody>
      </p:sp>
      <p:sp>
        <p:nvSpPr>
          <p:cNvPr id="19" name="Text 17"/>
          <p:cNvSpPr txBox="1"/>
          <p:nvPr/>
        </p:nvSpPr>
        <p:spPr>
          <a:xfrm>
            <a:off x="1847088" y="3355848"/>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Restricted</a:t>
            </a:r>
            <a:endParaRPr lang="en-US" sz="1200" dirty="0"/>
          </a:p>
        </p:txBody>
      </p:sp>
      <p:sp>
        <p:nvSpPr>
          <p:cNvPr id="20" name="Text 18"/>
          <p:cNvSpPr txBox="1"/>
          <p:nvPr/>
        </p:nvSpPr>
        <p:spPr>
          <a:xfrm>
            <a:off x="1847088" y="3584448"/>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Renewals limited, transfers constrained</a:t>
            </a:r>
            <a:endParaRPr lang="en-US" sz="940" dirty="0"/>
          </a:p>
        </p:txBody>
      </p:sp>
      <p:sp>
        <p:nvSpPr>
          <p:cNvPr id="21" name="Shape 19"/>
          <p:cNvSpPr/>
          <p:nvPr/>
        </p:nvSpPr>
        <p:spPr>
          <a:xfrm>
            <a:off x="548640" y="4023360"/>
            <a:ext cx="5394960" cy="640080"/>
          </a:xfrm>
          <a:prstGeom prst="roundRect">
            <a:avLst>
              <a:gd name="adj" fmla="val 10000"/>
            </a:avLst>
          </a:prstGeom>
          <a:solidFill>
            <a:srgbClr val="16304C"/>
          </a:solidFill>
          <a:ln w="10160">
            <a:solidFill>
              <a:srgbClr val="27415C"/>
            </a:solidFill>
            <a:prstDash val="solid"/>
          </a:ln>
        </p:spPr>
      </p:sp>
      <p:sp>
        <p:nvSpPr>
          <p:cNvPr id="22" name="Shape 20"/>
          <p:cNvSpPr/>
          <p:nvPr/>
        </p:nvSpPr>
        <p:spPr>
          <a:xfrm>
            <a:off x="713232" y="4224528"/>
            <a:ext cx="987552" cy="237744"/>
          </a:xfrm>
          <a:prstGeom prst="roundRect">
            <a:avLst>
              <a:gd name="adj" fmla="val 50000"/>
            </a:avLst>
          </a:prstGeom>
          <a:solidFill>
            <a:srgbClr val="B23A2F"/>
          </a:solidFill>
          <a:ln/>
        </p:spPr>
      </p:sp>
      <p:sp>
        <p:nvSpPr>
          <p:cNvPr id="23" name="Text 21"/>
          <p:cNvSpPr txBox="1"/>
          <p:nvPr/>
        </p:nvSpPr>
        <p:spPr>
          <a:xfrm>
            <a:off x="713232" y="4224528"/>
            <a:ext cx="9875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RED</a:t>
            </a:r>
            <a:endParaRPr lang="en-US" sz="850" dirty="0"/>
          </a:p>
        </p:txBody>
      </p:sp>
      <p:sp>
        <p:nvSpPr>
          <p:cNvPr id="24" name="Text 22"/>
          <p:cNvSpPr txBox="1"/>
          <p:nvPr/>
        </p:nvSpPr>
        <p:spPr>
          <a:xfrm>
            <a:off x="1847088" y="4105656"/>
            <a:ext cx="3931920" cy="219456"/>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Suspended</a:t>
            </a:r>
            <a:endParaRPr lang="en-US" sz="1200" dirty="0"/>
          </a:p>
        </p:txBody>
      </p:sp>
      <p:sp>
        <p:nvSpPr>
          <p:cNvPr id="25" name="Text 23"/>
          <p:cNvSpPr txBox="1"/>
          <p:nvPr/>
        </p:nvSpPr>
        <p:spPr>
          <a:xfrm>
            <a:off x="1847088" y="4334256"/>
            <a:ext cx="3931920" cy="237744"/>
          </a:xfrm>
          <a:prstGeom prst="rect">
            <a:avLst/>
          </a:prstGeom>
          <a:noFill/>
          <a:ln/>
        </p:spPr>
        <p:txBody>
          <a:bodyPr wrap="square" lIns="0" tIns="0" rIns="0" bIns="0" rtlCol="0" anchor="ctr"/>
          <a:lstStyle/>
          <a:p>
            <a:pPr indent="0" marL="0">
              <a:buNone/>
            </a:pPr>
            <a:r>
              <a:rPr lang="en-US" sz="940" dirty="0">
                <a:solidFill>
                  <a:srgbClr val="A9C2DA"/>
                </a:solidFill>
                <a:latin typeface="Calibri" pitchFamily="34" charset="0"/>
                <a:ea typeface="Calibri" pitchFamily="34" charset="-122"/>
                <a:cs typeface="Calibri" pitchFamily="34" charset="-120"/>
              </a:rPr>
              <a:t>No block visas, no renewals, no transfers in</a:t>
            </a:r>
            <a:endParaRPr lang="en-US" sz="940" dirty="0"/>
          </a:p>
        </p:txBody>
      </p:sp>
      <p:sp>
        <p:nvSpPr>
          <p:cNvPr id="26" name="Shape 24"/>
          <p:cNvSpPr/>
          <p:nvPr/>
        </p:nvSpPr>
        <p:spPr>
          <a:xfrm>
            <a:off x="548640" y="4809744"/>
            <a:ext cx="5394960" cy="1481328"/>
          </a:xfrm>
          <a:prstGeom prst="roundRect">
            <a:avLst>
              <a:gd name="adj" fmla="val 4938"/>
            </a:avLst>
          </a:prstGeom>
          <a:solidFill>
            <a:srgbClr val="123A4E"/>
          </a:solidFill>
          <a:ln w="12700">
            <a:solidFill>
              <a:srgbClr val="12756F"/>
            </a:solidFill>
            <a:prstDash val="solid"/>
          </a:ln>
        </p:spPr>
      </p:sp>
      <p:sp>
        <p:nvSpPr>
          <p:cNvPr id="27" name="Text 25"/>
          <p:cNvSpPr txBox="1"/>
          <p:nvPr/>
        </p:nvSpPr>
        <p:spPr>
          <a:xfrm>
            <a:off x="749808" y="4919472"/>
            <a:ext cx="5029200" cy="219456"/>
          </a:xfrm>
          <a:prstGeom prst="rect">
            <a:avLst/>
          </a:prstGeom>
          <a:noFill/>
          <a:ln/>
        </p:spPr>
        <p:txBody>
          <a:bodyPr wrap="square" lIns="0" tIns="0" rIns="0" bIns="0" rtlCol="0" anchor="ctr"/>
          <a:lstStyle/>
          <a:p>
            <a:pPr indent="0" marL="0">
              <a:buNone/>
            </a:pPr>
            <a:r>
              <a:rPr lang="en-US" sz="1200" b="1" dirty="0">
                <a:solidFill>
                  <a:srgbClr val="20A098"/>
                </a:solidFill>
                <a:latin typeface="Arial" pitchFamily="34" charset="0"/>
                <a:ea typeface="Arial" pitchFamily="34" charset="-122"/>
                <a:cs typeface="Arial" pitchFamily="34" charset="-120"/>
              </a:rPr>
              <a:t>What we do that Qiwa does not</a:t>
            </a:r>
            <a:endParaRPr lang="en-US" sz="1200" dirty="0"/>
          </a:p>
        </p:txBody>
      </p:sp>
      <p:sp>
        <p:nvSpPr>
          <p:cNvPr id="28" name="Text 26"/>
          <p:cNvSpPr txBox="1"/>
          <p:nvPr/>
        </p:nvSpPr>
        <p:spPr>
          <a:xfrm>
            <a:off x="749808" y="5175504"/>
            <a:ext cx="5029200" cy="1005840"/>
          </a:xfrm>
          <a:prstGeom prst="rect">
            <a:avLst/>
          </a:prstGeom>
          <a:noFill/>
          <a:ln/>
        </p:spPr>
        <p:txBody>
          <a:bodyPr wrap="square" lIns="0" tIns="0" rIns="0" bIns="0" rtlCol="0" anchor="ctr"/>
          <a:lstStyle/>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Calculate the band continuously, not at the next Qiwa cycle</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Show the headroom: how many leavers would drop you</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Simulate a restructure or a bulk hire before you commit</a:t>
            </a:r>
            <a:endParaRPr lang="en-US" sz="980" dirty="0"/>
          </a:p>
          <a:p>
            <a:pPr marL="342900" indent="-342900">
              <a:lnSpc>
                <a:spcPts val="1350"/>
              </a:lnSpc>
              <a:spcAft>
                <a:spcPts val="300"/>
              </a:spcAft>
              <a:buSzPct val="100000"/>
              <a:buChar char="•"/>
            </a:pPr>
            <a:r>
              <a:rPr lang="en-US" sz="980" dirty="0">
                <a:solidFill>
                  <a:srgbClr val="A9C2DA"/>
                </a:solidFill>
                <a:latin typeface="Calibri" pitchFamily="34" charset="0"/>
                <a:ea typeface="Calibri" pitchFamily="34" charset="-122"/>
                <a:cs typeface="Calibri" pitchFamily="34" charset="-120"/>
              </a:rPr>
              <a:t>Alert before the band moves, with the cause named</a:t>
            </a:r>
            <a:endParaRPr lang="en-US" sz="980" dirty="0"/>
          </a:p>
        </p:txBody>
      </p:sp>
      <p:pic>
        <p:nvPicPr>
          <p:cNvPr id="29" name="Image 0" descr="./img/nitaqat.jpg">    </p:cNvPr>
          <p:cNvPicPr>
            <a:picLocks noChangeAspect="1"/>
          </p:cNvPicPr>
          <p:nvPr/>
        </p:nvPicPr>
        <p:blipFill>
          <a:blip r:embed="rId1"/>
          <a:stretch>
            <a:fillRect/>
          </a:stretch>
        </p:blipFill>
        <p:spPr>
          <a:xfrm>
            <a:off x="6172200" y="1773936"/>
            <a:ext cx="5440680" cy="914400"/>
          </a:xfrm>
          <a:prstGeom prst="rect">
            <a:avLst/>
          </a:prstGeom>
          <a:effectLst>
            <a:outerShdw sx="100000" sy="100000" kx="0" ky="0" algn="bl" rotWithShape="0" blurRad="177800" dist="38100" dir="5400000">
              <a:srgbClr val="000000">
                <a:alpha val="20000"/>
              </a:srgbClr>
            </a:outerShdw>
          </a:effectLst>
        </p:spPr>
      </p:pic>
      <p:sp>
        <p:nvSpPr>
          <p:cNvPr id="30" name="Text 27"/>
          <p:cNvSpPr txBox="1"/>
          <p:nvPr/>
        </p:nvSpPr>
        <p:spPr>
          <a:xfrm>
            <a:off x="6172200" y="5193792"/>
            <a:ext cx="5440680" cy="475488"/>
          </a:xfrm>
          <a:prstGeom prst="rect">
            <a:avLst/>
          </a:prstGeom>
          <a:noFill/>
          <a:ln/>
        </p:spPr>
        <p:txBody>
          <a:bodyPr wrap="square" lIns="0" tIns="0" rIns="0" bIns="0" rtlCol="0" anchor="ctr"/>
          <a:lstStyle/>
          <a:p>
            <a:pPr indent="0" marL="0">
              <a:lnSpc>
                <a:spcPts val="1350"/>
              </a:lnSpc>
              <a:buNone/>
            </a:pPr>
            <a:r>
              <a:rPr lang="en-US" sz="1000" i="1" dirty="0">
                <a:solidFill>
                  <a:srgbClr val="A9C2DA"/>
                </a:solidFill>
                <a:latin typeface="Calibri" pitchFamily="34" charset="0"/>
                <a:ea typeface="Calibri" pitchFamily="34" charset="-122"/>
                <a:cs typeface="Calibri" pitchFamily="34" charset="-120"/>
              </a:rPr>
              <a:t>The right-hand panel is the point. Not a compliance score, but the four things you cannot do this week because one establishment fell into the red band.</a:t>
            </a:r>
            <a:endParaRPr lang="en-US" sz="100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GOVERNMENT PORTALS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Seven portals. One queue.</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Saudi step lands on one of these. Your PRO should not have to remember which.</a:t>
            </a:r>
            <a:endParaRPr lang="en-US" sz="1300" dirty="0"/>
          </a:p>
        </p:txBody>
      </p:sp>
      <p:sp>
        <p:nvSpPr>
          <p:cNvPr id="5" name="Shape 3"/>
          <p:cNvSpPr/>
          <p:nvPr/>
        </p:nvSpPr>
        <p:spPr>
          <a:xfrm>
            <a:off x="548640" y="1773936"/>
            <a:ext cx="2670048" cy="1463040"/>
          </a:xfrm>
          <a:prstGeom prst="roundRect">
            <a:avLst>
              <a:gd name="adj" fmla="val 5000"/>
            </a:avLst>
          </a:prstGeom>
          <a:solidFill>
            <a:srgbClr val="EAF2FD"/>
          </a:solidFill>
          <a:ln w="9525">
            <a:solidFill>
              <a:srgbClr val="E3E7EA"/>
            </a:solidFill>
            <a:prstDash val="solid"/>
          </a:ln>
        </p:spPr>
      </p:sp>
      <p:sp>
        <p:nvSpPr>
          <p:cNvPr id="6" name="Text 4"/>
          <p:cNvSpPr txBox="1"/>
          <p:nvPr/>
        </p:nvSpPr>
        <p:spPr>
          <a:xfrm>
            <a:off x="704088"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Qiwa</a:t>
            </a:r>
            <a:endParaRPr lang="en-US" sz="1500" dirty="0"/>
          </a:p>
        </p:txBody>
      </p:sp>
      <p:sp>
        <p:nvSpPr>
          <p:cNvPr id="7" name="Text 5"/>
          <p:cNvSpPr txBox="1"/>
          <p:nvPr/>
        </p:nvSpPr>
        <p:spPr>
          <a:xfrm>
            <a:off x="1874520"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MHRSD</a:t>
            </a:r>
            <a:endParaRPr lang="en-US" sz="800" dirty="0"/>
          </a:p>
        </p:txBody>
      </p:sp>
      <p:sp>
        <p:nvSpPr>
          <p:cNvPr id="8" name="Text 6"/>
          <p:cNvSpPr txBox="1"/>
          <p:nvPr/>
        </p:nvSpPr>
        <p:spPr>
          <a:xfrm>
            <a:off x="704088"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job</a:t>
            </a:r>
            <a:endParaRPr lang="en-US" sz="1150" dirty="0"/>
          </a:p>
        </p:txBody>
      </p:sp>
      <p:sp>
        <p:nvSpPr>
          <p:cNvPr id="9" name="Text 7"/>
          <p:cNvSpPr txBox="1"/>
          <p:nvPr/>
        </p:nvSpPr>
        <p:spPr>
          <a:xfrm>
            <a:off x="704088"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Work permits, the authenticated contract, Nitaqat band, transfers</a:t>
            </a:r>
            <a:endParaRPr lang="en-US" sz="920" dirty="0"/>
          </a:p>
        </p:txBody>
      </p:sp>
      <p:sp>
        <p:nvSpPr>
          <p:cNvPr id="10" name="Shape 8"/>
          <p:cNvSpPr/>
          <p:nvPr/>
        </p:nvSpPr>
        <p:spPr>
          <a:xfrm>
            <a:off x="704088" y="2999232"/>
            <a:ext cx="1325880" cy="201168"/>
          </a:xfrm>
          <a:prstGeom prst="roundRect">
            <a:avLst>
              <a:gd name="adj" fmla="val 50000"/>
            </a:avLst>
          </a:prstGeom>
          <a:solidFill>
            <a:srgbClr val="B5730F"/>
          </a:solidFill>
          <a:ln/>
        </p:spPr>
      </p:sp>
      <p:sp>
        <p:nvSpPr>
          <p:cNvPr id="11" name="Text 9"/>
          <p:cNvSpPr txBox="1"/>
          <p:nvPr/>
        </p:nvSpPr>
        <p:spPr>
          <a:xfrm>
            <a:off x="704088"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2" name="Shape 10"/>
          <p:cNvSpPr/>
          <p:nvPr/>
        </p:nvSpPr>
        <p:spPr>
          <a:xfrm>
            <a:off x="3374136" y="1773936"/>
            <a:ext cx="2670048" cy="1463040"/>
          </a:xfrm>
          <a:prstGeom prst="roundRect">
            <a:avLst>
              <a:gd name="adj" fmla="val 5000"/>
            </a:avLst>
          </a:prstGeom>
          <a:solidFill>
            <a:srgbClr val="EAF2FD"/>
          </a:solidFill>
          <a:ln w="9525">
            <a:solidFill>
              <a:srgbClr val="E3E7EA"/>
            </a:solidFill>
            <a:prstDash val="solid"/>
          </a:ln>
        </p:spPr>
      </p:sp>
      <p:sp>
        <p:nvSpPr>
          <p:cNvPr id="13" name="Text 11"/>
          <p:cNvSpPr txBox="1"/>
          <p:nvPr/>
        </p:nvSpPr>
        <p:spPr>
          <a:xfrm>
            <a:off x="3529584"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Muqeem</a:t>
            </a:r>
            <a:endParaRPr lang="en-US" sz="1500" dirty="0"/>
          </a:p>
        </p:txBody>
      </p:sp>
      <p:sp>
        <p:nvSpPr>
          <p:cNvPr id="14" name="Text 12"/>
          <p:cNvSpPr txBox="1"/>
          <p:nvPr/>
        </p:nvSpPr>
        <p:spPr>
          <a:xfrm>
            <a:off x="4700016"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Elm</a:t>
            </a:r>
            <a:endParaRPr lang="en-US" sz="800" dirty="0"/>
          </a:p>
        </p:txBody>
      </p:sp>
      <p:sp>
        <p:nvSpPr>
          <p:cNvPr id="15" name="Text 13"/>
          <p:cNvSpPr txBox="1"/>
          <p:nvPr/>
        </p:nvSpPr>
        <p:spPr>
          <a:xfrm>
            <a:off x="3529584"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residence</a:t>
            </a:r>
            <a:endParaRPr lang="en-US" sz="1150" dirty="0"/>
          </a:p>
        </p:txBody>
      </p:sp>
      <p:sp>
        <p:nvSpPr>
          <p:cNvPr id="16" name="Text 14"/>
          <p:cNvSpPr txBox="1"/>
          <p:nvPr/>
        </p:nvSpPr>
        <p:spPr>
          <a:xfrm>
            <a:off x="3529584"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Iqama issue and renewal, exit and re-entry, final exit, dependants</a:t>
            </a:r>
            <a:endParaRPr lang="en-US" sz="920" dirty="0"/>
          </a:p>
        </p:txBody>
      </p:sp>
      <p:sp>
        <p:nvSpPr>
          <p:cNvPr id="17" name="Shape 15"/>
          <p:cNvSpPr/>
          <p:nvPr/>
        </p:nvSpPr>
        <p:spPr>
          <a:xfrm>
            <a:off x="3529584" y="2999232"/>
            <a:ext cx="1325880" cy="201168"/>
          </a:xfrm>
          <a:prstGeom prst="roundRect">
            <a:avLst>
              <a:gd name="adj" fmla="val 50000"/>
            </a:avLst>
          </a:prstGeom>
          <a:solidFill>
            <a:srgbClr val="B5730F"/>
          </a:solidFill>
          <a:ln/>
        </p:spPr>
      </p:sp>
      <p:sp>
        <p:nvSpPr>
          <p:cNvPr id="18" name="Text 16"/>
          <p:cNvSpPr txBox="1"/>
          <p:nvPr/>
        </p:nvSpPr>
        <p:spPr>
          <a:xfrm>
            <a:off x="3529584"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19" name="Shape 17"/>
          <p:cNvSpPr/>
          <p:nvPr/>
        </p:nvSpPr>
        <p:spPr>
          <a:xfrm>
            <a:off x="6199632" y="1773936"/>
            <a:ext cx="2670048" cy="1463040"/>
          </a:xfrm>
          <a:prstGeom prst="roundRect">
            <a:avLst>
              <a:gd name="adj" fmla="val 5000"/>
            </a:avLst>
          </a:prstGeom>
          <a:solidFill>
            <a:srgbClr val="EAF2FD"/>
          </a:solidFill>
          <a:ln w="9525">
            <a:solidFill>
              <a:srgbClr val="E3E7EA"/>
            </a:solidFill>
            <a:prstDash val="solid"/>
          </a:ln>
        </p:spPr>
      </p:sp>
      <p:sp>
        <p:nvSpPr>
          <p:cNvPr id="20" name="Text 18"/>
          <p:cNvSpPr txBox="1"/>
          <p:nvPr/>
        </p:nvSpPr>
        <p:spPr>
          <a:xfrm>
            <a:off x="6355080"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Absher</a:t>
            </a:r>
            <a:endParaRPr lang="en-US" sz="1500" dirty="0"/>
          </a:p>
        </p:txBody>
      </p:sp>
      <p:sp>
        <p:nvSpPr>
          <p:cNvPr id="21" name="Text 19"/>
          <p:cNvSpPr txBox="1"/>
          <p:nvPr/>
        </p:nvSpPr>
        <p:spPr>
          <a:xfrm>
            <a:off x="7525512"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Ministry of Interior</a:t>
            </a:r>
            <a:endParaRPr lang="en-US" sz="800" dirty="0"/>
          </a:p>
        </p:txBody>
      </p:sp>
      <p:sp>
        <p:nvSpPr>
          <p:cNvPr id="22" name="Text 20"/>
          <p:cNvSpPr txBox="1"/>
          <p:nvPr/>
        </p:nvSpPr>
        <p:spPr>
          <a:xfrm>
            <a:off x="6355080"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What the employee sees</a:t>
            </a:r>
            <a:endParaRPr lang="en-US" sz="1150" dirty="0"/>
          </a:p>
        </p:txBody>
      </p:sp>
      <p:sp>
        <p:nvSpPr>
          <p:cNvPr id="23" name="Text 21"/>
          <p:cNvSpPr txBox="1"/>
          <p:nvPr/>
        </p:nvSpPr>
        <p:spPr>
          <a:xfrm>
            <a:off x="6355080"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Mirrors every Muqeem action, same day. Where disputes start</a:t>
            </a:r>
            <a:endParaRPr lang="en-US" sz="920" dirty="0"/>
          </a:p>
        </p:txBody>
      </p:sp>
      <p:sp>
        <p:nvSpPr>
          <p:cNvPr id="24" name="Shape 22"/>
          <p:cNvSpPr/>
          <p:nvPr/>
        </p:nvSpPr>
        <p:spPr>
          <a:xfrm>
            <a:off x="6355080" y="2999232"/>
            <a:ext cx="1325880" cy="201168"/>
          </a:xfrm>
          <a:prstGeom prst="roundRect">
            <a:avLst>
              <a:gd name="adj" fmla="val 50000"/>
            </a:avLst>
          </a:prstGeom>
          <a:solidFill>
            <a:srgbClr val="B5730F"/>
          </a:solidFill>
          <a:ln/>
        </p:spPr>
      </p:sp>
      <p:sp>
        <p:nvSpPr>
          <p:cNvPr id="25" name="Text 23"/>
          <p:cNvSpPr txBox="1"/>
          <p:nvPr/>
        </p:nvSpPr>
        <p:spPr>
          <a:xfrm>
            <a:off x="6355080"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26" name="Shape 24"/>
          <p:cNvSpPr/>
          <p:nvPr/>
        </p:nvSpPr>
        <p:spPr>
          <a:xfrm>
            <a:off x="9025128" y="1773936"/>
            <a:ext cx="2670048" cy="1463040"/>
          </a:xfrm>
          <a:prstGeom prst="roundRect">
            <a:avLst>
              <a:gd name="adj" fmla="val 5000"/>
            </a:avLst>
          </a:prstGeom>
          <a:solidFill>
            <a:srgbClr val="F4F6F7"/>
          </a:solidFill>
          <a:ln w="9525">
            <a:solidFill>
              <a:srgbClr val="E3E7EA"/>
            </a:solidFill>
            <a:prstDash val="solid"/>
          </a:ln>
        </p:spPr>
      </p:sp>
      <p:sp>
        <p:nvSpPr>
          <p:cNvPr id="27" name="Text 25"/>
          <p:cNvSpPr txBox="1"/>
          <p:nvPr/>
        </p:nvSpPr>
        <p:spPr>
          <a:xfrm>
            <a:off x="9180576" y="1883664"/>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Enjaz</a:t>
            </a:r>
            <a:endParaRPr lang="en-US" sz="1500" dirty="0"/>
          </a:p>
        </p:txBody>
      </p:sp>
      <p:sp>
        <p:nvSpPr>
          <p:cNvPr id="28" name="Text 26"/>
          <p:cNvSpPr txBox="1"/>
          <p:nvPr/>
        </p:nvSpPr>
        <p:spPr>
          <a:xfrm>
            <a:off x="10351008" y="1892808"/>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MoFA</a:t>
            </a:r>
            <a:endParaRPr lang="en-US" sz="800" dirty="0"/>
          </a:p>
        </p:txBody>
      </p:sp>
      <p:sp>
        <p:nvSpPr>
          <p:cNvPr id="29" name="Text 27"/>
          <p:cNvSpPr txBox="1"/>
          <p:nvPr/>
        </p:nvSpPr>
        <p:spPr>
          <a:xfrm>
            <a:off x="9180576" y="2157984"/>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visa, stamped abroad</a:t>
            </a:r>
            <a:endParaRPr lang="en-US" sz="1150" dirty="0"/>
          </a:p>
        </p:txBody>
      </p:sp>
      <p:sp>
        <p:nvSpPr>
          <p:cNvPr id="30" name="Text 28"/>
          <p:cNvSpPr txBox="1"/>
          <p:nvPr/>
        </p:nvSpPr>
        <p:spPr>
          <a:xfrm>
            <a:off x="9180576" y="2395728"/>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Application and embassy stamping, tracked to the entry window</a:t>
            </a:r>
            <a:endParaRPr lang="en-US" sz="920" dirty="0"/>
          </a:p>
        </p:txBody>
      </p:sp>
      <p:sp>
        <p:nvSpPr>
          <p:cNvPr id="31" name="Shape 29"/>
          <p:cNvSpPr/>
          <p:nvPr/>
        </p:nvSpPr>
        <p:spPr>
          <a:xfrm>
            <a:off x="9180576" y="2999232"/>
            <a:ext cx="1325880" cy="201168"/>
          </a:xfrm>
          <a:prstGeom prst="roundRect">
            <a:avLst>
              <a:gd name="adj" fmla="val 50000"/>
            </a:avLst>
          </a:prstGeom>
          <a:solidFill>
            <a:srgbClr val="B5730F"/>
          </a:solidFill>
          <a:ln/>
        </p:spPr>
      </p:sp>
      <p:sp>
        <p:nvSpPr>
          <p:cNvPr id="32" name="Text 30"/>
          <p:cNvSpPr txBox="1"/>
          <p:nvPr/>
        </p:nvSpPr>
        <p:spPr>
          <a:xfrm>
            <a:off x="9180576" y="2999232"/>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Connector ready</a:t>
            </a:r>
            <a:endParaRPr lang="en-US" sz="780" dirty="0"/>
          </a:p>
        </p:txBody>
      </p:sp>
      <p:sp>
        <p:nvSpPr>
          <p:cNvPr id="33" name="Shape 31"/>
          <p:cNvSpPr/>
          <p:nvPr/>
        </p:nvSpPr>
        <p:spPr>
          <a:xfrm>
            <a:off x="548640" y="3401568"/>
            <a:ext cx="2670048" cy="1463040"/>
          </a:xfrm>
          <a:prstGeom prst="roundRect">
            <a:avLst>
              <a:gd name="adj" fmla="val 5000"/>
            </a:avLst>
          </a:prstGeom>
          <a:solidFill>
            <a:srgbClr val="F4F6F7"/>
          </a:solidFill>
          <a:ln w="9525">
            <a:solidFill>
              <a:srgbClr val="E3E7EA"/>
            </a:solidFill>
            <a:prstDash val="solid"/>
          </a:ln>
        </p:spPr>
      </p:sp>
      <p:sp>
        <p:nvSpPr>
          <p:cNvPr id="34" name="Text 32"/>
          <p:cNvSpPr txBox="1"/>
          <p:nvPr/>
        </p:nvSpPr>
        <p:spPr>
          <a:xfrm>
            <a:off x="704088"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GOSI</a:t>
            </a:r>
            <a:endParaRPr lang="en-US" sz="1500" dirty="0"/>
          </a:p>
        </p:txBody>
      </p:sp>
      <p:sp>
        <p:nvSpPr>
          <p:cNvPr id="35" name="Text 33"/>
          <p:cNvSpPr txBox="1"/>
          <p:nvPr/>
        </p:nvSpPr>
        <p:spPr>
          <a:xfrm>
            <a:off x="1874520"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Social Insurance</a:t>
            </a:r>
            <a:endParaRPr lang="en-US" sz="800" dirty="0"/>
          </a:p>
        </p:txBody>
      </p:sp>
      <p:sp>
        <p:nvSpPr>
          <p:cNvPr id="36" name="Text 34"/>
          <p:cNvSpPr txBox="1"/>
          <p:nvPr/>
        </p:nvSpPr>
        <p:spPr>
          <a:xfrm>
            <a:off x="704088"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Who counts as Saudi</a:t>
            </a:r>
            <a:endParaRPr lang="en-US" sz="1150" dirty="0"/>
          </a:p>
        </p:txBody>
      </p:sp>
      <p:sp>
        <p:nvSpPr>
          <p:cNvPr id="37" name="Text 35"/>
          <p:cNvSpPr txBox="1"/>
          <p:nvPr/>
        </p:nvSpPr>
        <p:spPr>
          <a:xfrm>
            <a:off x="704088"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Registration and contributory wage. Feeds the Nitaqat headcount</a:t>
            </a:r>
            <a:endParaRPr lang="en-US" sz="920" dirty="0"/>
          </a:p>
        </p:txBody>
      </p:sp>
      <p:sp>
        <p:nvSpPr>
          <p:cNvPr id="38" name="Shape 36"/>
          <p:cNvSpPr/>
          <p:nvPr/>
        </p:nvSpPr>
        <p:spPr>
          <a:xfrm>
            <a:off x="704088" y="4626864"/>
            <a:ext cx="1325880" cy="201168"/>
          </a:xfrm>
          <a:prstGeom prst="roundRect">
            <a:avLst>
              <a:gd name="adj" fmla="val 50000"/>
            </a:avLst>
          </a:prstGeom>
          <a:solidFill>
            <a:srgbClr val="17795E"/>
          </a:solidFill>
          <a:ln/>
        </p:spPr>
      </p:sp>
      <p:sp>
        <p:nvSpPr>
          <p:cNvPr id="39" name="Text 37"/>
          <p:cNvSpPr txBox="1"/>
          <p:nvPr/>
        </p:nvSpPr>
        <p:spPr>
          <a:xfrm>
            <a:off x="704088"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0" name="Shape 38"/>
          <p:cNvSpPr/>
          <p:nvPr/>
        </p:nvSpPr>
        <p:spPr>
          <a:xfrm>
            <a:off x="3374136" y="3401568"/>
            <a:ext cx="2670048" cy="1463040"/>
          </a:xfrm>
          <a:prstGeom prst="roundRect">
            <a:avLst>
              <a:gd name="adj" fmla="val 5000"/>
            </a:avLst>
          </a:prstGeom>
          <a:solidFill>
            <a:srgbClr val="F4F6F7"/>
          </a:solidFill>
          <a:ln w="9525">
            <a:solidFill>
              <a:srgbClr val="E3E7EA"/>
            </a:solidFill>
            <a:prstDash val="solid"/>
          </a:ln>
        </p:spPr>
      </p:sp>
      <p:sp>
        <p:nvSpPr>
          <p:cNvPr id="41" name="Text 39"/>
          <p:cNvSpPr txBox="1"/>
          <p:nvPr/>
        </p:nvSpPr>
        <p:spPr>
          <a:xfrm>
            <a:off x="3529584"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Mudad</a:t>
            </a:r>
            <a:endParaRPr lang="en-US" sz="1500" dirty="0"/>
          </a:p>
        </p:txBody>
      </p:sp>
      <p:sp>
        <p:nvSpPr>
          <p:cNvPr id="42" name="Text 40"/>
          <p:cNvSpPr txBox="1"/>
          <p:nvPr/>
        </p:nvSpPr>
        <p:spPr>
          <a:xfrm>
            <a:off x="4700016"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Wage protection</a:t>
            </a:r>
            <a:endParaRPr lang="en-US" sz="800" dirty="0"/>
          </a:p>
        </p:txBody>
      </p:sp>
      <p:sp>
        <p:nvSpPr>
          <p:cNvPr id="43" name="Text 41"/>
          <p:cNvSpPr txBox="1"/>
          <p:nvPr/>
        </p:nvSpPr>
        <p:spPr>
          <a:xfrm>
            <a:off x="3529584"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Does pay match the contract</a:t>
            </a:r>
            <a:endParaRPr lang="en-US" sz="1150" dirty="0"/>
          </a:p>
        </p:txBody>
      </p:sp>
      <p:sp>
        <p:nvSpPr>
          <p:cNvPr id="44" name="Text 42"/>
          <p:cNvSpPr txBox="1"/>
          <p:nvPr/>
        </p:nvSpPr>
        <p:spPr>
          <a:xfrm>
            <a:off x="3529584"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Payroll enrolment, salary checked against Qiwa</a:t>
            </a:r>
            <a:endParaRPr lang="en-US" sz="920" dirty="0"/>
          </a:p>
        </p:txBody>
      </p:sp>
      <p:sp>
        <p:nvSpPr>
          <p:cNvPr id="45" name="Shape 43"/>
          <p:cNvSpPr/>
          <p:nvPr/>
        </p:nvSpPr>
        <p:spPr>
          <a:xfrm>
            <a:off x="3529584" y="4626864"/>
            <a:ext cx="1325880" cy="201168"/>
          </a:xfrm>
          <a:prstGeom prst="roundRect">
            <a:avLst>
              <a:gd name="adj" fmla="val 50000"/>
            </a:avLst>
          </a:prstGeom>
          <a:solidFill>
            <a:srgbClr val="17795E"/>
          </a:solidFill>
          <a:ln/>
        </p:spPr>
      </p:sp>
      <p:sp>
        <p:nvSpPr>
          <p:cNvPr id="46" name="Text 44"/>
          <p:cNvSpPr txBox="1"/>
          <p:nvPr/>
        </p:nvSpPr>
        <p:spPr>
          <a:xfrm>
            <a:off x="3529584"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47" name="Shape 45"/>
          <p:cNvSpPr/>
          <p:nvPr/>
        </p:nvSpPr>
        <p:spPr>
          <a:xfrm>
            <a:off x="6199632" y="3401568"/>
            <a:ext cx="2670048" cy="1463040"/>
          </a:xfrm>
          <a:prstGeom prst="roundRect">
            <a:avLst>
              <a:gd name="adj" fmla="val 5000"/>
            </a:avLst>
          </a:prstGeom>
          <a:solidFill>
            <a:srgbClr val="F4F6F7"/>
          </a:solidFill>
          <a:ln w="9525">
            <a:solidFill>
              <a:srgbClr val="E3E7EA"/>
            </a:solidFill>
            <a:prstDash val="solid"/>
          </a:ln>
        </p:spPr>
      </p:sp>
      <p:sp>
        <p:nvSpPr>
          <p:cNvPr id="48" name="Text 46"/>
          <p:cNvSpPr txBox="1"/>
          <p:nvPr/>
        </p:nvSpPr>
        <p:spPr>
          <a:xfrm>
            <a:off x="6355080" y="3511296"/>
            <a:ext cx="1115568" cy="256032"/>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CCHI</a:t>
            </a:r>
            <a:endParaRPr lang="en-US" sz="1500" dirty="0"/>
          </a:p>
        </p:txBody>
      </p:sp>
      <p:sp>
        <p:nvSpPr>
          <p:cNvPr id="49" name="Text 47"/>
          <p:cNvSpPr txBox="1"/>
          <p:nvPr/>
        </p:nvSpPr>
        <p:spPr>
          <a:xfrm>
            <a:off x="7525512" y="3520440"/>
            <a:ext cx="1188720" cy="310896"/>
          </a:xfrm>
          <a:prstGeom prst="rect">
            <a:avLst/>
          </a:prstGeom>
          <a:noFill/>
          <a:ln/>
        </p:spPr>
        <p:txBody>
          <a:bodyPr wrap="square" lIns="0" tIns="0" rIns="0" bIns="0" rtlCol="0" anchor="ctr"/>
          <a:lstStyle/>
          <a:p>
            <a:pPr algn="r" indent="0" marL="0">
              <a:lnSpc>
                <a:spcPts val="1000"/>
              </a:lnSpc>
              <a:buNone/>
            </a:pPr>
            <a:r>
              <a:rPr lang="en-US" sz="800" dirty="0">
                <a:solidFill>
                  <a:srgbClr val="5A6C82"/>
                </a:solidFill>
                <a:latin typeface="Calibri" pitchFamily="34" charset="0"/>
                <a:ea typeface="Calibri" pitchFamily="34" charset="-122"/>
                <a:cs typeface="Calibri" pitchFamily="34" charset="-120"/>
              </a:rPr>
              <a:t>Health insurance council</a:t>
            </a:r>
            <a:endParaRPr lang="en-US" sz="800" dirty="0"/>
          </a:p>
        </p:txBody>
      </p:sp>
      <p:sp>
        <p:nvSpPr>
          <p:cNvPr id="50" name="Text 48"/>
          <p:cNvSpPr txBox="1"/>
          <p:nvPr/>
        </p:nvSpPr>
        <p:spPr>
          <a:xfrm>
            <a:off x="6355080" y="3785616"/>
            <a:ext cx="2359152"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No cover, no Iqama</a:t>
            </a:r>
            <a:endParaRPr lang="en-US" sz="1150" dirty="0"/>
          </a:p>
        </p:txBody>
      </p:sp>
      <p:sp>
        <p:nvSpPr>
          <p:cNvPr id="51" name="Text 49"/>
          <p:cNvSpPr txBox="1"/>
          <p:nvPr/>
        </p:nvSpPr>
        <p:spPr>
          <a:xfrm>
            <a:off x="6355080" y="4023360"/>
            <a:ext cx="2359152" cy="566928"/>
          </a:xfrm>
          <a:prstGeom prst="rect">
            <a:avLst/>
          </a:prstGeom>
          <a:noFill/>
          <a:ln/>
        </p:spPr>
        <p:txBody>
          <a:bodyPr wrap="square" lIns="0" tIns="0" rIns="0" bIns="0" rtlCol="0" anchor="ctr"/>
          <a:lstStyle/>
          <a:p>
            <a:pPr indent="0" marL="0">
              <a:lnSpc>
                <a:spcPts val="1240"/>
              </a:lnSpc>
              <a:buNone/>
            </a:pPr>
            <a:r>
              <a:rPr lang="en-US" sz="920" dirty="0">
                <a:solidFill>
                  <a:srgbClr val="5A6C82"/>
                </a:solidFill>
                <a:latin typeface="Calibri" pitchFamily="34" charset="0"/>
                <a:ea typeface="Calibri" pitchFamily="34" charset="-122"/>
                <a:cs typeface="Calibri" pitchFamily="34" charset="-120"/>
              </a:rPr>
              <a:t>Policy validity per employee. Blocks issue and renewal</a:t>
            </a:r>
            <a:endParaRPr lang="en-US" sz="920" dirty="0"/>
          </a:p>
        </p:txBody>
      </p:sp>
      <p:sp>
        <p:nvSpPr>
          <p:cNvPr id="52" name="Shape 50"/>
          <p:cNvSpPr/>
          <p:nvPr/>
        </p:nvSpPr>
        <p:spPr>
          <a:xfrm>
            <a:off x="6355080" y="4626864"/>
            <a:ext cx="1325880" cy="201168"/>
          </a:xfrm>
          <a:prstGeom prst="roundRect">
            <a:avLst>
              <a:gd name="adj" fmla="val 50000"/>
            </a:avLst>
          </a:prstGeom>
          <a:solidFill>
            <a:srgbClr val="17795E"/>
          </a:solidFill>
          <a:ln/>
        </p:spPr>
      </p:sp>
      <p:sp>
        <p:nvSpPr>
          <p:cNvPr id="53" name="Text 51"/>
          <p:cNvSpPr txBox="1"/>
          <p:nvPr/>
        </p:nvSpPr>
        <p:spPr>
          <a:xfrm>
            <a:off x="6355080" y="4626864"/>
            <a:ext cx="1325880" cy="201168"/>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Live lookup</a:t>
            </a:r>
            <a:endParaRPr lang="en-US" sz="780" dirty="0"/>
          </a:p>
        </p:txBody>
      </p:sp>
      <p:sp>
        <p:nvSpPr>
          <p:cNvPr id="54" name="Shape 52"/>
          <p:cNvSpPr/>
          <p:nvPr/>
        </p:nvSpPr>
        <p:spPr>
          <a:xfrm>
            <a:off x="9043416" y="3401568"/>
            <a:ext cx="2596896" cy="1463040"/>
          </a:xfrm>
          <a:prstGeom prst="roundRect">
            <a:avLst>
              <a:gd name="adj" fmla="val 5000"/>
            </a:avLst>
          </a:prstGeom>
          <a:solidFill>
            <a:srgbClr val="FCF6E4"/>
          </a:solidFill>
          <a:ln w="12700">
            <a:solidFill>
              <a:srgbClr val="C9A227"/>
            </a:solidFill>
            <a:prstDash val="solid"/>
          </a:ln>
        </p:spPr>
      </p:sp>
      <p:sp>
        <p:nvSpPr>
          <p:cNvPr id="55" name="Text 53"/>
          <p:cNvSpPr txBox="1"/>
          <p:nvPr/>
        </p:nvSpPr>
        <p:spPr>
          <a:xfrm>
            <a:off x="9198864" y="3511296"/>
            <a:ext cx="228600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How amber goes green</a:t>
            </a:r>
            <a:endParaRPr lang="en-US" sz="1200" dirty="0"/>
          </a:p>
        </p:txBody>
      </p:sp>
      <p:sp>
        <p:nvSpPr>
          <p:cNvPr id="56" name="Text 54"/>
          <p:cNvSpPr txBox="1"/>
          <p:nvPr/>
        </p:nvSpPr>
        <p:spPr>
          <a:xfrm>
            <a:off x="9198864" y="3767328"/>
            <a:ext cx="2304288" cy="987552"/>
          </a:xfrm>
          <a:prstGeom prst="rect">
            <a:avLst/>
          </a:prstGeom>
          <a:noFill/>
          <a:ln/>
        </p:spPr>
        <p:txBody>
          <a:bodyPr wrap="square" lIns="0" tIns="0" rIns="0" bIns="0" rtlCol="0" anchor="ctr"/>
          <a:lstStyle/>
          <a:p>
            <a:pPr indent="0" marL="0">
              <a:lnSpc>
                <a:spcPts val="1180"/>
              </a:lnSpc>
              <a:buNone/>
            </a:pPr>
            <a:r>
              <a:rPr lang="en-US" sz="880" dirty="0">
                <a:solidFill>
                  <a:srgbClr val="5A6C82"/>
                </a:solidFill>
                <a:latin typeface="Calibri" pitchFamily="34" charset="0"/>
                <a:ea typeface="Calibri" pitchFamily="34" charset="-122"/>
                <a:cs typeface="Calibri" pitchFamily="34" charset="-120"/>
              </a:rPr>
              <a:t>Qiwa and Muqeem grant API access to the employer, under your own establishment registration. Never to a vendor. You request credentials, we plug them into connectors already built.</a:t>
            </a:r>
            <a:endParaRPr lang="en-US" sz="880" dirty="0"/>
          </a:p>
        </p:txBody>
      </p:sp>
      <p:sp>
        <p:nvSpPr>
          <p:cNvPr id="57" name="Shape 55"/>
          <p:cNvSpPr/>
          <p:nvPr/>
        </p:nvSpPr>
        <p:spPr>
          <a:xfrm>
            <a:off x="548640" y="5029200"/>
            <a:ext cx="11091672" cy="1261872"/>
          </a:xfrm>
          <a:prstGeom prst="roundRect">
            <a:avLst>
              <a:gd name="adj" fmla="val 5797"/>
            </a:avLst>
          </a:prstGeom>
          <a:solidFill>
            <a:srgbClr val="E4F5F3"/>
          </a:solidFill>
          <a:ln w="11430">
            <a:solidFill>
              <a:srgbClr val="20A098"/>
            </a:solidFill>
            <a:prstDash val="solid"/>
          </a:ln>
        </p:spPr>
      </p:sp>
      <p:sp>
        <p:nvSpPr>
          <p:cNvPr id="58" name="Text 56"/>
          <p:cNvSpPr txBox="1"/>
          <p:nvPr/>
        </p:nvSpPr>
        <p:spPr>
          <a:xfrm>
            <a:off x="777240" y="5157216"/>
            <a:ext cx="5120640" cy="237744"/>
          </a:xfrm>
          <a:prstGeom prst="rect">
            <a:avLst/>
          </a:prstGeom>
          <a:noFill/>
          <a:ln/>
        </p:spPr>
        <p:txBody>
          <a:bodyPr wrap="square" lIns="0" tIns="0" rIns="0" bIns="0" rtlCol="0" anchor="ctr"/>
          <a:lstStyle/>
          <a:p>
            <a:pPr indent="0" marL="0">
              <a:buNone/>
            </a:pPr>
            <a:r>
              <a:rPr lang="en-US" sz="1300" b="1" dirty="0">
                <a:solidFill>
                  <a:srgbClr val="12756F"/>
                </a:solidFill>
                <a:latin typeface="Arial" pitchFamily="34" charset="0"/>
                <a:ea typeface="Arial" pitchFamily="34" charset="-122"/>
                <a:cs typeface="Arial" pitchFamily="34" charset="-120"/>
              </a:rPr>
              <a:t>Three live today. Four await your credentials.</a:t>
            </a:r>
            <a:endParaRPr lang="en-US" sz="1300" dirty="0"/>
          </a:p>
        </p:txBody>
      </p:sp>
      <p:sp>
        <p:nvSpPr>
          <p:cNvPr id="59" name="Text 57"/>
          <p:cNvSpPr txBox="1"/>
          <p:nvPr/>
        </p:nvSpPr>
        <p:spPr>
          <a:xfrm>
            <a:off x="777240" y="5431536"/>
            <a:ext cx="5486400" cy="749808"/>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Until a connector goes live the step is manual, but it is still tracked. The reference number, the receipt and the status are captured exactly as they would be automatically, so nothing about the process changes on the day the switch is flipped. That is the difference between being API-ready and being API-dependent.</a:t>
            </a:r>
            <a:endParaRPr lang="en-US" sz="960" dirty="0"/>
          </a:p>
        </p:txBody>
      </p:sp>
      <p:pic>
        <p:nvPicPr>
          <p:cNvPr id="60" name="Image 0" descr="./img/integrations.jpg">    </p:cNvPr>
          <p:cNvPicPr>
            <a:picLocks noChangeAspect="1"/>
          </p:cNvPicPr>
          <p:nvPr/>
        </p:nvPicPr>
        <p:blipFill>
          <a:blip r:embed="rId1"/>
          <a:stretch>
            <a:fillRect/>
          </a:stretch>
        </p:blipFill>
        <p:spPr>
          <a:xfrm>
            <a:off x="6492240" y="5102352"/>
            <a:ext cx="5029200" cy="914400"/>
          </a:xfrm>
          <a:prstGeom prst="rect">
            <a:avLst/>
          </a:prstGeom>
          <a:effectLst>
            <a:outerShdw sx="100000" sy="100000" kx="0" ky="0" algn="bl" rotWithShape="0" blurRad="177800" dist="38100" dir="5400000">
              <a:srgbClr val="000000">
                <a:alpha val="20000"/>
              </a:srgbClr>
            </a:outerShdw>
          </a:effectLst>
        </p:spPr>
      </p:pic>
      <p:sp>
        <p:nvSpPr>
          <p:cNvPr id="61" name="Text 5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2" name="Text 5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only sees what is actually theirs, with a due date on it, and the system already knows which Saudi authority each step belongs to.</a:t>
            </a:r>
            <a:endParaRPr lang="en-US" sz="1300" dirty="0"/>
          </a:p>
        </p:txBody>
      </p:sp>
      <p:sp>
        <p:nvSpPr>
          <p:cNvPr id="5" name="Shape 3"/>
          <p:cNvSpPr/>
          <p:nvPr/>
        </p:nvSpPr>
        <p:spPr>
          <a:xfrm>
            <a:off x="548640" y="1828800"/>
            <a:ext cx="10424160" cy="548640"/>
          </a:xfrm>
          <a:prstGeom prst="roundRect">
            <a:avLst>
              <a:gd name="adj" fmla="val 10000"/>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Riyadh</a:t>
            </a:r>
            <a:endParaRPr lang="en-US" sz="900" dirty="0"/>
          </a:p>
        </p:txBody>
      </p:sp>
      <p:sp>
        <p:nvSpPr>
          <p:cNvPr id="10" name="Text 8"/>
          <p:cNvSpPr txBox="1"/>
          <p:nvPr/>
        </p:nvSpPr>
        <p:spPr>
          <a:xfrm>
            <a:off x="3246120" y="1883664"/>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Requests block visas once the band allows it; authenticates Qiwa contracts; issues Iqamas on Muqeem inside the statutory window; applies for exit re-entry and watches every return-by date.</a:t>
            </a:r>
            <a:endParaRPr lang="en-US" sz="930" dirty="0"/>
          </a:p>
        </p:txBody>
      </p:sp>
      <p:sp>
        <p:nvSpPr>
          <p:cNvPr id="11" name="Text 9"/>
          <p:cNvSpPr txBox="1"/>
          <p:nvPr/>
        </p:nvSpPr>
        <p:spPr>
          <a:xfrm>
            <a:off x="8229600" y="1883664"/>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One queue that already knows which authority each step belongs to.</a:t>
            </a:r>
            <a:endParaRPr lang="en-US" sz="930" dirty="0"/>
          </a:p>
        </p:txBody>
      </p:sp>
      <p:sp>
        <p:nvSpPr>
          <p:cNvPr id="12" name="Shape 10"/>
          <p:cNvSpPr/>
          <p:nvPr/>
        </p:nvSpPr>
        <p:spPr>
          <a:xfrm>
            <a:off x="548640" y="2414016"/>
            <a:ext cx="10424160" cy="548640"/>
          </a:xfrm>
          <a:prstGeom prst="roundRect">
            <a:avLst>
              <a:gd name="adj" fmla="val 10000"/>
            </a:avLst>
          </a:prstGeom>
          <a:solidFill>
            <a:srgbClr val="FFFFFF"/>
          </a:solidFill>
          <a:ln w="7620">
            <a:solidFill>
              <a:srgbClr val="E3E7EA"/>
            </a:solidFill>
            <a:prstDash val="solid"/>
          </a:ln>
        </p:spPr>
      </p:sp>
      <p:sp>
        <p:nvSpPr>
          <p:cNvPr id="13" name="Shape 11"/>
          <p:cNvSpPr/>
          <p:nvPr/>
        </p:nvSpPr>
        <p:spPr>
          <a:xfrm>
            <a:off x="694944" y="2514600"/>
            <a:ext cx="347472" cy="347472"/>
          </a:xfrm>
          <a:prstGeom prst="ellipse">
            <a:avLst/>
          </a:prstGeom>
          <a:solidFill>
            <a:srgbClr val="12756F"/>
          </a:solidFill>
          <a:ln/>
        </p:spPr>
      </p:sp>
      <p:sp>
        <p:nvSpPr>
          <p:cNvPr id="14" name="Text 12"/>
          <p:cNvSpPr txBox="1"/>
          <p:nvPr/>
        </p:nvSpPr>
        <p:spPr>
          <a:xfrm>
            <a:off x="694944" y="25146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46888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68833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46120" y="2468880"/>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Checks block visa availability before making an offer; releases candidates from SF Recruiting; agrees the Qiwa profession code with the PRO before submission.</a:t>
            </a:r>
            <a:endParaRPr lang="en-US" sz="930" dirty="0"/>
          </a:p>
        </p:txBody>
      </p:sp>
      <p:sp>
        <p:nvSpPr>
          <p:cNvPr id="18" name="Text 16"/>
          <p:cNvSpPr txBox="1"/>
          <p:nvPr/>
        </p:nvSpPr>
        <p:spPr>
          <a:xfrm>
            <a:off x="8229600" y="2468880"/>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Offers made against visas that actually exist.</a:t>
            </a:r>
            <a:endParaRPr lang="en-US" sz="930" dirty="0"/>
          </a:p>
        </p:txBody>
      </p:sp>
      <p:sp>
        <p:nvSpPr>
          <p:cNvPr id="19" name="Shape 17"/>
          <p:cNvSpPr/>
          <p:nvPr/>
        </p:nvSpPr>
        <p:spPr>
          <a:xfrm>
            <a:off x="548640" y="2999232"/>
            <a:ext cx="10424160" cy="548640"/>
          </a:xfrm>
          <a:prstGeom prst="roundRect">
            <a:avLst>
              <a:gd name="adj" fmla="val 10000"/>
            </a:avLst>
          </a:prstGeom>
          <a:solidFill>
            <a:srgbClr val="F4F6F7"/>
          </a:solidFill>
          <a:ln w="7620">
            <a:solidFill>
              <a:srgbClr val="E3E7EA"/>
            </a:solidFill>
            <a:prstDash val="solid"/>
          </a:ln>
        </p:spPr>
      </p:sp>
      <p:sp>
        <p:nvSpPr>
          <p:cNvPr id="20" name="Shape 18"/>
          <p:cNvSpPr/>
          <p:nvPr/>
        </p:nvSpPr>
        <p:spPr>
          <a:xfrm>
            <a:off x="694944" y="3099816"/>
            <a:ext cx="347472" cy="347472"/>
          </a:xfrm>
          <a:prstGeom prst="ellipse">
            <a:avLst/>
          </a:prstGeom>
          <a:solidFill>
            <a:srgbClr val="20A098"/>
          </a:solidFill>
          <a:ln/>
        </p:spPr>
      </p:sp>
      <p:sp>
        <p:nvSpPr>
          <p:cNvPr id="21" name="Text 19"/>
          <p:cNvSpPr txBox="1"/>
          <p:nvPr/>
        </p:nvSpPr>
        <p:spPr>
          <a:xfrm>
            <a:off x="694944" y="30998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05409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a:t>
            </a:r>
            <a:endParaRPr lang="en-US" sz="1100" dirty="0"/>
          </a:p>
        </p:txBody>
      </p:sp>
      <p:sp>
        <p:nvSpPr>
          <p:cNvPr id="23" name="Text 21"/>
          <p:cNvSpPr txBox="1"/>
          <p:nvPr/>
        </p:nvSpPr>
        <p:spPr>
          <a:xfrm>
            <a:off x="1152144" y="327355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46120" y="3054096"/>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Records the arrival date that starts the statutory Iqama clock; chases medicals and biometrics; registers Saudi hires with GOSI and Mudad.</a:t>
            </a:r>
            <a:endParaRPr lang="en-US" sz="930" dirty="0"/>
          </a:p>
        </p:txBody>
      </p:sp>
      <p:sp>
        <p:nvSpPr>
          <p:cNvPr id="25" name="Text 23"/>
          <p:cNvSpPr txBox="1"/>
          <p:nvPr/>
        </p:nvSpPr>
        <p:spPr>
          <a:xfrm>
            <a:off x="8229600" y="3054096"/>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Nobody works without the paperwork that makes it legal.</a:t>
            </a:r>
            <a:endParaRPr lang="en-US" sz="930" dirty="0"/>
          </a:p>
        </p:txBody>
      </p:sp>
      <p:sp>
        <p:nvSpPr>
          <p:cNvPr id="26" name="Shape 24"/>
          <p:cNvSpPr/>
          <p:nvPr/>
        </p:nvSpPr>
        <p:spPr>
          <a:xfrm>
            <a:off x="548640" y="3584448"/>
            <a:ext cx="10424160" cy="548640"/>
          </a:xfrm>
          <a:prstGeom prst="roundRect">
            <a:avLst>
              <a:gd name="adj" fmla="val 10000"/>
            </a:avLst>
          </a:prstGeom>
          <a:solidFill>
            <a:srgbClr val="FFFFFF"/>
          </a:solidFill>
          <a:ln w="7620">
            <a:solidFill>
              <a:srgbClr val="E3E7EA"/>
            </a:solidFill>
            <a:prstDash val="solid"/>
          </a:ln>
        </p:spPr>
      </p:sp>
      <p:sp>
        <p:nvSpPr>
          <p:cNvPr id="27" name="Shape 25"/>
          <p:cNvSpPr/>
          <p:nvPr/>
        </p:nvSpPr>
        <p:spPr>
          <a:xfrm>
            <a:off x="694944" y="3685032"/>
            <a:ext cx="347472" cy="347472"/>
          </a:xfrm>
          <a:prstGeom prst="ellipse">
            <a:avLst/>
          </a:prstGeom>
          <a:solidFill>
            <a:srgbClr val="12756F"/>
          </a:solidFill>
          <a:ln/>
        </p:spPr>
      </p:sp>
      <p:sp>
        <p:nvSpPr>
          <p:cNvPr id="28" name="Text 26"/>
          <p:cNvSpPr txBox="1"/>
          <p:nvPr/>
        </p:nvSpPr>
        <p:spPr>
          <a:xfrm>
            <a:off x="694944" y="36850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63931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385876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46120" y="3639312"/>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Approves exit re-entry against dues and notice; reviews the Nitaqat impact of a resignation before it is actioned; starts final exit once settlement is agreed.</a:t>
            </a:r>
            <a:endParaRPr lang="en-US" sz="930" dirty="0"/>
          </a:p>
        </p:txBody>
      </p:sp>
      <p:sp>
        <p:nvSpPr>
          <p:cNvPr id="32" name="Text 30"/>
          <p:cNvSpPr txBox="1"/>
          <p:nvPr/>
        </p:nvSpPr>
        <p:spPr>
          <a:xfrm>
            <a:off x="8229600" y="3639312"/>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Told before a resignation moves the band, not after.</a:t>
            </a:r>
            <a:endParaRPr lang="en-US" sz="930" dirty="0"/>
          </a:p>
        </p:txBody>
      </p:sp>
      <p:sp>
        <p:nvSpPr>
          <p:cNvPr id="33" name="Shape 31"/>
          <p:cNvSpPr/>
          <p:nvPr/>
        </p:nvSpPr>
        <p:spPr>
          <a:xfrm>
            <a:off x="548640" y="4169664"/>
            <a:ext cx="10424160" cy="548640"/>
          </a:xfrm>
          <a:prstGeom prst="roundRect">
            <a:avLst>
              <a:gd name="adj" fmla="val 10000"/>
            </a:avLst>
          </a:prstGeom>
          <a:solidFill>
            <a:srgbClr val="F4F6F7"/>
          </a:solidFill>
          <a:ln w="7620">
            <a:solidFill>
              <a:srgbClr val="E3E7EA"/>
            </a:solidFill>
            <a:prstDash val="solid"/>
          </a:ln>
        </p:spPr>
      </p:sp>
      <p:sp>
        <p:nvSpPr>
          <p:cNvPr id="34" name="Shape 32"/>
          <p:cNvSpPr/>
          <p:nvPr/>
        </p:nvSpPr>
        <p:spPr>
          <a:xfrm>
            <a:off x="694944" y="4270248"/>
            <a:ext cx="347472" cy="347472"/>
          </a:xfrm>
          <a:prstGeom prst="ellipse">
            <a:avLst/>
          </a:prstGeom>
          <a:solidFill>
            <a:srgbClr val="20A098"/>
          </a:solidFill>
          <a:ln/>
        </p:spPr>
      </p:sp>
      <p:sp>
        <p:nvSpPr>
          <p:cNvPr id="35" name="Text 33"/>
          <p:cNvSpPr txBox="1"/>
          <p:nvPr/>
        </p:nvSpPr>
        <p:spPr>
          <a:xfrm>
            <a:off x="694944" y="42702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22452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a:t>
            </a:r>
            <a:endParaRPr lang="en-US" sz="1100" dirty="0"/>
          </a:p>
        </p:txBody>
      </p:sp>
      <p:sp>
        <p:nvSpPr>
          <p:cNvPr id="37" name="Text 35"/>
          <p:cNvSpPr txBox="1"/>
          <p:nvPr/>
        </p:nvSpPr>
        <p:spPr>
          <a:xfrm>
            <a:off x="1152144" y="444398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46120" y="4224528"/>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Requests exit re-entry with travel dates; confirms medical and biometrics; signs the Qiwa contract; confirms receipt of the renewed Iqama.</a:t>
            </a:r>
            <a:endParaRPr lang="en-US" sz="930" dirty="0"/>
          </a:p>
        </p:txBody>
      </p:sp>
      <p:sp>
        <p:nvSpPr>
          <p:cNvPr id="39" name="Text 37"/>
          <p:cNvSpPr txBox="1"/>
          <p:nvPr/>
        </p:nvSpPr>
        <p:spPr>
          <a:xfrm>
            <a:off x="8229600" y="4224528"/>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Sees their own Iqama expiry and their return-by date.</a:t>
            </a:r>
            <a:endParaRPr lang="en-US" sz="930" dirty="0"/>
          </a:p>
        </p:txBody>
      </p:sp>
      <p:sp>
        <p:nvSpPr>
          <p:cNvPr id="40" name="Shape 38"/>
          <p:cNvSpPr/>
          <p:nvPr/>
        </p:nvSpPr>
        <p:spPr>
          <a:xfrm>
            <a:off x="548640" y="4754880"/>
            <a:ext cx="10424160" cy="548640"/>
          </a:xfrm>
          <a:prstGeom prst="roundRect">
            <a:avLst>
              <a:gd name="adj" fmla="val 10000"/>
            </a:avLst>
          </a:prstGeom>
          <a:solidFill>
            <a:srgbClr val="FFFFFF"/>
          </a:solidFill>
          <a:ln w="7620">
            <a:solidFill>
              <a:srgbClr val="E3E7EA"/>
            </a:solidFill>
            <a:prstDash val="solid"/>
          </a:ln>
        </p:spPr>
      </p:sp>
      <p:sp>
        <p:nvSpPr>
          <p:cNvPr id="41" name="Shape 39"/>
          <p:cNvSpPr/>
          <p:nvPr/>
        </p:nvSpPr>
        <p:spPr>
          <a:xfrm>
            <a:off x="694944" y="4855464"/>
            <a:ext cx="347472" cy="347472"/>
          </a:xfrm>
          <a:prstGeom prst="ellipse">
            <a:avLst/>
          </a:prstGeom>
          <a:solidFill>
            <a:srgbClr val="12756F"/>
          </a:solidFill>
          <a:ln/>
        </p:spPr>
      </p:sp>
      <p:sp>
        <p:nvSpPr>
          <p:cNvPr id="42" name="Text 40"/>
          <p:cNvSpPr txBox="1"/>
          <p:nvPr/>
        </p:nvSpPr>
        <p:spPr>
          <a:xfrm>
            <a:off x="694944" y="48554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480974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02920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and GL</a:t>
            </a:r>
            <a:endParaRPr lang="en-US" sz="900" dirty="0"/>
          </a:p>
        </p:txBody>
      </p:sp>
      <p:sp>
        <p:nvSpPr>
          <p:cNvPr id="45" name="Text 43"/>
          <p:cNvSpPr txBox="1"/>
          <p:nvPr/>
        </p:nvSpPr>
        <p:spPr>
          <a:xfrm>
            <a:off x="3246120" y="4809744"/>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Reconciles SADAD payments against receipts; posts to GL; forecasts expat levy against the renewal calendar.</a:t>
            </a:r>
            <a:endParaRPr lang="en-US" sz="930" dirty="0"/>
          </a:p>
        </p:txBody>
      </p:sp>
      <p:sp>
        <p:nvSpPr>
          <p:cNvPr id="46" name="Text 44"/>
          <p:cNvSpPr txBox="1"/>
          <p:nvPr/>
        </p:nvSpPr>
        <p:spPr>
          <a:xfrm>
            <a:off x="8229600" y="4809744"/>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The levy stops being a surprise.</a:t>
            </a:r>
            <a:endParaRPr lang="en-US" sz="930" dirty="0"/>
          </a:p>
        </p:txBody>
      </p:sp>
      <p:sp>
        <p:nvSpPr>
          <p:cNvPr id="47" name="Shape 45"/>
          <p:cNvSpPr/>
          <p:nvPr/>
        </p:nvSpPr>
        <p:spPr>
          <a:xfrm>
            <a:off x="548640" y="5340096"/>
            <a:ext cx="10424160" cy="548640"/>
          </a:xfrm>
          <a:prstGeom prst="roundRect">
            <a:avLst>
              <a:gd name="adj" fmla="val 10000"/>
            </a:avLst>
          </a:prstGeom>
          <a:solidFill>
            <a:srgbClr val="F4F6F7"/>
          </a:solidFill>
          <a:ln w="7620">
            <a:solidFill>
              <a:srgbClr val="E3E7EA"/>
            </a:solidFill>
            <a:prstDash val="solid"/>
          </a:ln>
        </p:spPr>
      </p:sp>
      <p:sp>
        <p:nvSpPr>
          <p:cNvPr id="48" name="Shape 46"/>
          <p:cNvSpPr/>
          <p:nvPr/>
        </p:nvSpPr>
        <p:spPr>
          <a:xfrm>
            <a:off x="694944" y="5440680"/>
            <a:ext cx="347472" cy="347472"/>
          </a:xfrm>
          <a:prstGeom prst="ellipse">
            <a:avLst/>
          </a:prstGeom>
          <a:solidFill>
            <a:srgbClr val="16304C"/>
          </a:solidFill>
          <a:ln/>
        </p:spPr>
      </p:sp>
      <p:sp>
        <p:nvSpPr>
          <p:cNvPr id="49" name="Text 47"/>
          <p:cNvSpPr txBox="1"/>
          <p:nvPr/>
        </p:nvSpPr>
        <p:spPr>
          <a:xfrm>
            <a:off x="694944"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39496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61441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and risk</a:t>
            </a:r>
            <a:endParaRPr lang="en-US" sz="900" dirty="0"/>
          </a:p>
        </p:txBody>
      </p:sp>
      <p:sp>
        <p:nvSpPr>
          <p:cNvPr id="52" name="Text 50"/>
          <p:cNvSpPr txBox="1"/>
          <p:nvPr/>
        </p:nvSpPr>
        <p:spPr>
          <a:xfrm>
            <a:off x="3246120" y="5394960"/>
            <a:ext cx="4846320" cy="438912"/>
          </a:xfrm>
          <a:prstGeom prst="rect">
            <a:avLst/>
          </a:prstGeom>
          <a:noFill/>
          <a:ln/>
        </p:spPr>
        <p:txBody>
          <a:bodyPr wrap="square" lIns="0" tIns="0" rIns="0" bIns="0" rtlCol="0" anchor="ctr"/>
          <a:lstStyle/>
          <a:p>
            <a:pPr indent="0" marL="0">
              <a:lnSpc>
                <a:spcPts val="1240"/>
              </a:lnSpc>
              <a:buNone/>
            </a:pPr>
            <a:r>
              <a:rPr lang="en-US" sz="930" dirty="0">
                <a:solidFill>
                  <a:srgbClr val="5A6C82"/>
                </a:solidFill>
                <a:latin typeface="Calibri" pitchFamily="34" charset="0"/>
                <a:ea typeface="Calibri" pitchFamily="34" charset="-122"/>
                <a:cs typeface="Calibri" pitchFamily="34" charset="-120"/>
              </a:rPr>
              <a:t>Watches band position per establishment; reviews Saudization against Vision 2030 commitments; signs off the localisation hiring plan.</a:t>
            </a:r>
            <a:endParaRPr lang="en-US" sz="930" dirty="0"/>
          </a:p>
        </p:txBody>
      </p:sp>
      <p:sp>
        <p:nvSpPr>
          <p:cNvPr id="53" name="Text 51"/>
          <p:cNvSpPr txBox="1"/>
          <p:nvPr/>
        </p:nvSpPr>
        <p:spPr>
          <a:xfrm>
            <a:off x="8229600" y="5394960"/>
            <a:ext cx="2615184" cy="438912"/>
          </a:xfrm>
          <a:prstGeom prst="rect">
            <a:avLst/>
          </a:prstGeom>
          <a:noFill/>
          <a:ln/>
        </p:spPr>
        <p:txBody>
          <a:bodyPr wrap="square" lIns="0" tIns="0" rIns="0" bIns="0" rtlCol="0" anchor="ctr"/>
          <a:lstStyle/>
          <a:p>
            <a:pPr indent="0" marL="0">
              <a:lnSpc>
                <a:spcPts val="1240"/>
              </a:lnSpc>
              <a:buNone/>
            </a:pPr>
            <a:r>
              <a:rPr lang="en-US" sz="930" b="1" i="1" dirty="0">
                <a:solidFill>
                  <a:srgbClr val="17795E"/>
                </a:solidFill>
                <a:latin typeface="Calibri" pitchFamily="34" charset="0"/>
                <a:ea typeface="Calibri" pitchFamily="34" charset="-122"/>
                <a:cs typeface="Calibri" pitchFamily="34" charset="-120"/>
              </a:rPr>
              <a:t>Nitaqat exposure answerable from one screen.</a:t>
            </a:r>
            <a:endParaRPr lang="en-US" sz="93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ACCOUNTABILITY &amp; COST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step owned. Every riyal accounted for.</a:t>
            </a:r>
            <a:endParaRPr lang="en-US" sz="3000" dirty="0"/>
          </a:p>
        </p:txBody>
      </p:sp>
      <p:sp>
        <p:nvSpPr>
          <p:cNvPr id="4" name="Text 2"/>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Statutory deadlines need named owners, and Saudi permit costs are large enough that finance has to see them coming.</a:t>
            </a:r>
            <a:endParaRPr lang="en-US" sz="1300" dirty="0"/>
          </a:p>
        </p:txBody>
      </p:sp>
      <p:sp>
        <p:nvSpPr>
          <p:cNvPr id="5" name="Shape 3"/>
          <p:cNvSpPr/>
          <p:nvPr/>
        </p:nvSpPr>
        <p:spPr>
          <a:xfrm>
            <a:off x="548640" y="1792224"/>
            <a:ext cx="5394960" cy="676656"/>
          </a:xfrm>
          <a:prstGeom prst="roundRect">
            <a:avLst>
              <a:gd name="adj" fmla="val 10811"/>
            </a:avLst>
          </a:prstGeom>
          <a:solidFill>
            <a:srgbClr val="F4F6F7"/>
          </a:solidFill>
          <a:ln w="9525">
            <a:solidFill>
              <a:srgbClr val="E3E7EA"/>
            </a:solidFill>
            <a:prstDash val="solid"/>
          </a:ln>
        </p:spPr>
      </p:sp>
      <p:sp>
        <p:nvSpPr>
          <p:cNvPr id="6" name="Shape 4"/>
          <p:cNvSpPr/>
          <p:nvPr/>
        </p:nvSpPr>
        <p:spPr>
          <a:xfrm>
            <a:off x="731520" y="1956816"/>
            <a:ext cx="365760" cy="365760"/>
          </a:xfrm>
          <a:prstGeom prst="ellipse">
            <a:avLst/>
          </a:prstGeom>
          <a:solidFill>
            <a:srgbClr val="20A098"/>
          </a:solidFill>
          <a:ln/>
        </p:spPr>
      </p:sp>
      <p:sp>
        <p:nvSpPr>
          <p:cNvPr id="7" name="Text 5"/>
          <p:cNvSpPr txBox="1"/>
          <p:nvPr/>
        </p:nvSpPr>
        <p:spPr>
          <a:xfrm>
            <a:off x="731520" y="19568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25296" y="187452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Assign</a:t>
            </a:r>
            <a:endParaRPr lang="en-US" sz="1250" dirty="0"/>
          </a:p>
        </p:txBody>
      </p:sp>
      <p:sp>
        <p:nvSpPr>
          <p:cNvPr id="9" name="Text 7"/>
          <p:cNvSpPr txBox="1"/>
          <p:nvPr/>
        </p:nvSpPr>
        <p:spPr>
          <a:xfrm>
            <a:off x="1225296" y="210312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Routed to a role, claimed by a named officer. Due dates come from the statutory deadline, not a guess.</a:t>
            </a:r>
            <a:endParaRPr lang="en-US" sz="940" dirty="0"/>
          </a:p>
        </p:txBody>
      </p:sp>
      <p:sp>
        <p:nvSpPr>
          <p:cNvPr id="10" name="Shape 8"/>
          <p:cNvSpPr/>
          <p:nvPr/>
        </p:nvSpPr>
        <p:spPr>
          <a:xfrm>
            <a:off x="548640" y="2569464"/>
            <a:ext cx="5394960" cy="676656"/>
          </a:xfrm>
          <a:prstGeom prst="roundRect">
            <a:avLst>
              <a:gd name="adj" fmla="val 10811"/>
            </a:avLst>
          </a:prstGeom>
          <a:solidFill>
            <a:srgbClr val="FFFFFF"/>
          </a:solidFill>
          <a:ln w="9525">
            <a:solidFill>
              <a:srgbClr val="E3E7EA"/>
            </a:solidFill>
            <a:prstDash val="solid"/>
          </a:ln>
        </p:spPr>
      </p:sp>
      <p:sp>
        <p:nvSpPr>
          <p:cNvPr id="11" name="Shape 9"/>
          <p:cNvSpPr/>
          <p:nvPr/>
        </p:nvSpPr>
        <p:spPr>
          <a:xfrm>
            <a:off x="731520" y="2734056"/>
            <a:ext cx="365760" cy="365760"/>
          </a:xfrm>
          <a:prstGeom prst="ellipse">
            <a:avLst/>
          </a:prstGeom>
          <a:solidFill>
            <a:srgbClr val="B5730F"/>
          </a:solidFill>
          <a:ln/>
        </p:spPr>
      </p:sp>
      <p:sp>
        <p:nvSpPr>
          <p:cNvPr id="12" name="Text 10"/>
          <p:cNvSpPr txBox="1"/>
          <p:nvPr/>
        </p:nvSpPr>
        <p:spPr>
          <a:xfrm>
            <a:off x="731520" y="27340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225296" y="265176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Nudge</a:t>
            </a:r>
            <a:endParaRPr lang="en-US" sz="1250" dirty="0"/>
          </a:p>
        </p:txBody>
      </p:sp>
      <p:sp>
        <p:nvSpPr>
          <p:cNvPr id="14" name="Text 12"/>
          <p:cNvSpPr txBox="1"/>
          <p:nvPr/>
        </p:nvSpPr>
        <p:spPr>
          <a:xfrm>
            <a:off x="1225296" y="288036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Every 2 days while open. Iqama expiries six weeks out, exit re-entry returns at 14, 7 and 2 days.</a:t>
            </a:r>
            <a:endParaRPr lang="en-US" sz="940" dirty="0"/>
          </a:p>
        </p:txBody>
      </p:sp>
      <p:sp>
        <p:nvSpPr>
          <p:cNvPr id="15" name="Shape 13"/>
          <p:cNvSpPr/>
          <p:nvPr/>
        </p:nvSpPr>
        <p:spPr>
          <a:xfrm>
            <a:off x="548640" y="3346704"/>
            <a:ext cx="5394960" cy="676656"/>
          </a:xfrm>
          <a:prstGeom prst="roundRect">
            <a:avLst>
              <a:gd name="adj" fmla="val 10811"/>
            </a:avLst>
          </a:prstGeom>
          <a:solidFill>
            <a:srgbClr val="F4F6F7"/>
          </a:solidFill>
          <a:ln w="9525">
            <a:solidFill>
              <a:srgbClr val="E3E7EA"/>
            </a:solidFill>
            <a:prstDash val="solid"/>
          </a:ln>
        </p:spPr>
      </p:sp>
      <p:sp>
        <p:nvSpPr>
          <p:cNvPr id="16" name="Shape 14"/>
          <p:cNvSpPr/>
          <p:nvPr/>
        </p:nvSpPr>
        <p:spPr>
          <a:xfrm>
            <a:off x="731520" y="3511296"/>
            <a:ext cx="365760" cy="365760"/>
          </a:xfrm>
          <a:prstGeom prst="ellipse">
            <a:avLst/>
          </a:prstGeom>
          <a:solidFill>
            <a:srgbClr val="B23A2F"/>
          </a:solidFill>
          <a:ln/>
        </p:spPr>
      </p:sp>
      <p:sp>
        <p:nvSpPr>
          <p:cNvPr id="17" name="Text 15"/>
          <p:cNvSpPr txBox="1"/>
          <p:nvPr/>
        </p:nvSpPr>
        <p:spPr>
          <a:xfrm>
            <a:off x="731520" y="351129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225296" y="342900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Escalate</a:t>
            </a:r>
            <a:endParaRPr lang="en-US" sz="1250" dirty="0"/>
          </a:p>
        </p:txBody>
      </p:sp>
      <p:sp>
        <p:nvSpPr>
          <p:cNvPr id="19" name="Text 17"/>
          <p:cNvSpPr txBox="1"/>
          <p:nvPr/>
        </p:nvSpPr>
        <p:spPr>
          <a:xfrm>
            <a:off x="1225296" y="365760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Past the due date it reaches the line manager and HRBP on its own, while something can still be done.</a:t>
            </a:r>
            <a:endParaRPr lang="en-US" sz="940" dirty="0"/>
          </a:p>
        </p:txBody>
      </p:sp>
      <p:sp>
        <p:nvSpPr>
          <p:cNvPr id="20" name="Shape 18"/>
          <p:cNvSpPr/>
          <p:nvPr/>
        </p:nvSpPr>
        <p:spPr>
          <a:xfrm>
            <a:off x="548640" y="4123944"/>
            <a:ext cx="5394960" cy="676656"/>
          </a:xfrm>
          <a:prstGeom prst="roundRect">
            <a:avLst>
              <a:gd name="adj" fmla="val 10811"/>
            </a:avLst>
          </a:prstGeom>
          <a:solidFill>
            <a:srgbClr val="FFFFFF"/>
          </a:solidFill>
          <a:ln w="9525">
            <a:solidFill>
              <a:srgbClr val="E3E7EA"/>
            </a:solidFill>
            <a:prstDash val="solid"/>
          </a:ln>
        </p:spPr>
      </p:sp>
      <p:sp>
        <p:nvSpPr>
          <p:cNvPr id="21" name="Shape 19"/>
          <p:cNvSpPr/>
          <p:nvPr/>
        </p:nvSpPr>
        <p:spPr>
          <a:xfrm>
            <a:off x="731520" y="4288536"/>
            <a:ext cx="365760" cy="365760"/>
          </a:xfrm>
          <a:prstGeom prst="ellipse">
            <a:avLst/>
          </a:prstGeom>
          <a:solidFill>
            <a:srgbClr val="17795E"/>
          </a:solidFill>
          <a:ln/>
        </p:spPr>
      </p:sp>
      <p:sp>
        <p:nvSpPr>
          <p:cNvPr id="22" name="Text 20"/>
          <p:cNvSpPr txBox="1"/>
          <p:nvPr/>
        </p:nvSpPr>
        <p:spPr>
          <a:xfrm>
            <a:off x="731520" y="42885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txBox="1"/>
          <p:nvPr/>
        </p:nvSpPr>
        <p:spPr>
          <a:xfrm>
            <a:off x="1225296" y="4206240"/>
            <a:ext cx="4480560" cy="219456"/>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Prove</a:t>
            </a:r>
            <a:endParaRPr lang="en-US" sz="1250" dirty="0"/>
          </a:p>
        </p:txBody>
      </p:sp>
      <p:sp>
        <p:nvSpPr>
          <p:cNvPr id="24" name="Text 22"/>
          <p:cNvSpPr txBox="1"/>
          <p:nvPr/>
        </p:nvSpPr>
        <p:spPr>
          <a:xfrm>
            <a:off x="1225296" y="4434840"/>
            <a:ext cx="4526280" cy="310896"/>
          </a:xfrm>
          <a:prstGeom prst="rect">
            <a:avLst/>
          </a:prstGeom>
          <a:noFill/>
          <a:ln/>
        </p:spPr>
        <p:txBody>
          <a:bodyPr wrap="square" lIns="0" tIns="0" rIns="0" bIns="0" rtlCol="0" anchor="ctr"/>
          <a:lstStyle/>
          <a:p>
            <a:pPr indent="0" marL="0">
              <a:lnSpc>
                <a:spcPts val="1250"/>
              </a:lnSpc>
              <a:buNone/>
            </a:pPr>
            <a:r>
              <a:rPr lang="en-US" sz="940" dirty="0">
                <a:solidFill>
                  <a:srgbClr val="5A6C82"/>
                </a:solidFill>
                <a:latin typeface="Calibri" pitchFamily="34" charset="0"/>
                <a:ea typeface="Calibri" pitchFamily="34" charset="-122"/>
                <a:cs typeface="Calibri" pitchFamily="34" charset="-120"/>
              </a:rPr>
              <a:t>Who had it, when they were reminded, what they uploaded. A Qiwa or GOSI inspection becomes a report.</a:t>
            </a:r>
            <a:endParaRPr lang="en-US" sz="940" dirty="0"/>
          </a:p>
        </p:txBody>
      </p:sp>
      <p:sp>
        <p:nvSpPr>
          <p:cNvPr id="25" name="Shape 23"/>
          <p:cNvSpPr/>
          <p:nvPr/>
        </p:nvSpPr>
        <p:spPr>
          <a:xfrm>
            <a:off x="548640" y="4956048"/>
            <a:ext cx="5394960" cy="1335024"/>
          </a:xfrm>
          <a:prstGeom prst="roundRect">
            <a:avLst>
              <a:gd name="adj" fmla="val 5479"/>
            </a:avLst>
          </a:prstGeom>
          <a:solidFill>
            <a:srgbClr val="E4F5F3"/>
          </a:solidFill>
          <a:ln w="11430">
            <a:solidFill>
              <a:srgbClr val="20A098"/>
            </a:solidFill>
            <a:prstDash val="solid"/>
          </a:ln>
        </p:spPr>
      </p:sp>
      <p:sp>
        <p:nvSpPr>
          <p:cNvPr id="26" name="Text 24"/>
          <p:cNvSpPr txBox="1"/>
          <p:nvPr/>
        </p:nvSpPr>
        <p:spPr>
          <a:xfrm>
            <a:off x="749808" y="5065776"/>
            <a:ext cx="5029200" cy="219456"/>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The Saudi cost line finance actually worries about</a:t>
            </a:r>
            <a:endParaRPr lang="en-US" sz="1150" dirty="0"/>
          </a:p>
        </p:txBody>
      </p:sp>
      <p:sp>
        <p:nvSpPr>
          <p:cNvPr id="27" name="Text 25"/>
          <p:cNvSpPr txBox="1"/>
          <p:nvPr/>
        </p:nvSpPr>
        <p:spPr>
          <a:xfrm>
            <a:off x="749808" y="5321808"/>
            <a:ext cx="5029200" cy="859536"/>
          </a:xfrm>
          <a:prstGeom prst="rect">
            <a:avLst/>
          </a:prstGeom>
          <a:noFill/>
          <a:ln/>
        </p:spPr>
        <p:txBody>
          <a:bodyPr wrap="square" lIns="0" tIns="0" rIns="0" bIns="0" rtlCol="0" anchor="ctr"/>
          <a:lstStyle/>
          <a:p>
            <a:pPr indent="0" marL="0">
              <a:lnSpc>
                <a:spcPts val="1300"/>
              </a:lnSpc>
              <a:buNone/>
            </a:pPr>
            <a:r>
              <a:rPr lang="en-US" sz="960" dirty="0">
                <a:solidFill>
                  <a:srgbClr val="0C1E33"/>
                </a:solidFill>
                <a:latin typeface="Calibri" pitchFamily="34" charset="0"/>
                <a:ea typeface="Calibri" pitchFamily="34" charset="-122"/>
                <a:cs typeface="Calibri" pitchFamily="34" charset="-120"/>
              </a:rPr>
              <a:t>The expat levy is charged per employee per year and renewals cluster around hiring dates. We forecast levy and fees against the renewal calendar, so a heavy quarter is budgeted rather than absorbed. Every payment carries a SADAD reference, a receipt and a GL account.</a:t>
            </a:r>
            <a:endParaRPr lang="en-US" sz="960" dirty="0"/>
          </a:p>
        </p:txBody>
      </p:sp>
      <p:pic>
        <p:nvPicPr>
          <p:cNvPr id="28" name="Image 0" descr="./img/report-payment.jpg">    </p:cNvPr>
          <p:cNvPicPr>
            <a:picLocks noChangeAspect="1"/>
          </p:cNvPicPr>
          <p:nvPr/>
        </p:nvPicPr>
        <p:blipFill>
          <a:blip r:embed="rId1"/>
          <a:stretch>
            <a:fillRect/>
          </a:stretch>
        </p:blipFill>
        <p:spPr>
          <a:xfrm>
            <a:off x="6172200" y="1792224"/>
            <a:ext cx="5440680" cy="914400"/>
          </a:xfrm>
          <a:prstGeom prst="rect">
            <a:avLst/>
          </a:prstGeom>
          <a:effectLst>
            <a:outerShdw sx="100000" sy="100000" kx="0" ky="0" algn="bl" rotWithShape="0" blurRad="177800" dist="38100" dir="5400000">
              <a:srgbClr val="000000">
                <a:alpha val="20000"/>
              </a:srgbClr>
            </a:outerShdw>
          </a:effectLst>
        </p:spPr>
      </p:pic>
      <p:sp>
        <p:nvSpPr>
          <p:cNvPr id="29" name="Text 26"/>
          <p:cNvSpPr txBox="1"/>
          <p:nvPr/>
        </p:nvSpPr>
        <p:spPr>
          <a:xfrm>
            <a:off x="6172200" y="5230368"/>
            <a:ext cx="5440680" cy="457200"/>
          </a:xfrm>
          <a:prstGeom prst="rect">
            <a:avLst/>
          </a:prstGeom>
          <a:noFill/>
          <a:ln/>
        </p:spPr>
        <p:txBody>
          <a:bodyPr wrap="square" lIns="0" tIns="0" rIns="0" bIns="0" rtlCol="0" anchor="ctr"/>
          <a:lstStyle/>
          <a:p>
            <a:pPr indent="0" marL="0">
              <a:lnSpc>
                <a:spcPts val="1350"/>
              </a:lnSpc>
              <a:buNone/>
            </a:pPr>
            <a:r>
              <a:rPr lang="en-US" sz="1000" i="1" dirty="0">
                <a:solidFill>
                  <a:srgbClr val="5A6C82"/>
                </a:solidFill>
                <a:latin typeface="Calibri" pitchFamily="34" charset="0"/>
                <a:ea typeface="Calibri" pitchFamily="34" charset="-122"/>
                <a:cs typeface="Calibri" pitchFamily="34" charset="-120"/>
              </a:rPr>
              <a:t>Qiwa contract fee, expat levy, Iqama issue fee, exit re-entry, transfer fee, medical insurance. Each with its own GL account and its own receipt, one click away.</a:t>
            </a:r>
            <a:endParaRPr lang="en-US" sz="1000" dirty="0"/>
          </a:p>
        </p:txBody>
      </p:sp>
      <p:sp>
        <p:nvSpPr>
          <p:cNvPr id="30" name="Text 27"/>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31" name="Text 28"/>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SOLUTION ARCHITECTURE</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system, and what moves between them.</a:t>
            </a:r>
            <a:endParaRPr lang="en-US" sz="3000" dirty="0"/>
          </a:p>
        </p:txBody>
      </p:sp>
      <p:pic>
        <p:nvPicPr>
          <p:cNvPr id="4" name="Image 0" descr="./img/architecture.png">    </p:cNvPr>
          <p:cNvPicPr>
            <a:picLocks noChangeAspect="1"/>
          </p:cNvPicPr>
          <p:nvPr/>
        </p:nvPicPr>
        <p:blipFill>
          <a:blip r:embed="rId1"/>
          <a:stretch>
            <a:fillRect/>
          </a:stretch>
        </p:blipFill>
        <p:spPr>
          <a:xfrm>
            <a:off x="548640" y="1152144"/>
            <a:ext cx="7543800" cy="5120640"/>
          </a:xfrm>
          <a:prstGeom prst="rect">
            <a:avLst/>
          </a:prstGeom>
        </p:spPr>
      </p:pic>
      <p:sp>
        <p:nvSpPr>
          <p:cNvPr id="5" name="Shape 2"/>
          <p:cNvSpPr/>
          <p:nvPr/>
        </p:nvSpPr>
        <p:spPr>
          <a:xfrm>
            <a:off x="8275320" y="1152144"/>
            <a:ext cx="3364992" cy="1188720"/>
          </a:xfrm>
          <a:prstGeom prst="roundRect">
            <a:avLst>
              <a:gd name="adj" fmla="val 5385"/>
            </a:avLst>
          </a:prstGeom>
          <a:solidFill>
            <a:srgbClr val="F4F6F7"/>
          </a:solidFill>
          <a:ln w="11430">
            <a:solidFill>
              <a:srgbClr val="E3E7EA"/>
            </a:solidFill>
            <a:prstDash val="solid"/>
          </a:ln>
        </p:spPr>
      </p:sp>
      <p:sp>
        <p:nvSpPr>
          <p:cNvPr id="6" name="Text 3"/>
          <p:cNvSpPr txBox="1"/>
          <p:nvPr/>
        </p:nvSpPr>
        <p:spPr>
          <a:xfrm>
            <a:off x="8449056" y="1252728"/>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in</a:t>
            </a:r>
            <a:endParaRPr lang="en-US" sz="1150" dirty="0"/>
          </a:p>
        </p:txBody>
      </p:sp>
      <p:sp>
        <p:nvSpPr>
          <p:cNvPr id="7" name="Text 4"/>
          <p:cNvSpPr txBox="1"/>
          <p:nvPr/>
        </p:nvSpPr>
        <p:spPr>
          <a:xfrm>
            <a:off x="8449056" y="1481328"/>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Candidates who accepted an offer, the employee master, separations and the Iqama expiry dates that start a renewal. All through SAP Integration Suite, monitored and retried like any other SAP integration.</a:t>
            </a:r>
            <a:endParaRPr lang="en-US" sz="850" dirty="0"/>
          </a:p>
        </p:txBody>
      </p:sp>
      <p:sp>
        <p:nvSpPr>
          <p:cNvPr id="8" name="Shape 5"/>
          <p:cNvSpPr/>
          <p:nvPr/>
        </p:nvSpPr>
        <p:spPr>
          <a:xfrm>
            <a:off x="8275320" y="2450592"/>
            <a:ext cx="3364992" cy="1188720"/>
          </a:xfrm>
          <a:prstGeom prst="roundRect">
            <a:avLst>
              <a:gd name="adj" fmla="val 5385"/>
            </a:avLst>
          </a:prstGeom>
          <a:solidFill>
            <a:srgbClr val="F4F6F7"/>
          </a:solidFill>
          <a:ln w="11430">
            <a:solidFill>
              <a:srgbClr val="E3E7EA"/>
            </a:solidFill>
            <a:prstDash val="solid"/>
          </a:ln>
        </p:spPr>
      </p:sp>
      <p:sp>
        <p:nvSpPr>
          <p:cNvPr id="9" name="Text 6"/>
          <p:cNvSpPr txBox="1"/>
          <p:nvPr/>
        </p:nvSpPr>
        <p:spPr>
          <a:xfrm>
            <a:off x="8449056" y="2551176"/>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back</a:t>
            </a:r>
            <a:endParaRPr lang="en-US" sz="1150" dirty="0"/>
          </a:p>
        </p:txBody>
      </p:sp>
      <p:sp>
        <p:nvSpPr>
          <p:cNvPr id="10" name="Text 7"/>
          <p:cNvSpPr txBox="1"/>
          <p:nvPr/>
        </p:nvSpPr>
        <p:spPr>
          <a:xfrm>
            <a:off x="8449056" y="2779776"/>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Iqama number, expiry, profession as registered in Qiwa and work permit status, straight into Employee Central. Nobody re-types anything.</a:t>
            </a:r>
            <a:endParaRPr lang="en-US" sz="850" dirty="0"/>
          </a:p>
        </p:txBody>
      </p:sp>
      <p:sp>
        <p:nvSpPr>
          <p:cNvPr id="11" name="Shape 8"/>
          <p:cNvSpPr/>
          <p:nvPr/>
        </p:nvSpPr>
        <p:spPr>
          <a:xfrm>
            <a:off x="8275320" y="3749040"/>
            <a:ext cx="3364992" cy="1188720"/>
          </a:xfrm>
          <a:prstGeom prst="roundRect">
            <a:avLst>
              <a:gd name="adj" fmla="val 5385"/>
            </a:avLst>
          </a:prstGeom>
          <a:solidFill>
            <a:srgbClr val="F4F6F7"/>
          </a:solidFill>
          <a:ln w="11430">
            <a:solidFill>
              <a:srgbClr val="E3E7EA"/>
            </a:solidFill>
            <a:prstDash val="solid"/>
          </a:ln>
        </p:spPr>
      </p:sp>
      <p:sp>
        <p:nvSpPr>
          <p:cNvPr id="12" name="Text 9"/>
          <p:cNvSpPr txBox="1"/>
          <p:nvPr/>
        </p:nvSpPr>
        <p:spPr>
          <a:xfrm>
            <a:off x="8449056" y="3849624"/>
            <a:ext cx="301752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What flows down</a:t>
            </a:r>
            <a:endParaRPr lang="en-US" sz="1150" dirty="0"/>
          </a:p>
        </p:txBody>
      </p:sp>
      <p:sp>
        <p:nvSpPr>
          <p:cNvPr id="13" name="Text 10"/>
          <p:cNvSpPr txBox="1"/>
          <p:nvPr/>
        </p:nvSpPr>
        <p:spPr>
          <a:xfrm>
            <a:off x="8449056" y="4078224"/>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Every payment with its amount, VAT, SADAD reference, receipt and GL account, posted to S/4HANA as a journal. Levy accruals included.</a:t>
            </a:r>
            <a:endParaRPr lang="en-US" sz="850" dirty="0"/>
          </a:p>
        </p:txBody>
      </p:sp>
      <p:sp>
        <p:nvSpPr>
          <p:cNvPr id="14" name="Shape 11"/>
          <p:cNvSpPr/>
          <p:nvPr/>
        </p:nvSpPr>
        <p:spPr>
          <a:xfrm>
            <a:off x="8275320" y="5047488"/>
            <a:ext cx="3364992" cy="1188720"/>
          </a:xfrm>
          <a:prstGeom prst="roundRect">
            <a:avLst>
              <a:gd name="adj" fmla="val 5385"/>
            </a:avLst>
          </a:prstGeom>
          <a:solidFill>
            <a:srgbClr val="FCF6E4"/>
          </a:solidFill>
          <a:ln w="11430">
            <a:solidFill>
              <a:srgbClr val="C9A227"/>
            </a:solidFill>
            <a:prstDash val="solid"/>
          </a:ln>
        </p:spPr>
      </p:sp>
      <p:sp>
        <p:nvSpPr>
          <p:cNvPr id="15" name="Text 12"/>
          <p:cNvSpPr txBox="1"/>
          <p:nvPr/>
        </p:nvSpPr>
        <p:spPr>
          <a:xfrm>
            <a:off x="8449056" y="5148072"/>
            <a:ext cx="3017520" cy="219456"/>
          </a:xfrm>
          <a:prstGeom prst="rect">
            <a:avLst/>
          </a:prstGeom>
          <a:noFill/>
          <a:ln/>
        </p:spPr>
        <p:txBody>
          <a:bodyPr wrap="square" lIns="0" tIns="0" rIns="0" bIns="0" rtlCol="0" anchor="ctr"/>
          <a:lstStyle/>
          <a:p>
            <a:pPr indent="0" marL="0">
              <a:buNone/>
            </a:pPr>
            <a:r>
              <a:rPr lang="en-US" sz="1150" b="1" dirty="0">
                <a:solidFill>
                  <a:srgbClr val="7A6410"/>
                </a:solidFill>
                <a:latin typeface="Arial" pitchFamily="34" charset="0"/>
                <a:ea typeface="Arial" pitchFamily="34" charset="-122"/>
                <a:cs typeface="Arial" pitchFamily="34" charset="-120"/>
              </a:rPr>
              <a:t>The dashed arrows</a:t>
            </a:r>
            <a:endParaRPr lang="en-US" sz="1150" dirty="0"/>
          </a:p>
        </p:txBody>
      </p:sp>
      <p:sp>
        <p:nvSpPr>
          <p:cNvPr id="16" name="Text 13"/>
          <p:cNvSpPr txBox="1"/>
          <p:nvPr/>
        </p:nvSpPr>
        <p:spPr>
          <a:xfrm>
            <a:off x="8449056" y="5376672"/>
            <a:ext cx="3035808" cy="786384"/>
          </a:xfrm>
          <a:prstGeom prst="rect">
            <a:avLst/>
          </a:prstGeom>
          <a:noFill/>
          <a:ln/>
        </p:spPr>
        <p:txBody>
          <a:bodyPr wrap="square" lIns="0" tIns="0" rIns="0" bIns="0" rtlCol="0" anchor="ctr"/>
          <a:lstStyle/>
          <a:p>
            <a:pPr indent="0" marL="0">
              <a:lnSpc>
                <a:spcPts val="1140"/>
              </a:lnSpc>
              <a:buNone/>
            </a:pPr>
            <a:r>
              <a:rPr lang="en-US" sz="850" dirty="0">
                <a:solidFill>
                  <a:srgbClr val="5A6C82"/>
                </a:solidFill>
                <a:latin typeface="Calibri" pitchFamily="34" charset="0"/>
                <a:ea typeface="Calibri" pitchFamily="34" charset="-122"/>
                <a:cs typeface="Calibri" pitchFamily="34" charset="-120"/>
              </a:rPr>
              <a:t>Qiwa and Muqeem grant API access to the employer under their own establishment registration, never to a software vendor. Those credentials come from you. The connectors are already built.</a:t>
            </a:r>
            <a:endParaRPr lang="en-US" sz="850" dirty="0"/>
          </a:p>
        </p:txBody>
      </p:sp>
      <p:sp>
        <p:nvSpPr>
          <p:cNvPr id="17" name="Text 1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18" name="Text 1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SAP BTP services, and what it takes to deploy.</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records, Nitaqat headcount,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for PRO, HR, finance and employees</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Steps, statutory due dates, reminders,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Saudi endpoints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Flows to SF Recruiting, Onboarding, EC and S/4HANA</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Qiwa contracts, SADAD receipts, SCFHS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Iqama expiry, return-by alerts, escalation mail</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and return-by scans, Nitaqat recalculation</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Nitaqat forecasting, levy budgeting, exec dashboards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Arabic package, change requests</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Data residency</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Deployable in an SAP BTP region that meets Saudi data residency expectations, which is usually the first question a Saudi CIO asks.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Arabic when you need it</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The interface ships in English. Arabic and right-to-left layout are a defined localisation package, not a rebuild.</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Weeks, not quarters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  Kingdom of Saudi Arabia</a:t>
            </a:r>
            <a:endParaRPr lang="en-US" sz="900" dirty="0"/>
          </a:p>
        </p:txBody>
      </p:sp>
      <p:sp>
        <p:nvSpPr>
          <p:cNvPr id="63" name="Text 6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961120" y="-2194560"/>
            <a:ext cx="6217920" cy="6217920"/>
          </a:xfrm>
          <a:prstGeom prst="ellipse">
            <a:avLst/>
          </a:prstGeom>
          <a:solidFill>
            <a:srgbClr val="20A098">
              <a:alpha val="11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BEYOND THE KINGDOM</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Saudi Arabia is one pack. There are seven.</a:t>
            </a:r>
            <a:endParaRPr lang="en-US" sz="3000" dirty="0"/>
          </a:p>
        </p:txBody>
      </p:sp>
      <p:sp>
        <p:nvSpPr>
          <p:cNvPr id="5" name="Text 3"/>
          <p:cNvSpPr txBox="1"/>
          <p:nvPr/>
        </p:nvSpPr>
        <p:spPr>
          <a:xfrm>
            <a:off x="548640" y="1243584"/>
            <a:ext cx="10424160" cy="310896"/>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The engine underneath runs six more markets, so your second country is a configuration, not another project.</a:t>
            </a:r>
            <a:endParaRPr lang="en-US" sz="1250" dirty="0"/>
          </a:p>
        </p:txBody>
      </p:sp>
      <p:sp>
        <p:nvSpPr>
          <p:cNvPr id="6" name="Shape 4"/>
          <p:cNvSpPr/>
          <p:nvPr/>
        </p:nvSpPr>
        <p:spPr>
          <a:xfrm>
            <a:off x="548640" y="1773936"/>
            <a:ext cx="2670048" cy="1207008"/>
          </a:xfrm>
          <a:prstGeom prst="roundRect">
            <a:avLst>
              <a:gd name="adj" fmla="val 6061"/>
            </a:avLst>
          </a:prstGeom>
          <a:solidFill>
            <a:srgbClr val="123A4E"/>
          </a:solidFill>
          <a:ln w="20320">
            <a:solidFill>
              <a:srgbClr val="20A098"/>
            </a:solidFill>
            <a:prstDash val="solid"/>
          </a:ln>
        </p:spPr>
      </p:sp>
      <p:sp>
        <p:nvSpPr>
          <p:cNvPr id="7" name="Text 5"/>
          <p:cNvSpPr txBox="1"/>
          <p:nvPr/>
        </p:nvSpPr>
        <p:spPr>
          <a:xfrm>
            <a:off x="704088" y="1883664"/>
            <a:ext cx="146304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Saudi Arabia</a:t>
            </a:r>
            <a:endParaRPr lang="en-US" sz="1250" dirty="0"/>
          </a:p>
        </p:txBody>
      </p:sp>
      <p:sp>
        <p:nvSpPr>
          <p:cNvPr id="8" name="Text 6"/>
          <p:cNvSpPr txBox="1"/>
          <p:nvPr/>
        </p:nvSpPr>
        <p:spPr>
          <a:xfrm>
            <a:off x="704088"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Qiwa / Muqeem / Absher</a:t>
            </a:r>
            <a:endParaRPr lang="en-US" sz="900" dirty="0"/>
          </a:p>
        </p:txBody>
      </p:sp>
      <p:sp>
        <p:nvSpPr>
          <p:cNvPr id="9" name="Text 7"/>
          <p:cNvSpPr txBox="1"/>
          <p:nvPr/>
        </p:nvSpPr>
        <p:spPr>
          <a:xfrm>
            <a:off x="704088"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Nitaqat gates everything. Exit and re-entry is the trap.</a:t>
            </a:r>
            <a:endParaRPr lang="en-US" sz="920" dirty="0"/>
          </a:p>
        </p:txBody>
      </p:sp>
      <p:sp>
        <p:nvSpPr>
          <p:cNvPr id="10" name="Shape 8"/>
          <p:cNvSpPr/>
          <p:nvPr/>
        </p:nvSpPr>
        <p:spPr>
          <a:xfrm>
            <a:off x="2212848" y="1892808"/>
            <a:ext cx="850392" cy="201168"/>
          </a:xfrm>
          <a:prstGeom prst="roundRect">
            <a:avLst>
              <a:gd name="adj" fmla="val 50000"/>
            </a:avLst>
          </a:prstGeom>
          <a:solidFill>
            <a:srgbClr val="20A098"/>
          </a:solidFill>
          <a:ln/>
        </p:spPr>
      </p:sp>
      <p:sp>
        <p:nvSpPr>
          <p:cNvPr id="11" name="Text 9"/>
          <p:cNvSpPr txBox="1"/>
          <p:nvPr/>
        </p:nvSpPr>
        <p:spPr>
          <a:xfrm>
            <a:off x="2212848" y="1892808"/>
            <a:ext cx="850392" cy="201168"/>
          </a:xfrm>
          <a:prstGeom prst="rect">
            <a:avLst/>
          </a:prstGeom>
          <a:noFill/>
          <a:ln/>
        </p:spPr>
        <p:txBody>
          <a:bodyPr wrap="square" lIns="0" tIns="0" rIns="0" bIns="0" rtlCol="0" anchor="ctr"/>
          <a:lstStyle/>
          <a:p>
            <a:pPr algn="ctr" indent="0" marL="0">
              <a:buNone/>
            </a:pPr>
            <a:r>
              <a:rPr lang="en-US" sz="740" b="1" dirty="0">
                <a:solidFill>
                  <a:srgbClr val="0C1E33"/>
                </a:solidFill>
                <a:latin typeface="Calibri" pitchFamily="34" charset="0"/>
                <a:ea typeface="Calibri" pitchFamily="34" charset="-122"/>
                <a:cs typeface="Calibri" pitchFamily="34" charset="-120"/>
              </a:rPr>
              <a:t>You are here</a:t>
            </a:r>
            <a:endParaRPr lang="en-US" sz="740" dirty="0"/>
          </a:p>
        </p:txBody>
      </p:sp>
      <p:sp>
        <p:nvSpPr>
          <p:cNvPr id="12" name="Shape 10"/>
          <p:cNvSpPr/>
          <p:nvPr/>
        </p:nvSpPr>
        <p:spPr>
          <a:xfrm>
            <a:off x="3374136" y="1773936"/>
            <a:ext cx="2670048" cy="1207008"/>
          </a:xfrm>
          <a:prstGeom prst="roundRect">
            <a:avLst>
              <a:gd name="adj" fmla="val 6061"/>
            </a:avLst>
          </a:prstGeom>
          <a:solidFill>
            <a:srgbClr val="16304C"/>
          </a:solidFill>
          <a:ln w="10160">
            <a:solidFill>
              <a:srgbClr val="27415C"/>
            </a:solidFill>
            <a:prstDash val="solid"/>
          </a:ln>
        </p:spPr>
      </p:sp>
      <p:sp>
        <p:nvSpPr>
          <p:cNvPr id="13" name="Text 11"/>
          <p:cNvSpPr txBox="1"/>
          <p:nvPr/>
        </p:nvSpPr>
        <p:spPr>
          <a:xfrm>
            <a:off x="3529584"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United Arab Emirates</a:t>
            </a:r>
            <a:endParaRPr lang="en-US" sz="1250" dirty="0"/>
          </a:p>
        </p:txBody>
      </p:sp>
      <p:sp>
        <p:nvSpPr>
          <p:cNvPr id="14" name="Text 12"/>
          <p:cNvSpPr txBox="1"/>
          <p:nvPr/>
        </p:nvSpPr>
        <p:spPr>
          <a:xfrm>
            <a:off x="3529584"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MOHRE / ICP / GDRFA</a:t>
            </a:r>
            <a:endParaRPr lang="en-US" sz="900" dirty="0"/>
          </a:p>
        </p:txBody>
      </p:sp>
      <p:sp>
        <p:nvSpPr>
          <p:cNvPr id="15" name="Text 13"/>
          <p:cNvSpPr txBox="1"/>
          <p:nvPr/>
        </p:nvSpPr>
        <p:spPr>
          <a:xfrm>
            <a:off x="3529584"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Golden Visa splits residence from work permit. Two clocks.</a:t>
            </a:r>
            <a:endParaRPr lang="en-US" sz="920" dirty="0"/>
          </a:p>
        </p:txBody>
      </p:sp>
      <p:sp>
        <p:nvSpPr>
          <p:cNvPr id="16" name="Shape 14"/>
          <p:cNvSpPr/>
          <p:nvPr/>
        </p:nvSpPr>
        <p:spPr>
          <a:xfrm>
            <a:off x="6199632" y="1773936"/>
            <a:ext cx="2670048" cy="1207008"/>
          </a:xfrm>
          <a:prstGeom prst="roundRect">
            <a:avLst>
              <a:gd name="adj" fmla="val 6061"/>
            </a:avLst>
          </a:prstGeom>
          <a:solidFill>
            <a:srgbClr val="16304C"/>
          </a:solidFill>
          <a:ln w="10160">
            <a:solidFill>
              <a:srgbClr val="27415C"/>
            </a:solidFill>
            <a:prstDash val="solid"/>
          </a:ln>
        </p:spPr>
      </p:sp>
      <p:sp>
        <p:nvSpPr>
          <p:cNvPr id="17" name="Text 15"/>
          <p:cNvSpPr txBox="1"/>
          <p:nvPr/>
        </p:nvSpPr>
        <p:spPr>
          <a:xfrm>
            <a:off x="6355080"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Qatar</a:t>
            </a:r>
            <a:endParaRPr lang="en-US" sz="1250" dirty="0"/>
          </a:p>
        </p:txBody>
      </p:sp>
      <p:sp>
        <p:nvSpPr>
          <p:cNvPr id="18" name="Text 16"/>
          <p:cNvSpPr txBox="1"/>
          <p:nvPr/>
        </p:nvSpPr>
        <p:spPr>
          <a:xfrm>
            <a:off x="6355080"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ADLSA / MOI / QVC</a:t>
            </a:r>
            <a:endParaRPr lang="en-US" sz="900" dirty="0"/>
          </a:p>
        </p:txBody>
      </p:sp>
      <p:sp>
        <p:nvSpPr>
          <p:cNvPr id="19" name="Text 17"/>
          <p:cNvSpPr txBox="1"/>
          <p:nvPr/>
        </p:nvSpPr>
        <p:spPr>
          <a:xfrm>
            <a:off x="6355080"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Most of the work happens before the employee travels.</a:t>
            </a:r>
            <a:endParaRPr lang="en-US" sz="920" dirty="0"/>
          </a:p>
        </p:txBody>
      </p:sp>
      <p:sp>
        <p:nvSpPr>
          <p:cNvPr id="20" name="Shape 18"/>
          <p:cNvSpPr/>
          <p:nvPr/>
        </p:nvSpPr>
        <p:spPr>
          <a:xfrm>
            <a:off x="9025128" y="1773936"/>
            <a:ext cx="2670048" cy="1207008"/>
          </a:xfrm>
          <a:prstGeom prst="roundRect">
            <a:avLst>
              <a:gd name="adj" fmla="val 6061"/>
            </a:avLst>
          </a:prstGeom>
          <a:solidFill>
            <a:srgbClr val="16304C"/>
          </a:solidFill>
          <a:ln w="10160">
            <a:solidFill>
              <a:srgbClr val="27415C"/>
            </a:solidFill>
            <a:prstDash val="solid"/>
          </a:ln>
        </p:spPr>
      </p:sp>
      <p:sp>
        <p:nvSpPr>
          <p:cNvPr id="21" name="Text 19"/>
          <p:cNvSpPr txBox="1"/>
          <p:nvPr/>
        </p:nvSpPr>
        <p:spPr>
          <a:xfrm>
            <a:off x="9180576" y="1883664"/>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Kuwait</a:t>
            </a:r>
            <a:endParaRPr lang="en-US" sz="1250" dirty="0"/>
          </a:p>
        </p:txBody>
      </p:sp>
      <p:sp>
        <p:nvSpPr>
          <p:cNvPr id="22" name="Text 20"/>
          <p:cNvSpPr txBox="1"/>
          <p:nvPr/>
        </p:nvSpPr>
        <p:spPr>
          <a:xfrm>
            <a:off x="9180576" y="2157984"/>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PAM / MOI / PACI</a:t>
            </a:r>
            <a:endParaRPr lang="en-US" sz="900" dirty="0"/>
          </a:p>
        </p:txBody>
      </p:sp>
      <p:sp>
        <p:nvSpPr>
          <p:cNvPr id="23" name="Text 21"/>
          <p:cNvSpPr txBox="1"/>
          <p:nvPr/>
        </p:nvSpPr>
        <p:spPr>
          <a:xfrm>
            <a:off x="9180576" y="2377440"/>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Permit and residency on two clocks, two authorities.</a:t>
            </a:r>
            <a:endParaRPr lang="en-US" sz="920" dirty="0"/>
          </a:p>
        </p:txBody>
      </p:sp>
      <p:sp>
        <p:nvSpPr>
          <p:cNvPr id="24" name="Shape 22"/>
          <p:cNvSpPr/>
          <p:nvPr/>
        </p:nvSpPr>
        <p:spPr>
          <a:xfrm>
            <a:off x="548640" y="3163824"/>
            <a:ext cx="2670048" cy="1207008"/>
          </a:xfrm>
          <a:prstGeom prst="roundRect">
            <a:avLst>
              <a:gd name="adj" fmla="val 6061"/>
            </a:avLst>
          </a:prstGeom>
          <a:solidFill>
            <a:srgbClr val="16304C"/>
          </a:solidFill>
          <a:ln w="10160">
            <a:solidFill>
              <a:srgbClr val="27415C"/>
            </a:solidFill>
            <a:prstDash val="solid"/>
          </a:ln>
        </p:spPr>
      </p:sp>
      <p:sp>
        <p:nvSpPr>
          <p:cNvPr id="25" name="Text 23"/>
          <p:cNvSpPr txBox="1"/>
          <p:nvPr/>
        </p:nvSpPr>
        <p:spPr>
          <a:xfrm>
            <a:off x="704088"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Oman</a:t>
            </a:r>
            <a:endParaRPr lang="en-US" sz="1250" dirty="0"/>
          </a:p>
        </p:txBody>
      </p:sp>
      <p:sp>
        <p:nvSpPr>
          <p:cNvPr id="26" name="Text 24"/>
          <p:cNvSpPr txBox="1"/>
          <p:nvPr/>
        </p:nvSpPr>
        <p:spPr>
          <a:xfrm>
            <a:off x="704088"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ROP</a:t>
            </a:r>
            <a:endParaRPr lang="en-US" sz="900" dirty="0"/>
          </a:p>
        </p:txBody>
      </p:sp>
      <p:sp>
        <p:nvSpPr>
          <p:cNvPr id="27" name="Text 25"/>
          <p:cNvSpPr txBox="1"/>
          <p:nvPr/>
        </p:nvSpPr>
        <p:spPr>
          <a:xfrm>
            <a:off x="704088"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Omanisation gates clearance, as Nitaqat does here.</a:t>
            </a:r>
            <a:endParaRPr lang="en-US" sz="920" dirty="0"/>
          </a:p>
        </p:txBody>
      </p:sp>
      <p:sp>
        <p:nvSpPr>
          <p:cNvPr id="28" name="Shape 26"/>
          <p:cNvSpPr/>
          <p:nvPr/>
        </p:nvSpPr>
        <p:spPr>
          <a:xfrm>
            <a:off x="3374136" y="3163824"/>
            <a:ext cx="2670048" cy="1207008"/>
          </a:xfrm>
          <a:prstGeom prst="roundRect">
            <a:avLst>
              <a:gd name="adj" fmla="val 6061"/>
            </a:avLst>
          </a:prstGeom>
          <a:solidFill>
            <a:srgbClr val="16304C"/>
          </a:solidFill>
          <a:ln w="10160">
            <a:solidFill>
              <a:srgbClr val="27415C"/>
            </a:solidFill>
            <a:prstDash val="solid"/>
          </a:ln>
        </p:spPr>
      </p:sp>
      <p:sp>
        <p:nvSpPr>
          <p:cNvPr id="29" name="Text 27"/>
          <p:cNvSpPr txBox="1"/>
          <p:nvPr/>
        </p:nvSpPr>
        <p:spPr>
          <a:xfrm>
            <a:off x="3529584"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Bahrain</a:t>
            </a:r>
            <a:endParaRPr lang="en-US" sz="1250" dirty="0"/>
          </a:p>
        </p:txBody>
      </p:sp>
      <p:sp>
        <p:nvSpPr>
          <p:cNvPr id="30" name="Text 28"/>
          <p:cNvSpPr txBox="1"/>
          <p:nvPr/>
        </p:nvSpPr>
        <p:spPr>
          <a:xfrm>
            <a:off x="3529584"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LMRA / NPRA / GOSI</a:t>
            </a:r>
            <a:endParaRPr lang="en-US" sz="900" dirty="0"/>
          </a:p>
        </p:txBody>
      </p:sp>
      <p:sp>
        <p:nvSpPr>
          <p:cNvPr id="31" name="Text 29"/>
          <p:cNvSpPr txBox="1"/>
          <p:nvPr/>
        </p:nvSpPr>
        <p:spPr>
          <a:xfrm>
            <a:off x="3529584"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One authority runs the whole permit. Cleanest API candidate.</a:t>
            </a:r>
            <a:endParaRPr lang="en-US" sz="920" dirty="0"/>
          </a:p>
        </p:txBody>
      </p:sp>
      <p:sp>
        <p:nvSpPr>
          <p:cNvPr id="32" name="Shape 30"/>
          <p:cNvSpPr/>
          <p:nvPr/>
        </p:nvSpPr>
        <p:spPr>
          <a:xfrm>
            <a:off x="6199632" y="3163824"/>
            <a:ext cx="2670048" cy="1207008"/>
          </a:xfrm>
          <a:prstGeom prst="roundRect">
            <a:avLst>
              <a:gd name="adj" fmla="val 6061"/>
            </a:avLst>
          </a:prstGeom>
          <a:solidFill>
            <a:srgbClr val="16304C"/>
          </a:solidFill>
          <a:ln w="10160">
            <a:solidFill>
              <a:srgbClr val="27415C"/>
            </a:solidFill>
            <a:prstDash val="solid"/>
          </a:ln>
        </p:spPr>
      </p:sp>
      <p:sp>
        <p:nvSpPr>
          <p:cNvPr id="33" name="Text 31"/>
          <p:cNvSpPr txBox="1"/>
          <p:nvPr/>
        </p:nvSpPr>
        <p:spPr>
          <a:xfrm>
            <a:off x="6355080" y="3273552"/>
            <a:ext cx="2359152"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Libya</a:t>
            </a:r>
            <a:endParaRPr lang="en-US" sz="1250" dirty="0"/>
          </a:p>
        </p:txBody>
      </p:sp>
      <p:sp>
        <p:nvSpPr>
          <p:cNvPr id="34" name="Text 32"/>
          <p:cNvSpPr txBox="1"/>
          <p:nvPr/>
        </p:nvSpPr>
        <p:spPr>
          <a:xfrm>
            <a:off x="6355080" y="3547872"/>
            <a:ext cx="2359152" cy="201168"/>
          </a:xfrm>
          <a:prstGeom prst="rect">
            <a:avLst/>
          </a:prstGeom>
          <a:noFill/>
          <a:ln/>
        </p:spPr>
        <p:txBody>
          <a:bodyPr wrap="square" lIns="0" tIns="0" rIns="0" bIns="0" rtlCol="0" anchor="ctr"/>
          <a:lstStyle/>
          <a:p>
            <a:pPr indent="0" marL="0">
              <a:buNone/>
            </a:pPr>
            <a:r>
              <a:rPr lang="en-US" sz="900" dirty="0">
                <a:solidFill>
                  <a:srgbClr val="20A098"/>
                </a:solidFill>
                <a:latin typeface="Calibri" pitchFamily="34" charset="0"/>
                <a:ea typeface="Calibri" pitchFamily="34" charset="-122"/>
                <a:cs typeface="Calibri" pitchFamily="34" charset="-120"/>
              </a:rPr>
              <a:t>Ministry of Labour / PNA</a:t>
            </a:r>
            <a:endParaRPr lang="en-US" sz="900" dirty="0"/>
          </a:p>
        </p:txBody>
      </p:sp>
      <p:sp>
        <p:nvSpPr>
          <p:cNvPr id="35" name="Text 33"/>
          <p:cNvSpPr txBox="1"/>
          <p:nvPr/>
        </p:nvSpPr>
        <p:spPr>
          <a:xfrm>
            <a:off x="6355080" y="3767328"/>
            <a:ext cx="2359152" cy="493776"/>
          </a:xfrm>
          <a:prstGeom prst="rect">
            <a:avLst/>
          </a:prstGeom>
          <a:noFill/>
          <a:ln/>
        </p:spPr>
        <p:txBody>
          <a:bodyPr wrap="square" lIns="0" tIns="0" rIns="0" bIns="0" rtlCol="0" anchor="ctr"/>
          <a:lstStyle/>
          <a:p>
            <a:pPr indent="0" marL="0">
              <a:lnSpc>
                <a:spcPts val="1220"/>
              </a:lnSpc>
              <a:buNone/>
            </a:pPr>
            <a:r>
              <a:rPr lang="en-US" sz="920" dirty="0">
                <a:solidFill>
                  <a:srgbClr val="A9C2DA"/>
                </a:solidFill>
                <a:latin typeface="Calibri" pitchFamily="34" charset="0"/>
                <a:ea typeface="Calibri" pitchFamily="34" charset="-122"/>
                <a:cs typeface="Calibri" pitchFamily="34" charset="-120"/>
              </a:rPr>
              <a:t>Rotating crews. Proof matters more than volume.</a:t>
            </a:r>
            <a:endParaRPr lang="en-US" sz="920" dirty="0"/>
          </a:p>
        </p:txBody>
      </p:sp>
      <p:sp>
        <p:nvSpPr>
          <p:cNvPr id="36" name="Shape 34"/>
          <p:cNvSpPr/>
          <p:nvPr/>
        </p:nvSpPr>
        <p:spPr>
          <a:xfrm>
            <a:off x="9043416" y="3163824"/>
            <a:ext cx="2596896" cy="1207008"/>
          </a:xfrm>
          <a:prstGeom prst="roundRect">
            <a:avLst>
              <a:gd name="adj" fmla="val 6061"/>
            </a:avLst>
          </a:prstGeom>
          <a:solidFill>
            <a:srgbClr val="12756F"/>
          </a:solidFill>
          <a:ln w="15240">
            <a:solidFill>
              <a:srgbClr val="20A098"/>
            </a:solidFill>
            <a:prstDash val="solid"/>
          </a:ln>
        </p:spPr>
      </p:sp>
      <p:sp>
        <p:nvSpPr>
          <p:cNvPr id="37" name="Text 35"/>
          <p:cNvSpPr txBox="1"/>
          <p:nvPr/>
        </p:nvSpPr>
        <p:spPr>
          <a:xfrm>
            <a:off x="9198864" y="3291840"/>
            <a:ext cx="2286000" cy="237744"/>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36 permit types</a:t>
            </a:r>
            <a:endParaRPr lang="en-US" sz="1400" dirty="0"/>
          </a:p>
        </p:txBody>
      </p:sp>
      <p:sp>
        <p:nvSpPr>
          <p:cNvPr id="38" name="Text 36"/>
          <p:cNvSpPr txBox="1"/>
          <p:nvPr/>
        </p:nvSpPr>
        <p:spPr>
          <a:xfrm>
            <a:off x="9198864" y="3566160"/>
            <a:ext cx="2304288" cy="694944"/>
          </a:xfrm>
          <a:prstGeom prst="rect">
            <a:avLst/>
          </a:prstGeom>
          <a:noFill/>
          <a:ln/>
        </p:spPr>
        <p:txBody>
          <a:bodyPr wrap="square" lIns="0" tIns="0" rIns="0" bIns="0" rtlCol="0" anchor="ctr"/>
          <a:lstStyle/>
          <a:p>
            <a:pPr indent="0" marL="0">
              <a:lnSpc>
                <a:spcPts val="1240"/>
              </a:lnSpc>
              <a:buNone/>
            </a:pPr>
            <a:r>
              <a:rPr lang="en-US" sz="940" dirty="0">
                <a:solidFill>
                  <a:srgbClr val="CFEFEB"/>
                </a:solidFill>
                <a:latin typeface="Calibri" pitchFamily="34" charset="0"/>
                <a:ea typeface="Calibri" pitchFamily="34" charset="-122"/>
                <a:cs typeface="Calibri" pitchFamily="34" charset="-120"/>
              </a:rPr>
              <a:t>across seven country packs, on one engine, in one BTP subscription.</a:t>
            </a:r>
            <a:endParaRPr lang="en-US" sz="940" dirty="0"/>
          </a:p>
        </p:txBody>
      </p:sp>
      <p:sp>
        <p:nvSpPr>
          <p:cNvPr id="39" name="Shape 37"/>
          <p:cNvSpPr/>
          <p:nvPr/>
        </p:nvSpPr>
        <p:spPr>
          <a:xfrm>
            <a:off x="548640" y="4553712"/>
            <a:ext cx="3611880" cy="969264"/>
          </a:xfrm>
          <a:prstGeom prst="roundRect">
            <a:avLst>
              <a:gd name="adj" fmla="val 7547"/>
            </a:avLst>
          </a:prstGeom>
          <a:solidFill>
            <a:srgbClr val="16304C"/>
          </a:solidFill>
          <a:ln w="10160">
            <a:solidFill>
              <a:srgbClr val="27415C"/>
            </a:solidFill>
            <a:prstDash val="solid"/>
          </a:ln>
        </p:spPr>
      </p:sp>
      <p:sp>
        <p:nvSpPr>
          <p:cNvPr id="40" name="Text 38"/>
          <p:cNvSpPr txBox="1"/>
          <p:nvPr/>
        </p:nvSpPr>
        <p:spPr>
          <a:xfrm>
            <a:off x="713232"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engine</a:t>
            </a:r>
            <a:endParaRPr lang="en-US" sz="1150" dirty="0"/>
          </a:p>
        </p:txBody>
      </p:sp>
      <p:sp>
        <p:nvSpPr>
          <p:cNvPr id="41" name="Text 39"/>
          <p:cNvSpPr txBox="1"/>
          <p:nvPr/>
        </p:nvSpPr>
        <p:spPr>
          <a:xfrm>
            <a:off x="713232"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Workflow, tasks, payment capture and reporting are identical everywhere. Only the steps, authorities and thresholds change.</a:t>
            </a:r>
            <a:endParaRPr lang="en-US" sz="900" dirty="0"/>
          </a:p>
        </p:txBody>
      </p:sp>
      <p:sp>
        <p:nvSpPr>
          <p:cNvPr id="42" name="Shape 40"/>
          <p:cNvSpPr/>
          <p:nvPr/>
        </p:nvSpPr>
        <p:spPr>
          <a:xfrm>
            <a:off x="4288536" y="4553712"/>
            <a:ext cx="3611880" cy="969264"/>
          </a:xfrm>
          <a:prstGeom prst="roundRect">
            <a:avLst>
              <a:gd name="adj" fmla="val 7547"/>
            </a:avLst>
          </a:prstGeom>
          <a:solidFill>
            <a:srgbClr val="16304C"/>
          </a:solidFill>
          <a:ln w="10160">
            <a:solidFill>
              <a:srgbClr val="27415C"/>
            </a:solidFill>
            <a:prstDash val="solid"/>
          </a:ln>
        </p:spPr>
      </p:sp>
      <p:sp>
        <p:nvSpPr>
          <p:cNvPr id="43" name="Text 41"/>
          <p:cNvSpPr txBox="1"/>
          <p:nvPr/>
        </p:nvSpPr>
        <p:spPr>
          <a:xfrm>
            <a:off x="4453128"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training course</a:t>
            </a:r>
            <a:endParaRPr lang="en-US" sz="1150" dirty="0"/>
          </a:p>
        </p:txBody>
      </p:sp>
      <p:sp>
        <p:nvSpPr>
          <p:cNvPr id="44" name="Text 42"/>
          <p:cNvSpPr txBox="1"/>
          <p:nvPr/>
        </p:nvSpPr>
        <p:spPr>
          <a:xfrm>
            <a:off x="4453128"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 PRO who learns the Saudi screens already knows the Emirati ones. Same queue, same inbox, same escalation.</a:t>
            </a:r>
            <a:endParaRPr lang="en-US" sz="900" dirty="0"/>
          </a:p>
        </p:txBody>
      </p:sp>
      <p:sp>
        <p:nvSpPr>
          <p:cNvPr id="45" name="Shape 43"/>
          <p:cNvSpPr/>
          <p:nvPr/>
        </p:nvSpPr>
        <p:spPr>
          <a:xfrm>
            <a:off x="8028432" y="4553712"/>
            <a:ext cx="3611880" cy="969264"/>
          </a:xfrm>
          <a:prstGeom prst="roundRect">
            <a:avLst>
              <a:gd name="adj" fmla="val 7547"/>
            </a:avLst>
          </a:prstGeom>
          <a:solidFill>
            <a:srgbClr val="16304C"/>
          </a:solidFill>
          <a:ln w="10160">
            <a:solidFill>
              <a:srgbClr val="27415C"/>
            </a:solidFill>
            <a:prstDash val="solid"/>
          </a:ln>
        </p:spPr>
      </p:sp>
      <p:sp>
        <p:nvSpPr>
          <p:cNvPr id="46" name="Text 44"/>
          <p:cNvSpPr txBox="1"/>
          <p:nvPr/>
        </p:nvSpPr>
        <p:spPr>
          <a:xfrm>
            <a:off x="8193024" y="4663440"/>
            <a:ext cx="3291840" cy="219456"/>
          </a:xfrm>
          <a:prstGeom prst="rect">
            <a:avLst/>
          </a:prstGeom>
          <a:noFill/>
          <a:ln/>
        </p:spPr>
        <p:txBody>
          <a:bodyPr wrap="square" lIns="0" tIns="0" rIns="0" bIns="0" rtlCol="0" anchor="ctr"/>
          <a:lstStyle/>
          <a:p>
            <a:pPr indent="0" marL="0">
              <a:buNone/>
            </a:pPr>
            <a:r>
              <a:rPr lang="en-US" sz="1150" b="1" dirty="0">
                <a:solidFill>
                  <a:srgbClr val="20A098"/>
                </a:solidFill>
                <a:latin typeface="Arial" pitchFamily="34" charset="0"/>
                <a:ea typeface="Arial" pitchFamily="34" charset="-122"/>
                <a:cs typeface="Arial" pitchFamily="34" charset="-120"/>
              </a:rPr>
              <a:t>One line in your BTP account</a:t>
            </a:r>
            <a:endParaRPr lang="en-US" sz="1150" dirty="0"/>
          </a:p>
        </p:txBody>
      </p:sp>
      <p:sp>
        <p:nvSpPr>
          <p:cNvPr id="47" name="Text 45"/>
          <p:cNvSpPr txBox="1"/>
          <p:nvPr/>
        </p:nvSpPr>
        <p:spPr>
          <a:xfrm>
            <a:off x="8193024" y="4901184"/>
            <a:ext cx="3291840" cy="530352"/>
          </a:xfrm>
          <a:prstGeom prst="rect">
            <a:avLst/>
          </a:prstGeom>
          <a:noFill/>
          <a:ln/>
        </p:spPr>
        <p:txBody>
          <a:bodyPr wrap="square" lIns="0" tIns="0" rIns="0" bIns="0" rtlCol="0" anchor="ctr"/>
          <a:lstStyle/>
          <a:p>
            <a:pPr indent="0" marL="0">
              <a:lnSpc>
                <a:spcPts val="1200"/>
              </a:lnSpc>
              <a:buNone/>
            </a:pPr>
            <a:r>
              <a:rPr lang="en-US" sz="900" dirty="0">
                <a:solidFill>
                  <a:srgbClr val="A9C2DA"/>
                </a:solidFill>
                <a:latin typeface="Calibri" pitchFamily="34" charset="0"/>
                <a:ea typeface="Calibri" pitchFamily="34" charset="-122"/>
                <a:cs typeface="Calibri" pitchFamily="34" charset="-120"/>
              </a:rPr>
              <a:t>Adding a country does not add a platform, a contract or a separate support model. It adds a pack.</a:t>
            </a:r>
            <a:endParaRPr lang="en-US" sz="900" dirty="0"/>
          </a:p>
        </p:txBody>
      </p:sp>
      <p:sp>
        <p:nvSpPr>
          <p:cNvPr id="48" name="Text 46"/>
          <p:cNvSpPr txBox="1"/>
          <p:nvPr/>
        </p:nvSpPr>
        <p:spPr>
          <a:xfrm>
            <a:off x="548640" y="5742432"/>
            <a:ext cx="6766560" cy="347472"/>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Built for the Kingdom. Ready for the Gulf.</a:t>
            </a:r>
            <a:endParaRPr lang="en-US" sz="2100" dirty="0"/>
          </a:p>
        </p:txBody>
      </p:sp>
      <p:sp>
        <p:nvSpPr>
          <p:cNvPr id="49" name="Text 47"/>
          <p:cNvSpPr txBox="1"/>
          <p:nvPr/>
        </p:nvSpPr>
        <p:spPr>
          <a:xfrm>
            <a:off x="548640" y="6144768"/>
            <a:ext cx="822960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Qiwa, Muqeem and Absher in step   ·   Nitaqat calculated before it bites   ·   Exit and re-entry tracked to the day</a:t>
            </a:r>
            <a:endParaRPr lang="en-US" sz="1000" dirty="0"/>
          </a:p>
        </p:txBody>
      </p:sp>
      <p:pic>
        <p:nvPicPr>
          <p:cNvPr id="50" name="Image 0" descr="./img/logo-white.png">    </p:cNvPr>
          <p:cNvPicPr>
            <a:picLocks noChangeAspect="1"/>
          </p:cNvPicPr>
          <p:nvPr/>
        </p:nvPicPr>
        <p:blipFill>
          <a:blip r:embed="rId1"/>
          <a:stretch>
            <a:fillRect/>
          </a:stretch>
        </p:blipFill>
        <p:spPr>
          <a:xfrm>
            <a:off x="9464040" y="5760720"/>
            <a:ext cx="1828800" cy="448056"/>
          </a:xfrm>
          <a:prstGeom prst="rect">
            <a:avLst/>
          </a:prstGeom>
        </p:spPr>
      </p:pic>
      <p:sp>
        <p:nvSpPr>
          <p:cNvPr id="51" name="Text 48"/>
          <p:cNvSpPr txBox="1"/>
          <p:nvPr/>
        </p:nvSpPr>
        <p:spPr>
          <a:xfrm>
            <a:off x="8778240" y="6291072"/>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 Saudi Arabia</dc:title>
  <dc:subject>PptxGenJS Presentation</dc:subject>
  <dc:creator>INK IT Business Solutions</dc:creator>
  <cp:lastModifiedBy>INK IT Business Solutions</cp:lastModifiedBy>
  <cp:revision>1</cp:revision>
  <dcterms:created xsi:type="dcterms:W3CDTF">2026-09-21T14:59:49Z</dcterms:created>
  <dcterms:modified xsi:type="dcterms:W3CDTF">2026-09-21T14:59:49Z</dcterms:modified>
</cp:coreProperties>
</file>